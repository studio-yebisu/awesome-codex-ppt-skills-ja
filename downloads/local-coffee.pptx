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83280e6e143a8" /><Relationship Type="http://schemas.openxmlformats.org/officeDocument/2006/relationships/extended-properties" Target="/docProps/app.xml" Id="R76dcac920b624999" /><Relationship Type="http://schemas.openxmlformats.org/officeDocument/2006/relationships/officeDocument" Target="/ppt/presentation.xml" Id="R544f34af91e9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c6aede443492a"/>
  </p:sldMasterIdLst>
  <p:notesMasterIdLst>
    <p:notesMasterId xmlns:r="http://schemas.openxmlformats.org/officeDocument/2006/relationships" r:id="Re45862bb37a24165"/>
  </p:notesMasterIdLst>
  <p:sldIdLst>
    <p:sldId xmlns:r="http://schemas.openxmlformats.org/officeDocument/2006/relationships" id="256" r:id="Re28bda0be99e4e6c"/>
    <p:sldId xmlns:r="http://schemas.openxmlformats.org/officeDocument/2006/relationships" id="257" r:id="R339a16d5f6d346b9"/>
    <p:sldId xmlns:r="http://schemas.openxmlformats.org/officeDocument/2006/relationships" id="258" r:id="Rf8cfbc6fa9004a4c"/>
    <p:sldId xmlns:r="http://schemas.openxmlformats.org/officeDocument/2006/relationships" id="259" r:id="Rd68419cda96346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41d7af3b444e75" /><Relationship Type="http://schemas.openxmlformats.org/officeDocument/2006/relationships/slideMaster" Target="/ppt/slideMasters/slideMaster1.xml" Id="R475c6aede443492a" /><Relationship Type="http://schemas.openxmlformats.org/officeDocument/2006/relationships/notesMaster" Target="/ppt/notesMasters/notesMaster1.xml" Id="Re45862bb37a24165" /><Relationship Type="http://schemas.openxmlformats.org/officeDocument/2006/relationships/presProps" Target="/ppt/presProps.xml" Id="Rac5c98c0d86f45e1" /><Relationship Type="http://schemas.openxmlformats.org/officeDocument/2006/relationships/tableStyles" Target="/ppt/tableStyles.xml" Id="R079e40a56f6d40fd" /><Relationship Type="http://schemas.openxmlformats.org/officeDocument/2006/relationships/slide" Target="/ppt/slides/slide1.xml" Id="Re28bda0be99e4e6c" /><Relationship Type="http://schemas.openxmlformats.org/officeDocument/2006/relationships/slide" Target="/ppt/slides/slide2.xml" Id="R339a16d5f6d346b9" /><Relationship Type="http://schemas.openxmlformats.org/officeDocument/2006/relationships/slide" Target="/ppt/slides/slide3.xml" Id="Rf8cfbc6fa9004a4c" /><Relationship Type="http://schemas.openxmlformats.org/officeDocument/2006/relationships/slide" Target="/ppt/slides/slide4.xml" Id="Rd68419cda963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97f6cba2c44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a8a65217c8445d" /><Relationship Type="http://schemas.openxmlformats.org/officeDocument/2006/relationships/notesMaster" Target="/ppt/notesMasters/notesMaster1.xml" Id="Rfdd7881b36d5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64ef5aebb4e93" /><Relationship Type="http://schemas.openxmlformats.org/officeDocument/2006/relationships/notesMaster" Target="/ppt/notesMasters/notesMaster1.xml" Id="Ra5832c713deb42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240226d0246c8" /><Relationship Type="http://schemas.openxmlformats.org/officeDocument/2006/relationships/notesMaster" Target="/ppt/notesMasters/notesMaster1.xml" Id="R54b570c76f7b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215b9166734780" /><Relationship Type="http://schemas.openxmlformats.org/officeDocument/2006/relationships/notesMaster" Target="/ppt/notesMasters/notesMaster1.xml" Id="R867b66808ff64a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架空のコーヒースタンド企画。特定の実店舗や市場調査を扱っていません。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「5分」は企画上の体験目標です。3つの定番メニューも想定で、実測ではありません。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グラフは単位を持つ説明用データです。12、18、22万円を比較しており、予測や実績ではありません。図形と数値はPPTXで編集できます。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検証項目をまとめた企画スライドです。出店や投資の推奨を行う資料ではありません。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64e0e449540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719e579844a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1ad743a774c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2b6e897bc43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f0e2a6bb149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4e94fceb7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4DB231-9ACF-45A2-ACFE-6B1F9110D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818EB2-E3DB-4933-8FA7-5E8A8CD087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2290F-6A35-43C8-B722-3F6C5AB3C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D711D2-D6F6-407E-B0FE-64D5CA306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47F529-2EBE-4A83-B03B-8BDE79DB5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775686-5EF2-4880-B80A-5B36471A0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2FD48E-541E-495E-B506-F9BB554C1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684D2-AFE0-4715-A714-5616E655BC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B63F8D-BA9C-4B06-B5B3-3DA9CBEE9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880148-DAB7-47B3-BC51-36005B639A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f976c54c949a8" /><Relationship Type="http://schemas.openxmlformats.org/officeDocument/2006/relationships/slideLayout" Target="/ppt/slideLayouts/slideLayout1.xml" Id="Rd35374f8019c4364" /><Relationship Type="http://schemas.openxmlformats.org/officeDocument/2006/relationships/slideLayout" Target="/ppt/slideLayouts/slideLayout2.xml" Id="R0a3c818833d3487d" /><Relationship Type="http://schemas.openxmlformats.org/officeDocument/2006/relationships/slideLayout" Target="/ppt/slideLayouts/slideLayout3.xml" Id="R521f01efd3b44309" /><Relationship Type="http://schemas.openxmlformats.org/officeDocument/2006/relationships/slideLayout" Target="/ppt/slideLayouts/slideLayout4.xml" Id="Rd56a33d7afcf4175" /><Relationship Type="http://schemas.openxmlformats.org/officeDocument/2006/relationships/slideLayout" Target="/ppt/slideLayouts/slideLayout5.xml" Id="R37efb707a74b4fb6" /><Relationship Type="http://schemas.openxmlformats.org/officeDocument/2006/relationships/slideLayout" Target="/ppt/slideLayouts/slideLayout6.xml" Id="R25d13a80d86c47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374f8019c4364"/>
    <p:sldLayoutId xmlns:r="http://schemas.openxmlformats.org/officeDocument/2006/relationships" id="2147483650" r:id="R0a3c818833d3487d"/>
    <p:sldLayoutId xmlns:r="http://schemas.openxmlformats.org/officeDocument/2006/relationships" id="2147483651" r:id="R521f01efd3b44309"/>
    <p:sldLayoutId xmlns:r="http://schemas.openxmlformats.org/officeDocument/2006/relationships" id="2147483652" r:id="Rd56a33d7afcf4175"/>
    <p:sldLayoutId xmlns:r="http://schemas.openxmlformats.org/officeDocument/2006/relationships" id="2147483653" r:id="R37efb707a74b4fb6"/>
    <p:sldLayoutId xmlns:r="http://schemas.openxmlformats.org/officeDocument/2006/relationships" id="2147483654" r:id="R25d13a80d86c47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e8239bc424998" /><Relationship Type="http://schemas.openxmlformats.org/officeDocument/2006/relationships/notesSlide" Target="/ppt/notesSlides/notesSlide1.xml" Id="R18a74ba677f5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04070c2804ced" /><Relationship Type="http://schemas.openxmlformats.org/officeDocument/2006/relationships/notesSlide" Target="/ppt/notesSlides/notesSlide2.xml" Id="Rf043de606174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0bb1f41414a81" /><Relationship Type="http://schemas.openxmlformats.org/officeDocument/2006/relationships/chart" Target="/ppt/slides/charts/chart1.xml" Id="R208449566d82443a" /><Relationship Type="http://schemas.openxmlformats.org/officeDocument/2006/relationships/notesSlide" Target="/ppt/notesSlides/notesSlide3.xml" Id="R8955bdfcdf6140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c08c912fb473a" /><Relationship Type="http://schemas.openxmlformats.org/officeDocument/2006/relationships/notesSlide" Target="/ppt/notesSlides/notesSlide4.xml" Id="Rd410fdb0558e4b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月商（万円）</c:v>
          </c:tx>
          <c:spPr>
            <a:solidFill xmlns:a="http://schemas.openxmlformats.org/drawingml/2006/main">
              <a:srgbClr val="BC493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小さく開始</c:v>
                </c:pt>
                <c:pt idx="1">
                  <c:v>標準案</c:v>
                </c:pt>
                <c:pt idx="2">
                  <c:v>拡張案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332F28"/>
                  </a:solidFill>
                  <a:latin typeface="Noto Serif JP"/>
                  <a:ea typeface="Noto Serif JP"/>
                  <a:cs typeface="Noto Serif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49A8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erif JP"/>
                <a:ea typeface="Noto Serif JP"/>
                <a:cs typeface="Noto Serif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1E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1E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lement-0-0">
            <a:extLst xmlns:a="http://schemas.openxmlformats.org/drawingml/2006/main">
              <a:ext uri="{FF2B5EF4-FFF2-40B4-BE49-F238E27FC236}">
                <a16:creationId xmlns:a16="http://schemas.microsoft.com/office/drawing/2014/main" id="{EA6CA4BF-6CB7-4176-8C8B-40FC0C9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276"/>
            <a:ext cx="2602230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CONCEPT / 架空の店舗企画</a:t>
            </a:r>
          </a:p>
        </p:txBody>
      </p:sp>
      <p:sp>
        <p:nvSpPr>
          <p:cNvPr id="2" name="element-1">
            <a:extLst xmlns:a="http://schemas.openxmlformats.org/drawingml/2006/main">
              <a:ext uri="{FF2B5EF4-FFF2-40B4-BE49-F238E27FC236}">
                <a16:creationId xmlns:a16="http://schemas.microsoft.com/office/drawing/2014/main" id="{EA4DDB25-93E1-468F-B52F-E339312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9675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49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38676063-966B-42ED-A693-B5743AC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57350"/>
            <a:ext cx="3219450" cy="3219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753B55A0-DB74-4BBC-9197-35BA6F7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3360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49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9530F6A4-C1BD-404C-A63A-270AA91D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3748"/>
            <a:ext cx="5181600" cy="902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朝のコーヒーを、</a:t>
            </a:r>
          </a:p>
        </p:txBody>
      </p:sp>
      <p:sp>
        <p:nvSpPr>
          <p:cNvPr id="6" name="element-4-1">
            <a:extLst xmlns:a="http://schemas.openxmlformats.org/drawingml/2006/main">
              <a:ext uri="{FF2B5EF4-FFF2-40B4-BE49-F238E27FC236}">
                <a16:creationId xmlns:a16="http://schemas.microsoft.com/office/drawing/2014/main" id="{86F34969-065D-4F93-9CE2-C99B61D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7198"/>
            <a:ext cx="3962400" cy="902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48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街の習慣に。</a:t>
            </a:r>
          </a:p>
        </p:txBody>
      </p:sp>
      <p:sp>
        <p:nvSpPr>
          <p:cNvPr id="7" name="element-5-0">
            <a:extLst xmlns:a="http://schemas.openxmlformats.org/drawingml/2006/main">
              <a:ext uri="{FF2B5EF4-FFF2-40B4-BE49-F238E27FC236}">
                <a16:creationId xmlns:a16="http://schemas.microsoft.com/office/drawing/2014/main" id="{EF8DE2D7-98D6-41A5-A61B-D6D6029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7646"/>
            <a:ext cx="37719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21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通勤路に、小さな寄り道を。</a:t>
            </a:r>
          </a:p>
        </p:txBody>
      </p:sp>
      <p:sp>
        <p:nvSpPr>
          <p:cNvPr id="8" name="element-6">
            <a:extLst xmlns:a="http://schemas.openxmlformats.org/drawingml/2006/main">
              <a:ext uri="{FF2B5EF4-FFF2-40B4-BE49-F238E27FC236}">
                <a16:creationId xmlns:a16="http://schemas.microsoft.com/office/drawing/2014/main" id="{A85D5E79-780A-46C2-9887-CC78C38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57626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F28"/>
            </a:solidFill>
            <a:prstDash val="solid"/>
          </a:ln>
        </p:spPr>
      </p:sp>
      <p:sp>
        <p:nvSpPr>
          <p:cNvPr id="9" name="element-7-0">
            <a:extLst xmlns:a="http://schemas.openxmlformats.org/drawingml/2006/main">
              <a:ext uri="{FF2B5EF4-FFF2-40B4-BE49-F238E27FC236}">
                <a16:creationId xmlns:a16="http://schemas.microsoft.com/office/drawing/2014/main" id="{8747730F-13C6-4F1F-B04E-4470AC5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1537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Studio Yebisu · オリジナル作例</a:t>
            </a:r>
          </a:p>
        </p:txBody>
      </p:sp>
    </p:spTree>
    <p:extLst>
      <p:ext uri="{BB962C8B-B14F-4D97-AF65-F5344CB8AC3E}">
        <p14:creationId xmlns:p14="http://schemas.microsoft.com/office/powerpoint/2010/main" val="1179980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0-0">
            <a:extLst xmlns:a="http://schemas.openxmlformats.org/drawingml/2006/main">
              <a:ext uri="{FF2B5EF4-FFF2-40B4-BE49-F238E27FC236}">
                <a16:creationId xmlns:a16="http://schemas.microsoft.com/office/drawing/2014/main" id="{568D32B7-BEAC-4931-9905-94F42D53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402080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EXPERIENCE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D5A5A9E5-0108-451A-9C9A-FDF87EAB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4255008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朝の5分に合う体験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956AF561-6A0E-41F0-9C28-6B6003F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4933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A17D4D49-59AA-4DB6-97CA-F7973A4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2205"/>
            <a:ext cx="18288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見つける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1A7E5C83-6A52-4C59-9D4D-93958E3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62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通りからメニューが見える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328C56A3-35D6-4508-926F-9D43866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2205"/>
            <a:ext cx="10668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選ぶ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171E33D6-AB9D-49FF-9CD6-100001C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86125"/>
            <a:ext cx="2838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3つの定番から注文する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8FB2E62D-3EFD-4EC0-9935-97B65C3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02205"/>
            <a:ext cx="18288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300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受け取る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3BE9CAC0-757A-447D-A4A2-2268831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86125"/>
            <a:ext cx="2924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875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持ち歩きやすいカップで</a:t>
            </a:r>
          </a:p>
        </p:txBody>
      </p:sp>
      <p:sp>
        <p:nvSpPr>
          <p:cNvPr id="10" name="element-9">
            <a:extLst xmlns:a="http://schemas.openxmlformats.org/drawingml/2006/main">
              <a:ext uri="{FF2B5EF4-FFF2-40B4-BE49-F238E27FC236}">
                <a16:creationId xmlns:a16="http://schemas.microsoft.com/office/drawing/2014/main" id="{1F399FCE-80E2-4163-B1B8-8C495E4F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114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4933"/>
            </a:solidFill>
            <a:prstDash val="solid"/>
          </a:ln>
        </p:spPr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4F3CEC1A-7366-42DD-BA77-B73248B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0605"/>
            <a:ext cx="71628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30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迷う時間を減らし、味を覚えてもらう。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E60D866F-D0CC-4F9E-94FB-E6D40B1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Studio Yebisu · オリジナル作例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006EF631-E5B8-4DDA-BAAD-B1D7E659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755442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0-0">
            <a:extLst xmlns:a="http://schemas.openxmlformats.org/drawingml/2006/main">
              <a:ext uri="{FF2B5EF4-FFF2-40B4-BE49-F238E27FC236}">
                <a16:creationId xmlns:a16="http://schemas.microsoft.com/office/drawing/2014/main" id="{D1FDED90-47DE-438F-8C90-824A5D8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2170176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1350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ILLUSTRATIVE DATA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3670A28E-B9BA-4BD1-811D-3733F5A5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48768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売上モデルを比較する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45BBA634-CC97-4FFD-8E86-33ED3AD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4933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FF9E62FD-2F04-4ED0-B659-91A695EB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3843"/>
            <a:ext cx="167640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8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月商（万円）</a:t>
            </a:r>
          </a:p>
        </p:txBody>
      </p:sp>
      <p:sp>
        <p:nvSpPr>
          <p:cNvPr id="5" name="element-14-0">
            <a:extLst xmlns:a="http://schemas.openxmlformats.org/drawingml/2006/main">
              <a:ext uri="{FF2B5EF4-FFF2-40B4-BE49-F238E27FC236}">
                <a16:creationId xmlns:a16="http://schemas.microsoft.com/office/drawing/2014/main" id="{536D7AF4-5D4C-42D3-B2EC-4499268D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3810000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説明用の架空データ。予測・実績ではありません。</a:t>
            </a:r>
          </a:p>
        </p:txBody>
      </p:sp>
      <p:sp>
        <p:nvSpPr>
          <p:cNvPr id="6" name="element-15-0">
            <a:extLst xmlns:a="http://schemas.openxmlformats.org/drawingml/2006/main">
              <a:ext uri="{FF2B5EF4-FFF2-40B4-BE49-F238E27FC236}">
                <a16:creationId xmlns:a16="http://schemas.microsoft.com/office/drawing/2014/main" id="{F723409E-C1C7-4369-B26B-BDF07AF6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03 / 04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100DA7C-121B-4879-9A16-6838DF1F7E93}"/>
              </a:ext>
            </a:extLst>
          </p:cNvPr>
          <p:cNvGraphicFramePr/>
          <p:nvPr/>
        </p:nvGraphicFramePr>
        <p:xfrm>
          <a:off xmlns:a="http://schemas.openxmlformats.org/drawingml/2006/main" x="2047875" y="2095500"/>
          <a:ext xmlns:a="http://schemas.openxmlformats.org/drawingml/2006/main" cx="90011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8449566d82443a"/>
          </a:graphicData>
        </a:graphic>
      </p:graphicFrame>
    </p:spTree>
    <p:extLst>
      <p:ext uri="{BB962C8B-B14F-4D97-AF65-F5344CB8AC3E}">
        <p14:creationId xmlns:p14="http://schemas.microsoft.com/office/powerpoint/2010/main" val="1559060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lement-0-0">
            <a:extLst xmlns:a="http://schemas.openxmlformats.org/drawingml/2006/main">
              <a:ext uri="{FF2B5EF4-FFF2-40B4-BE49-F238E27FC236}">
                <a16:creationId xmlns:a16="http://schemas.microsoft.com/office/drawing/2014/main" id="{70C69D8A-5E12-489B-8451-21DD91A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536"/>
            <a:ext cx="39624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360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次に確かめること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67B48F93-D229-49DF-93B3-67C14F57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5614"/>
            <a:ext cx="633984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01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ACBE2FA0-C1CD-419C-B738-47EEC381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8266"/>
            <a:ext cx="2114550" cy="535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朝の通行量</a:t>
            </a:r>
          </a:p>
        </p:txBody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1C9058A4-7190-4716-A702-0939A07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" y="2905125"/>
            <a:ext cx="998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B7A3"/>
            </a:solidFill>
            <a:prstDash val="solid"/>
          </a:ln>
        </p:spPr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C078D564-1D70-4A3E-AD8B-8EF4087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8614"/>
            <a:ext cx="633984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02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4FB82424-B45E-4A96-9C1F-898F393D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1266"/>
            <a:ext cx="2838450" cy="535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提供までの時間</a:t>
            </a:r>
          </a:p>
        </p:txBody>
      </p:sp>
      <p:sp>
        <p:nvSpPr>
          <p:cNvPr id="7" name="element-6">
            <a:extLst xmlns:a="http://schemas.openxmlformats.org/drawingml/2006/main">
              <a:ext uri="{FF2B5EF4-FFF2-40B4-BE49-F238E27FC236}">
                <a16:creationId xmlns:a16="http://schemas.microsoft.com/office/drawing/2014/main" id="{49751AE7-7209-4218-86C9-DAD8902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" y="4048125"/>
            <a:ext cx="998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B7A3"/>
            </a:solidFill>
            <a:prstDash val="solid"/>
          </a:ln>
        </p:spPr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1B1E741C-5312-4DED-9BEA-F2C2FC33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1614"/>
            <a:ext cx="633984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03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5644CA4D-6D2A-493F-AE77-E6007F23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4266"/>
            <a:ext cx="2838450" cy="535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2850" b="1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また来たい理由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F33220E7-D01F-4170-963B-59C8573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4114"/>
            <a:ext cx="4419600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defRPr>
            </a:pPr>
            <a:r>
              <a:rPr sz="2025" b="1">
                <a:solidFill>
                  <a:srgbClr val="BC4933"/>
                </a:solidFill>
                <a:latin typeface="Noto Serif JP"/>
                <a:ea typeface="Noto Serif JP"/>
                <a:cs typeface="Noto Serif JP"/>
              </a:rPr>
              <a:t>数字と現場の観察で、企画を磨く。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95E3C064-D902-4FE4-BF26-1695322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Studio Yebisu · オリジナル作例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E989BB29-2AAF-4771-98A7-9328C28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defRPr>
            </a:pPr>
            <a:r>
              <a:rPr sz="1200" b="0">
                <a:solidFill>
                  <a:srgbClr val="332F28"/>
                </a:solidFill>
                <a:latin typeface="Noto Serif JP"/>
                <a:ea typeface="Noto Serif JP"/>
                <a:cs typeface="Noto Serif JP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1789135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2026-10-13T08:13:52.1630000Z</dcterms:created>
  <dcterms:modified xsi:type="dcterms:W3CDTF">2026-10-13T08:13:52.1630000Z</dcterms:modified>
</coreProperties>
</file>