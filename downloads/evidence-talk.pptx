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8011881aa64161" /><Relationship Type="http://schemas.openxmlformats.org/officeDocument/2006/relationships/extended-properties" Target="/docProps/app.xml" Id="R8db7adcc1e8d486e" /><Relationship Type="http://schemas.openxmlformats.org/officeDocument/2006/relationships/officeDocument" Target="/ppt/presentation.xml" Id="R4509099b167647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618671ed434907"/>
  </p:sldMasterIdLst>
  <p:notesMasterIdLst>
    <p:notesMasterId xmlns:r="http://schemas.openxmlformats.org/officeDocument/2006/relationships" r:id="R5235c5e4a8f349c4"/>
  </p:notesMasterIdLst>
  <p:sldIdLst>
    <p:sldId xmlns:r="http://schemas.openxmlformats.org/officeDocument/2006/relationships" id="256" r:id="Re3f96c92a3a04d8c"/>
    <p:sldId xmlns:r="http://schemas.openxmlformats.org/officeDocument/2006/relationships" id="257" r:id="R7abdc18d69404385"/>
    <p:sldId xmlns:r="http://schemas.openxmlformats.org/officeDocument/2006/relationships" id="258" r:id="R761f7aeea3834481"/>
    <p:sldId xmlns:r="http://schemas.openxmlformats.org/officeDocument/2006/relationships" id="259" r:id="Reeb954bd5ea849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3f1b629b004a98" /><Relationship Type="http://schemas.openxmlformats.org/officeDocument/2006/relationships/slideMaster" Target="/ppt/slideMasters/slideMaster1.xml" Id="Rb7618671ed434907" /><Relationship Type="http://schemas.openxmlformats.org/officeDocument/2006/relationships/notesMaster" Target="/ppt/notesMasters/notesMaster1.xml" Id="R5235c5e4a8f349c4" /><Relationship Type="http://schemas.openxmlformats.org/officeDocument/2006/relationships/presProps" Target="/ppt/presProps.xml" Id="Rc81847b33fee4179" /><Relationship Type="http://schemas.openxmlformats.org/officeDocument/2006/relationships/tableStyles" Target="/ppt/tableStyles.xml" Id="R355316952c904dbd" /><Relationship Type="http://schemas.openxmlformats.org/officeDocument/2006/relationships/slide" Target="/ppt/slides/slide1.xml" Id="Re3f96c92a3a04d8c" /><Relationship Type="http://schemas.openxmlformats.org/officeDocument/2006/relationships/slide" Target="/ppt/slides/slide2.xml" Id="R7abdc18d69404385" /><Relationship Type="http://schemas.openxmlformats.org/officeDocument/2006/relationships/slide" Target="/ppt/slides/slide3.xml" Id="R761f7aeea3834481" /><Relationship Type="http://schemas.openxmlformats.org/officeDocument/2006/relationships/slide" Target="/ppt/slides/slide4.xml" Id="Reeb954bd5ea849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bc57ee1dcb4d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5d58aa85134515" /><Relationship Type="http://schemas.openxmlformats.org/officeDocument/2006/relationships/notesMaster" Target="/ppt/notesMasters/notesMaster1.xml" Id="R85bfa58621544b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6f465a9efb49e7" /><Relationship Type="http://schemas.openxmlformats.org/officeDocument/2006/relationships/notesMaster" Target="/ppt/notesMasters/notesMaster1.xml" Id="R09f5177b7ac746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cc71234032497b" /><Relationship Type="http://schemas.openxmlformats.org/officeDocument/2006/relationships/notesMaster" Target="/ppt/notesMasters/notesMaster1.xml" Id="Reb0686bc077c47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41613c521d449e" /><Relationship Type="http://schemas.openxmlformats.org/officeDocument/2006/relationships/notesMaster" Target="/ppt/notesMasters/notesMaster1.xml" Id="R0608dc281ce741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検証の進め方を示すオリジナル登壇資料。特定の論文や実験結果を要約したものではありません。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引用符内は架空の例文です。「速い」「正確」の比較対象、条件、評価方法を切り分けます。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一次資料の記述と紹介側の表現の範囲を照合する方法。すべての主張を自分で実験再現できたという意味ではありません。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実験で示された事実と、将来の応用可能性を分けて表現するためのスライドです。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f48004682f4a8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849269ca5846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444c0ee6d342c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144db024594c9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b9a71354e445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a831b0140f43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3FBFDC-EFBD-43D1-BC55-7D01DA8CD4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54B3266-28BF-4E54-A6B3-A528F27292E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727DC6D-908F-435E-A564-86E4F1F7FE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E7A610-0151-489D-B2BD-7CA399108D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B142A11-C1D5-4598-8EEC-D3961A74DC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7BBA6AF-77F4-4EB2-BDA2-4859666C0B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7EEDAE8-2626-49C8-BFC7-5828823094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FA9E093-E58C-4AAD-97BD-14AB920CCEF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9565B9-2166-46C6-BEBE-C25734CAB7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65BA1E8-9019-45FF-A575-BAAF92308B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ed037132124d58" /><Relationship Type="http://schemas.openxmlformats.org/officeDocument/2006/relationships/slideLayout" Target="/ppt/slideLayouts/slideLayout1.xml" Id="R80a2de06ab974cba" /><Relationship Type="http://schemas.openxmlformats.org/officeDocument/2006/relationships/slideLayout" Target="/ppt/slideLayouts/slideLayout2.xml" Id="Rd9c025cb72034526" /><Relationship Type="http://schemas.openxmlformats.org/officeDocument/2006/relationships/slideLayout" Target="/ppt/slideLayouts/slideLayout3.xml" Id="Rb56686346e67447f" /><Relationship Type="http://schemas.openxmlformats.org/officeDocument/2006/relationships/slideLayout" Target="/ppt/slideLayouts/slideLayout4.xml" Id="Rbecef98fa6c041d1" /><Relationship Type="http://schemas.openxmlformats.org/officeDocument/2006/relationships/slideLayout" Target="/ppt/slideLayouts/slideLayout5.xml" Id="R36b2e9c524394ee4" /><Relationship Type="http://schemas.openxmlformats.org/officeDocument/2006/relationships/slideLayout" Target="/ppt/slideLayouts/slideLayout6.xml" Id="Rf7f390032d754f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a2de06ab974cba"/>
    <p:sldLayoutId xmlns:r="http://schemas.openxmlformats.org/officeDocument/2006/relationships" id="2147483650" r:id="Rd9c025cb72034526"/>
    <p:sldLayoutId xmlns:r="http://schemas.openxmlformats.org/officeDocument/2006/relationships" id="2147483651" r:id="Rb56686346e67447f"/>
    <p:sldLayoutId xmlns:r="http://schemas.openxmlformats.org/officeDocument/2006/relationships" id="2147483652" r:id="Rbecef98fa6c041d1"/>
    <p:sldLayoutId xmlns:r="http://schemas.openxmlformats.org/officeDocument/2006/relationships" id="2147483653" r:id="R36b2e9c524394ee4"/>
    <p:sldLayoutId xmlns:r="http://schemas.openxmlformats.org/officeDocument/2006/relationships" id="2147483654" r:id="Rf7f390032d754f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04de9b388f49ae" /><Relationship Type="http://schemas.openxmlformats.org/officeDocument/2006/relationships/notesSlide" Target="/ppt/notesSlides/notesSlide1.xml" Id="Rb0fdd2aab76f46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04e37052814c8c" /><Relationship Type="http://schemas.openxmlformats.org/officeDocument/2006/relationships/notesSlide" Target="/ppt/notesSlides/notesSlide2.xml" Id="Rf1dad4c8e83949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04b1914a8e433a" /><Relationship Type="http://schemas.openxmlformats.org/officeDocument/2006/relationships/notesSlide" Target="/ppt/notesSlides/notesSlide3.xml" Id="Rb6ffdb0af49d44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5da9d4792446c0" /><Relationship Type="http://schemas.openxmlformats.org/officeDocument/2006/relationships/notesSlide" Target="/ppt/notesSlides/notesSlide4.xml" Id="R2ac4a47cc47044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C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lement-0-0">
            <a:extLst xmlns:a="http://schemas.openxmlformats.org/drawingml/2006/main">
              <a:ext uri="{FF2B5EF4-FFF2-40B4-BE49-F238E27FC236}">
                <a16:creationId xmlns:a16="http://schemas.microsoft.com/office/drawing/2014/main" id="{40D10F1A-DA79-4A6B-96FD-A697C752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033"/>
            <a:ext cx="2780538" cy="267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8CD9EE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8CD9EE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8CD9EE"/>
                </a:solidFill>
                <a:latin typeface="Noto Sans JP"/>
                <a:ea typeface="Noto Sans JP"/>
                <a:cs typeface="Noto Sans JP"/>
              </a:rPr>
              <a:t>TECH TALK / 検証の考え方</a:t>
            </a:r>
          </a:p>
        </p:txBody>
      </p:sp>
      <p:sp>
        <p:nvSpPr>
          <p:cNvPr id="2" name="element-1-0">
            <a:extLst xmlns:a="http://schemas.openxmlformats.org/drawingml/2006/main">
              <a:ext uri="{FF2B5EF4-FFF2-40B4-BE49-F238E27FC236}">
                <a16:creationId xmlns:a16="http://schemas.microsoft.com/office/drawing/2014/main" id="{7C4A2D8C-D7A1-4586-BC9A-0180189E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8612"/>
            <a:ext cx="3624072" cy="930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F4F6FC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4950" b="1">
                <a:solidFill>
                  <a:srgbClr val="F4F6FC"/>
                </a:solidFill>
                <a:latin typeface="Noto Sans JP"/>
                <a:ea typeface="Noto Sans JP"/>
                <a:cs typeface="Noto Sans JP"/>
              </a:defRPr>
            </a:pPr>
            <a:r>
              <a:rPr sz="4950" b="1">
                <a:solidFill>
                  <a:srgbClr val="F4F6FC"/>
                </a:solidFill>
                <a:latin typeface="Noto Sans JP"/>
                <a:ea typeface="Noto Sans JP"/>
                <a:cs typeface="Noto Sans JP"/>
              </a:rPr>
              <a:t>AIの答えを</a:t>
            </a:r>
          </a:p>
        </p:txBody>
      </p:sp>
      <p:sp>
        <p:nvSpPr>
          <p:cNvPr id="3" name="element-1-1">
            <a:extLst xmlns:a="http://schemas.openxmlformats.org/drawingml/2006/main">
              <a:ext uri="{FF2B5EF4-FFF2-40B4-BE49-F238E27FC236}">
                <a16:creationId xmlns:a16="http://schemas.microsoft.com/office/drawing/2014/main" id="{7A0E9850-0F61-4331-A3D8-38FD2D69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2062"/>
            <a:ext cx="4705350" cy="930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F4F6FC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4950" b="1">
                <a:solidFill>
                  <a:srgbClr val="F4F6FC"/>
                </a:solidFill>
                <a:latin typeface="Noto Sans JP"/>
                <a:ea typeface="Noto Sans JP"/>
                <a:cs typeface="Noto Sans JP"/>
              </a:defRPr>
            </a:pPr>
            <a:r>
              <a:rPr sz="4950" b="1">
                <a:solidFill>
                  <a:srgbClr val="F4F6FC"/>
                </a:solidFill>
                <a:latin typeface="Noto Sans JP"/>
                <a:ea typeface="Noto Sans JP"/>
                <a:cs typeface="Noto Sans JP"/>
              </a:rPr>
              <a:t>どう確かめるか</a:t>
            </a:r>
          </a:p>
        </p:txBody>
      </p:sp>
      <p:sp>
        <p:nvSpPr>
          <p:cNvPr id="4" name="element-2">
            <a:extLst xmlns:a="http://schemas.openxmlformats.org/drawingml/2006/main">
              <a:ext uri="{FF2B5EF4-FFF2-40B4-BE49-F238E27FC236}">
                <a16:creationId xmlns:a16="http://schemas.microsoft.com/office/drawing/2014/main" id="{990AF446-CC6E-4208-B00A-98DBE861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81900" y="2790825"/>
            <a:ext cx="314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D9EE"/>
            </a:solidFill>
            <a:prstDash val="solid"/>
          </a:ln>
        </p:spPr>
      </p:sp>
      <p:sp>
        <p:nvSpPr>
          <p:cNvPr id="5" name="element-3">
            <a:extLst xmlns:a="http://schemas.openxmlformats.org/drawingml/2006/main">
              <a:ext uri="{FF2B5EF4-FFF2-40B4-BE49-F238E27FC236}">
                <a16:creationId xmlns:a16="http://schemas.microsoft.com/office/drawing/2014/main" id="{C292C9FE-A00F-4681-9077-C943B7D9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81900" y="3914775"/>
            <a:ext cx="314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D9EE"/>
            </a:solidFill>
            <a:prstDash val="solid"/>
          </a:ln>
        </p:spPr>
      </p:sp>
      <p:sp>
        <p:nvSpPr>
          <p:cNvPr id="6" name="element-4">
            <a:extLst xmlns:a="http://schemas.openxmlformats.org/drawingml/2006/main">
              <a:ext uri="{FF2B5EF4-FFF2-40B4-BE49-F238E27FC236}">
                <a16:creationId xmlns:a16="http://schemas.microsoft.com/office/drawing/2014/main" id="{A17A56EC-825C-40A3-BA17-6944E6D0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622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D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lement-5">
            <a:extLst xmlns:a="http://schemas.openxmlformats.org/drawingml/2006/main">
              <a:ext uri="{FF2B5EF4-FFF2-40B4-BE49-F238E27FC236}">
                <a16:creationId xmlns:a16="http://schemas.microsoft.com/office/drawing/2014/main" id="{7F852E5C-2DE1-4911-B36C-E4CDBC71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861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D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lement-6-0">
            <a:extLst xmlns:a="http://schemas.openxmlformats.org/drawingml/2006/main">
              <a:ext uri="{FF2B5EF4-FFF2-40B4-BE49-F238E27FC236}">
                <a16:creationId xmlns:a16="http://schemas.microsoft.com/office/drawing/2014/main" id="{DA7956F7-A130-4C4A-985C-C815B6FC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863471"/>
            <a:ext cx="838200" cy="394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8CD9EE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8CD9EE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8CD9EE"/>
                </a:solidFill>
                <a:latin typeface="Noto Sans JP"/>
                <a:ea typeface="Noto Sans JP"/>
                <a:cs typeface="Noto Sans JP"/>
              </a:rPr>
              <a:t>主張</a:t>
            </a:r>
          </a:p>
        </p:txBody>
      </p:sp>
      <p:sp>
        <p:nvSpPr>
          <p:cNvPr id="9" name="element-7-0">
            <a:extLst xmlns:a="http://schemas.openxmlformats.org/drawingml/2006/main">
              <a:ext uri="{FF2B5EF4-FFF2-40B4-BE49-F238E27FC236}">
                <a16:creationId xmlns:a16="http://schemas.microsoft.com/office/drawing/2014/main" id="{70FC03AF-E887-4974-BB8D-2099A692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292346"/>
            <a:ext cx="838200" cy="394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8CD9EE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8CD9EE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8CD9EE"/>
                </a:solidFill>
                <a:latin typeface="Noto Sans JP"/>
                <a:ea typeface="Noto Sans JP"/>
                <a:cs typeface="Noto Sans JP"/>
              </a:rPr>
              <a:t>根拠</a:t>
            </a:r>
          </a:p>
        </p:txBody>
      </p:sp>
      <p:sp>
        <p:nvSpPr>
          <p:cNvPr id="10" name="element-8-0">
            <a:extLst xmlns:a="http://schemas.openxmlformats.org/drawingml/2006/main">
              <a:ext uri="{FF2B5EF4-FFF2-40B4-BE49-F238E27FC236}">
                <a16:creationId xmlns:a16="http://schemas.microsoft.com/office/drawing/2014/main" id="{925A274E-E293-4FAB-B3C4-3559C985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5860"/>
            <a:ext cx="45910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4F6FC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F4F6FC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F4F6FC"/>
                </a:solidFill>
                <a:latin typeface="Noto Sans JP"/>
                <a:ea typeface="Noto Sans JP"/>
                <a:cs typeface="Noto Sans JP"/>
              </a:rPr>
              <a:t>主張を分けて、根拠までたどる。</a:t>
            </a:r>
          </a:p>
        </p:txBody>
      </p:sp>
      <p:sp>
        <p:nvSpPr>
          <p:cNvPr id="11" name="element-9-0">
            <a:extLst xmlns:a="http://schemas.openxmlformats.org/drawingml/2006/main">
              <a:ext uri="{FF2B5EF4-FFF2-40B4-BE49-F238E27FC236}">
                <a16:creationId xmlns:a16="http://schemas.microsoft.com/office/drawing/2014/main" id="{568FF807-62F1-452B-801F-FE67A92C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7262"/>
            <a:ext cx="2932176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C4CEE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C4CEE5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C4CEE5"/>
                </a:solidFill>
                <a:latin typeface="Noto Sans JP"/>
                <a:ea typeface="Noto Sans JP"/>
                <a:cs typeface="Noto Sans JP"/>
              </a:rPr>
              <a:t>Studio Yebisu · オリジナル作例</a:t>
            </a:r>
          </a:p>
        </p:txBody>
      </p:sp>
      <p:sp>
        <p:nvSpPr>
          <p:cNvPr id="12" name="element-10-0">
            <a:extLst xmlns:a="http://schemas.openxmlformats.org/drawingml/2006/main">
              <a:ext uri="{FF2B5EF4-FFF2-40B4-BE49-F238E27FC236}">
                <a16:creationId xmlns:a16="http://schemas.microsoft.com/office/drawing/2014/main" id="{C09B6627-1684-4397-8614-50EE4822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8648" y="6287262"/>
            <a:ext cx="987552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C4CEE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C4CEE5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C4CEE5"/>
                </a:solidFill>
                <a:latin typeface="Noto Sans JP"/>
                <a:ea typeface="Noto Sans JP"/>
                <a:cs typeface="Noto Sans JP"/>
              </a:rPr>
              <a:t>01 / 04</a:t>
            </a:r>
          </a:p>
        </p:txBody>
      </p:sp>
    </p:spTree>
    <p:extLst>
      <p:ext uri="{BB962C8B-B14F-4D97-AF65-F5344CB8AC3E}">
        <p14:creationId xmlns:p14="http://schemas.microsoft.com/office/powerpoint/2010/main" val="17594931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51C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lement-0-0">
            <a:extLst xmlns:a="http://schemas.openxmlformats.org/drawingml/2006/main">
              <a:ext uri="{FF2B5EF4-FFF2-40B4-BE49-F238E27FC236}">
                <a16:creationId xmlns:a16="http://schemas.microsoft.com/office/drawing/2014/main" id="{B5593F08-E2BE-4808-A108-64C96A54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853440" cy="253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8CD9EE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8CD9EE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8CD9EE"/>
                </a:solidFill>
                <a:latin typeface="Noto Sans JP"/>
                <a:ea typeface="Noto Sans JP"/>
                <a:cs typeface="Noto Sans JP"/>
              </a:rPr>
              <a:t>CLAIM</a:t>
            </a:r>
          </a:p>
        </p:txBody>
      </p:sp>
      <p:sp>
        <p:nvSpPr>
          <p:cNvPr id="2" name="element-1-0">
            <a:extLst xmlns:a="http://schemas.openxmlformats.org/drawingml/2006/main">
              <a:ext uri="{FF2B5EF4-FFF2-40B4-BE49-F238E27FC236}">
                <a16:creationId xmlns:a16="http://schemas.microsoft.com/office/drawing/2014/main" id="{DD5C6485-26C7-4CE8-BF7F-98051F9B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3361"/>
            <a:ext cx="5334000" cy="676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F4F6FC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F4F6FC"/>
                </a:solidFill>
                <a:latin typeface="Noto Sans JP"/>
                <a:ea typeface="Noto Sans JP"/>
                <a:cs typeface="Noto Sans JP"/>
              </a:defRPr>
            </a:pPr>
            <a:r>
              <a:rPr sz="3600" b="1">
                <a:solidFill>
                  <a:srgbClr val="F4F6FC"/>
                </a:solidFill>
                <a:latin typeface="Noto Sans JP"/>
                <a:ea typeface="Noto Sans JP"/>
                <a:cs typeface="Noto Sans JP"/>
              </a:rPr>
              <a:t>確認できる単位に分ける</a:t>
            </a:r>
          </a:p>
        </p:txBody>
      </p:sp>
      <p:sp>
        <p:nvSpPr>
          <p:cNvPr id="3" name="element-2">
            <a:extLst xmlns:a="http://schemas.openxmlformats.org/drawingml/2006/main">
              <a:ext uri="{FF2B5EF4-FFF2-40B4-BE49-F238E27FC236}">
                <a16:creationId xmlns:a16="http://schemas.microsoft.com/office/drawing/2014/main" id="{FC48241C-1B50-4EAC-9FE6-23E5A8BC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18573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D9EE"/>
            </a:solidFill>
            <a:prstDash val="solid"/>
          </a:ln>
        </p:spPr>
      </p:sp>
      <p:sp>
        <p:nvSpPr>
          <p:cNvPr id="4" name="element-3-0">
            <a:extLst xmlns:a="http://schemas.openxmlformats.org/drawingml/2006/main">
              <a:ext uri="{FF2B5EF4-FFF2-40B4-BE49-F238E27FC236}">
                <a16:creationId xmlns:a16="http://schemas.microsoft.com/office/drawing/2014/main" id="{9B7A69EE-9F7D-4918-B346-64A8BEC6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3422"/>
            <a:ext cx="5562600" cy="648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6FC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4F6FC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F4F6FC"/>
                </a:solidFill>
                <a:latin typeface="Noto Sans JP"/>
                <a:ea typeface="Noto Sans JP"/>
                <a:cs typeface="Noto Sans JP"/>
              </a:rPr>
              <a:t>「この手法は速くて正確」</a:t>
            </a:r>
          </a:p>
        </p:txBody>
      </p:sp>
      <p:sp>
        <p:nvSpPr>
          <p:cNvPr id="5" name="element-4">
            <a:extLst xmlns:a="http://schemas.openxmlformats.org/drawingml/2006/main">
              <a:ext uri="{FF2B5EF4-FFF2-40B4-BE49-F238E27FC236}">
                <a16:creationId xmlns:a16="http://schemas.microsoft.com/office/drawing/2014/main" id="{85945858-E526-4826-8E1E-8458C522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34194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B7E"/>
            </a:solidFill>
            <a:prstDash val="solid"/>
          </a:ln>
        </p:spPr>
      </p:sp>
      <p:sp>
        <p:nvSpPr>
          <p:cNvPr id="6" name="element-5-0">
            <a:extLst xmlns:a="http://schemas.openxmlformats.org/drawingml/2006/main">
              <a:ext uri="{FF2B5EF4-FFF2-40B4-BE49-F238E27FC236}">
                <a16:creationId xmlns:a16="http://schemas.microsoft.com/office/drawing/2014/main" id="{A1A6274D-2A0F-4613-8E52-9B39C3F6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244"/>
            <a:ext cx="1104900" cy="592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8CD9EE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8CD9EE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8CD9EE"/>
                </a:solidFill>
                <a:latin typeface="Noto Sans JP"/>
                <a:ea typeface="Noto Sans JP"/>
                <a:cs typeface="Noto Sans JP"/>
              </a:rPr>
              <a:t>速度</a:t>
            </a:r>
          </a:p>
        </p:txBody>
      </p:sp>
      <p:sp>
        <p:nvSpPr>
          <p:cNvPr id="7" name="element-6-0">
            <a:extLst xmlns:a="http://schemas.openxmlformats.org/drawingml/2006/main">
              <a:ext uri="{FF2B5EF4-FFF2-40B4-BE49-F238E27FC236}">
                <a16:creationId xmlns:a16="http://schemas.microsoft.com/office/drawing/2014/main" id="{FBD5A09D-DDE6-4B8C-BEA8-1EC17E25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7057"/>
            <a:ext cx="3276600" cy="366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4F6FC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4F6FC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F4F6FC"/>
                </a:solidFill>
                <a:latin typeface="Noto Sans JP"/>
                <a:ea typeface="Noto Sans JP"/>
                <a:cs typeface="Noto Sans JP"/>
              </a:rPr>
              <a:t>何を、どの条件で測ったか</a:t>
            </a:r>
          </a:p>
        </p:txBody>
      </p:sp>
      <p:sp>
        <p:nvSpPr>
          <p:cNvPr id="8" name="element-7-0">
            <a:extLst xmlns:a="http://schemas.openxmlformats.org/drawingml/2006/main">
              <a:ext uri="{FF2B5EF4-FFF2-40B4-BE49-F238E27FC236}">
                <a16:creationId xmlns:a16="http://schemas.microsoft.com/office/drawing/2014/main" id="{C6E53AD0-4172-44CE-9D5D-AEBE1E43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57244"/>
            <a:ext cx="1104900" cy="592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8CD9EE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8CD9EE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8CD9EE"/>
                </a:solidFill>
                <a:latin typeface="Noto Sans JP"/>
                <a:ea typeface="Noto Sans JP"/>
                <a:cs typeface="Noto Sans JP"/>
              </a:rPr>
              <a:t>精度</a:t>
            </a:r>
          </a:p>
        </p:txBody>
      </p:sp>
      <p:sp>
        <p:nvSpPr>
          <p:cNvPr id="9" name="element-8-0">
            <a:extLst xmlns:a="http://schemas.openxmlformats.org/drawingml/2006/main">
              <a:ext uri="{FF2B5EF4-FFF2-40B4-BE49-F238E27FC236}">
                <a16:creationId xmlns:a16="http://schemas.microsoft.com/office/drawing/2014/main" id="{3F25BBC0-C7DB-4C5A-AAE0-AE84F70B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47057"/>
            <a:ext cx="3524250" cy="366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4F6FC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4F6FC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F4F6FC"/>
                </a:solidFill>
                <a:latin typeface="Noto Sans JP"/>
                <a:ea typeface="Noto Sans JP"/>
                <a:cs typeface="Noto Sans JP"/>
              </a:rPr>
              <a:t>何の問題を、どう評価したか</a:t>
            </a:r>
          </a:p>
        </p:txBody>
      </p:sp>
      <p:sp>
        <p:nvSpPr>
          <p:cNvPr id="10" name="element-9-0">
            <a:extLst xmlns:a="http://schemas.openxmlformats.org/drawingml/2006/main">
              <a:ext uri="{FF2B5EF4-FFF2-40B4-BE49-F238E27FC236}">
                <a16:creationId xmlns:a16="http://schemas.microsoft.com/office/drawing/2014/main" id="{FCFB45A8-EAD2-46CB-8C7A-410B5882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7262"/>
            <a:ext cx="2932176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C4CEE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C4CEE5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C4CEE5"/>
                </a:solidFill>
                <a:latin typeface="Noto Sans JP"/>
                <a:ea typeface="Noto Sans JP"/>
                <a:cs typeface="Noto Sans JP"/>
              </a:rPr>
              <a:t>Studio Yebisu · オリジナル作例</a:t>
            </a:r>
          </a:p>
        </p:txBody>
      </p:sp>
      <p:sp>
        <p:nvSpPr>
          <p:cNvPr id="11" name="element-10-0">
            <a:extLst xmlns:a="http://schemas.openxmlformats.org/drawingml/2006/main">
              <a:ext uri="{FF2B5EF4-FFF2-40B4-BE49-F238E27FC236}">
                <a16:creationId xmlns:a16="http://schemas.microsoft.com/office/drawing/2014/main" id="{A36B11EA-F4BD-40DE-97B9-D7709730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8648" y="6287262"/>
            <a:ext cx="987552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C4CEE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C4CEE5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C4CEE5"/>
                </a:solidFill>
                <a:latin typeface="Noto Sans JP"/>
                <a:ea typeface="Noto Sans JP"/>
                <a:cs typeface="Noto Sans JP"/>
              </a:rPr>
              <a:t>02 / 04</a:t>
            </a:r>
          </a:p>
        </p:txBody>
      </p:sp>
    </p:spTree>
    <p:extLst>
      <p:ext uri="{BB962C8B-B14F-4D97-AF65-F5344CB8AC3E}">
        <p14:creationId xmlns:p14="http://schemas.microsoft.com/office/powerpoint/2010/main" val="16990179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51C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lement-0-0">
            <a:extLst xmlns:a="http://schemas.openxmlformats.org/drawingml/2006/main">
              <a:ext uri="{FF2B5EF4-FFF2-40B4-BE49-F238E27FC236}">
                <a16:creationId xmlns:a16="http://schemas.microsoft.com/office/drawing/2014/main" id="{865CC03F-6385-430F-A7DE-50AC85CF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853440" cy="253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8CD9EE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8CD9EE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8CD9EE"/>
                </a:solidFill>
                <a:latin typeface="Noto Sans JP"/>
                <a:ea typeface="Noto Sans JP"/>
                <a:cs typeface="Noto Sans JP"/>
              </a:rPr>
              <a:t>TRACE</a:t>
            </a:r>
          </a:p>
        </p:txBody>
      </p:sp>
      <p:sp>
        <p:nvSpPr>
          <p:cNvPr id="2" name="element-1-0">
            <a:extLst xmlns:a="http://schemas.openxmlformats.org/drawingml/2006/main">
              <a:ext uri="{FF2B5EF4-FFF2-40B4-BE49-F238E27FC236}">
                <a16:creationId xmlns:a16="http://schemas.microsoft.com/office/drawing/2014/main" id="{EA0B7520-86E4-4537-8DC3-5E131B99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3361"/>
            <a:ext cx="3505200" cy="676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F4F6FC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F4F6FC"/>
                </a:solidFill>
                <a:latin typeface="Noto Sans JP"/>
                <a:ea typeface="Noto Sans JP"/>
                <a:cs typeface="Noto Sans JP"/>
              </a:defRPr>
            </a:pPr>
            <a:r>
              <a:rPr sz="3600" b="1">
                <a:solidFill>
                  <a:srgbClr val="F4F6FC"/>
                </a:solidFill>
                <a:latin typeface="Noto Sans JP"/>
                <a:ea typeface="Noto Sans JP"/>
                <a:cs typeface="Noto Sans JP"/>
              </a:rPr>
              <a:t>根拠までの道筋</a:t>
            </a:r>
          </a:p>
        </p:txBody>
      </p:sp>
      <p:sp>
        <p:nvSpPr>
          <p:cNvPr id="3" name="element-2">
            <a:extLst xmlns:a="http://schemas.openxmlformats.org/drawingml/2006/main">
              <a:ext uri="{FF2B5EF4-FFF2-40B4-BE49-F238E27FC236}">
                <a16:creationId xmlns:a16="http://schemas.microsoft.com/office/drawing/2014/main" id="{FDA34AF5-76F6-41BA-8E4A-6882F8B0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18573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D9EE"/>
            </a:solidFill>
            <a:prstDash val="solid"/>
          </a:ln>
        </p:spPr>
      </p:sp>
      <p:sp>
        <p:nvSpPr>
          <p:cNvPr id="4" name="element-3">
            <a:extLst xmlns:a="http://schemas.openxmlformats.org/drawingml/2006/main">
              <a:ext uri="{FF2B5EF4-FFF2-40B4-BE49-F238E27FC236}">
                <a16:creationId xmlns:a16="http://schemas.microsoft.com/office/drawing/2014/main" id="{06FF7881-F615-460C-8D9A-FA54CF14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24025" y="3371850"/>
            <a:ext cx="87344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CD9EE"/>
            </a:solidFill>
            <a:prstDash val="solid"/>
          </a:ln>
        </p:spPr>
      </p:sp>
      <p:sp>
        <p:nvSpPr>
          <p:cNvPr id="5" name="element-4">
            <a:extLst xmlns:a="http://schemas.openxmlformats.org/drawingml/2006/main">
              <a:ext uri="{FF2B5EF4-FFF2-40B4-BE49-F238E27FC236}">
                <a16:creationId xmlns:a16="http://schemas.microsoft.com/office/drawing/2014/main" id="{D7DF24B7-ECBD-47F5-8725-5A06C7A9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908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D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lement-5">
            <a:extLst xmlns:a="http://schemas.openxmlformats.org/drawingml/2006/main">
              <a:ext uri="{FF2B5EF4-FFF2-40B4-BE49-F238E27FC236}">
                <a16:creationId xmlns:a16="http://schemas.microsoft.com/office/drawing/2014/main" id="{E5872915-D1B6-4034-99C6-482833B1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908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D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lement-6">
            <a:extLst xmlns:a="http://schemas.openxmlformats.org/drawingml/2006/main">
              <a:ext uri="{FF2B5EF4-FFF2-40B4-BE49-F238E27FC236}">
                <a16:creationId xmlns:a16="http://schemas.microsoft.com/office/drawing/2014/main" id="{D80493F3-BB73-48AD-B39D-E2AB6005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9085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D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lement-7-0">
            <a:extLst xmlns:a="http://schemas.openxmlformats.org/drawingml/2006/main">
              <a:ext uri="{FF2B5EF4-FFF2-40B4-BE49-F238E27FC236}">
                <a16:creationId xmlns:a16="http://schemas.microsoft.com/office/drawing/2014/main" id="{179C8122-82A5-4046-B94D-D407A62A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112" y="3145917"/>
            <a:ext cx="493776" cy="437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151C32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151C32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>
                <a:solidFill>
                  <a:srgbClr val="151C32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9" name="element-8-0">
            <a:extLst xmlns:a="http://schemas.openxmlformats.org/drawingml/2006/main">
              <a:ext uri="{FF2B5EF4-FFF2-40B4-BE49-F238E27FC236}">
                <a16:creationId xmlns:a16="http://schemas.microsoft.com/office/drawing/2014/main" id="{6C3648BD-DD96-4F91-848C-30647A47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9112" y="3145917"/>
            <a:ext cx="493776" cy="437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151C32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151C32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>
                <a:solidFill>
                  <a:srgbClr val="151C32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0" name="element-9-0">
            <a:extLst xmlns:a="http://schemas.openxmlformats.org/drawingml/2006/main">
              <a:ext uri="{FF2B5EF4-FFF2-40B4-BE49-F238E27FC236}">
                <a16:creationId xmlns:a16="http://schemas.microsoft.com/office/drawing/2014/main" id="{FE199F0E-AC4B-4757-BBE0-CAAB39E0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112" y="3145917"/>
            <a:ext cx="493776" cy="437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325" b="1">
                <a:solidFill>
                  <a:srgbClr val="151C32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151C32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>
                <a:solidFill>
                  <a:srgbClr val="151C32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11" name="element-10-0">
            <a:extLst xmlns:a="http://schemas.openxmlformats.org/drawingml/2006/main">
              <a:ext uri="{FF2B5EF4-FFF2-40B4-BE49-F238E27FC236}">
                <a16:creationId xmlns:a16="http://schemas.microsoft.com/office/drawing/2014/main" id="{D9CBEB9C-5E12-4DCC-9DC5-94785A73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9560"/>
            <a:ext cx="23050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4F6FC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4F6FC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F4F6FC"/>
                </a:solidFill>
                <a:latin typeface="Noto Sans JP"/>
                <a:ea typeface="Noto Sans JP"/>
                <a:cs typeface="Noto Sans JP"/>
              </a:rPr>
              <a:t>主張を抜き出す</a:t>
            </a:r>
          </a:p>
        </p:txBody>
      </p:sp>
      <p:sp>
        <p:nvSpPr>
          <p:cNvPr id="12" name="element-11-0">
            <a:extLst xmlns:a="http://schemas.openxmlformats.org/drawingml/2006/main">
              <a:ext uri="{FF2B5EF4-FFF2-40B4-BE49-F238E27FC236}">
                <a16:creationId xmlns:a16="http://schemas.microsoft.com/office/drawing/2014/main" id="{3A0FE7A4-C709-4412-8873-8EB9EDCB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9560"/>
            <a:ext cx="23050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4F6FC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4F6FC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F4F6FC"/>
                </a:solidFill>
                <a:latin typeface="Noto Sans JP"/>
                <a:ea typeface="Noto Sans JP"/>
                <a:cs typeface="Noto Sans JP"/>
              </a:rPr>
              <a:t>一次資料を読む</a:t>
            </a:r>
          </a:p>
        </p:txBody>
      </p:sp>
      <p:sp>
        <p:nvSpPr>
          <p:cNvPr id="13" name="element-12-0">
            <a:extLst xmlns:a="http://schemas.openxmlformats.org/drawingml/2006/main">
              <a:ext uri="{FF2B5EF4-FFF2-40B4-BE49-F238E27FC236}">
                <a16:creationId xmlns:a16="http://schemas.microsoft.com/office/drawing/2014/main" id="{F9301768-9EE4-4CEF-9243-132FF215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99560"/>
            <a:ext cx="230505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4F6FC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4F6FC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F4F6FC"/>
                </a:solidFill>
                <a:latin typeface="Noto Sans JP"/>
                <a:ea typeface="Noto Sans JP"/>
                <a:cs typeface="Noto Sans JP"/>
              </a:rPr>
              <a:t>条件を照合する</a:t>
            </a:r>
          </a:p>
        </p:txBody>
      </p:sp>
      <p:sp>
        <p:nvSpPr>
          <p:cNvPr id="14" name="element-13-0">
            <a:extLst xmlns:a="http://schemas.openxmlformats.org/drawingml/2006/main">
              <a:ext uri="{FF2B5EF4-FFF2-40B4-BE49-F238E27FC236}">
                <a16:creationId xmlns:a16="http://schemas.microsoft.com/office/drawing/2014/main" id="{EBC7C569-F025-4B1C-B1E2-DF9200F1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0046"/>
            <a:ext cx="5905500" cy="394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8CD9EE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8CD9EE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8CD9EE"/>
                </a:solidFill>
                <a:latin typeface="Noto Sans JP"/>
                <a:ea typeface="Noto Sans JP"/>
                <a:cs typeface="Noto Sans JP"/>
              </a:rPr>
              <a:t>紹介記事と原典の主張が、同じ範囲かを見る。</a:t>
            </a:r>
          </a:p>
        </p:txBody>
      </p:sp>
      <p:sp>
        <p:nvSpPr>
          <p:cNvPr id="15" name="element-14-0">
            <a:extLst xmlns:a="http://schemas.openxmlformats.org/drawingml/2006/main">
              <a:ext uri="{FF2B5EF4-FFF2-40B4-BE49-F238E27FC236}">
                <a16:creationId xmlns:a16="http://schemas.microsoft.com/office/drawing/2014/main" id="{4F1B78C8-FDC4-49A3-A226-61D9FB76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7262"/>
            <a:ext cx="2932176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C4CEE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C4CEE5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C4CEE5"/>
                </a:solidFill>
                <a:latin typeface="Noto Sans JP"/>
                <a:ea typeface="Noto Sans JP"/>
                <a:cs typeface="Noto Sans JP"/>
              </a:rPr>
              <a:t>Studio Yebisu · オリジナル作例</a:t>
            </a:r>
          </a:p>
        </p:txBody>
      </p:sp>
      <p:sp>
        <p:nvSpPr>
          <p:cNvPr id="16" name="element-15-0">
            <a:extLst xmlns:a="http://schemas.openxmlformats.org/drawingml/2006/main">
              <a:ext uri="{FF2B5EF4-FFF2-40B4-BE49-F238E27FC236}">
                <a16:creationId xmlns:a16="http://schemas.microsoft.com/office/drawing/2014/main" id="{A754291A-B450-4FE3-964A-0C8679E5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8648" y="6287262"/>
            <a:ext cx="987552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C4CEE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C4CEE5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C4CEE5"/>
                </a:solidFill>
                <a:latin typeface="Noto Sans JP"/>
                <a:ea typeface="Noto Sans JP"/>
                <a:cs typeface="Noto Sans JP"/>
              </a:rPr>
              <a:t>03 / 04</a:t>
            </a:r>
          </a:p>
        </p:txBody>
      </p:sp>
    </p:spTree>
    <p:extLst>
      <p:ext uri="{BB962C8B-B14F-4D97-AF65-F5344CB8AC3E}">
        <p14:creationId xmlns:p14="http://schemas.microsoft.com/office/powerpoint/2010/main" val="20449208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51C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lement-0-0">
            <a:extLst xmlns:a="http://schemas.openxmlformats.org/drawingml/2006/main">
              <a:ext uri="{FF2B5EF4-FFF2-40B4-BE49-F238E27FC236}">
                <a16:creationId xmlns:a16="http://schemas.microsoft.com/office/drawing/2014/main" id="{FEB855CB-616A-41B2-B450-5638C3E6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961"/>
            <a:ext cx="5791200" cy="676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F4F6FC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F4F6FC"/>
                </a:solidFill>
                <a:latin typeface="Noto Sans JP"/>
                <a:ea typeface="Noto Sans JP"/>
                <a:cs typeface="Noto Sans JP"/>
              </a:defRPr>
            </a:pPr>
            <a:r>
              <a:rPr sz="3600" b="1">
                <a:solidFill>
                  <a:srgbClr val="F4F6FC"/>
                </a:solidFill>
                <a:latin typeface="Noto Sans JP"/>
                <a:ea typeface="Noto Sans JP"/>
                <a:cs typeface="Noto Sans JP"/>
              </a:rPr>
              <a:t>結果と推測を分けて伝える</a:t>
            </a:r>
          </a:p>
        </p:txBody>
      </p:sp>
      <p:sp>
        <p:nvSpPr>
          <p:cNvPr id="2" name="element-1-0">
            <a:extLst xmlns:a="http://schemas.openxmlformats.org/drawingml/2006/main">
              <a:ext uri="{FF2B5EF4-FFF2-40B4-BE49-F238E27FC236}">
                <a16:creationId xmlns:a16="http://schemas.microsoft.com/office/drawing/2014/main" id="{18062EB9-075E-4A4B-837D-640BA1B2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4763"/>
            <a:ext cx="3219450" cy="4792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8CD9EE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8CD9EE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8CD9EE"/>
                </a:solidFill>
                <a:latin typeface="Noto Sans JP"/>
                <a:ea typeface="Noto Sans JP"/>
                <a:cs typeface="Noto Sans JP"/>
              </a:rPr>
              <a:t>実験で示されたこと</a:t>
            </a:r>
          </a:p>
        </p:txBody>
      </p:sp>
      <p:sp>
        <p:nvSpPr>
          <p:cNvPr id="3" name="element-2-0">
            <a:extLst xmlns:a="http://schemas.openxmlformats.org/drawingml/2006/main">
              <a:ext uri="{FF2B5EF4-FFF2-40B4-BE49-F238E27FC236}">
                <a16:creationId xmlns:a16="http://schemas.microsoft.com/office/drawing/2014/main" id="{B311B3D5-7978-4487-A366-5E3189A7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2953"/>
            <a:ext cx="3619500" cy="408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4F6FC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4F6FC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F4F6FC"/>
                </a:solidFill>
                <a:latin typeface="Noto Sans JP"/>
                <a:ea typeface="Noto Sans JP"/>
                <a:cs typeface="Noto Sans JP"/>
              </a:rPr>
              <a:t>条件・対象・数値を添える</a:t>
            </a:r>
          </a:p>
        </p:txBody>
      </p:sp>
      <p:sp>
        <p:nvSpPr>
          <p:cNvPr id="4" name="element-3">
            <a:extLst xmlns:a="http://schemas.openxmlformats.org/drawingml/2006/main">
              <a:ext uri="{FF2B5EF4-FFF2-40B4-BE49-F238E27FC236}">
                <a16:creationId xmlns:a16="http://schemas.microsoft.com/office/drawing/2014/main" id="{F2A39CE5-1858-4BB6-A66B-049B6996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40195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D5B7E"/>
            </a:solidFill>
            <a:prstDash val="solid"/>
          </a:ln>
        </p:spPr>
      </p:sp>
      <p:sp>
        <p:nvSpPr>
          <p:cNvPr id="5" name="element-4-0">
            <a:extLst xmlns:a="http://schemas.openxmlformats.org/drawingml/2006/main">
              <a:ext uri="{FF2B5EF4-FFF2-40B4-BE49-F238E27FC236}">
                <a16:creationId xmlns:a16="http://schemas.microsoft.com/office/drawing/2014/main" id="{4160F5FB-C2CC-4E47-8729-33E722FF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5988"/>
            <a:ext cx="3543300" cy="4792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8CD9EE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8CD9EE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8CD9EE"/>
                </a:solidFill>
                <a:latin typeface="Noto Sans JP"/>
                <a:ea typeface="Noto Sans JP"/>
                <a:cs typeface="Noto Sans JP"/>
              </a:rPr>
              <a:t>これから試したいこと</a:t>
            </a:r>
          </a:p>
        </p:txBody>
      </p:sp>
      <p:sp>
        <p:nvSpPr>
          <p:cNvPr id="6" name="element-5-0">
            <a:extLst xmlns:a="http://schemas.openxmlformats.org/drawingml/2006/main">
              <a:ext uri="{FF2B5EF4-FFF2-40B4-BE49-F238E27FC236}">
                <a16:creationId xmlns:a16="http://schemas.microsoft.com/office/drawing/2014/main" id="{8760DAC0-7FA3-4498-89CC-FE920FDD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4178"/>
            <a:ext cx="3619500" cy="408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4F6FC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4F6FC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F4F6FC"/>
                </a:solidFill>
                <a:latin typeface="Noto Sans JP"/>
                <a:ea typeface="Noto Sans JP"/>
                <a:cs typeface="Noto Sans JP"/>
              </a:rPr>
              <a:t>応用の見込みとして伝える</a:t>
            </a:r>
          </a:p>
        </p:txBody>
      </p:sp>
      <p:sp>
        <p:nvSpPr>
          <p:cNvPr id="7" name="element-6-0">
            <a:extLst xmlns:a="http://schemas.openxmlformats.org/drawingml/2006/main">
              <a:ext uri="{FF2B5EF4-FFF2-40B4-BE49-F238E27FC236}">
                <a16:creationId xmlns:a16="http://schemas.microsoft.com/office/drawing/2014/main" id="{15A49196-8A56-48AA-A96A-19A6ECE0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7262"/>
            <a:ext cx="2932176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C4CEE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C4CEE5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C4CEE5"/>
                </a:solidFill>
                <a:latin typeface="Noto Sans JP"/>
                <a:ea typeface="Noto Sans JP"/>
                <a:cs typeface="Noto Sans JP"/>
              </a:rPr>
              <a:t>Studio Yebisu · オリジナル作例</a:t>
            </a:r>
          </a:p>
        </p:txBody>
      </p:sp>
      <p:sp>
        <p:nvSpPr>
          <p:cNvPr id="8" name="element-7-0">
            <a:extLst xmlns:a="http://schemas.openxmlformats.org/drawingml/2006/main">
              <a:ext uri="{FF2B5EF4-FFF2-40B4-BE49-F238E27FC236}">
                <a16:creationId xmlns:a16="http://schemas.microsoft.com/office/drawing/2014/main" id="{0FC9CFD4-4F91-452B-9C3F-32766BF6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8648" y="6287262"/>
            <a:ext cx="987552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C4CEE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C4CEE5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C4CEE5"/>
                </a:solidFill>
                <a:latin typeface="Noto Sans JP"/>
                <a:ea typeface="Noto Sans JP"/>
                <a:cs typeface="Noto Sans JP"/>
              </a:rPr>
              <a:t>04 / 04</a:t>
            </a:r>
          </a:p>
        </p:txBody>
      </p:sp>
    </p:spTree>
    <p:extLst>
      <p:ext uri="{BB962C8B-B14F-4D97-AF65-F5344CB8AC3E}">
        <p14:creationId xmlns:p14="http://schemas.microsoft.com/office/powerpoint/2010/main" val="1704955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2026-10-13T08:13:58.1320000Z</dcterms:created>
  <dcterms:modified xsi:type="dcterms:W3CDTF">2026-10-13T08:13:58.1320000Z</dcterms:modified>
</coreProperties>
</file>