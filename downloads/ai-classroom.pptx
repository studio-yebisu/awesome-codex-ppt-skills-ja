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ce2d5031d24ec6" /><Relationship Type="http://schemas.openxmlformats.org/officeDocument/2006/relationships/extended-properties" Target="/docProps/app.xml" Id="R0daeabb9fae046ec" /><Relationship Type="http://schemas.openxmlformats.org/officeDocument/2006/relationships/officeDocument" Target="/ppt/presentation.xml" Id="R0f2bf02616484284" /></Relationships>
</file>

<file path=ppt/presentation.xml><?xml version="1.0" encoding="utf-8"?>
<p:presentation xmlns:p="http://schemas.openxmlformats.org/presentationml/2006/main">
  <p:sldMasterIdLst>
    <p:sldMasterId xmlns:r="http://schemas.openxmlformats.org/officeDocument/2006/relationships" id="2147483648" r:id="R188a4ff6ee9945e1"/>
  </p:sldMasterIdLst>
  <p:notesMasterIdLst>
    <p:notesMasterId xmlns:r="http://schemas.openxmlformats.org/officeDocument/2006/relationships" r:id="Re4c07839f8524932"/>
  </p:notesMasterIdLst>
  <p:sldIdLst>
    <p:sldId xmlns:r="http://schemas.openxmlformats.org/officeDocument/2006/relationships" id="256" r:id="R4c1e41c388834ee2"/>
    <p:sldId xmlns:r="http://schemas.openxmlformats.org/officeDocument/2006/relationships" id="257" r:id="R2dde2eafd7a64e13"/>
    <p:sldId xmlns:r="http://schemas.openxmlformats.org/officeDocument/2006/relationships" id="258" r:id="Rd72407f93ca2451b"/>
    <p:sldId xmlns:r="http://schemas.openxmlformats.org/officeDocument/2006/relationships" id="259" r:id="R3e1cef6f378d40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dbdaeda43145f8" /><Relationship Type="http://schemas.openxmlformats.org/officeDocument/2006/relationships/slideMaster" Target="/ppt/slideMasters/slideMaster1.xml" Id="R188a4ff6ee9945e1" /><Relationship Type="http://schemas.openxmlformats.org/officeDocument/2006/relationships/notesMaster" Target="/ppt/notesMasters/notesMaster1.xml" Id="Re4c07839f8524932" /><Relationship Type="http://schemas.openxmlformats.org/officeDocument/2006/relationships/presProps" Target="/ppt/presProps.xml" Id="R7b1d6936b19a45ef" /><Relationship Type="http://schemas.openxmlformats.org/officeDocument/2006/relationships/tableStyles" Target="/ppt/tableStyles.xml" Id="Rd23e3ca7de894fea" /><Relationship Type="http://schemas.openxmlformats.org/officeDocument/2006/relationships/slide" Target="/ppt/slides/slide1.xml" Id="R4c1e41c388834ee2" /><Relationship Type="http://schemas.openxmlformats.org/officeDocument/2006/relationships/slide" Target="/ppt/slides/slide2.xml" Id="R2dde2eafd7a64e13" /><Relationship Type="http://schemas.openxmlformats.org/officeDocument/2006/relationships/slide" Target="/ppt/slides/slide3.xml" Id="Rd72407f93ca2451b" /><Relationship Type="http://schemas.openxmlformats.org/officeDocument/2006/relationships/slide" Target="/ppt/slides/slide4.xml" Id="R3e1cef6f378d40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853ea6014947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842356751a4e26" /><Relationship Type="http://schemas.openxmlformats.org/officeDocument/2006/relationships/notesMaster" Target="/ppt/notesMasters/notesMaster1.xml" Id="R3da7d6d865af41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3c5fd314e84ecf" /><Relationship Type="http://schemas.openxmlformats.org/officeDocument/2006/relationships/notesMaster" Target="/ppt/notesMasters/notesMaster1.xml" Id="R1e89630ca53943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90151c4cf4486a" /><Relationship Type="http://schemas.openxmlformats.org/officeDocument/2006/relationships/notesMaster" Target="/ppt/notesMasters/notesMaster1.xml" Id="Re5aeac504c5846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fcd18b315448b5" /><Relationship Type="http://schemas.openxmlformats.org/officeDocument/2006/relationships/notesMaster" Target="/ppt/notesMasters/notesMaster1.xml" Id="Rddad62b4b10042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文章生成AIについての入門教材です。画像生成など、すべての生成モデルに同じ仕組みが当てはまるという説明ではありません。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自己回帰型の文章生成の概略です。候補の確率、トークン化、推論方法の詳細は省略しています。具体的な候補は説明用です。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生成された文章の自然さだけでは事実の正確さを判断できません。ここでは確認すべき項目の例を示しています。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依頼文の作り方の一例です。スライドの説明を短い文章にして、確認しながら改善する演習に使えます。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6db008847248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1fd5f2ed9e43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b0735d686a4f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a606446e0b41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26bbac211e4fe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672d68e7674c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BE1CB9-3EC6-439D-9EFF-BDC55FBEBC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947F120-3027-4377-9169-56C80A8A7E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D4B110-0605-460A-8CD7-A4D9C472A5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21C5EA-A165-40FC-8DBD-8D816A0BCE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FCEFE3-C42A-4AF0-8C20-69DEA19DF0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9301A6-DFC3-4077-BE77-8F4622F896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A607C8-8023-4508-94EC-4F61986DC6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D060562-ECC6-40B7-972A-572791C5206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6E8CA3-0995-4BDC-8B28-0042F70A64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B4A369-A699-4F88-8AF8-F2C6CEC0FA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1a31a7606d447a" /><Relationship Type="http://schemas.openxmlformats.org/officeDocument/2006/relationships/slideLayout" Target="/ppt/slideLayouts/slideLayout1.xml" Id="R6bc61a59ef4f4936" /><Relationship Type="http://schemas.openxmlformats.org/officeDocument/2006/relationships/slideLayout" Target="/ppt/slideLayouts/slideLayout2.xml" Id="R29ec50bd59fa41ce" /><Relationship Type="http://schemas.openxmlformats.org/officeDocument/2006/relationships/slideLayout" Target="/ppt/slideLayouts/slideLayout3.xml" Id="R3df47e5136664e84" /><Relationship Type="http://schemas.openxmlformats.org/officeDocument/2006/relationships/slideLayout" Target="/ppt/slideLayouts/slideLayout4.xml" Id="R2437bf0bad334bd4" /><Relationship Type="http://schemas.openxmlformats.org/officeDocument/2006/relationships/slideLayout" Target="/ppt/slideLayouts/slideLayout5.xml" Id="Rb3deac64b09646b3" /><Relationship Type="http://schemas.openxmlformats.org/officeDocument/2006/relationships/slideLayout" Target="/ppt/slideLayouts/slideLayout6.xml" Id="R02b0a09de97d43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c61a59ef4f4936"/>
    <p:sldLayoutId xmlns:r="http://schemas.openxmlformats.org/officeDocument/2006/relationships" id="2147483650" r:id="R29ec50bd59fa41ce"/>
    <p:sldLayoutId xmlns:r="http://schemas.openxmlformats.org/officeDocument/2006/relationships" id="2147483651" r:id="R3df47e5136664e84"/>
    <p:sldLayoutId xmlns:r="http://schemas.openxmlformats.org/officeDocument/2006/relationships" id="2147483652" r:id="R2437bf0bad334bd4"/>
    <p:sldLayoutId xmlns:r="http://schemas.openxmlformats.org/officeDocument/2006/relationships" id="2147483653" r:id="Rb3deac64b09646b3"/>
    <p:sldLayoutId xmlns:r="http://schemas.openxmlformats.org/officeDocument/2006/relationships" id="2147483654" r:id="R02b0a09de97d43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fe5c9abc7954337" /><Relationship Type="http://schemas.openxmlformats.org/officeDocument/2006/relationships/notesSlide" Target="/ppt/notesSlides/notesSlide1.xml" Id="R15fa84df9a2b4b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395bfc20a4f4e14" /><Relationship Type="http://schemas.openxmlformats.org/officeDocument/2006/relationships/notesSlide" Target="/ppt/notesSlides/notesSlide2.xml" Id="Rd5038cebab6c40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6fc2e2da89e4856" /><Relationship Type="http://schemas.openxmlformats.org/officeDocument/2006/relationships/notesSlide" Target="/ppt/notesSlides/notesSlide3.xml" Id="R99e526e2ac7a45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70ed19f6be747db" /><Relationship Type="http://schemas.openxmlformats.org/officeDocument/2006/relationships/notesSlide" Target="/ppt/notesSlides/notesSlide4.xml" Id="R6af54b77296040c2" /></Relationships>
</file>

<file path=ppt/slides/slide1.xml><?xml version="1.0" encoding="utf-8"?>
<p:sld xmlns:p="http://schemas.openxmlformats.org/presentationml/2006/main">
  <p:cSld>
    <p:bg>
      <p:bgPr>
        <a:solidFill xmlns:a="http://schemas.openxmlformats.org/drawingml/2006/main">
          <a:srgbClr val="ECF4E9"/>
        </a:solidFill>
      </p:bgPr>
    </p:bg>
    <p:spTree>
      <p:nvGrpSpPr>
        <p:cNvPr id="1" name=""/>
        <p:cNvGrpSpPr/>
        <p:nvPr/>
      </p:nvGrpSpPr>
      <p:grpSpPr>
        <a:xfrm xmlns:a="http://schemas.openxmlformats.org/drawingml/2006/main"/>
      </p:grpSpPr>
      <p:sp>
        <p:nvSpPr>
          <p:cNvPr id="14" name="element-0-0">
            <a:extLst xmlns:a="http://schemas.openxmlformats.org/drawingml/2006/main">
              <a:ext uri="{FF2B5EF4-FFF2-40B4-BE49-F238E27FC236}">
                <a16:creationId xmlns:a16="http://schemas.microsoft.com/office/drawing/2014/main" id="{27F2B0C3-6EF2-400B-B2E4-201FDC9964F1}"/>
              </a:ext>
            </a:extLst>
          </p:cNvPr>
          <p:cNvSpPr>
            <a:spLocks xmlns:a="http://schemas.openxmlformats.org/drawingml/2006/main" noGrp="1"/>
          </p:cNvSpPr>
          <p:nvPr/>
        </p:nvSpPr>
        <p:spPr>
          <a:xfrm xmlns:a="http://schemas.openxmlformats.org/drawingml/2006/main">
            <a:off x="685800" y="574929"/>
            <a:ext cx="2039874" cy="3101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285A4A"/>
                </a:solidFill>
                <a:latin typeface="BIZ UDPGothic"/>
                <a:ea typeface="BIZ UDPGothic"/>
                <a:cs typeface="BIZ UDPGothic"/>
              </a:defRPr>
            </a:defPPr>
          </a:lstStyle>
          <a:p xmlns:a="http://schemas.openxmlformats.org/drawingml/2006/main">
            <a:pPr algn="l">
              <a:defRPr sz="1650" b="1">
                <a:solidFill>
                  <a:srgbClr val="285A4A"/>
                </a:solidFill>
                <a:latin typeface="BIZ UDPGothic"/>
                <a:ea typeface="BIZ UDPGothic"/>
                <a:cs typeface="BIZ UDPGothic"/>
              </a:defRPr>
            </a:pPr>
            <a:r>
              <a:rPr sz="1650" b="1">
                <a:solidFill>
                  <a:srgbClr val="285A4A"/>
                </a:solidFill>
                <a:latin typeface="BIZ UDPGothic"/>
                <a:ea typeface="BIZ UDPGothic"/>
                <a:cs typeface="BIZ UDPGothic"/>
              </a:rPr>
              <a:t>はじめての生成AI</a:t>
            </a:r>
          </a:p>
        </p:txBody>
      </p:sp>
      <p:sp>
        <p:nvSpPr>
          <p:cNvPr id="2" name="element-1-0">
            <a:extLst xmlns:a="http://schemas.openxmlformats.org/drawingml/2006/main">
              <a:ext uri="{FF2B5EF4-FFF2-40B4-BE49-F238E27FC236}">
                <a16:creationId xmlns:a16="http://schemas.microsoft.com/office/drawing/2014/main" id="{A5C1FD3E-C67E-4354-ABF7-C334AF0A17EC}"/>
              </a:ext>
            </a:extLst>
          </p:cNvPr>
          <p:cNvSpPr>
            <a:spLocks xmlns:a="http://schemas.openxmlformats.org/drawingml/2006/main" noGrp="1"/>
          </p:cNvSpPr>
          <p:nvPr/>
        </p:nvSpPr>
        <p:spPr>
          <a:xfrm xmlns:a="http://schemas.openxmlformats.org/drawingml/2006/main">
            <a:off x="685800" y="1812798"/>
            <a:ext cx="5352288"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00" b="1">
                <a:solidFill>
                  <a:srgbClr val="213E34"/>
                </a:solidFill>
                <a:latin typeface="BIZ UDPGothic"/>
                <a:ea typeface="BIZ UDPGothic"/>
                <a:cs typeface="BIZ UDPGothic"/>
              </a:defRPr>
            </a:defPPr>
          </a:lstStyle>
          <a:p xmlns:a="http://schemas.openxmlformats.org/drawingml/2006/main">
            <a:pPr algn="l">
              <a:defRPr sz="4800" b="1">
                <a:solidFill>
                  <a:srgbClr val="213E34"/>
                </a:solidFill>
                <a:latin typeface="BIZ UDPGothic"/>
                <a:ea typeface="BIZ UDPGothic"/>
                <a:cs typeface="BIZ UDPGothic"/>
              </a:defRPr>
            </a:pPr>
            <a:r>
              <a:rPr sz="4800" b="1">
                <a:solidFill>
                  <a:srgbClr val="213E34"/>
                </a:solidFill>
                <a:latin typeface="BIZ UDPGothic"/>
                <a:ea typeface="BIZ UDPGothic"/>
                <a:cs typeface="BIZ UDPGothic"/>
              </a:rPr>
              <a:t>生成AIのしくみを</a:t>
            </a:r>
          </a:p>
        </p:txBody>
      </p:sp>
      <p:sp>
        <p:nvSpPr>
          <p:cNvPr id="3" name="element-1-1">
            <a:extLst xmlns:a="http://schemas.openxmlformats.org/drawingml/2006/main">
              <a:ext uri="{FF2B5EF4-FFF2-40B4-BE49-F238E27FC236}">
                <a16:creationId xmlns:a16="http://schemas.microsoft.com/office/drawing/2014/main" id="{75FA6853-45D0-40E6-9DC1-77E78EC9304A}"/>
              </a:ext>
            </a:extLst>
          </p:cNvPr>
          <p:cNvSpPr>
            <a:spLocks xmlns:a="http://schemas.openxmlformats.org/drawingml/2006/main" noGrp="1"/>
          </p:cNvSpPr>
          <p:nvPr/>
        </p:nvSpPr>
        <p:spPr>
          <a:xfrm xmlns:a="http://schemas.openxmlformats.org/drawingml/2006/main">
            <a:off x="685800" y="2746248"/>
            <a:ext cx="3742944"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00" b="1">
                <a:solidFill>
                  <a:srgbClr val="213E34"/>
                </a:solidFill>
                <a:latin typeface="BIZ UDPGothic"/>
                <a:ea typeface="BIZ UDPGothic"/>
                <a:cs typeface="BIZ UDPGothic"/>
              </a:defRPr>
            </a:defPPr>
          </a:lstStyle>
          <a:p xmlns:a="http://schemas.openxmlformats.org/drawingml/2006/main">
            <a:pPr algn="l">
              <a:defRPr sz="4800" b="1">
                <a:solidFill>
                  <a:srgbClr val="213E34"/>
                </a:solidFill>
                <a:latin typeface="BIZ UDPGothic"/>
                <a:ea typeface="BIZ UDPGothic"/>
                <a:cs typeface="BIZ UDPGothic"/>
              </a:defRPr>
            </a:pPr>
            <a:r>
              <a:rPr sz="4800" b="1">
                <a:solidFill>
                  <a:srgbClr val="213E34"/>
                </a:solidFill>
                <a:latin typeface="BIZ UDPGothic"/>
                <a:ea typeface="BIZ UDPGothic"/>
                <a:cs typeface="BIZ UDPGothic"/>
              </a:rPr>
              <a:t>3分でつかむ</a:t>
            </a:r>
          </a:p>
        </p:txBody>
      </p:sp>
      <p:sp>
        <p:nvSpPr>
          <p:cNvPr id="4" name="element-2">
            <a:extLst xmlns:a="http://schemas.openxmlformats.org/drawingml/2006/main">
              <a:ext uri="{FF2B5EF4-FFF2-40B4-BE49-F238E27FC236}">
                <a16:creationId xmlns:a16="http://schemas.microsoft.com/office/drawing/2014/main" id="{279A7304-02CD-4F13-BA91-FF040FD72862}"/>
              </a:ext>
            </a:extLst>
          </p:cNvPr>
          <p:cNvSpPr>
            <a:spLocks xmlns:a="http://schemas.openxmlformats.org/drawingml/2006/main" noGrp="1"/>
          </p:cNvSpPr>
          <p:nvPr/>
        </p:nvSpPr>
        <p:spPr>
          <a:xfrm xmlns:a="http://schemas.openxmlformats.org/drawingml/2006/main">
            <a:off x="7505700" y="1524000"/>
            <a:ext cx="3467100" cy="3467100"/>
          </a:xfrm>
          <a:prstGeom xmlns:a="http://schemas.openxmlformats.org/drawingml/2006/main" prst="ellipse">
            <a:avLst/>
          </a:prstGeom>
          <a:solidFill xmlns:a="http://schemas.openxmlformats.org/drawingml/2006/main">
            <a:srgbClr val="D5E6CE"/>
          </a:solidFill>
          <a:ln xmlns:a="http://schemas.openxmlformats.org/drawingml/2006/main" w="0">
            <a:noFill/>
            <a:prstDash val="solid"/>
          </a:ln>
        </p:spPr>
      </p:sp>
      <p:sp>
        <p:nvSpPr>
          <p:cNvPr id="5" name="element-3">
            <a:extLst xmlns:a="http://schemas.openxmlformats.org/drawingml/2006/main">
              <a:ext uri="{FF2B5EF4-FFF2-40B4-BE49-F238E27FC236}">
                <a16:creationId xmlns:a16="http://schemas.microsoft.com/office/drawing/2014/main" id="{F0B9E5A3-DA45-4525-9B05-F9DD8F2501F3}"/>
              </a:ext>
            </a:extLst>
          </p:cNvPr>
          <p:cNvSpPr>
            <a:spLocks xmlns:a="http://schemas.openxmlformats.org/drawingml/2006/main" noGrp="1"/>
          </p:cNvSpPr>
          <p:nvPr/>
        </p:nvSpPr>
        <p:spPr>
          <a:xfrm xmlns:a="http://schemas.openxmlformats.org/drawingml/2006/main">
            <a:off x="7972425" y="2619375"/>
            <a:ext cx="857250" cy="857250"/>
          </a:xfrm>
          <a:prstGeom xmlns:a="http://schemas.openxmlformats.org/drawingml/2006/main" prst="ellipse">
            <a:avLst/>
          </a:prstGeom>
          <a:solidFill xmlns:a="http://schemas.openxmlformats.org/drawingml/2006/main">
            <a:srgbClr val="285A4A"/>
          </a:solidFill>
          <a:ln xmlns:a="http://schemas.openxmlformats.org/drawingml/2006/main" w="0">
            <a:noFill/>
            <a:prstDash val="solid"/>
          </a:ln>
        </p:spPr>
      </p:sp>
      <p:sp>
        <p:nvSpPr>
          <p:cNvPr id="6" name="element-4">
            <a:extLst xmlns:a="http://schemas.openxmlformats.org/drawingml/2006/main">
              <a:ext uri="{FF2B5EF4-FFF2-40B4-BE49-F238E27FC236}">
                <a16:creationId xmlns:a16="http://schemas.microsoft.com/office/drawing/2014/main" id="{608F20D8-ACD4-482F-BFD7-9479E9D3855B}"/>
              </a:ext>
            </a:extLst>
          </p:cNvPr>
          <p:cNvSpPr>
            <a:spLocks xmlns:a="http://schemas.openxmlformats.org/drawingml/2006/main" noGrp="1"/>
          </p:cNvSpPr>
          <p:nvPr/>
        </p:nvSpPr>
        <p:spPr>
          <a:xfrm xmlns:a="http://schemas.openxmlformats.org/drawingml/2006/main">
            <a:off x="9410700" y="2238375"/>
            <a:ext cx="857250" cy="857250"/>
          </a:xfrm>
          <a:prstGeom xmlns:a="http://schemas.openxmlformats.org/drawingml/2006/main" prst="ellipse">
            <a:avLst/>
          </a:prstGeom>
          <a:solidFill xmlns:a="http://schemas.openxmlformats.org/drawingml/2006/main">
            <a:srgbClr val="285A4A"/>
          </a:solidFill>
          <a:ln xmlns:a="http://schemas.openxmlformats.org/drawingml/2006/main" w="0">
            <a:noFill/>
            <a:prstDash val="solid"/>
          </a:ln>
        </p:spPr>
      </p:sp>
      <p:sp>
        <p:nvSpPr>
          <p:cNvPr id="7" name="element-5">
            <a:extLst xmlns:a="http://schemas.openxmlformats.org/drawingml/2006/main">
              <a:ext uri="{FF2B5EF4-FFF2-40B4-BE49-F238E27FC236}">
                <a16:creationId xmlns:a16="http://schemas.microsoft.com/office/drawing/2014/main" id="{1EDD84CD-3601-4CF7-8C23-6C8B75936971}"/>
              </a:ext>
            </a:extLst>
          </p:cNvPr>
          <p:cNvSpPr>
            <a:spLocks xmlns:a="http://schemas.openxmlformats.org/drawingml/2006/main" noGrp="1"/>
          </p:cNvSpPr>
          <p:nvPr/>
        </p:nvSpPr>
        <p:spPr>
          <a:xfrm xmlns:a="http://schemas.openxmlformats.org/drawingml/2006/main">
            <a:off x="9210675" y="3752850"/>
            <a:ext cx="857250" cy="857250"/>
          </a:xfrm>
          <a:prstGeom xmlns:a="http://schemas.openxmlformats.org/drawingml/2006/main" prst="ellipse">
            <a:avLst/>
          </a:prstGeom>
          <a:solidFill xmlns:a="http://schemas.openxmlformats.org/drawingml/2006/main">
            <a:srgbClr val="285A4A"/>
          </a:solidFill>
          <a:ln xmlns:a="http://schemas.openxmlformats.org/drawingml/2006/main" w="0">
            <a:noFill/>
            <a:prstDash val="solid"/>
          </a:ln>
        </p:spPr>
      </p:sp>
      <p:sp>
        <p:nvSpPr>
          <p:cNvPr id="8" name="element-6">
            <a:extLst xmlns:a="http://schemas.openxmlformats.org/drawingml/2006/main">
              <a:ext uri="{FF2B5EF4-FFF2-40B4-BE49-F238E27FC236}">
                <a16:creationId xmlns:a16="http://schemas.microsoft.com/office/drawing/2014/main" id="{02D471E0-8FB1-42C2-90FD-CB7D3DA9E033}"/>
              </a:ext>
            </a:extLst>
          </p:cNvPr>
          <p:cNvSpPr>
            <a:spLocks xmlns:a="http://schemas.openxmlformats.org/drawingml/2006/main" noGrp="1"/>
          </p:cNvSpPr>
          <p:nvPr/>
        </p:nvSpPr>
        <p:spPr>
          <a:xfrm xmlns:a="http://schemas.openxmlformats.org/drawingml/2006/main" flipV="1">
            <a:off x="8753475" y="2771775"/>
            <a:ext cx="676275" cy="171450"/>
          </a:xfrm>
          <a:prstGeom xmlns:a="http://schemas.openxmlformats.org/drawingml/2006/main" prst="line">
            <a:avLst/>
          </a:prstGeom>
          <a:noFill xmlns:a="http://schemas.openxmlformats.org/drawingml/2006/main"/>
          <a:ln xmlns:a="http://schemas.openxmlformats.org/drawingml/2006/main" w="47625">
            <a:solidFill>
              <a:srgbClr val="285A4A"/>
            </a:solidFill>
            <a:prstDash val="solid"/>
          </a:ln>
        </p:spPr>
      </p:sp>
      <p:sp>
        <p:nvSpPr>
          <p:cNvPr id="9" name="element-7">
            <a:extLst xmlns:a="http://schemas.openxmlformats.org/drawingml/2006/main">
              <a:ext uri="{FF2B5EF4-FFF2-40B4-BE49-F238E27FC236}">
                <a16:creationId xmlns:a16="http://schemas.microsoft.com/office/drawing/2014/main" id="{99E63F46-EF59-444B-AD25-4C881EBB115B}"/>
              </a:ext>
            </a:extLst>
          </p:cNvPr>
          <p:cNvSpPr>
            <a:spLocks xmlns:a="http://schemas.openxmlformats.org/drawingml/2006/main" noGrp="1"/>
          </p:cNvSpPr>
          <p:nvPr/>
        </p:nvSpPr>
        <p:spPr>
          <a:xfrm xmlns:a="http://schemas.openxmlformats.org/drawingml/2006/main" flipV="0">
            <a:off x="8601075" y="3371850"/>
            <a:ext cx="723900" cy="561975"/>
          </a:xfrm>
          <a:prstGeom xmlns:a="http://schemas.openxmlformats.org/drawingml/2006/main" prst="line">
            <a:avLst/>
          </a:prstGeom>
          <a:noFill xmlns:a="http://schemas.openxmlformats.org/drawingml/2006/main"/>
          <a:ln xmlns:a="http://schemas.openxmlformats.org/drawingml/2006/main" w="47625">
            <a:solidFill>
              <a:srgbClr val="285A4A"/>
            </a:solidFill>
            <a:prstDash val="solid"/>
          </a:ln>
        </p:spPr>
      </p:sp>
      <p:sp>
        <p:nvSpPr>
          <p:cNvPr id="10" name="element-8">
            <a:extLst xmlns:a="http://schemas.openxmlformats.org/drawingml/2006/main">
              <a:ext uri="{FF2B5EF4-FFF2-40B4-BE49-F238E27FC236}">
                <a16:creationId xmlns:a16="http://schemas.microsoft.com/office/drawing/2014/main" id="{37BFEAFD-8AA2-4A6C-A9A8-15D0E5CB06B5}"/>
              </a:ext>
            </a:extLst>
          </p:cNvPr>
          <p:cNvSpPr>
            <a:spLocks xmlns:a="http://schemas.openxmlformats.org/drawingml/2006/main" noGrp="1"/>
          </p:cNvSpPr>
          <p:nvPr/>
        </p:nvSpPr>
        <p:spPr>
          <a:xfrm xmlns:a="http://schemas.openxmlformats.org/drawingml/2006/main" flipV="1">
            <a:off x="9696450" y="3105150"/>
            <a:ext cx="95250" cy="628650"/>
          </a:xfrm>
          <a:prstGeom xmlns:a="http://schemas.openxmlformats.org/drawingml/2006/main" prst="line">
            <a:avLst/>
          </a:prstGeom>
          <a:noFill xmlns:a="http://schemas.openxmlformats.org/drawingml/2006/main"/>
          <a:ln xmlns:a="http://schemas.openxmlformats.org/drawingml/2006/main" w="47625">
            <a:solidFill>
              <a:srgbClr val="285A4A"/>
            </a:solidFill>
            <a:prstDash val="solid"/>
          </a:ln>
        </p:spPr>
      </p:sp>
      <p:sp>
        <p:nvSpPr>
          <p:cNvPr id="11" name="element-9-0">
            <a:extLst xmlns:a="http://schemas.openxmlformats.org/drawingml/2006/main">
              <a:ext uri="{FF2B5EF4-FFF2-40B4-BE49-F238E27FC236}">
                <a16:creationId xmlns:a16="http://schemas.microsoft.com/office/drawing/2014/main" id="{61842817-D0FC-4F6F-BC9D-D3C7F89C1924}"/>
              </a:ext>
            </a:extLst>
          </p:cNvPr>
          <p:cNvSpPr>
            <a:spLocks xmlns:a="http://schemas.openxmlformats.org/drawingml/2006/main" noGrp="1"/>
          </p:cNvSpPr>
          <p:nvPr/>
        </p:nvSpPr>
        <p:spPr>
          <a:xfrm xmlns:a="http://schemas.openxmlformats.org/drawingml/2006/main">
            <a:off x="685800" y="5018532"/>
            <a:ext cx="5822442" cy="366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213E34"/>
                </a:solidFill>
                <a:latin typeface="BIZ UDPGothic"/>
                <a:ea typeface="BIZ UDPGothic"/>
                <a:cs typeface="BIZ UDPGothic"/>
              </a:defRPr>
            </a:defPPr>
          </a:lstStyle>
          <a:p xmlns:a="http://schemas.openxmlformats.org/drawingml/2006/main">
            <a:pPr algn="l">
              <a:defRPr sz="1950" b="0">
                <a:solidFill>
                  <a:srgbClr val="213E34"/>
                </a:solidFill>
                <a:latin typeface="BIZ UDPGothic"/>
                <a:ea typeface="BIZ UDPGothic"/>
                <a:cs typeface="BIZ UDPGothic"/>
              </a:defRPr>
            </a:pPr>
            <a:r>
              <a:rPr sz="1950" b="0">
                <a:solidFill>
                  <a:srgbClr val="213E34"/>
                </a:solidFill>
                <a:latin typeface="BIZ UDPGothic"/>
                <a:ea typeface="BIZ UDPGothic"/>
                <a:cs typeface="BIZ UDPGothic"/>
              </a:rPr>
              <a:t>文章を作るAIを例に、入力と出力の関係を学ぶ。</a:t>
            </a:r>
          </a:p>
        </p:txBody>
      </p:sp>
      <p:sp>
        <p:nvSpPr>
          <p:cNvPr id="12" name="element-10-0">
            <a:extLst xmlns:a="http://schemas.openxmlformats.org/drawingml/2006/main">
              <a:ext uri="{FF2B5EF4-FFF2-40B4-BE49-F238E27FC236}">
                <a16:creationId xmlns:a16="http://schemas.microsoft.com/office/drawing/2014/main" id="{714D38C6-7CBD-43FF-B2F2-23B93D359810}"/>
              </a:ext>
            </a:extLst>
          </p:cNvPr>
          <p:cNvSpPr>
            <a:spLocks xmlns:a="http://schemas.openxmlformats.org/drawingml/2006/main" noGrp="1"/>
          </p:cNvSpPr>
          <p:nvPr/>
        </p:nvSpPr>
        <p:spPr>
          <a:xfrm xmlns:a="http://schemas.openxmlformats.org/drawingml/2006/main">
            <a:off x="685800" y="6287262"/>
            <a:ext cx="2932176"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213E34"/>
                </a:solidFill>
                <a:latin typeface="BIZ UDPGothic"/>
                <a:ea typeface="BIZ UDPGothic"/>
                <a:cs typeface="BIZ UDPGothic"/>
              </a:defRPr>
            </a:defPPr>
          </a:lstStyle>
          <a:p xmlns:a="http://schemas.openxmlformats.org/drawingml/2006/main">
            <a:pPr algn="l">
              <a:defRPr sz="1200" b="0">
                <a:solidFill>
                  <a:srgbClr val="213E34"/>
                </a:solidFill>
                <a:latin typeface="BIZ UDPGothic"/>
                <a:ea typeface="BIZ UDPGothic"/>
                <a:cs typeface="BIZ UDPGothic"/>
              </a:defRPr>
            </a:pPr>
            <a:r>
              <a:rPr sz="1200" b="0">
                <a:solidFill>
                  <a:srgbClr val="213E34"/>
                </a:solidFill>
                <a:latin typeface="BIZ UDPGothic"/>
                <a:ea typeface="BIZ UDPGothic"/>
                <a:cs typeface="BIZ UDPGothic"/>
              </a:rPr>
              <a:t>Studio Yebisu · オリジナル作例</a:t>
            </a:r>
          </a:p>
        </p:txBody>
      </p:sp>
      <p:sp>
        <p:nvSpPr>
          <p:cNvPr id="13" name="element-11-0">
            <a:extLst xmlns:a="http://schemas.openxmlformats.org/drawingml/2006/main">
              <a:ext uri="{FF2B5EF4-FFF2-40B4-BE49-F238E27FC236}">
                <a16:creationId xmlns:a16="http://schemas.microsoft.com/office/drawing/2014/main" id="{FD161805-2E3C-4DB1-A9E3-F84255D8F55B}"/>
              </a:ext>
            </a:extLst>
          </p:cNvPr>
          <p:cNvSpPr>
            <a:spLocks xmlns:a="http://schemas.openxmlformats.org/drawingml/2006/main" noGrp="1"/>
          </p:cNvSpPr>
          <p:nvPr/>
        </p:nvSpPr>
        <p:spPr>
          <a:xfrm xmlns:a="http://schemas.openxmlformats.org/drawingml/2006/main">
            <a:off x="10518648" y="6287262"/>
            <a:ext cx="987552"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213E34"/>
                </a:solidFill>
                <a:latin typeface="BIZ UDPGothic"/>
                <a:ea typeface="BIZ UDPGothic"/>
                <a:cs typeface="BIZ UDPGothic"/>
              </a:defRPr>
            </a:defPPr>
          </a:lstStyle>
          <a:p xmlns:a="http://schemas.openxmlformats.org/drawingml/2006/main">
            <a:pPr algn="r">
              <a:defRPr sz="1200" b="0">
                <a:solidFill>
                  <a:srgbClr val="213E34"/>
                </a:solidFill>
                <a:latin typeface="BIZ UDPGothic"/>
                <a:ea typeface="BIZ UDPGothic"/>
                <a:cs typeface="BIZ UDPGothic"/>
              </a:defRPr>
            </a:pPr>
            <a:r>
              <a:rPr sz="1200" b="0">
                <a:solidFill>
                  <a:srgbClr val="213E34"/>
                </a:solidFill>
                <a:latin typeface="BIZ UDPGothic"/>
                <a:ea typeface="BIZ UDPGothic"/>
                <a:cs typeface="BIZ UDPGothic"/>
              </a:rPr>
              <a:t>01 / 04</a:t>
            </a:r>
          </a:p>
        </p:txBody>
      </p:sp>
    </p:spTree>
    <p:extLst>
      <p:ext uri="{BB962C8B-B14F-4D97-AF65-F5344CB8AC3E}">
        <p14:creationId xmlns:p14="http://schemas.microsoft.com/office/powerpoint/2010/main" val="898810375"/>
      </p:ext>
    </p:extLst>
  </p:cSld>
</p:sld>
</file>

<file path=ppt/slides/slide2.xml><?xml version="1.0" encoding="utf-8"?>
<p:sld xmlns:p="http://schemas.openxmlformats.org/presentationml/2006/main">
  <p:cSld>
    <p:bg>
      <p:bgPr>
        <a:solidFill xmlns:a="http://schemas.openxmlformats.org/drawingml/2006/main">
          <a:srgbClr val="ECF4E9"/>
        </a:solidFill>
      </p:bgPr>
    </p:bg>
    <p:spTree>
      <p:nvGrpSpPr>
        <p:cNvPr id="1" name=""/>
        <p:cNvGrpSpPr/>
        <p:nvPr/>
      </p:nvGrpSpPr>
      <p:grpSpPr>
        <a:xfrm xmlns:a="http://schemas.openxmlformats.org/drawingml/2006/main"/>
      </p:grpSpPr>
      <p:sp>
        <p:nvSpPr>
          <p:cNvPr id="15" name="element-0-0">
            <a:extLst xmlns:a="http://schemas.openxmlformats.org/drawingml/2006/main">
              <a:ext uri="{FF2B5EF4-FFF2-40B4-BE49-F238E27FC236}">
                <a16:creationId xmlns:a16="http://schemas.microsoft.com/office/drawing/2014/main" id="{5C0C343C-79D3-4F41-9A9A-104464C13FA9}"/>
              </a:ext>
            </a:extLst>
          </p:cNvPr>
          <p:cNvSpPr>
            <a:spLocks xmlns:a="http://schemas.openxmlformats.org/drawingml/2006/main" noGrp="1"/>
          </p:cNvSpPr>
          <p:nvPr/>
        </p:nvSpPr>
        <p:spPr>
          <a:xfrm xmlns:a="http://schemas.openxmlformats.org/drawingml/2006/main">
            <a:off x="685800" y="493776"/>
            <a:ext cx="1950720" cy="2537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285A4A"/>
                </a:solidFill>
                <a:latin typeface="BIZ UDPGothic"/>
                <a:ea typeface="BIZ UDPGothic"/>
                <a:cs typeface="BIZ UDPGothic"/>
              </a:defRPr>
            </a:defPPr>
          </a:lstStyle>
          <a:p xmlns:a="http://schemas.openxmlformats.org/drawingml/2006/main">
            <a:pPr algn="l">
              <a:defRPr sz="1350" b="1">
                <a:solidFill>
                  <a:srgbClr val="285A4A"/>
                </a:solidFill>
                <a:latin typeface="BIZ UDPGothic"/>
                <a:ea typeface="BIZ UDPGothic"/>
                <a:cs typeface="BIZ UDPGothic"/>
              </a:defRPr>
            </a:pPr>
            <a:r>
              <a:rPr sz="1350" b="1">
                <a:solidFill>
                  <a:srgbClr val="285A4A"/>
                </a:solidFill>
                <a:latin typeface="BIZ UDPGothic"/>
                <a:ea typeface="BIZ UDPGothic"/>
                <a:cs typeface="BIZ UDPGothic"/>
              </a:rPr>
              <a:t>TEXT GENERATION</a:t>
            </a:r>
          </a:p>
        </p:txBody>
      </p:sp>
      <p:sp>
        <p:nvSpPr>
          <p:cNvPr id="2" name="element-1-0">
            <a:extLst xmlns:a="http://schemas.openxmlformats.org/drawingml/2006/main">
              <a:ext uri="{FF2B5EF4-FFF2-40B4-BE49-F238E27FC236}">
                <a16:creationId xmlns:a16="http://schemas.microsoft.com/office/drawing/2014/main" id="{CF76EEF9-4FDE-4177-AA2A-215BFF6A3281}"/>
              </a:ext>
            </a:extLst>
          </p:cNvPr>
          <p:cNvSpPr>
            <a:spLocks xmlns:a="http://schemas.openxmlformats.org/drawingml/2006/main" noGrp="1"/>
          </p:cNvSpPr>
          <p:nvPr/>
        </p:nvSpPr>
        <p:spPr>
          <a:xfrm xmlns:a="http://schemas.openxmlformats.org/drawingml/2006/main">
            <a:off x="685800" y="983361"/>
            <a:ext cx="6248400" cy="676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213E34"/>
                </a:solidFill>
                <a:latin typeface="BIZ UDPGothic"/>
                <a:ea typeface="BIZ UDPGothic"/>
                <a:cs typeface="BIZ UDPGothic"/>
              </a:defRPr>
            </a:defPPr>
          </a:lstStyle>
          <a:p xmlns:a="http://schemas.openxmlformats.org/drawingml/2006/main">
            <a:pPr algn="l">
              <a:defRPr sz="3600" b="1">
                <a:solidFill>
                  <a:srgbClr val="213E34"/>
                </a:solidFill>
                <a:latin typeface="BIZ UDPGothic"/>
                <a:ea typeface="BIZ UDPGothic"/>
                <a:cs typeface="BIZ UDPGothic"/>
              </a:defRPr>
            </a:pPr>
            <a:r>
              <a:rPr sz="3600" b="1">
                <a:solidFill>
                  <a:srgbClr val="213E34"/>
                </a:solidFill>
                <a:latin typeface="BIZ UDPGothic"/>
                <a:ea typeface="BIZ UDPGothic"/>
                <a:cs typeface="BIZ UDPGothic"/>
              </a:rPr>
              <a:t>入力から、次の言葉の候補へ</a:t>
            </a:r>
          </a:p>
        </p:txBody>
      </p:sp>
      <p:sp>
        <p:nvSpPr>
          <p:cNvPr id="3" name="element-2">
            <a:extLst xmlns:a="http://schemas.openxmlformats.org/drawingml/2006/main">
              <a:ext uri="{FF2B5EF4-FFF2-40B4-BE49-F238E27FC236}">
                <a16:creationId xmlns:a16="http://schemas.microsoft.com/office/drawing/2014/main" id="{B9682539-6B4E-458D-9E55-EEB231AD1FC0}"/>
              </a:ext>
            </a:extLst>
          </p:cNvPr>
          <p:cNvSpPr>
            <a:spLocks xmlns:a="http://schemas.openxmlformats.org/drawingml/2006/main" noGrp="1"/>
          </p:cNvSpPr>
          <p:nvPr/>
        </p:nvSpPr>
        <p:spPr>
          <a:xfrm xmlns:a="http://schemas.openxmlformats.org/drawingml/2006/main" flipV="0">
            <a:off x="685800" y="1857375"/>
            <a:ext cx="10820400" cy="9525"/>
          </a:xfrm>
          <a:prstGeom xmlns:a="http://schemas.openxmlformats.org/drawingml/2006/main" prst="line">
            <a:avLst/>
          </a:prstGeom>
          <a:noFill xmlns:a="http://schemas.openxmlformats.org/drawingml/2006/main"/>
          <a:ln xmlns:a="http://schemas.openxmlformats.org/drawingml/2006/main" w="9525">
            <a:solidFill>
              <a:srgbClr val="285A4A"/>
            </a:solidFill>
            <a:prstDash val="solid"/>
          </a:ln>
        </p:spPr>
      </p:sp>
      <p:sp>
        <p:nvSpPr>
          <p:cNvPr id="4" name="element-3">
            <a:extLst xmlns:a="http://schemas.openxmlformats.org/drawingml/2006/main">
              <a:ext uri="{FF2B5EF4-FFF2-40B4-BE49-F238E27FC236}">
                <a16:creationId xmlns:a16="http://schemas.microsoft.com/office/drawing/2014/main" id="{F24FBE77-1F20-40B3-937F-7CD44D98C450}"/>
              </a:ext>
            </a:extLst>
          </p:cNvPr>
          <p:cNvSpPr>
            <a:spLocks xmlns:a="http://schemas.openxmlformats.org/drawingml/2006/main" noGrp="1"/>
          </p:cNvSpPr>
          <p:nvPr/>
        </p:nvSpPr>
        <p:spPr>
          <a:xfrm xmlns:a="http://schemas.openxmlformats.org/drawingml/2006/main">
            <a:off x="685800" y="2667000"/>
            <a:ext cx="30480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0">
            <a:noFill/>
            <a:prstDash val="solid"/>
          </a:ln>
        </p:spPr>
      </p:sp>
      <p:sp>
        <p:nvSpPr>
          <p:cNvPr id="5" name="element-4-0">
            <a:extLst xmlns:a="http://schemas.openxmlformats.org/drawingml/2006/main">
              <a:ext uri="{FF2B5EF4-FFF2-40B4-BE49-F238E27FC236}">
                <a16:creationId xmlns:a16="http://schemas.microsoft.com/office/drawing/2014/main" id="{852DA1D3-C189-476B-AD24-7AF57EDD970E}"/>
              </a:ext>
            </a:extLst>
          </p:cNvPr>
          <p:cNvSpPr>
            <a:spLocks xmlns:a="http://schemas.openxmlformats.org/drawingml/2006/main" noGrp="1"/>
          </p:cNvSpPr>
          <p:nvPr/>
        </p:nvSpPr>
        <p:spPr>
          <a:xfrm xmlns:a="http://schemas.openxmlformats.org/drawingml/2006/main">
            <a:off x="1028700" y="2934843"/>
            <a:ext cx="76200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285A4A"/>
                </a:solidFill>
                <a:latin typeface="BIZ UDPGothic"/>
                <a:ea typeface="BIZ UDPGothic"/>
                <a:cs typeface="BIZ UDPGothic"/>
              </a:defRPr>
            </a:defPPr>
          </a:lstStyle>
          <a:p xmlns:a="http://schemas.openxmlformats.org/drawingml/2006/main">
            <a:pPr algn="l">
              <a:defRPr sz="1800" b="1">
                <a:solidFill>
                  <a:srgbClr val="285A4A"/>
                </a:solidFill>
                <a:latin typeface="BIZ UDPGothic"/>
                <a:ea typeface="BIZ UDPGothic"/>
                <a:cs typeface="BIZ UDPGothic"/>
              </a:defRPr>
            </a:pPr>
            <a:r>
              <a:rPr sz="1800" b="1">
                <a:solidFill>
                  <a:srgbClr val="285A4A"/>
                </a:solidFill>
                <a:latin typeface="BIZ UDPGothic"/>
                <a:ea typeface="BIZ UDPGothic"/>
                <a:cs typeface="BIZ UDPGothic"/>
              </a:rPr>
              <a:t>入力</a:t>
            </a:r>
          </a:p>
        </p:txBody>
      </p:sp>
      <p:sp>
        <p:nvSpPr>
          <p:cNvPr id="6" name="element-5-0">
            <a:extLst xmlns:a="http://schemas.openxmlformats.org/drawingml/2006/main">
              <a:ext uri="{FF2B5EF4-FFF2-40B4-BE49-F238E27FC236}">
                <a16:creationId xmlns:a16="http://schemas.microsoft.com/office/drawing/2014/main" id="{27A44AA6-1971-46D9-B77B-24F8AA0C03C0}"/>
              </a:ext>
            </a:extLst>
          </p:cNvPr>
          <p:cNvSpPr>
            <a:spLocks xmlns:a="http://schemas.openxmlformats.org/drawingml/2006/main" noGrp="1"/>
          </p:cNvSpPr>
          <p:nvPr/>
        </p:nvSpPr>
        <p:spPr>
          <a:xfrm xmlns:a="http://schemas.openxmlformats.org/drawingml/2006/main">
            <a:off x="1028700" y="3328416"/>
            <a:ext cx="211455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213E34"/>
                </a:solidFill>
                <a:latin typeface="BIZ UDPGothic"/>
                <a:ea typeface="BIZ UDPGothic"/>
                <a:cs typeface="BIZ UDPGothic"/>
              </a:defRPr>
            </a:defPPr>
          </a:lstStyle>
          <a:p xmlns:a="http://schemas.openxmlformats.org/drawingml/2006/main">
            <a:pPr algn="l">
              <a:defRPr sz="2850" b="1">
                <a:solidFill>
                  <a:srgbClr val="213E34"/>
                </a:solidFill>
                <a:latin typeface="BIZ UDPGothic"/>
                <a:ea typeface="BIZ UDPGothic"/>
                <a:cs typeface="BIZ UDPGothic"/>
              </a:defRPr>
            </a:pPr>
            <a:r>
              <a:rPr sz="2850" b="1">
                <a:solidFill>
                  <a:srgbClr val="213E34"/>
                </a:solidFill>
                <a:latin typeface="BIZ UDPGothic"/>
                <a:ea typeface="BIZ UDPGothic"/>
                <a:cs typeface="BIZ UDPGothic"/>
              </a:rPr>
              <a:t>「今日は」</a:t>
            </a:r>
          </a:p>
        </p:txBody>
      </p:sp>
      <p:sp>
        <p:nvSpPr>
          <p:cNvPr id="7" name="element-6">
            <a:extLst xmlns:a="http://schemas.openxmlformats.org/drawingml/2006/main">
              <a:ext uri="{FF2B5EF4-FFF2-40B4-BE49-F238E27FC236}">
                <a16:creationId xmlns:a16="http://schemas.microsoft.com/office/drawing/2014/main" id="{1E68D047-76FC-4614-B1C9-52570ADE628A}"/>
              </a:ext>
            </a:extLst>
          </p:cNvPr>
          <p:cNvSpPr>
            <a:spLocks xmlns:a="http://schemas.openxmlformats.org/drawingml/2006/main" noGrp="1"/>
          </p:cNvSpPr>
          <p:nvPr/>
        </p:nvSpPr>
        <p:spPr>
          <a:xfrm xmlns:a="http://schemas.openxmlformats.org/drawingml/2006/main" flipV="0">
            <a:off x="3981450" y="3362325"/>
            <a:ext cx="1200150" cy="9525"/>
          </a:xfrm>
          <a:prstGeom xmlns:a="http://schemas.openxmlformats.org/drawingml/2006/main" prst="line">
            <a:avLst/>
          </a:prstGeom>
          <a:noFill xmlns:a="http://schemas.openxmlformats.org/drawingml/2006/main"/>
          <a:ln xmlns:a="http://schemas.openxmlformats.org/drawingml/2006/main" w="47625">
            <a:solidFill>
              <a:srgbClr val="285A4A"/>
            </a:solidFill>
            <a:prstDash val="solid"/>
          </a:ln>
        </p:spPr>
      </p:sp>
      <p:sp>
        <p:nvSpPr>
          <p:cNvPr id="8" name="element-7">
            <a:extLst xmlns:a="http://schemas.openxmlformats.org/drawingml/2006/main">
              <a:ext uri="{FF2B5EF4-FFF2-40B4-BE49-F238E27FC236}">
                <a16:creationId xmlns:a16="http://schemas.microsoft.com/office/drawing/2014/main" id="{B12A5675-2EFE-4E8A-B90B-A00E2131EF0B}"/>
              </a:ext>
            </a:extLst>
          </p:cNvPr>
          <p:cNvSpPr>
            <a:spLocks xmlns:a="http://schemas.openxmlformats.org/drawingml/2006/main" noGrp="1"/>
          </p:cNvSpPr>
          <p:nvPr/>
        </p:nvSpPr>
        <p:spPr>
          <a:xfrm xmlns:a="http://schemas.openxmlformats.org/drawingml/2006/main">
            <a:off x="4981575" y="3209925"/>
            <a:ext cx="200025" cy="304800"/>
          </a:xfrm>
          <a:custGeom xmlns:a="http://schemas.openxmlformats.org/drawingml/2006/main">
            <a:pathLst>
              <a:path w="200025" h="304800">
                <a:moveTo>
                  <a:pt x="0" y="0"/>
                </a:moveTo>
                <a:lnTo>
                  <a:pt x="200025" y="152400"/>
                </a:lnTo>
                <a:lnTo>
                  <a:pt x="0" y="304800"/>
                </a:lnTo>
              </a:path>
            </a:pathLst>
          </a:custGeom>
          <a:noFill xmlns:a="http://schemas.openxmlformats.org/drawingml/2006/main"/>
          <a:ln xmlns:a="http://schemas.openxmlformats.org/drawingml/2006/main" w="47625">
            <a:solidFill>
              <a:srgbClr val="285A4A"/>
            </a:solidFill>
            <a:prstDash val="solid"/>
          </a:ln>
        </p:spPr>
      </p:sp>
      <p:sp>
        <p:nvSpPr>
          <p:cNvPr id="9" name="element-8-0">
            <a:extLst xmlns:a="http://schemas.openxmlformats.org/drawingml/2006/main">
              <a:ext uri="{FF2B5EF4-FFF2-40B4-BE49-F238E27FC236}">
                <a16:creationId xmlns:a16="http://schemas.microsoft.com/office/drawing/2014/main" id="{5482B4C9-AEB6-4E62-B91A-EEA6905A948E}"/>
              </a:ext>
            </a:extLst>
          </p:cNvPr>
          <p:cNvSpPr>
            <a:spLocks xmlns:a="http://schemas.openxmlformats.org/drawingml/2006/main" noGrp="1"/>
          </p:cNvSpPr>
          <p:nvPr/>
        </p:nvSpPr>
        <p:spPr>
          <a:xfrm xmlns:a="http://schemas.openxmlformats.org/drawingml/2006/main">
            <a:off x="5715000" y="2480310"/>
            <a:ext cx="23050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213E34"/>
                </a:solidFill>
                <a:latin typeface="BIZ UDPGothic"/>
                <a:ea typeface="BIZ UDPGothic"/>
                <a:cs typeface="BIZ UDPGothic"/>
              </a:defRPr>
            </a:defPPr>
          </a:lstStyle>
          <a:p xmlns:a="http://schemas.openxmlformats.org/drawingml/2006/main">
            <a:pPr algn="l">
              <a:defRPr sz="2250" b="1">
                <a:solidFill>
                  <a:srgbClr val="213E34"/>
                </a:solidFill>
                <a:latin typeface="BIZ UDPGothic"/>
                <a:ea typeface="BIZ UDPGothic"/>
                <a:cs typeface="BIZ UDPGothic"/>
              </a:defRPr>
            </a:pPr>
            <a:r>
              <a:rPr sz="2250" b="1">
                <a:solidFill>
                  <a:srgbClr val="213E34"/>
                </a:solidFill>
                <a:latin typeface="BIZ UDPGothic"/>
                <a:ea typeface="BIZ UDPGothic"/>
                <a:cs typeface="BIZ UDPGothic"/>
              </a:rPr>
              <a:t>次の言葉の候補</a:t>
            </a:r>
          </a:p>
        </p:txBody>
      </p:sp>
      <p:sp>
        <p:nvSpPr>
          <p:cNvPr id="10" name="element-9-0">
            <a:extLst xmlns:a="http://schemas.openxmlformats.org/drawingml/2006/main">
              <a:ext uri="{FF2B5EF4-FFF2-40B4-BE49-F238E27FC236}">
                <a16:creationId xmlns:a16="http://schemas.microsoft.com/office/drawing/2014/main" id="{7D2A285E-88F7-472B-BCFE-787F5B6ABB40}"/>
              </a:ext>
            </a:extLst>
          </p:cNvPr>
          <p:cNvSpPr>
            <a:spLocks xmlns:a="http://schemas.openxmlformats.org/drawingml/2006/main" noGrp="1"/>
          </p:cNvSpPr>
          <p:nvPr/>
        </p:nvSpPr>
        <p:spPr>
          <a:xfrm xmlns:a="http://schemas.openxmlformats.org/drawingml/2006/main">
            <a:off x="5715000" y="3135249"/>
            <a:ext cx="4218432"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85A4A"/>
                </a:solidFill>
                <a:latin typeface="BIZ UDPGothic"/>
                <a:ea typeface="BIZ UDPGothic"/>
                <a:cs typeface="BIZ UDPGothic"/>
              </a:defRPr>
            </a:defPPr>
          </a:lstStyle>
          <a:p xmlns:a="http://schemas.openxmlformats.org/drawingml/2006/main">
            <a:pPr algn="l">
              <a:defRPr sz="2400" b="1">
                <a:solidFill>
                  <a:srgbClr val="285A4A"/>
                </a:solidFill>
                <a:latin typeface="BIZ UDPGothic"/>
                <a:ea typeface="BIZ UDPGothic"/>
                <a:cs typeface="BIZ UDPGothic"/>
              </a:defRPr>
            </a:pPr>
            <a:r>
              <a:rPr sz="2400" b="1">
                <a:solidFill>
                  <a:srgbClr val="285A4A"/>
                </a:solidFill>
                <a:latin typeface="BIZ UDPGothic"/>
                <a:ea typeface="BIZ UDPGothic"/>
                <a:cs typeface="BIZ UDPGothic"/>
              </a:rPr>
              <a:t>晴れです / 寒いです / …</a:t>
            </a:r>
          </a:p>
        </p:txBody>
      </p:sp>
      <p:sp>
        <p:nvSpPr>
          <p:cNvPr id="11" name="element-10-0">
            <a:extLst xmlns:a="http://schemas.openxmlformats.org/drawingml/2006/main">
              <a:ext uri="{FF2B5EF4-FFF2-40B4-BE49-F238E27FC236}">
                <a16:creationId xmlns:a16="http://schemas.microsoft.com/office/drawing/2014/main" id="{4E61212B-7215-40F6-BDD3-43CF723087A7}"/>
              </a:ext>
            </a:extLst>
          </p:cNvPr>
          <p:cNvSpPr>
            <a:spLocks xmlns:a="http://schemas.openxmlformats.org/drawingml/2006/main" noGrp="1"/>
          </p:cNvSpPr>
          <p:nvPr/>
        </p:nvSpPr>
        <p:spPr>
          <a:xfrm xmlns:a="http://schemas.openxmlformats.org/drawingml/2006/main">
            <a:off x="685800" y="4742688"/>
            <a:ext cx="4514850" cy="479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1">
                <a:solidFill>
                  <a:srgbClr val="213E34"/>
                </a:solidFill>
                <a:latin typeface="BIZ UDPGothic"/>
                <a:ea typeface="BIZ UDPGothic"/>
                <a:cs typeface="BIZ UDPGothic"/>
              </a:defRPr>
            </a:defPPr>
          </a:lstStyle>
          <a:p xmlns:a="http://schemas.openxmlformats.org/drawingml/2006/main">
            <a:pPr algn="l">
              <a:defRPr sz="2550" b="1">
                <a:solidFill>
                  <a:srgbClr val="213E34"/>
                </a:solidFill>
                <a:latin typeface="BIZ UDPGothic"/>
                <a:ea typeface="BIZ UDPGothic"/>
                <a:cs typeface="BIZ UDPGothic"/>
              </a:defRPr>
            </a:pPr>
            <a:r>
              <a:rPr sz="2550" b="1">
                <a:solidFill>
                  <a:srgbClr val="213E34"/>
                </a:solidFill>
                <a:latin typeface="BIZ UDPGothic"/>
                <a:ea typeface="BIZ UDPGothic"/>
                <a:cs typeface="BIZ UDPGothic"/>
              </a:rPr>
              <a:t>学習したパターンを使って、</a:t>
            </a:r>
          </a:p>
        </p:txBody>
      </p:sp>
      <p:sp>
        <p:nvSpPr>
          <p:cNvPr id="12" name="element-10-1">
            <a:extLst xmlns:a="http://schemas.openxmlformats.org/drawingml/2006/main">
              <a:ext uri="{FF2B5EF4-FFF2-40B4-BE49-F238E27FC236}">
                <a16:creationId xmlns:a16="http://schemas.microsoft.com/office/drawing/2014/main" id="{6C1BAEDA-D2EA-4847-BB14-85699DB79750}"/>
              </a:ext>
            </a:extLst>
          </p:cNvPr>
          <p:cNvSpPr>
            <a:spLocks xmlns:a="http://schemas.openxmlformats.org/drawingml/2006/main" noGrp="1"/>
          </p:cNvSpPr>
          <p:nvPr/>
        </p:nvSpPr>
        <p:spPr>
          <a:xfrm xmlns:a="http://schemas.openxmlformats.org/drawingml/2006/main">
            <a:off x="685800" y="5257038"/>
            <a:ext cx="5162550" cy="479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1">
                <a:solidFill>
                  <a:srgbClr val="213E34"/>
                </a:solidFill>
                <a:latin typeface="BIZ UDPGothic"/>
                <a:ea typeface="BIZ UDPGothic"/>
                <a:cs typeface="BIZ UDPGothic"/>
              </a:defRPr>
            </a:defPPr>
          </a:lstStyle>
          <a:p xmlns:a="http://schemas.openxmlformats.org/drawingml/2006/main">
            <a:pPr algn="l">
              <a:defRPr sz="2550" b="1">
                <a:solidFill>
                  <a:srgbClr val="213E34"/>
                </a:solidFill>
                <a:latin typeface="BIZ UDPGothic"/>
                <a:ea typeface="BIZ UDPGothic"/>
                <a:cs typeface="BIZ UDPGothic"/>
              </a:defRPr>
            </a:pPr>
            <a:r>
              <a:rPr sz="2550" b="1">
                <a:solidFill>
                  <a:srgbClr val="213E34"/>
                </a:solidFill>
                <a:latin typeface="BIZ UDPGothic"/>
                <a:ea typeface="BIZ UDPGothic"/>
                <a:cs typeface="BIZ UDPGothic"/>
              </a:rPr>
              <a:t>文脈に合う続きを少しずつ作る。</a:t>
            </a:r>
          </a:p>
        </p:txBody>
      </p:sp>
      <p:sp>
        <p:nvSpPr>
          <p:cNvPr id="13" name="element-11-0">
            <a:extLst xmlns:a="http://schemas.openxmlformats.org/drawingml/2006/main">
              <a:ext uri="{FF2B5EF4-FFF2-40B4-BE49-F238E27FC236}">
                <a16:creationId xmlns:a16="http://schemas.microsoft.com/office/drawing/2014/main" id="{2378E20A-9EA8-46A4-A33D-68B08A7D53C7}"/>
              </a:ext>
            </a:extLst>
          </p:cNvPr>
          <p:cNvSpPr>
            <a:spLocks xmlns:a="http://schemas.openxmlformats.org/drawingml/2006/main" noGrp="1"/>
          </p:cNvSpPr>
          <p:nvPr/>
        </p:nvSpPr>
        <p:spPr>
          <a:xfrm xmlns:a="http://schemas.openxmlformats.org/drawingml/2006/main">
            <a:off x="685800" y="6287262"/>
            <a:ext cx="2932176"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213E34"/>
                </a:solidFill>
                <a:latin typeface="BIZ UDPGothic"/>
                <a:ea typeface="BIZ UDPGothic"/>
                <a:cs typeface="BIZ UDPGothic"/>
              </a:defRPr>
            </a:defPPr>
          </a:lstStyle>
          <a:p xmlns:a="http://schemas.openxmlformats.org/drawingml/2006/main">
            <a:pPr algn="l">
              <a:defRPr sz="1200" b="0">
                <a:solidFill>
                  <a:srgbClr val="213E34"/>
                </a:solidFill>
                <a:latin typeface="BIZ UDPGothic"/>
                <a:ea typeface="BIZ UDPGothic"/>
                <a:cs typeface="BIZ UDPGothic"/>
              </a:defRPr>
            </a:pPr>
            <a:r>
              <a:rPr sz="1200" b="0">
                <a:solidFill>
                  <a:srgbClr val="213E34"/>
                </a:solidFill>
                <a:latin typeface="BIZ UDPGothic"/>
                <a:ea typeface="BIZ UDPGothic"/>
                <a:cs typeface="BIZ UDPGothic"/>
              </a:rPr>
              <a:t>Studio Yebisu · オリジナル作例</a:t>
            </a:r>
          </a:p>
        </p:txBody>
      </p:sp>
      <p:sp>
        <p:nvSpPr>
          <p:cNvPr id="14" name="element-12-0">
            <a:extLst xmlns:a="http://schemas.openxmlformats.org/drawingml/2006/main">
              <a:ext uri="{FF2B5EF4-FFF2-40B4-BE49-F238E27FC236}">
                <a16:creationId xmlns:a16="http://schemas.microsoft.com/office/drawing/2014/main" id="{6FAF1DCB-B5D8-4C64-A220-5843B3987F4F}"/>
              </a:ext>
            </a:extLst>
          </p:cNvPr>
          <p:cNvSpPr>
            <a:spLocks xmlns:a="http://schemas.openxmlformats.org/drawingml/2006/main" noGrp="1"/>
          </p:cNvSpPr>
          <p:nvPr/>
        </p:nvSpPr>
        <p:spPr>
          <a:xfrm xmlns:a="http://schemas.openxmlformats.org/drawingml/2006/main">
            <a:off x="10518648" y="6287262"/>
            <a:ext cx="987552"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213E34"/>
                </a:solidFill>
                <a:latin typeface="BIZ UDPGothic"/>
                <a:ea typeface="BIZ UDPGothic"/>
                <a:cs typeface="BIZ UDPGothic"/>
              </a:defRPr>
            </a:defPPr>
          </a:lstStyle>
          <a:p xmlns:a="http://schemas.openxmlformats.org/drawingml/2006/main">
            <a:pPr algn="r">
              <a:defRPr sz="1200" b="0">
                <a:solidFill>
                  <a:srgbClr val="213E34"/>
                </a:solidFill>
                <a:latin typeface="BIZ UDPGothic"/>
                <a:ea typeface="BIZ UDPGothic"/>
                <a:cs typeface="BIZ UDPGothic"/>
              </a:defRPr>
            </a:pPr>
            <a:r>
              <a:rPr sz="1200" b="0">
                <a:solidFill>
                  <a:srgbClr val="213E34"/>
                </a:solidFill>
                <a:latin typeface="BIZ UDPGothic"/>
                <a:ea typeface="BIZ UDPGothic"/>
                <a:cs typeface="BIZ UDPGothic"/>
              </a:rPr>
              <a:t>02 / 04</a:t>
            </a:r>
          </a:p>
        </p:txBody>
      </p:sp>
    </p:spTree>
    <p:extLst>
      <p:ext uri="{BB962C8B-B14F-4D97-AF65-F5344CB8AC3E}">
        <p14:creationId xmlns:p14="http://schemas.microsoft.com/office/powerpoint/2010/main" val="348721303"/>
      </p:ext>
    </p:extLst>
  </p:cSld>
</p:sld>
</file>

<file path=ppt/slides/slide3.xml><?xml version="1.0" encoding="utf-8"?>
<p:sld xmlns:p="http://schemas.openxmlformats.org/presentationml/2006/main">
  <p:cSld>
    <p:bg>
      <p:bgPr>
        <a:solidFill xmlns:a="http://schemas.openxmlformats.org/drawingml/2006/main">
          <a:srgbClr val="ECF4E9"/>
        </a:solidFill>
      </p:bgPr>
    </p:bg>
    <p:spTree>
      <p:nvGrpSpPr>
        <p:cNvPr id="1" name=""/>
        <p:cNvGrpSpPr/>
        <p:nvPr/>
      </p:nvGrpSpPr>
      <p:grpSpPr>
        <a:xfrm xmlns:a="http://schemas.openxmlformats.org/drawingml/2006/main"/>
      </p:grpSpPr>
      <p:sp>
        <p:nvSpPr>
          <p:cNvPr id="12" name="element-0-0">
            <a:extLst xmlns:a="http://schemas.openxmlformats.org/drawingml/2006/main">
              <a:ext uri="{FF2B5EF4-FFF2-40B4-BE49-F238E27FC236}">
                <a16:creationId xmlns:a16="http://schemas.microsoft.com/office/drawing/2014/main" id="{BB1846C0-489A-4E82-B65C-BA8C414915CB}"/>
              </a:ext>
            </a:extLst>
          </p:cNvPr>
          <p:cNvSpPr>
            <a:spLocks xmlns:a="http://schemas.openxmlformats.org/drawingml/2006/main" noGrp="1"/>
          </p:cNvSpPr>
          <p:nvPr/>
        </p:nvSpPr>
        <p:spPr>
          <a:xfrm xmlns:a="http://schemas.openxmlformats.org/drawingml/2006/main">
            <a:off x="685800" y="493776"/>
            <a:ext cx="853440" cy="2537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285A4A"/>
                </a:solidFill>
                <a:latin typeface="BIZ UDPGothic"/>
                <a:ea typeface="BIZ UDPGothic"/>
                <a:cs typeface="BIZ UDPGothic"/>
              </a:defRPr>
            </a:defPPr>
          </a:lstStyle>
          <a:p xmlns:a="http://schemas.openxmlformats.org/drawingml/2006/main">
            <a:pPr algn="l">
              <a:defRPr sz="1350" b="1">
                <a:solidFill>
                  <a:srgbClr val="285A4A"/>
                </a:solidFill>
                <a:latin typeface="BIZ UDPGothic"/>
                <a:ea typeface="BIZ UDPGothic"/>
                <a:cs typeface="BIZ UDPGothic"/>
              </a:defRPr>
            </a:pPr>
            <a:r>
              <a:rPr sz="1350" b="1">
                <a:solidFill>
                  <a:srgbClr val="285A4A"/>
                </a:solidFill>
                <a:latin typeface="BIZ UDPGothic"/>
                <a:ea typeface="BIZ UDPGothic"/>
                <a:cs typeface="BIZ UDPGothic"/>
              </a:rPr>
              <a:t>CHECK</a:t>
            </a:r>
          </a:p>
        </p:txBody>
      </p:sp>
      <p:sp>
        <p:nvSpPr>
          <p:cNvPr id="2" name="element-1-0">
            <a:extLst xmlns:a="http://schemas.openxmlformats.org/drawingml/2006/main">
              <a:ext uri="{FF2B5EF4-FFF2-40B4-BE49-F238E27FC236}">
                <a16:creationId xmlns:a16="http://schemas.microsoft.com/office/drawing/2014/main" id="{2EF2405F-9DA6-4FA5-AA12-D676927AC72C}"/>
              </a:ext>
            </a:extLst>
          </p:cNvPr>
          <p:cNvSpPr>
            <a:spLocks xmlns:a="http://schemas.openxmlformats.org/drawingml/2006/main" noGrp="1"/>
          </p:cNvSpPr>
          <p:nvPr/>
        </p:nvSpPr>
        <p:spPr>
          <a:xfrm xmlns:a="http://schemas.openxmlformats.org/drawingml/2006/main">
            <a:off x="685800" y="983361"/>
            <a:ext cx="6248400" cy="676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213E34"/>
                </a:solidFill>
                <a:latin typeface="BIZ UDPGothic"/>
                <a:ea typeface="BIZ UDPGothic"/>
                <a:cs typeface="BIZ UDPGothic"/>
              </a:defRPr>
            </a:defPPr>
          </a:lstStyle>
          <a:p xmlns:a="http://schemas.openxmlformats.org/drawingml/2006/main">
            <a:pPr algn="l">
              <a:defRPr sz="3600" b="1">
                <a:solidFill>
                  <a:srgbClr val="213E34"/>
                </a:solidFill>
                <a:latin typeface="BIZ UDPGothic"/>
                <a:ea typeface="BIZ UDPGothic"/>
                <a:cs typeface="BIZ UDPGothic"/>
              </a:defRPr>
            </a:pPr>
            <a:r>
              <a:rPr sz="3600" b="1">
                <a:solidFill>
                  <a:srgbClr val="213E34"/>
                </a:solidFill>
                <a:latin typeface="BIZ UDPGothic"/>
                <a:ea typeface="BIZ UDPGothic"/>
                <a:cs typeface="BIZ UDPGothic"/>
              </a:rPr>
              <a:t>自然な文章でも、確認は必要</a:t>
            </a:r>
          </a:p>
        </p:txBody>
      </p:sp>
      <p:sp>
        <p:nvSpPr>
          <p:cNvPr id="3" name="element-2">
            <a:extLst xmlns:a="http://schemas.openxmlformats.org/drawingml/2006/main">
              <a:ext uri="{FF2B5EF4-FFF2-40B4-BE49-F238E27FC236}">
                <a16:creationId xmlns:a16="http://schemas.microsoft.com/office/drawing/2014/main" id="{CB4E0C5C-CC5A-44D7-8D67-C79D118D6FCE}"/>
              </a:ext>
            </a:extLst>
          </p:cNvPr>
          <p:cNvSpPr>
            <a:spLocks xmlns:a="http://schemas.openxmlformats.org/drawingml/2006/main" noGrp="1"/>
          </p:cNvSpPr>
          <p:nvPr/>
        </p:nvSpPr>
        <p:spPr>
          <a:xfrm xmlns:a="http://schemas.openxmlformats.org/drawingml/2006/main" flipV="0">
            <a:off x="685800" y="1857375"/>
            <a:ext cx="10820400" cy="9525"/>
          </a:xfrm>
          <a:prstGeom xmlns:a="http://schemas.openxmlformats.org/drawingml/2006/main" prst="line">
            <a:avLst/>
          </a:prstGeom>
          <a:noFill xmlns:a="http://schemas.openxmlformats.org/drawingml/2006/main"/>
          <a:ln xmlns:a="http://schemas.openxmlformats.org/drawingml/2006/main" w="9525">
            <a:solidFill>
              <a:srgbClr val="285A4A"/>
            </a:solidFill>
            <a:prstDash val="solid"/>
          </a:ln>
        </p:spPr>
      </p:sp>
      <p:sp>
        <p:nvSpPr>
          <p:cNvPr id="4" name="element-3-0">
            <a:extLst xmlns:a="http://schemas.openxmlformats.org/drawingml/2006/main">
              <a:ext uri="{FF2B5EF4-FFF2-40B4-BE49-F238E27FC236}">
                <a16:creationId xmlns:a16="http://schemas.microsoft.com/office/drawing/2014/main" id="{BB211157-0B0C-4F1E-9B8D-CFE6A71C6F05}"/>
              </a:ext>
            </a:extLst>
          </p:cNvPr>
          <p:cNvSpPr>
            <a:spLocks xmlns:a="http://schemas.openxmlformats.org/drawingml/2006/main" noGrp="1"/>
          </p:cNvSpPr>
          <p:nvPr/>
        </p:nvSpPr>
        <p:spPr>
          <a:xfrm xmlns:a="http://schemas.openxmlformats.org/drawingml/2006/main">
            <a:off x="685800" y="2455164"/>
            <a:ext cx="2781300" cy="733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900" b="1">
                <a:solidFill>
                  <a:srgbClr val="285A4A"/>
                </a:solidFill>
                <a:latin typeface="BIZ UDPGothic"/>
                <a:ea typeface="BIZ UDPGothic"/>
                <a:cs typeface="BIZ UDPGothic"/>
              </a:defRPr>
            </a:defPPr>
          </a:lstStyle>
          <a:p xmlns:a="http://schemas.openxmlformats.org/drawingml/2006/main">
            <a:pPr algn="l">
              <a:defRPr sz="3900" b="1">
                <a:solidFill>
                  <a:srgbClr val="285A4A"/>
                </a:solidFill>
                <a:latin typeface="BIZ UDPGothic"/>
                <a:ea typeface="BIZ UDPGothic"/>
                <a:cs typeface="BIZ UDPGothic"/>
              </a:defRPr>
            </a:pPr>
            <a:r>
              <a:rPr sz="3900" b="1">
                <a:solidFill>
                  <a:srgbClr val="285A4A"/>
                </a:solidFill>
                <a:latin typeface="BIZ UDPGothic"/>
                <a:ea typeface="BIZ UDPGothic"/>
                <a:cs typeface="BIZ UDPGothic"/>
              </a:rPr>
              <a:t>文章が自然</a:t>
            </a:r>
          </a:p>
        </p:txBody>
      </p:sp>
      <p:sp>
        <p:nvSpPr>
          <p:cNvPr id="5" name="element-4-0">
            <a:extLst xmlns:a="http://schemas.openxmlformats.org/drawingml/2006/main">
              <a:ext uri="{FF2B5EF4-FFF2-40B4-BE49-F238E27FC236}">
                <a16:creationId xmlns:a16="http://schemas.microsoft.com/office/drawing/2014/main" id="{50D13144-6528-45AB-B827-FEFB6F4FAC41}"/>
              </a:ext>
            </a:extLst>
          </p:cNvPr>
          <p:cNvSpPr>
            <a:spLocks xmlns:a="http://schemas.openxmlformats.org/drawingml/2006/main" noGrp="1"/>
          </p:cNvSpPr>
          <p:nvPr/>
        </p:nvSpPr>
        <p:spPr>
          <a:xfrm xmlns:a="http://schemas.openxmlformats.org/drawingml/2006/main">
            <a:off x="5981700" y="2455164"/>
            <a:ext cx="3276600" cy="733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900" b="1">
                <a:solidFill>
                  <a:srgbClr val="213E34"/>
                </a:solidFill>
                <a:latin typeface="BIZ UDPGothic"/>
                <a:ea typeface="BIZ UDPGothic"/>
                <a:cs typeface="BIZ UDPGothic"/>
              </a:defRPr>
            </a:defPPr>
          </a:lstStyle>
          <a:p xmlns:a="http://schemas.openxmlformats.org/drawingml/2006/main">
            <a:pPr algn="l">
              <a:defRPr sz="3900" b="1">
                <a:solidFill>
                  <a:srgbClr val="213E34"/>
                </a:solidFill>
                <a:latin typeface="BIZ UDPGothic"/>
                <a:ea typeface="BIZ UDPGothic"/>
                <a:cs typeface="BIZ UDPGothic"/>
              </a:defRPr>
            </a:pPr>
            <a:r>
              <a:rPr sz="3900" b="1">
                <a:solidFill>
                  <a:srgbClr val="213E34"/>
                </a:solidFill>
                <a:latin typeface="BIZ UDPGothic"/>
                <a:ea typeface="BIZ UDPGothic"/>
                <a:cs typeface="BIZ UDPGothic"/>
              </a:rPr>
              <a:t>内容が正しい</a:t>
            </a:r>
          </a:p>
        </p:txBody>
      </p:sp>
      <p:sp>
        <p:nvSpPr>
          <p:cNvPr id="6" name="element-5-0">
            <a:extLst xmlns:a="http://schemas.openxmlformats.org/drawingml/2006/main">
              <a:ext uri="{FF2B5EF4-FFF2-40B4-BE49-F238E27FC236}">
                <a16:creationId xmlns:a16="http://schemas.microsoft.com/office/drawing/2014/main" id="{7A4CBC33-CE9A-40A4-BABA-E817AFB6A134}"/>
              </a:ext>
            </a:extLst>
          </p:cNvPr>
          <p:cNvSpPr>
            <a:spLocks xmlns:a="http://schemas.openxmlformats.org/drawingml/2006/main" noGrp="1"/>
          </p:cNvSpPr>
          <p:nvPr/>
        </p:nvSpPr>
        <p:spPr>
          <a:xfrm xmlns:a="http://schemas.openxmlformats.org/drawingml/2006/main">
            <a:off x="4924425" y="2355723"/>
            <a:ext cx="9144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00" b="1">
                <a:solidFill>
                  <a:srgbClr val="C77444"/>
                </a:solidFill>
                <a:latin typeface="BIZ UDPGothic"/>
                <a:ea typeface="BIZ UDPGothic"/>
                <a:cs typeface="BIZ UDPGothic"/>
              </a:defRPr>
            </a:defPPr>
          </a:lstStyle>
          <a:p xmlns:a="http://schemas.openxmlformats.org/drawingml/2006/main">
            <a:pPr algn="l">
              <a:defRPr sz="4800" b="1">
                <a:solidFill>
                  <a:srgbClr val="C77444"/>
                </a:solidFill>
                <a:latin typeface="BIZ UDPGothic"/>
                <a:ea typeface="BIZ UDPGothic"/>
                <a:cs typeface="BIZ UDPGothic"/>
              </a:defRPr>
            </a:pPr>
            <a:r>
              <a:rPr sz="4800" b="1">
                <a:solidFill>
                  <a:srgbClr val="C77444"/>
                </a:solidFill>
                <a:latin typeface="BIZ UDPGothic"/>
                <a:ea typeface="BIZ UDPGothic"/>
                <a:cs typeface="BIZ UDPGothic"/>
              </a:rPr>
              <a:t>≠</a:t>
            </a:r>
          </a:p>
        </p:txBody>
      </p:sp>
      <p:sp>
        <p:nvSpPr>
          <p:cNvPr id="7" name="element-6-0">
            <a:extLst xmlns:a="http://schemas.openxmlformats.org/drawingml/2006/main">
              <a:ext uri="{FF2B5EF4-FFF2-40B4-BE49-F238E27FC236}">
                <a16:creationId xmlns:a16="http://schemas.microsoft.com/office/drawing/2014/main" id="{914D2D73-087E-4E81-93FE-A8ECE7828644}"/>
              </a:ext>
            </a:extLst>
          </p:cNvPr>
          <p:cNvSpPr>
            <a:spLocks xmlns:a="http://schemas.openxmlformats.org/drawingml/2006/main" noGrp="1"/>
          </p:cNvSpPr>
          <p:nvPr/>
        </p:nvSpPr>
        <p:spPr>
          <a:xfrm xmlns:a="http://schemas.openxmlformats.org/drawingml/2006/main">
            <a:off x="685800" y="3921252"/>
            <a:ext cx="44196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13E34"/>
                </a:solidFill>
                <a:latin typeface="BIZ UDPGothic"/>
                <a:ea typeface="BIZ UDPGothic"/>
                <a:cs typeface="BIZ UDPGothic"/>
              </a:defRPr>
            </a:defPPr>
          </a:lstStyle>
          <a:p xmlns:a="http://schemas.openxmlformats.org/drawingml/2006/main">
            <a:pPr algn="l">
              <a:defRPr sz="2700" b="1">
                <a:solidFill>
                  <a:srgbClr val="213E34"/>
                </a:solidFill>
                <a:latin typeface="BIZ UDPGothic"/>
                <a:ea typeface="BIZ UDPGothic"/>
                <a:cs typeface="BIZ UDPGothic"/>
              </a:defRPr>
            </a:pPr>
            <a:r>
              <a:rPr sz="2700" b="1">
                <a:solidFill>
                  <a:srgbClr val="213E34"/>
                </a:solidFill>
                <a:latin typeface="BIZ UDPGothic"/>
                <a:ea typeface="BIZ UDPGothic"/>
                <a:cs typeface="BIZ UDPGothic"/>
              </a:rPr>
              <a:t>人名、数字、引用、出典は</a:t>
            </a:r>
          </a:p>
        </p:txBody>
      </p:sp>
      <p:sp>
        <p:nvSpPr>
          <p:cNvPr id="8" name="element-6-1">
            <a:extLst xmlns:a="http://schemas.openxmlformats.org/drawingml/2006/main">
              <a:ext uri="{FF2B5EF4-FFF2-40B4-BE49-F238E27FC236}">
                <a16:creationId xmlns:a16="http://schemas.microsoft.com/office/drawing/2014/main" id="{033D0770-942F-455C-8542-0DAD763192A6}"/>
              </a:ext>
            </a:extLst>
          </p:cNvPr>
          <p:cNvSpPr>
            <a:spLocks xmlns:a="http://schemas.openxmlformats.org/drawingml/2006/main" noGrp="1"/>
          </p:cNvSpPr>
          <p:nvPr/>
        </p:nvSpPr>
        <p:spPr>
          <a:xfrm xmlns:a="http://schemas.openxmlformats.org/drawingml/2006/main">
            <a:off x="685800" y="4492752"/>
            <a:ext cx="4762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13E34"/>
                </a:solidFill>
                <a:latin typeface="BIZ UDPGothic"/>
                <a:ea typeface="BIZ UDPGothic"/>
                <a:cs typeface="BIZ UDPGothic"/>
              </a:defRPr>
            </a:defPPr>
          </a:lstStyle>
          <a:p xmlns:a="http://schemas.openxmlformats.org/drawingml/2006/main">
            <a:pPr algn="l">
              <a:defRPr sz="2700" b="1">
                <a:solidFill>
                  <a:srgbClr val="213E34"/>
                </a:solidFill>
                <a:latin typeface="BIZ UDPGothic"/>
                <a:ea typeface="BIZ UDPGothic"/>
                <a:cs typeface="BIZ UDPGothic"/>
              </a:defRPr>
            </a:pPr>
            <a:r>
              <a:rPr sz="2700" b="1">
                <a:solidFill>
                  <a:srgbClr val="213E34"/>
                </a:solidFill>
                <a:latin typeface="BIZ UDPGothic"/>
                <a:ea typeface="BIZ UDPGothic"/>
                <a:cs typeface="BIZ UDPGothic"/>
              </a:rPr>
              <a:t>元の資料に戻って確認する。</a:t>
            </a:r>
          </a:p>
        </p:txBody>
      </p:sp>
      <p:sp>
        <p:nvSpPr>
          <p:cNvPr id="9" name="element-7-0">
            <a:extLst xmlns:a="http://schemas.openxmlformats.org/drawingml/2006/main">
              <a:ext uri="{FF2B5EF4-FFF2-40B4-BE49-F238E27FC236}">
                <a16:creationId xmlns:a16="http://schemas.microsoft.com/office/drawing/2014/main" id="{05C2230E-F52A-446B-A133-476DCD4D0202}"/>
              </a:ext>
            </a:extLst>
          </p:cNvPr>
          <p:cNvSpPr>
            <a:spLocks xmlns:a="http://schemas.openxmlformats.org/drawingml/2006/main" noGrp="1"/>
          </p:cNvSpPr>
          <p:nvPr/>
        </p:nvSpPr>
        <p:spPr>
          <a:xfrm xmlns:a="http://schemas.openxmlformats.org/drawingml/2006/main">
            <a:off x="685800" y="5361432"/>
            <a:ext cx="5257800" cy="366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285A4A"/>
                </a:solidFill>
                <a:latin typeface="BIZ UDPGothic"/>
                <a:ea typeface="BIZ UDPGothic"/>
                <a:cs typeface="BIZ UDPGothic"/>
              </a:defRPr>
            </a:defPPr>
          </a:lstStyle>
          <a:p xmlns:a="http://schemas.openxmlformats.org/drawingml/2006/main">
            <a:pPr algn="l">
              <a:defRPr sz="1950" b="1">
                <a:solidFill>
                  <a:srgbClr val="285A4A"/>
                </a:solidFill>
                <a:latin typeface="BIZ UDPGothic"/>
                <a:ea typeface="BIZ UDPGothic"/>
                <a:cs typeface="BIZ UDPGothic"/>
              </a:defRPr>
            </a:pPr>
            <a:r>
              <a:rPr sz="1950" b="1">
                <a:solidFill>
                  <a:srgbClr val="285A4A"/>
                </a:solidFill>
                <a:latin typeface="BIZ UDPGothic"/>
                <a:ea typeface="BIZ UDPGothic"/>
                <a:cs typeface="BIZ UDPGothic"/>
              </a:rPr>
              <a:t>もっともらしさと正確さを、分けて考える。</a:t>
            </a:r>
          </a:p>
        </p:txBody>
      </p:sp>
      <p:sp>
        <p:nvSpPr>
          <p:cNvPr id="10" name="element-8-0">
            <a:extLst xmlns:a="http://schemas.openxmlformats.org/drawingml/2006/main">
              <a:ext uri="{FF2B5EF4-FFF2-40B4-BE49-F238E27FC236}">
                <a16:creationId xmlns:a16="http://schemas.microsoft.com/office/drawing/2014/main" id="{30E6337A-F7FD-47FC-A1B0-02641FAC7FC1}"/>
              </a:ext>
            </a:extLst>
          </p:cNvPr>
          <p:cNvSpPr>
            <a:spLocks xmlns:a="http://schemas.openxmlformats.org/drawingml/2006/main" noGrp="1"/>
          </p:cNvSpPr>
          <p:nvPr/>
        </p:nvSpPr>
        <p:spPr>
          <a:xfrm xmlns:a="http://schemas.openxmlformats.org/drawingml/2006/main">
            <a:off x="685800" y="6287262"/>
            <a:ext cx="2932176"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213E34"/>
                </a:solidFill>
                <a:latin typeface="BIZ UDPGothic"/>
                <a:ea typeface="BIZ UDPGothic"/>
                <a:cs typeface="BIZ UDPGothic"/>
              </a:defRPr>
            </a:defPPr>
          </a:lstStyle>
          <a:p xmlns:a="http://schemas.openxmlformats.org/drawingml/2006/main">
            <a:pPr algn="l">
              <a:defRPr sz="1200" b="0">
                <a:solidFill>
                  <a:srgbClr val="213E34"/>
                </a:solidFill>
                <a:latin typeface="BIZ UDPGothic"/>
                <a:ea typeface="BIZ UDPGothic"/>
                <a:cs typeface="BIZ UDPGothic"/>
              </a:defRPr>
            </a:pPr>
            <a:r>
              <a:rPr sz="1200" b="0">
                <a:solidFill>
                  <a:srgbClr val="213E34"/>
                </a:solidFill>
                <a:latin typeface="BIZ UDPGothic"/>
                <a:ea typeface="BIZ UDPGothic"/>
                <a:cs typeface="BIZ UDPGothic"/>
              </a:rPr>
              <a:t>Studio Yebisu · オリジナル作例</a:t>
            </a:r>
          </a:p>
        </p:txBody>
      </p:sp>
      <p:sp>
        <p:nvSpPr>
          <p:cNvPr id="11" name="element-9-0">
            <a:extLst xmlns:a="http://schemas.openxmlformats.org/drawingml/2006/main">
              <a:ext uri="{FF2B5EF4-FFF2-40B4-BE49-F238E27FC236}">
                <a16:creationId xmlns:a16="http://schemas.microsoft.com/office/drawing/2014/main" id="{C3BC1CBB-ED1F-4ED5-B269-0A19B4413A00}"/>
              </a:ext>
            </a:extLst>
          </p:cNvPr>
          <p:cNvSpPr>
            <a:spLocks xmlns:a="http://schemas.openxmlformats.org/drawingml/2006/main" noGrp="1"/>
          </p:cNvSpPr>
          <p:nvPr/>
        </p:nvSpPr>
        <p:spPr>
          <a:xfrm xmlns:a="http://schemas.openxmlformats.org/drawingml/2006/main">
            <a:off x="10518648" y="6287262"/>
            <a:ext cx="987552"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213E34"/>
                </a:solidFill>
                <a:latin typeface="BIZ UDPGothic"/>
                <a:ea typeface="BIZ UDPGothic"/>
                <a:cs typeface="BIZ UDPGothic"/>
              </a:defRPr>
            </a:defPPr>
          </a:lstStyle>
          <a:p xmlns:a="http://schemas.openxmlformats.org/drawingml/2006/main">
            <a:pPr algn="r">
              <a:defRPr sz="1200" b="0">
                <a:solidFill>
                  <a:srgbClr val="213E34"/>
                </a:solidFill>
                <a:latin typeface="BIZ UDPGothic"/>
                <a:ea typeface="BIZ UDPGothic"/>
                <a:cs typeface="BIZ UDPGothic"/>
              </a:defRPr>
            </a:pPr>
            <a:r>
              <a:rPr sz="1200" b="0">
                <a:solidFill>
                  <a:srgbClr val="213E34"/>
                </a:solidFill>
                <a:latin typeface="BIZ UDPGothic"/>
                <a:ea typeface="BIZ UDPGothic"/>
                <a:cs typeface="BIZ UDPGothic"/>
              </a:rPr>
              <a:t>03 / 04</a:t>
            </a:r>
          </a:p>
        </p:txBody>
      </p:sp>
    </p:spTree>
    <p:extLst>
      <p:ext uri="{BB962C8B-B14F-4D97-AF65-F5344CB8AC3E}">
        <p14:creationId xmlns:p14="http://schemas.microsoft.com/office/powerpoint/2010/main" val="256914523"/>
      </p:ext>
    </p:extLst>
  </p:cSld>
</p:sld>
</file>

<file path=ppt/slides/slide4.xml><?xml version="1.0" encoding="utf-8"?>
<p:sld xmlns:p="http://schemas.openxmlformats.org/presentationml/2006/main">
  <p:cSld>
    <p:bg>
      <p:bgPr>
        <a:solidFill xmlns:a="http://schemas.openxmlformats.org/drawingml/2006/main">
          <a:srgbClr val="ECF4E9"/>
        </a:solidFill>
      </p:bgPr>
    </p:bg>
    <p:spTree>
      <p:nvGrpSpPr>
        <p:cNvPr id="1" name=""/>
        <p:cNvGrpSpPr/>
        <p:nvPr/>
      </p:nvGrpSpPr>
      <p:grpSpPr>
        <a:xfrm xmlns:a="http://schemas.openxmlformats.org/drawingml/2006/main"/>
      </p:grpSpPr>
      <p:sp>
        <p:nvSpPr>
          <p:cNvPr id="14" name="element-0-0">
            <a:extLst xmlns:a="http://schemas.openxmlformats.org/drawingml/2006/main">
              <a:ext uri="{FF2B5EF4-FFF2-40B4-BE49-F238E27FC236}">
                <a16:creationId xmlns:a16="http://schemas.microsoft.com/office/drawing/2014/main" id="{567CAAA9-EB12-4B86-AD89-5B4103716391}"/>
              </a:ext>
            </a:extLst>
          </p:cNvPr>
          <p:cNvSpPr>
            <a:spLocks xmlns:a="http://schemas.openxmlformats.org/drawingml/2006/main" noGrp="1"/>
          </p:cNvSpPr>
          <p:nvPr/>
        </p:nvSpPr>
        <p:spPr>
          <a:xfrm xmlns:a="http://schemas.openxmlformats.org/drawingml/2006/main">
            <a:off x="685800" y="493776"/>
            <a:ext cx="963168" cy="2537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285A4A"/>
                </a:solidFill>
                <a:latin typeface="BIZ UDPGothic"/>
                <a:ea typeface="BIZ UDPGothic"/>
                <a:cs typeface="BIZ UDPGothic"/>
              </a:defRPr>
            </a:defPPr>
          </a:lstStyle>
          <a:p xmlns:a="http://schemas.openxmlformats.org/drawingml/2006/main">
            <a:pPr algn="l">
              <a:defRPr sz="1350" b="1">
                <a:solidFill>
                  <a:srgbClr val="285A4A"/>
                </a:solidFill>
                <a:latin typeface="BIZ UDPGothic"/>
                <a:ea typeface="BIZ UDPGothic"/>
                <a:cs typeface="BIZ UDPGothic"/>
              </a:defRPr>
            </a:pPr>
            <a:r>
              <a:rPr sz="1350" b="1">
                <a:solidFill>
                  <a:srgbClr val="285A4A"/>
                </a:solidFill>
                <a:latin typeface="BIZ UDPGothic"/>
                <a:ea typeface="BIZ UDPGothic"/>
                <a:cs typeface="BIZ UDPGothic"/>
              </a:rPr>
              <a:t>TRY IT</a:t>
            </a:r>
          </a:p>
        </p:txBody>
      </p:sp>
      <p:sp>
        <p:nvSpPr>
          <p:cNvPr id="2" name="element-1-0">
            <a:extLst xmlns:a="http://schemas.openxmlformats.org/drawingml/2006/main">
              <a:ext uri="{FF2B5EF4-FFF2-40B4-BE49-F238E27FC236}">
                <a16:creationId xmlns:a16="http://schemas.microsoft.com/office/drawing/2014/main" id="{B5B63E39-F804-4714-8858-503190368EF5}"/>
              </a:ext>
            </a:extLst>
          </p:cNvPr>
          <p:cNvSpPr>
            <a:spLocks xmlns:a="http://schemas.openxmlformats.org/drawingml/2006/main" noGrp="1"/>
          </p:cNvSpPr>
          <p:nvPr/>
        </p:nvSpPr>
        <p:spPr>
          <a:xfrm xmlns:a="http://schemas.openxmlformats.org/drawingml/2006/main">
            <a:off x="685800" y="983361"/>
            <a:ext cx="5169408" cy="676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213E34"/>
                </a:solidFill>
                <a:latin typeface="BIZ UDPGothic"/>
                <a:ea typeface="BIZ UDPGothic"/>
                <a:cs typeface="BIZ UDPGothic"/>
              </a:defRPr>
            </a:defPPr>
          </a:lstStyle>
          <a:p xmlns:a="http://schemas.openxmlformats.org/drawingml/2006/main">
            <a:pPr algn="l">
              <a:defRPr sz="3600" b="1">
                <a:solidFill>
                  <a:srgbClr val="213E34"/>
                </a:solidFill>
                <a:latin typeface="BIZ UDPGothic"/>
                <a:ea typeface="BIZ UDPGothic"/>
                <a:cs typeface="BIZ UDPGothic"/>
              </a:defRPr>
            </a:pPr>
            <a:r>
              <a:rPr sz="3600" b="1">
                <a:solidFill>
                  <a:srgbClr val="213E34"/>
                </a:solidFill>
                <a:latin typeface="BIZ UDPGothic"/>
                <a:ea typeface="BIZ UDPGothic"/>
                <a:cs typeface="BIZ UDPGothic"/>
              </a:rPr>
              <a:t>伝わる依頼の3つの材料</a:t>
            </a:r>
          </a:p>
        </p:txBody>
      </p:sp>
      <p:sp>
        <p:nvSpPr>
          <p:cNvPr id="3" name="element-2">
            <a:extLst xmlns:a="http://schemas.openxmlformats.org/drawingml/2006/main">
              <a:ext uri="{FF2B5EF4-FFF2-40B4-BE49-F238E27FC236}">
                <a16:creationId xmlns:a16="http://schemas.microsoft.com/office/drawing/2014/main" id="{DFE3FFFE-805D-45D0-890E-184198B7D6E4}"/>
              </a:ext>
            </a:extLst>
          </p:cNvPr>
          <p:cNvSpPr>
            <a:spLocks xmlns:a="http://schemas.openxmlformats.org/drawingml/2006/main" noGrp="1"/>
          </p:cNvSpPr>
          <p:nvPr/>
        </p:nvSpPr>
        <p:spPr>
          <a:xfrm xmlns:a="http://schemas.openxmlformats.org/drawingml/2006/main" flipV="0">
            <a:off x="685800" y="1857375"/>
            <a:ext cx="10820400" cy="9525"/>
          </a:xfrm>
          <a:prstGeom xmlns:a="http://schemas.openxmlformats.org/drawingml/2006/main" prst="line">
            <a:avLst/>
          </a:prstGeom>
          <a:noFill xmlns:a="http://schemas.openxmlformats.org/drawingml/2006/main"/>
          <a:ln xmlns:a="http://schemas.openxmlformats.org/drawingml/2006/main" w="9525">
            <a:solidFill>
              <a:srgbClr val="285A4A"/>
            </a:solidFill>
            <a:prstDash val="solid"/>
          </a:ln>
        </p:spPr>
      </p:sp>
      <p:sp>
        <p:nvSpPr>
          <p:cNvPr id="4" name="element-3-0">
            <a:extLst xmlns:a="http://schemas.openxmlformats.org/drawingml/2006/main">
              <a:ext uri="{FF2B5EF4-FFF2-40B4-BE49-F238E27FC236}">
                <a16:creationId xmlns:a16="http://schemas.microsoft.com/office/drawing/2014/main" id="{E9FEA0C5-2D5F-4FCB-98DA-A971F44C1EA5}"/>
              </a:ext>
            </a:extLst>
          </p:cNvPr>
          <p:cNvSpPr>
            <a:spLocks xmlns:a="http://schemas.openxmlformats.org/drawingml/2006/main" noGrp="1"/>
          </p:cNvSpPr>
          <p:nvPr/>
        </p:nvSpPr>
        <p:spPr>
          <a:xfrm xmlns:a="http://schemas.openxmlformats.org/drawingml/2006/main">
            <a:off x="685800" y="2378583"/>
            <a:ext cx="1143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85A4A"/>
                </a:solidFill>
                <a:latin typeface="BIZ UDPGothic"/>
                <a:ea typeface="BIZ UDPGothic"/>
                <a:cs typeface="BIZ UDPGothic"/>
              </a:defRPr>
            </a:defPPr>
          </a:lstStyle>
          <a:p xmlns:a="http://schemas.openxmlformats.org/drawingml/2006/main">
            <a:pPr algn="l">
              <a:defRPr sz="3300" b="1">
                <a:solidFill>
                  <a:srgbClr val="285A4A"/>
                </a:solidFill>
                <a:latin typeface="BIZ UDPGothic"/>
                <a:ea typeface="BIZ UDPGothic"/>
                <a:cs typeface="BIZ UDPGothic"/>
              </a:defRPr>
            </a:pPr>
            <a:r>
              <a:rPr sz="3300" b="1">
                <a:solidFill>
                  <a:srgbClr val="285A4A"/>
                </a:solidFill>
                <a:latin typeface="BIZ UDPGothic"/>
                <a:ea typeface="BIZ UDPGothic"/>
                <a:cs typeface="BIZ UDPGothic"/>
              </a:rPr>
              <a:t>相手</a:t>
            </a:r>
          </a:p>
        </p:txBody>
      </p:sp>
      <p:sp>
        <p:nvSpPr>
          <p:cNvPr id="5" name="element-4-0">
            <a:extLst xmlns:a="http://schemas.openxmlformats.org/drawingml/2006/main">
              <a:ext uri="{FF2B5EF4-FFF2-40B4-BE49-F238E27FC236}">
                <a16:creationId xmlns:a16="http://schemas.microsoft.com/office/drawing/2014/main" id="{63FBF334-B59C-45DD-82C5-3529D5EBF085}"/>
              </a:ext>
            </a:extLst>
          </p:cNvPr>
          <p:cNvSpPr>
            <a:spLocks xmlns:a="http://schemas.openxmlformats.org/drawingml/2006/main" noGrp="1"/>
          </p:cNvSpPr>
          <p:nvPr/>
        </p:nvSpPr>
        <p:spPr>
          <a:xfrm xmlns:a="http://schemas.openxmlformats.org/drawingml/2006/main">
            <a:off x="685800" y="3248025"/>
            <a:ext cx="29241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213E34"/>
                </a:solidFill>
                <a:latin typeface="BIZ UDPGothic"/>
                <a:ea typeface="BIZ UDPGothic"/>
                <a:cs typeface="BIZ UDPGothic"/>
              </a:defRPr>
            </a:defPPr>
          </a:lstStyle>
          <a:p xmlns:a="http://schemas.openxmlformats.org/drawingml/2006/main">
            <a:pPr algn="l">
              <a:defRPr sz="1875" b="0">
                <a:solidFill>
                  <a:srgbClr val="213E34"/>
                </a:solidFill>
                <a:latin typeface="BIZ UDPGothic"/>
                <a:ea typeface="BIZ UDPGothic"/>
                <a:cs typeface="BIZ UDPGothic"/>
              </a:defRPr>
            </a:pPr>
            <a:r>
              <a:rPr sz="1875" b="0">
                <a:solidFill>
                  <a:srgbClr val="213E34"/>
                </a:solidFill>
                <a:latin typeface="BIZ UDPGothic"/>
                <a:ea typeface="BIZ UDPGothic"/>
                <a:cs typeface="BIZ UDPGothic"/>
              </a:rPr>
              <a:t>中学生にもわかる言葉で</a:t>
            </a:r>
          </a:p>
        </p:txBody>
      </p:sp>
      <p:sp>
        <p:nvSpPr>
          <p:cNvPr id="6" name="element-5-0">
            <a:extLst xmlns:a="http://schemas.openxmlformats.org/drawingml/2006/main">
              <a:ext uri="{FF2B5EF4-FFF2-40B4-BE49-F238E27FC236}">
                <a16:creationId xmlns:a16="http://schemas.microsoft.com/office/drawing/2014/main" id="{2826B446-F1D5-4E8C-A849-6872C3BC81C3}"/>
              </a:ext>
            </a:extLst>
          </p:cNvPr>
          <p:cNvSpPr>
            <a:spLocks xmlns:a="http://schemas.openxmlformats.org/drawingml/2006/main" noGrp="1"/>
          </p:cNvSpPr>
          <p:nvPr/>
        </p:nvSpPr>
        <p:spPr>
          <a:xfrm xmlns:a="http://schemas.openxmlformats.org/drawingml/2006/main">
            <a:off x="4648200" y="2378583"/>
            <a:ext cx="1143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85A4A"/>
                </a:solidFill>
                <a:latin typeface="BIZ UDPGothic"/>
                <a:ea typeface="BIZ UDPGothic"/>
                <a:cs typeface="BIZ UDPGothic"/>
              </a:defRPr>
            </a:defPPr>
          </a:lstStyle>
          <a:p xmlns:a="http://schemas.openxmlformats.org/drawingml/2006/main">
            <a:pPr algn="l">
              <a:defRPr sz="3300" b="1">
                <a:solidFill>
                  <a:srgbClr val="285A4A"/>
                </a:solidFill>
                <a:latin typeface="BIZ UDPGothic"/>
                <a:ea typeface="BIZ UDPGothic"/>
                <a:cs typeface="BIZ UDPGothic"/>
              </a:defRPr>
            </a:pPr>
            <a:r>
              <a:rPr sz="3300" b="1">
                <a:solidFill>
                  <a:srgbClr val="285A4A"/>
                </a:solidFill>
                <a:latin typeface="BIZ UDPGothic"/>
                <a:ea typeface="BIZ UDPGothic"/>
                <a:cs typeface="BIZ UDPGothic"/>
              </a:rPr>
              <a:t>目的</a:t>
            </a:r>
          </a:p>
        </p:txBody>
      </p:sp>
      <p:sp>
        <p:nvSpPr>
          <p:cNvPr id="7" name="element-6-0">
            <a:extLst xmlns:a="http://schemas.openxmlformats.org/drawingml/2006/main">
              <a:ext uri="{FF2B5EF4-FFF2-40B4-BE49-F238E27FC236}">
                <a16:creationId xmlns:a16="http://schemas.microsoft.com/office/drawing/2014/main" id="{C9F62210-1311-436D-BB16-E2C12C28D8E4}"/>
              </a:ext>
            </a:extLst>
          </p:cNvPr>
          <p:cNvSpPr>
            <a:spLocks xmlns:a="http://schemas.openxmlformats.org/drawingml/2006/main" noGrp="1"/>
          </p:cNvSpPr>
          <p:nvPr/>
        </p:nvSpPr>
        <p:spPr>
          <a:xfrm xmlns:a="http://schemas.openxmlformats.org/drawingml/2006/main">
            <a:off x="4648200" y="3248025"/>
            <a:ext cx="29241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213E34"/>
                </a:solidFill>
                <a:latin typeface="BIZ UDPGothic"/>
                <a:ea typeface="BIZ UDPGothic"/>
                <a:cs typeface="BIZ UDPGothic"/>
              </a:defRPr>
            </a:defPPr>
          </a:lstStyle>
          <a:p xmlns:a="http://schemas.openxmlformats.org/drawingml/2006/main">
            <a:pPr algn="l">
              <a:defRPr sz="1875" b="0">
                <a:solidFill>
                  <a:srgbClr val="213E34"/>
                </a:solidFill>
                <a:latin typeface="BIZ UDPGothic"/>
                <a:ea typeface="BIZ UDPGothic"/>
                <a:cs typeface="BIZ UDPGothic"/>
              </a:defRPr>
            </a:pPr>
            <a:r>
              <a:rPr sz="1875" b="0">
                <a:solidFill>
                  <a:srgbClr val="213E34"/>
                </a:solidFill>
                <a:latin typeface="BIZ UDPGothic"/>
                <a:ea typeface="BIZ UDPGothic"/>
                <a:cs typeface="BIZ UDPGothic"/>
              </a:rPr>
              <a:t>文章生成のしくみを説明</a:t>
            </a:r>
          </a:p>
        </p:txBody>
      </p:sp>
      <p:sp>
        <p:nvSpPr>
          <p:cNvPr id="8" name="element-7-0">
            <a:extLst xmlns:a="http://schemas.openxmlformats.org/drawingml/2006/main">
              <a:ext uri="{FF2B5EF4-FFF2-40B4-BE49-F238E27FC236}">
                <a16:creationId xmlns:a16="http://schemas.microsoft.com/office/drawing/2014/main" id="{0B82679F-63EF-456C-ACFA-2FAA8BD49CBC}"/>
              </a:ext>
            </a:extLst>
          </p:cNvPr>
          <p:cNvSpPr>
            <a:spLocks xmlns:a="http://schemas.openxmlformats.org/drawingml/2006/main" noGrp="1"/>
          </p:cNvSpPr>
          <p:nvPr/>
        </p:nvSpPr>
        <p:spPr>
          <a:xfrm xmlns:a="http://schemas.openxmlformats.org/drawingml/2006/main">
            <a:off x="8867775" y="2378583"/>
            <a:ext cx="7239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85A4A"/>
                </a:solidFill>
                <a:latin typeface="BIZ UDPGothic"/>
                <a:ea typeface="BIZ UDPGothic"/>
                <a:cs typeface="BIZ UDPGothic"/>
              </a:defRPr>
            </a:defPPr>
          </a:lstStyle>
          <a:p xmlns:a="http://schemas.openxmlformats.org/drawingml/2006/main">
            <a:pPr algn="l">
              <a:defRPr sz="3300" b="1">
                <a:solidFill>
                  <a:srgbClr val="285A4A"/>
                </a:solidFill>
                <a:latin typeface="BIZ UDPGothic"/>
                <a:ea typeface="BIZ UDPGothic"/>
                <a:cs typeface="BIZ UDPGothic"/>
              </a:defRPr>
            </a:pPr>
            <a:r>
              <a:rPr sz="3300" b="1">
                <a:solidFill>
                  <a:srgbClr val="285A4A"/>
                </a:solidFill>
                <a:latin typeface="BIZ UDPGothic"/>
                <a:ea typeface="BIZ UDPGothic"/>
                <a:cs typeface="BIZ UDPGothic"/>
              </a:rPr>
              <a:t>形</a:t>
            </a:r>
          </a:p>
        </p:txBody>
      </p:sp>
      <p:sp>
        <p:nvSpPr>
          <p:cNvPr id="9" name="element-8-0">
            <a:extLst xmlns:a="http://schemas.openxmlformats.org/drawingml/2006/main">
              <a:ext uri="{FF2B5EF4-FFF2-40B4-BE49-F238E27FC236}">
                <a16:creationId xmlns:a16="http://schemas.microsoft.com/office/drawing/2014/main" id="{A6580718-576A-470F-AB93-1F7638B92AA4}"/>
              </a:ext>
            </a:extLst>
          </p:cNvPr>
          <p:cNvSpPr>
            <a:spLocks xmlns:a="http://schemas.openxmlformats.org/drawingml/2006/main" noGrp="1"/>
          </p:cNvSpPr>
          <p:nvPr/>
        </p:nvSpPr>
        <p:spPr>
          <a:xfrm xmlns:a="http://schemas.openxmlformats.org/drawingml/2006/main">
            <a:off x="8867775" y="3248025"/>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213E34"/>
                </a:solidFill>
                <a:latin typeface="BIZ UDPGothic"/>
                <a:ea typeface="BIZ UDPGothic"/>
                <a:cs typeface="BIZ UDPGothic"/>
              </a:defRPr>
            </a:defPPr>
          </a:lstStyle>
          <a:p xmlns:a="http://schemas.openxmlformats.org/drawingml/2006/main">
            <a:pPr algn="l">
              <a:defRPr sz="1875" b="0">
                <a:solidFill>
                  <a:srgbClr val="213E34"/>
                </a:solidFill>
                <a:latin typeface="BIZ UDPGothic"/>
                <a:ea typeface="BIZ UDPGothic"/>
                <a:cs typeface="BIZ UDPGothic"/>
              </a:defRPr>
            </a:pPr>
            <a:r>
              <a:rPr sz="1875" b="0">
                <a:solidFill>
                  <a:srgbClr val="213E34"/>
                </a:solidFill>
                <a:latin typeface="BIZ UDPGothic"/>
                <a:ea typeface="BIZ UDPGothic"/>
                <a:cs typeface="BIZ UDPGothic"/>
              </a:rPr>
              <a:t>例をひとつ、200字で</a:t>
            </a:r>
          </a:p>
        </p:txBody>
      </p:sp>
      <p:sp>
        <p:nvSpPr>
          <p:cNvPr id="10" name="element-9">
            <a:extLst xmlns:a="http://schemas.openxmlformats.org/drawingml/2006/main">
              <a:ext uri="{FF2B5EF4-FFF2-40B4-BE49-F238E27FC236}">
                <a16:creationId xmlns:a16="http://schemas.microsoft.com/office/drawing/2014/main" id="{65351D52-FC6D-43D8-A4E0-0D2629C1043E}"/>
              </a:ext>
            </a:extLst>
          </p:cNvPr>
          <p:cNvSpPr>
            <a:spLocks xmlns:a="http://schemas.openxmlformats.org/drawingml/2006/main" noGrp="1"/>
          </p:cNvSpPr>
          <p:nvPr/>
        </p:nvSpPr>
        <p:spPr>
          <a:xfrm xmlns:a="http://schemas.openxmlformats.org/drawingml/2006/main" flipV="0">
            <a:off x="685800" y="4124325"/>
            <a:ext cx="10820400" cy="9525"/>
          </a:xfrm>
          <a:prstGeom xmlns:a="http://schemas.openxmlformats.org/drawingml/2006/main" prst="line">
            <a:avLst/>
          </a:prstGeom>
          <a:noFill xmlns:a="http://schemas.openxmlformats.org/drawingml/2006/main"/>
          <a:ln xmlns:a="http://schemas.openxmlformats.org/drawingml/2006/main" w="19050">
            <a:solidFill>
              <a:srgbClr val="285A4A"/>
            </a:solidFill>
            <a:prstDash val="solid"/>
          </a:ln>
        </p:spPr>
      </p:sp>
      <p:sp>
        <p:nvSpPr>
          <p:cNvPr id="11" name="element-10-0">
            <a:extLst xmlns:a="http://schemas.openxmlformats.org/drawingml/2006/main">
              <a:ext uri="{FF2B5EF4-FFF2-40B4-BE49-F238E27FC236}">
                <a16:creationId xmlns:a16="http://schemas.microsoft.com/office/drawing/2014/main" id="{937A5A02-6396-4F9B-AAAE-201457314405}"/>
              </a:ext>
            </a:extLst>
          </p:cNvPr>
          <p:cNvSpPr>
            <a:spLocks xmlns:a="http://schemas.openxmlformats.org/drawingml/2006/main" noGrp="1"/>
          </p:cNvSpPr>
          <p:nvPr/>
        </p:nvSpPr>
        <p:spPr>
          <a:xfrm xmlns:a="http://schemas.openxmlformats.org/drawingml/2006/main">
            <a:off x="685800" y="4674108"/>
            <a:ext cx="70104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13E34"/>
                </a:solidFill>
                <a:latin typeface="BIZ UDPGothic"/>
                <a:ea typeface="BIZ UDPGothic"/>
                <a:cs typeface="BIZ UDPGothic"/>
              </a:defRPr>
            </a:defPPr>
          </a:lstStyle>
          <a:p xmlns:a="http://schemas.openxmlformats.org/drawingml/2006/main">
            <a:pPr algn="l">
              <a:defRPr sz="3300" b="1">
                <a:solidFill>
                  <a:srgbClr val="213E34"/>
                </a:solidFill>
                <a:latin typeface="BIZ UDPGothic"/>
                <a:ea typeface="BIZ UDPGothic"/>
                <a:cs typeface="BIZ UDPGothic"/>
              </a:defRPr>
            </a:pPr>
            <a:r>
              <a:rPr sz="3300" b="1">
                <a:solidFill>
                  <a:srgbClr val="213E34"/>
                </a:solidFill>
                <a:latin typeface="BIZ UDPGothic"/>
                <a:ea typeface="BIZ UDPGothic"/>
                <a:cs typeface="BIZ UDPGothic"/>
              </a:rPr>
              <a:t>書いてもらったあとに、確かめる。</a:t>
            </a:r>
          </a:p>
        </p:txBody>
      </p:sp>
      <p:sp>
        <p:nvSpPr>
          <p:cNvPr id="12" name="element-11-0">
            <a:extLst xmlns:a="http://schemas.openxmlformats.org/drawingml/2006/main">
              <a:ext uri="{FF2B5EF4-FFF2-40B4-BE49-F238E27FC236}">
                <a16:creationId xmlns:a16="http://schemas.microsoft.com/office/drawing/2014/main" id="{F66A9150-F26A-49EF-AF9F-89848C98F331}"/>
              </a:ext>
            </a:extLst>
          </p:cNvPr>
          <p:cNvSpPr>
            <a:spLocks xmlns:a="http://schemas.openxmlformats.org/drawingml/2006/main" noGrp="1"/>
          </p:cNvSpPr>
          <p:nvPr/>
        </p:nvSpPr>
        <p:spPr>
          <a:xfrm xmlns:a="http://schemas.openxmlformats.org/drawingml/2006/main">
            <a:off x="685800" y="6287262"/>
            <a:ext cx="2932176"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213E34"/>
                </a:solidFill>
                <a:latin typeface="BIZ UDPGothic"/>
                <a:ea typeface="BIZ UDPGothic"/>
                <a:cs typeface="BIZ UDPGothic"/>
              </a:defRPr>
            </a:defPPr>
          </a:lstStyle>
          <a:p xmlns:a="http://schemas.openxmlformats.org/drawingml/2006/main">
            <a:pPr algn="l">
              <a:defRPr sz="1200" b="0">
                <a:solidFill>
                  <a:srgbClr val="213E34"/>
                </a:solidFill>
                <a:latin typeface="BIZ UDPGothic"/>
                <a:ea typeface="BIZ UDPGothic"/>
                <a:cs typeface="BIZ UDPGothic"/>
              </a:defRPr>
            </a:pPr>
            <a:r>
              <a:rPr sz="1200" b="0">
                <a:solidFill>
                  <a:srgbClr val="213E34"/>
                </a:solidFill>
                <a:latin typeface="BIZ UDPGothic"/>
                <a:ea typeface="BIZ UDPGothic"/>
                <a:cs typeface="BIZ UDPGothic"/>
              </a:rPr>
              <a:t>Studio Yebisu · オリジナル作例</a:t>
            </a:r>
          </a:p>
        </p:txBody>
      </p:sp>
      <p:sp>
        <p:nvSpPr>
          <p:cNvPr id="13" name="element-12-0">
            <a:extLst xmlns:a="http://schemas.openxmlformats.org/drawingml/2006/main">
              <a:ext uri="{FF2B5EF4-FFF2-40B4-BE49-F238E27FC236}">
                <a16:creationId xmlns:a16="http://schemas.microsoft.com/office/drawing/2014/main" id="{A5B50987-B335-43C6-99FD-2D8BAB2387B8}"/>
              </a:ext>
            </a:extLst>
          </p:cNvPr>
          <p:cNvSpPr>
            <a:spLocks xmlns:a="http://schemas.openxmlformats.org/drawingml/2006/main" noGrp="1"/>
          </p:cNvSpPr>
          <p:nvPr/>
        </p:nvSpPr>
        <p:spPr>
          <a:xfrm xmlns:a="http://schemas.openxmlformats.org/drawingml/2006/main">
            <a:off x="10518648" y="6287262"/>
            <a:ext cx="987552"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213E34"/>
                </a:solidFill>
                <a:latin typeface="BIZ UDPGothic"/>
                <a:ea typeface="BIZ UDPGothic"/>
                <a:cs typeface="BIZ UDPGothic"/>
              </a:defRPr>
            </a:defPPr>
          </a:lstStyle>
          <a:p xmlns:a="http://schemas.openxmlformats.org/drawingml/2006/main">
            <a:pPr algn="r">
              <a:defRPr sz="1200" b="0">
                <a:solidFill>
                  <a:srgbClr val="213E34"/>
                </a:solidFill>
                <a:latin typeface="BIZ UDPGothic"/>
                <a:ea typeface="BIZ UDPGothic"/>
                <a:cs typeface="BIZ UDPGothic"/>
              </a:defRPr>
            </a:pPr>
            <a:r>
              <a:rPr sz="1200" b="0">
                <a:solidFill>
                  <a:srgbClr val="213E34"/>
                </a:solidFill>
                <a:latin typeface="BIZ UDPGothic"/>
                <a:ea typeface="BIZ UDPGothic"/>
                <a:cs typeface="BIZ UDPGothic"/>
              </a:rPr>
              <a:t>04 / 04</a:t>
            </a:r>
          </a:p>
        </p:txBody>
      </p:sp>
    </p:spTree>
    <p:extLst>
      <p:ext uri="{BB962C8B-B14F-4D97-AF65-F5344CB8AC3E}">
        <p14:creationId xmlns:p14="http://schemas.microsoft.com/office/powerpoint/2010/main" val="16647480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2026-10-13T08:13:55.7180000Z</dcterms:created>
  <dcterms:modified xsi:type="dcterms:W3CDTF">2026-10-13T08:13:55.7180000Z</dcterms:modified>
</coreProperties>
</file>