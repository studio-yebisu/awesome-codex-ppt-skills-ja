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soil"/>
          <p:cNvSpPr/>
          <p:nvPr/>
        </p:nvSpPr>
        <p:spPr>
          <a:xfrm>
            <a:off x="8191295" y="3143250"/>
            <a:ext cx="3190795" cy="1524000"/>
          </a:xfrm>
          <a:prstGeom prst="rect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3" name="Node:saturated"/>
          <p:cNvSpPr/>
          <p:nvPr/>
        </p:nvSpPr>
        <p:spPr>
          <a:xfrm>
            <a:off x="8191295" y="4667250"/>
            <a:ext cx="3190795" cy="1238250"/>
          </a:xfrm>
          <a:prstGeom prst="rect">
            <a:avLst/>
          </a:prstGeom>
          <a:solidFill>
            <a:srgbClr val="B5E5EF"/>
          </a:solidFill>
          <a:ln w="12700">
            <a:solidFill>
              <a:srgbClr val="B5E5EF"/>
            </a:solidFill>
            <a:prstDash val="solid"/>
          </a:ln>
        </p:spPr>
      </p:sp>
      <p:sp>
        <p:nvSpPr>
          <p:cNvPr id="4" name="Node:base"/>
          <p:cNvSpPr/>
          <p:nvPr/>
        </p:nvSpPr>
        <p:spPr>
          <a:xfrm>
            <a:off x="8191295" y="5905500"/>
            <a:ext cx="3190795" cy="190500"/>
          </a:xfrm>
          <a:prstGeom prst="rect">
            <a:avLst/>
          </a:prstGeom>
          <a:solidFill>
            <a:srgbClr val="12384C"/>
          </a:solidFill>
          <a:ln w="12700">
            <a:solidFill>
              <a:srgbClr val="12384C"/>
            </a:solidFill>
            <a:prstDash val="solid"/>
          </a:ln>
        </p:spPr>
      </p:sp>
      <p:sp>
        <p:nvSpPr>
          <p:cNvPr id="5" name="Edge:rain-to-soil:segment-1"/>
          <p:cNvSpPr/>
          <p:nvPr/>
        </p:nvSpPr>
        <p:spPr>
          <a:xfrm>
            <a:off x="9905752" y="2628900"/>
            <a:ext cx="0" cy="847725"/>
          </a:xfrm>
          <a:prstGeom prst="line">
            <a:avLst/>
          </a:prstGeom>
          <a:noFill/>
          <a:ln w="63500">
            <a:solidFill>
              <a:srgbClr val="00B9E8"/>
            </a:solidFill>
            <a:prstDash val="solid"/>
            <a:headEnd type="none"/>
            <a:tailEnd type="triangle"/>
          </a:ln>
        </p:spPr>
      </p:sp>
      <p:sp>
        <p:nvSpPr>
          <p:cNvPr id="6" name="Edge:soil-to-saturated:segment-1"/>
          <p:cNvSpPr/>
          <p:nvPr/>
        </p:nvSpPr>
        <p:spPr>
          <a:xfrm>
            <a:off x="9905752" y="3638550"/>
            <a:ext cx="0" cy="1752600"/>
          </a:xfrm>
          <a:prstGeom prst="line">
            <a:avLst/>
          </a:prstGeom>
          <a:noFill/>
          <a:ln w="63500">
            <a:solidFill>
              <a:srgbClr val="00B9E8"/>
            </a:solidFill>
            <a:prstDash val="solid"/>
            <a:headEnd type="none"/>
            <a:tailEnd type="triangle"/>
          </a:ln>
        </p:spPr>
      </p:sp>
      <p:sp>
        <p:nvSpPr>
          <p:cNvPr id="7" name="Node-label:kicker"/>
          <p:cNvSpPr/>
          <p:nvPr/>
        </p:nvSpPr>
        <p:spPr>
          <a:xfrm>
            <a:off x="590535" y="304800"/>
            <a:ext cx="10572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0B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WATER BENEATH OUR FEET</a:t>
            </a:r>
            <a:endParaRPr lang="en-US" sz="1125" dirty="0"/>
          </a:p>
        </p:txBody>
      </p:sp>
      <p:sp>
        <p:nvSpPr>
          <p:cNvPr id="8" name="Node-label:headline"/>
          <p:cNvSpPr/>
          <p:nvPr/>
        </p:nvSpPr>
        <p:spPr>
          <a:xfrm>
            <a:off x="590535" y="1066800"/>
            <a:ext cx="7524562" cy="230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50" b="1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雨が、</a:t>
            </a:r>
            <a:endParaRPr lang="en-US" sz="5250" dirty="0"/>
          </a:p>
          <a:p>
            <a:pPr algn="l" indent="0" marL="0">
              <a:buNone/>
            </a:pPr>
            <a:r>
              <a:rPr lang="en-US" sz="5250" b="1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地下水になるまで。</a:t>
            </a:r>
            <a:endParaRPr lang="en-US" sz="5250" dirty="0"/>
          </a:p>
        </p:txBody>
      </p:sp>
      <p:sp>
        <p:nvSpPr>
          <p:cNvPr id="9" name="Node-label:subtitle"/>
          <p:cNvSpPr/>
          <p:nvPr/>
        </p:nvSpPr>
        <p:spPr>
          <a:xfrm>
            <a:off x="619110" y="4191000"/>
            <a:ext cx="619109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見えない水の道を、</a:t>
            </a:r>
            <a:endParaRPr lang="en-US" sz="2325" dirty="0"/>
          </a:p>
          <a:p>
            <a:pPr algn="l" indent="0" marL="0">
              <a:buNone/>
            </a:pPr>
            <a:r>
              <a:rPr lang="en-US" sz="232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地面の断面から読む。</a:t>
            </a:r>
            <a:endParaRPr lang="en-US" sz="2325" dirty="0"/>
          </a:p>
        </p:txBody>
      </p:sp>
      <p:sp>
        <p:nvSpPr>
          <p:cNvPr id="10" name="Node-label:water-table"/>
          <p:cNvSpPr/>
          <p:nvPr/>
        </p:nvSpPr>
        <p:spPr>
          <a:xfrm>
            <a:off x="8410365" y="4695825"/>
            <a:ext cx="266693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地下水面</a:t>
            </a:r>
            <a:endParaRPr lang="en-US" sz="1725" dirty="0"/>
          </a:p>
        </p:txBody>
      </p:sp>
      <p:sp>
        <p:nvSpPr>
          <p:cNvPr id="11" name="Node-label:rain"/>
          <p:cNvSpPr/>
          <p:nvPr/>
        </p:nvSpPr>
        <p:spPr>
          <a:xfrm>
            <a:off x="9353316" y="2181225"/>
            <a:ext cx="7619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B9E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雨</a:t>
            </a:r>
            <a:endParaRPr lang="en-US" sz="2175" dirty="0"/>
          </a:p>
        </p:txBody>
      </p:sp>
      <p:sp>
        <p:nvSpPr>
          <p:cNvPr id="12" name="Node-label:concept-notice"/>
          <p:cNvSpPr/>
          <p:nvPr/>
        </p:nvSpPr>
        <p:spPr>
          <a:xfrm>
            <a:off x="590535" y="6429375"/>
            <a:ext cx="9905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概念モデル / 厚さ・大きさ・流速は縮尺を持ちません。</a:t>
            </a:r>
            <a:endParaRPr lang="en-US" sz="975" dirty="0"/>
          </a:p>
        </p:txBody>
      </p:sp>
      <p:sp>
        <p:nvSpPr>
          <p:cNvPr id="13" name="Node-label:page"/>
          <p:cNvSpPr/>
          <p:nvPr/>
        </p:nvSpPr>
        <p:spPr>
          <a:xfrm>
            <a:off x="10762981" y="6419850"/>
            <a:ext cx="9524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B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/ 05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soil"/>
          <p:cNvSpPr/>
          <p:nvPr/>
        </p:nvSpPr>
        <p:spPr>
          <a:xfrm>
            <a:off x="590535" y="3429000"/>
            <a:ext cx="11001100" cy="1790700"/>
          </a:xfrm>
          <a:prstGeom prst="rect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3" name="Node:groundwater"/>
          <p:cNvSpPr/>
          <p:nvPr/>
        </p:nvSpPr>
        <p:spPr>
          <a:xfrm>
            <a:off x="590535" y="5219700"/>
            <a:ext cx="11001100" cy="885825"/>
          </a:xfrm>
          <a:prstGeom prst="rect">
            <a:avLst/>
          </a:prstGeom>
          <a:solidFill>
            <a:srgbClr val="B5E5EF"/>
          </a:solidFill>
          <a:ln w="12700">
            <a:solidFill>
              <a:srgbClr val="B5E5EF"/>
            </a:solidFill>
            <a:prstDash val="solid"/>
          </a:ln>
        </p:spPr>
      </p:sp>
      <p:sp>
        <p:nvSpPr>
          <p:cNvPr id="4" name="Edge:et-up:segment-1"/>
          <p:cNvSpPr/>
          <p:nvPr/>
        </p:nvSpPr>
        <p:spPr>
          <a:xfrm flipV="1">
            <a:off x="2581210" y="2914650"/>
            <a:ext cx="0" cy="857250"/>
          </a:xfrm>
          <a:prstGeom prst="line">
            <a:avLst/>
          </a:prstGeom>
          <a:noFill/>
          <a:ln w="63500">
            <a:solidFill>
              <a:srgbClr val="00B9E8"/>
            </a:solidFill>
            <a:prstDash val="solid"/>
            <a:headEnd type="none"/>
            <a:tailEnd type="triangle"/>
          </a:ln>
        </p:spPr>
      </p:sp>
      <p:sp>
        <p:nvSpPr>
          <p:cNvPr id="5" name="Edge:rain-down:segment-1"/>
          <p:cNvSpPr/>
          <p:nvPr/>
        </p:nvSpPr>
        <p:spPr>
          <a:xfrm>
            <a:off x="6172046" y="2952750"/>
            <a:ext cx="0" cy="514350"/>
          </a:xfrm>
          <a:prstGeom prst="line">
            <a:avLst/>
          </a:prstGeom>
          <a:noFill/>
          <a:ln w="63500">
            <a:solidFill>
              <a:srgbClr val="00B9E8"/>
            </a:solidFill>
            <a:prstDash val="solid"/>
            <a:headEnd type="none"/>
            <a:tailEnd type="triangle"/>
          </a:ln>
        </p:spPr>
      </p:sp>
      <p:sp>
        <p:nvSpPr>
          <p:cNvPr id="6" name="Edge:runoff-right:segment-1"/>
          <p:cNvSpPr/>
          <p:nvPr/>
        </p:nvSpPr>
        <p:spPr>
          <a:xfrm>
            <a:off x="7467413" y="3600450"/>
            <a:ext cx="3371766" cy="0"/>
          </a:xfrm>
          <a:prstGeom prst="line">
            <a:avLst/>
          </a:prstGeom>
          <a:noFill/>
          <a:ln w="63500">
            <a:solidFill>
              <a:srgbClr val="00B9E8"/>
            </a:solidFill>
            <a:prstDash val="solid"/>
            <a:headEnd type="none"/>
            <a:tailEnd type="triangle"/>
          </a:ln>
        </p:spPr>
      </p:sp>
      <p:sp>
        <p:nvSpPr>
          <p:cNvPr id="7" name="Edge:percolation:segment-1"/>
          <p:cNvSpPr/>
          <p:nvPr/>
        </p:nvSpPr>
        <p:spPr>
          <a:xfrm>
            <a:off x="6172046" y="4295775"/>
            <a:ext cx="0" cy="971550"/>
          </a:xfrm>
          <a:prstGeom prst="line">
            <a:avLst/>
          </a:prstGeom>
          <a:noFill/>
          <a:ln w="63500">
            <a:solidFill>
              <a:srgbClr val="00B9E8"/>
            </a:solidFill>
            <a:prstDash val="solid"/>
            <a:headEnd type="none"/>
            <a:tailEnd type="triangle"/>
          </a:ln>
        </p:spPr>
      </p:sp>
      <p:sp>
        <p:nvSpPr>
          <p:cNvPr id="8" name="Node-label:kicker"/>
          <p:cNvSpPr/>
          <p:nvPr/>
        </p:nvSpPr>
        <p:spPr>
          <a:xfrm>
            <a:off x="590535" y="304800"/>
            <a:ext cx="10572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0B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/ INFILTRATION IS ONE PATH</a:t>
            </a:r>
            <a:endParaRPr lang="en-US" sz="1125" dirty="0"/>
          </a:p>
        </p:txBody>
      </p:sp>
      <p:sp>
        <p:nvSpPr>
          <p:cNvPr id="9" name="Node-label:headline"/>
          <p:cNvSpPr/>
          <p:nvPr/>
        </p:nvSpPr>
        <p:spPr>
          <a:xfrm>
            <a:off x="590535" y="857250"/>
            <a:ext cx="110011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雨は、三つの行き先へ。</a:t>
            </a:r>
            <a:endParaRPr lang="en-US" sz="4200" dirty="0"/>
          </a:p>
        </p:txBody>
      </p:sp>
      <p:sp>
        <p:nvSpPr>
          <p:cNvPr id="10" name="Node-label:rain"/>
          <p:cNvSpPr/>
          <p:nvPr/>
        </p:nvSpPr>
        <p:spPr>
          <a:xfrm>
            <a:off x="5162421" y="2400300"/>
            <a:ext cx="2000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B9E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降水</a:t>
            </a:r>
            <a:endParaRPr lang="en-US" sz="2700" dirty="0"/>
          </a:p>
        </p:txBody>
      </p:sp>
      <p:sp>
        <p:nvSpPr>
          <p:cNvPr id="11" name="Node-label:et"/>
          <p:cNvSpPr/>
          <p:nvPr/>
        </p:nvSpPr>
        <p:spPr>
          <a:xfrm>
            <a:off x="781030" y="2295525"/>
            <a:ext cx="261931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蒸発・蒸散</a:t>
            </a:r>
            <a:endParaRPr lang="en-US" sz="2400" dirty="0"/>
          </a:p>
        </p:txBody>
      </p:sp>
      <p:sp>
        <p:nvSpPr>
          <p:cNvPr id="12" name="Node-label:runoff"/>
          <p:cNvSpPr/>
          <p:nvPr/>
        </p:nvSpPr>
        <p:spPr>
          <a:xfrm>
            <a:off x="8648484" y="3733800"/>
            <a:ext cx="228594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地表流出</a:t>
            </a:r>
            <a:endParaRPr lang="en-US" sz="2325" dirty="0"/>
          </a:p>
        </p:txBody>
      </p:sp>
      <p:sp>
        <p:nvSpPr>
          <p:cNvPr id="13" name="Node-label:infiltration"/>
          <p:cNvSpPr/>
          <p:nvPr/>
        </p:nvSpPr>
        <p:spPr>
          <a:xfrm>
            <a:off x="5524362" y="3705225"/>
            <a:ext cx="1666833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浸透</a:t>
            </a:r>
            <a:endParaRPr lang="en-US" sz="2625" dirty="0"/>
          </a:p>
        </p:txBody>
      </p:sp>
      <p:sp>
        <p:nvSpPr>
          <p:cNvPr id="14" name="Node-label:soil-store"/>
          <p:cNvSpPr/>
          <p:nvPr/>
        </p:nvSpPr>
        <p:spPr>
          <a:xfrm>
            <a:off x="771506" y="4543425"/>
            <a:ext cx="3000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土壌に残る水もある</a:t>
            </a:r>
            <a:endParaRPr lang="en-US" sz="1875" dirty="0"/>
          </a:p>
        </p:txBody>
      </p:sp>
      <p:sp>
        <p:nvSpPr>
          <p:cNvPr id="15" name="Node-label:recharge"/>
          <p:cNvSpPr/>
          <p:nvPr/>
        </p:nvSpPr>
        <p:spPr>
          <a:xfrm>
            <a:off x="5657709" y="5438775"/>
            <a:ext cx="15239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涵養へ</a:t>
            </a:r>
            <a:endParaRPr lang="en-US" sz="1875" dirty="0"/>
          </a:p>
        </p:txBody>
      </p:sp>
      <p:sp>
        <p:nvSpPr>
          <p:cNvPr id="16" name="Node-label:distinction"/>
          <p:cNvSpPr/>
          <p:nvPr/>
        </p:nvSpPr>
        <p:spPr>
          <a:xfrm>
            <a:off x="7686483" y="5324475"/>
            <a:ext cx="34765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浸透した水のすべてが</a:t>
            </a:r>
            <a:endParaRPr lang="en-US" sz="1725" dirty="0"/>
          </a:p>
          <a:p>
            <a:pPr algn="l" indent="0" marL="0">
              <a:buNone/>
            </a:pPr>
            <a:r>
              <a:rPr lang="en-US" sz="172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地下水になるわけではない。</a:t>
            </a:r>
            <a:endParaRPr lang="en-US" sz="1725" dirty="0"/>
          </a:p>
        </p:txBody>
      </p:sp>
      <p:sp>
        <p:nvSpPr>
          <p:cNvPr id="17" name="Node-label:concept-notice"/>
          <p:cNvSpPr/>
          <p:nvPr/>
        </p:nvSpPr>
        <p:spPr>
          <a:xfrm>
            <a:off x="590535" y="6429375"/>
            <a:ext cx="9905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概念モデル / 厚さ・大きさ・流速は縮尺を持ちません。</a:t>
            </a:r>
            <a:endParaRPr lang="en-US" sz="975" dirty="0"/>
          </a:p>
        </p:txBody>
      </p:sp>
      <p:sp>
        <p:nvSpPr>
          <p:cNvPr id="18" name="Node-label:page"/>
          <p:cNvSpPr/>
          <p:nvPr/>
        </p:nvSpPr>
        <p:spPr>
          <a:xfrm>
            <a:off x="10762981" y="6419850"/>
            <a:ext cx="9524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B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05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unsaturated"/>
          <p:cNvSpPr/>
          <p:nvPr/>
        </p:nvSpPr>
        <p:spPr>
          <a:xfrm>
            <a:off x="600060" y="2667000"/>
            <a:ext cx="5219570" cy="2590800"/>
          </a:xfrm>
          <a:prstGeom prst="rect">
            <a:avLst/>
          </a:prstGeom>
          <a:solidFill>
            <a:srgbClr val="EEE5D4"/>
          </a:solidFill>
          <a:ln w="12700">
            <a:solidFill>
              <a:srgbClr val="EEE5D4"/>
            </a:solidFill>
            <a:prstDash val="solid"/>
          </a:ln>
        </p:spPr>
      </p:sp>
      <p:sp>
        <p:nvSpPr>
          <p:cNvPr id="3" name="Node:saturated"/>
          <p:cNvSpPr/>
          <p:nvPr/>
        </p:nvSpPr>
        <p:spPr>
          <a:xfrm>
            <a:off x="6362541" y="2667000"/>
            <a:ext cx="5219570" cy="2590800"/>
          </a:xfrm>
          <a:prstGeom prst="rect">
            <a:avLst/>
          </a:prstGeom>
          <a:solidFill>
            <a:srgbClr val="00B9E8"/>
          </a:solidFill>
          <a:ln w="12700">
            <a:solidFill>
              <a:srgbClr val="00B9E8"/>
            </a:solidFill>
            <a:prstDash val="solid"/>
          </a:ln>
        </p:spPr>
      </p:sp>
      <p:sp>
        <p:nvSpPr>
          <p:cNvPr id="4" name="Node:grain-0-0-0"/>
          <p:cNvSpPr/>
          <p:nvPr/>
        </p:nvSpPr>
        <p:spPr>
          <a:xfrm>
            <a:off x="885803" y="29337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5" name="Node:grain-0-0-1"/>
          <p:cNvSpPr/>
          <p:nvPr/>
        </p:nvSpPr>
        <p:spPr>
          <a:xfrm>
            <a:off x="2057349" y="29337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6" name="Node:grain-0-0-2"/>
          <p:cNvSpPr/>
          <p:nvPr/>
        </p:nvSpPr>
        <p:spPr>
          <a:xfrm>
            <a:off x="3228894" y="29337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7" name="Node:grain-0-0-3"/>
          <p:cNvSpPr/>
          <p:nvPr/>
        </p:nvSpPr>
        <p:spPr>
          <a:xfrm>
            <a:off x="4400440" y="29337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8" name="Node:grain-0-1-0"/>
          <p:cNvSpPr/>
          <p:nvPr/>
        </p:nvSpPr>
        <p:spPr>
          <a:xfrm>
            <a:off x="885803" y="40386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9" name="Node:grain-0-1-1"/>
          <p:cNvSpPr/>
          <p:nvPr/>
        </p:nvSpPr>
        <p:spPr>
          <a:xfrm>
            <a:off x="2057349" y="40386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10" name="Node:grain-0-1-2"/>
          <p:cNvSpPr/>
          <p:nvPr/>
        </p:nvSpPr>
        <p:spPr>
          <a:xfrm>
            <a:off x="3228894" y="40386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11" name="Node:grain-0-1-3"/>
          <p:cNvSpPr/>
          <p:nvPr/>
        </p:nvSpPr>
        <p:spPr>
          <a:xfrm>
            <a:off x="4400440" y="40386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12" name="Node:grain-1-0-0"/>
          <p:cNvSpPr/>
          <p:nvPr/>
        </p:nvSpPr>
        <p:spPr>
          <a:xfrm>
            <a:off x="6648284" y="29337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13" name="Node:grain-1-0-1"/>
          <p:cNvSpPr/>
          <p:nvPr/>
        </p:nvSpPr>
        <p:spPr>
          <a:xfrm>
            <a:off x="7819829" y="29337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14" name="Node:grain-1-0-2"/>
          <p:cNvSpPr/>
          <p:nvPr/>
        </p:nvSpPr>
        <p:spPr>
          <a:xfrm>
            <a:off x="8991375" y="29337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15" name="Node:grain-1-0-3"/>
          <p:cNvSpPr/>
          <p:nvPr/>
        </p:nvSpPr>
        <p:spPr>
          <a:xfrm>
            <a:off x="10162921" y="29337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16" name="Node:grain-1-1-0"/>
          <p:cNvSpPr/>
          <p:nvPr/>
        </p:nvSpPr>
        <p:spPr>
          <a:xfrm>
            <a:off x="6648284" y="40386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17" name="Node:grain-1-1-1"/>
          <p:cNvSpPr/>
          <p:nvPr/>
        </p:nvSpPr>
        <p:spPr>
          <a:xfrm>
            <a:off x="7819829" y="40386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18" name="Node:grain-1-1-2"/>
          <p:cNvSpPr/>
          <p:nvPr/>
        </p:nvSpPr>
        <p:spPr>
          <a:xfrm>
            <a:off x="8991375" y="40386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19" name="Node:grain-1-1-3"/>
          <p:cNvSpPr/>
          <p:nvPr/>
        </p:nvSpPr>
        <p:spPr>
          <a:xfrm>
            <a:off x="10162921" y="4038600"/>
            <a:ext cx="733407" cy="628650"/>
          </a:xfrm>
          <a:prstGeom prst="ellipse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20" name="Node:pore-water-0"/>
          <p:cNvSpPr/>
          <p:nvPr/>
        </p:nvSpPr>
        <p:spPr>
          <a:xfrm>
            <a:off x="1847804" y="3771900"/>
            <a:ext cx="466713" cy="295275"/>
          </a:xfrm>
          <a:prstGeom prst="ellipse">
            <a:avLst/>
          </a:prstGeom>
          <a:solidFill>
            <a:srgbClr val="00B9E8"/>
          </a:solidFill>
          <a:ln w="12700">
            <a:solidFill>
              <a:srgbClr val="00B9E8"/>
            </a:solidFill>
            <a:prstDash val="solid"/>
          </a:ln>
        </p:spPr>
      </p:sp>
      <p:sp>
        <p:nvSpPr>
          <p:cNvPr id="21" name="Node:pore-water-1"/>
          <p:cNvSpPr/>
          <p:nvPr/>
        </p:nvSpPr>
        <p:spPr>
          <a:xfrm>
            <a:off x="3076498" y="4752975"/>
            <a:ext cx="466713" cy="295275"/>
          </a:xfrm>
          <a:prstGeom prst="ellipse">
            <a:avLst/>
          </a:prstGeom>
          <a:solidFill>
            <a:srgbClr val="00B9E8"/>
          </a:solidFill>
          <a:ln w="12700">
            <a:solidFill>
              <a:srgbClr val="00B9E8"/>
            </a:solidFill>
            <a:prstDash val="solid"/>
          </a:ln>
        </p:spPr>
      </p:sp>
      <p:sp>
        <p:nvSpPr>
          <p:cNvPr id="22" name="Node:pore-water-2"/>
          <p:cNvSpPr/>
          <p:nvPr/>
        </p:nvSpPr>
        <p:spPr>
          <a:xfrm>
            <a:off x="4305192" y="3714750"/>
            <a:ext cx="466713" cy="295275"/>
          </a:xfrm>
          <a:prstGeom prst="ellipse">
            <a:avLst/>
          </a:prstGeom>
          <a:solidFill>
            <a:srgbClr val="00B9E8"/>
          </a:solidFill>
          <a:ln w="12700">
            <a:solidFill>
              <a:srgbClr val="00B9E8"/>
            </a:solidFill>
            <a:prstDash val="solid"/>
          </a:ln>
        </p:spPr>
      </p:sp>
      <p:sp>
        <p:nvSpPr>
          <p:cNvPr id="23" name="Node-label:kicker"/>
          <p:cNvSpPr/>
          <p:nvPr/>
        </p:nvSpPr>
        <p:spPr>
          <a:xfrm>
            <a:off x="590535" y="304800"/>
            <a:ext cx="10572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0B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UNSATURATED AND SATURATED ZONES</a:t>
            </a:r>
            <a:endParaRPr lang="en-US" sz="1125" dirty="0"/>
          </a:p>
        </p:txBody>
      </p:sp>
      <p:sp>
        <p:nvSpPr>
          <p:cNvPr id="24" name="Node-label:headline"/>
          <p:cNvSpPr/>
          <p:nvPr/>
        </p:nvSpPr>
        <p:spPr>
          <a:xfrm>
            <a:off x="590535" y="857250"/>
            <a:ext cx="110011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EE5D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水と空気が、すき間にいる。</a:t>
            </a:r>
            <a:endParaRPr lang="en-US" sz="4200" dirty="0"/>
          </a:p>
        </p:txBody>
      </p:sp>
      <p:sp>
        <p:nvSpPr>
          <p:cNvPr id="25" name="Node-label:unsat-label"/>
          <p:cNvSpPr/>
          <p:nvPr/>
        </p:nvSpPr>
        <p:spPr>
          <a:xfrm>
            <a:off x="647684" y="2181225"/>
            <a:ext cx="419089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EEE5D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不飽和帯</a:t>
            </a:r>
            <a:endParaRPr lang="en-US" sz="2325" dirty="0"/>
          </a:p>
        </p:txBody>
      </p:sp>
      <p:sp>
        <p:nvSpPr>
          <p:cNvPr id="26" name="Node-label:sat-label"/>
          <p:cNvSpPr/>
          <p:nvPr/>
        </p:nvSpPr>
        <p:spPr>
          <a:xfrm>
            <a:off x="6381590" y="2181225"/>
            <a:ext cx="419089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EEE5D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飽和帯</a:t>
            </a:r>
            <a:endParaRPr lang="en-US" sz="2325" dirty="0"/>
          </a:p>
        </p:txBody>
      </p:sp>
      <p:sp>
        <p:nvSpPr>
          <p:cNvPr id="27" name="Node-label:unsat-caption"/>
          <p:cNvSpPr/>
          <p:nvPr/>
        </p:nvSpPr>
        <p:spPr>
          <a:xfrm>
            <a:off x="638159" y="5495925"/>
            <a:ext cx="52386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EEE5D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土・岩のすき間に、水と空気。</a:t>
            </a:r>
            <a:endParaRPr lang="en-US" sz="1875" dirty="0"/>
          </a:p>
        </p:txBody>
      </p:sp>
      <p:sp>
        <p:nvSpPr>
          <p:cNvPr id="28" name="Node-label:sat-caption"/>
          <p:cNvSpPr/>
          <p:nvPr/>
        </p:nvSpPr>
        <p:spPr>
          <a:xfrm>
            <a:off x="6391115" y="5495925"/>
            <a:ext cx="52386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EEE5D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すき間が、水で満たされる。</a:t>
            </a:r>
            <a:endParaRPr lang="en-US" sz="1875" dirty="0"/>
          </a:p>
        </p:txBody>
      </p:sp>
      <p:sp>
        <p:nvSpPr>
          <p:cNvPr id="29" name="Node-label:air-label"/>
          <p:cNvSpPr/>
          <p:nvPr/>
        </p:nvSpPr>
        <p:spPr>
          <a:xfrm>
            <a:off x="800080" y="4676775"/>
            <a:ext cx="89532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空気</a:t>
            </a:r>
            <a:endParaRPr lang="en-US" sz="1650" dirty="0"/>
          </a:p>
        </p:txBody>
      </p:sp>
      <p:sp>
        <p:nvSpPr>
          <p:cNvPr id="30" name="Node-label:water-label"/>
          <p:cNvSpPr/>
          <p:nvPr/>
        </p:nvSpPr>
        <p:spPr>
          <a:xfrm>
            <a:off x="4209945" y="4676775"/>
            <a:ext cx="8572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水</a:t>
            </a:r>
            <a:endParaRPr lang="en-US" sz="1650" dirty="0"/>
          </a:p>
        </p:txBody>
      </p:sp>
      <p:sp>
        <p:nvSpPr>
          <p:cNvPr id="31" name="Node-label:grain-label"/>
          <p:cNvSpPr/>
          <p:nvPr/>
        </p:nvSpPr>
        <p:spPr>
          <a:xfrm>
            <a:off x="647684" y="6038850"/>
            <a:ext cx="108582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EE5D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砂粒の模式図。粒径・水の量を示すものではありません。</a:t>
            </a:r>
            <a:endParaRPr lang="en-US" sz="1050" dirty="0"/>
          </a:p>
        </p:txBody>
      </p:sp>
      <p:sp>
        <p:nvSpPr>
          <p:cNvPr id="32" name="Node-label:concept-notice"/>
          <p:cNvSpPr/>
          <p:nvPr/>
        </p:nvSpPr>
        <p:spPr>
          <a:xfrm>
            <a:off x="590535" y="6429375"/>
            <a:ext cx="9905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EE5D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概念モデル / 厚さ・大きさ・流速は縮尺を持ちません。</a:t>
            </a:r>
            <a:endParaRPr lang="en-US" sz="975" dirty="0"/>
          </a:p>
        </p:txBody>
      </p:sp>
      <p:sp>
        <p:nvSpPr>
          <p:cNvPr id="33" name="Node-label:page"/>
          <p:cNvSpPr/>
          <p:nvPr/>
        </p:nvSpPr>
        <p:spPr>
          <a:xfrm>
            <a:off x="10762981" y="6419850"/>
            <a:ext cx="9524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B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05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unsat-zone"/>
          <p:cNvSpPr/>
          <p:nvPr/>
        </p:nvSpPr>
        <p:spPr>
          <a:xfrm>
            <a:off x="600060" y="2524125"/>
            <a:ext cx="5752956" cy="1828800"/>
          </a:xfrm>
          <a:prstGeom prst="rect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3" name="Node:sat-zone"/>
          <p:cNvSpPr/>
          <p:nvPr/>
        </p:nvSpPr>
        <p:spPr>
          <a:xfrm>
            <a:off x="600060" y="4352925"/>
            <a:ext cx="5752956" cy="1704975"/>
          </a:xfrm>
          <a:prstGeom prst="rect">
            <a:avLst/>
          </a:prstGeom>
          <a:solidFill>
            <a:srgbClr val="B5E5EF"/>
          </a:solidFill>
          <a:ln w="12700">
            <a:solidFill>
              <a:srgbClr val="B5E5EF"/>
            </a:solidFill>
            <a:prstDash val="solid"/>
          </a:ln>
        </p:spPr>
      </p:sp>
      <p:sp>
        <p:nvSpPr>
          <p:cNvPr id="4" name="Node:water-table-line"/>
          <p:cNvSpPr/>
          <p:nvPr/>
        </p:nvSpPr>
        <p:spPr>
          <a:xfrm>
            <a:off x="600060" y="4314825"/>
            <a:ext cx="5752956" cy="47625"/>
          </a:xfrm>
          <a:prstGeom prst="rect">
            <a:avLst/>
          </a:prstGeom>
          <a:solidFill>
            <a:srgbClr val="00B9E8"/>
          </a:solidFill>
          <a:ln w="12700">
            <a:solidFill>
              <a:srgbClr val="00B9E8"/>
            </a:solidFill>
            <a:prstDash val="solid"/>
          </a:ln>
        </p:spPr>
      </p:sp>
      <p:sp>
        <p:nvSpPr>
          <p:cNvPr id="5" name="Edge:recharge-down:segment-1"/>
          <p:cNvSpPr/>
          <p:nvPr/>
        </p:nvSpPr>
        <p:spPr>
          <a:xfrm>
            <a:off x="4857629" y="2876550"/>
            <a:ext cx="0" cy="2628900"/>
          </a:xfrm>
          <a:prstGeom prst="line">
            <a:avLst/>
          </a:prstGeom>
          <a:noFill/>
          <a:ln w="63500">
            <a:solidFill>
              <a:srgbClr val="00B9E8"/>
            </a:solidFill>
            <a:prstDash val="solid"/>
            <a:headEnd type="none"/>
            <a:tailEnd type="triangle"/>
          </a:ln>
        </p:spPr>
      </p:sp>
      <p:sp>
        <p:nvSpPr>
          <p:cNvPr id="6" name="Edge:water-table-callout:segment-1"/>
          <p:cNvSpPr/>
          <p:nvPr/>
        </p:nvSpPr>
        <p:spPr>
          <a:xfrm flipH="1">
            <a:off x="5991075" y="4352925"/>
            <a:ext cx="666733" cy="0"/>
          </a:xfrm>
          <a:prstGeom prst="line">
            <a:avLst/>
          </a:prstGeom>
          <a:noFill/>
          <a:ln w="25400">
            <a:solidFill>
              <a:srgbClr val="12384C"/>
            </a:solidFill>
            <a:prstDash val="solid"/>
            <a:headEnd type="none"/>
            <a:tailEnd type="none"/>
          </a:ln>
        </p:spPr>
      </p:sp>
      <p:sp>
        <p:nvSpPr>
          <p:cNvPr id="7" name="Node-label:kicker"/>
          <p:cNvSpPr/>
          <p:nvPr/>
        </p:nvSpPr>
        <p:spPr>
          <a:xfrm>
            <a:off x="590535" y="304800"/>
            <a:ext cx="10572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0B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RECHARGE</a:t>
            </a:r>
            <a:endParaRPr lang="en-US" sz="1125" dirty="0"/>
          </a:p>
        </p:txBody>
      </p:sp>
      <p:sp>
        <p:nvSpPr>
          <p:cNvPr id="8" name="Node-label:headline"/>
          <p:cNvSpPr/>
          <p:nvPr/>
        </p:nvSpPr>
        <p:spPr>
          <a:xfrm>
            <a:off x="590535" y="857250"/>
            <a:ext cx="110011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地下水面を越えて、涵養へ。</a:t>
            </a:r>
            <a:endParaRPr lang="en-US" sz="4200" dirty="0"/>
          </a:p>
        </p:txBody>
      </p:sp>
      <p:sp>
        <p:nvSpPr>
          <p:cNvPr id="9" name="Node-label:surface"/>
          <p:cNvSpPr/>
          <p:nvPr/>
        </p:nvSpPr>
        <p:spPr>
          <a:xfrm>
            <a:off x="809605" y="2647950"/>
            <a:ext cx="28574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地表</a:t>
            </a:r>
            <a:endParaRPr lang="en-US" sz="1725" dirty="0"/>
          </a:p>
        </p:txBody>
      </p:sp>
      <p:sp>
        <p:nvSpPr>
          <p:cNvPr id="10" name="Node-label:unsat"/>
          <p:cNvSpPr/>
          <p:nvPr/>
        </p:nvSpPr>
        <p:spPr>
          <a:xfrm>
            <a:off x="828654" y="3381375"/>
            <a:ext cx="32384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不飽和帯</a:t>
            </a:r>
            <a:endParaRPr lang="en-US" sz="2475" dirty="0"/>
          </a:p>
        </p:txBody>
      </p:sp>
      <p:sp>
        <p:nvSpPr>
          <p:cNvPr id="11" name="Node-label:sat"/>
          <p:cNvSpPr/>
          <p:nvPr/>
        </p:nvSpPr>
        <p:spPr>
          <a:xfrm>
            <a:off x="828654" y="5095875"/>
            <a:ext cx="26669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飽和帯</a:t>
            </a:r>
            <a:endParaRPr lang="en-US" sz="2475" dirty="0"/>
          </a:p>
        </p:txBody>
      </p:sp>
      <p:sp>
        <p:nvSpPr>
          <p:cNvPr id="12" name="Node-label:water-table-label"/>
          <p:cNvSpPr/>
          <p:nvPr/>
        </p:nvSpPr>
        <p:spPr>
          <a:xfrm>
            <a:off x="6819730" y="4124325"/>
            <a:ext cx="4000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地下水面</a:t>
            </a:r>
            <a:endParaRPr lang="en-US" sz="2850" dirty="0"/>
          </a:p>
        </p:txBody>
      </p:sp>
      <p:sp>
        <p:nvSpPr>
          <p:cNvPr id="13" name="Node-label:recharge-definition"/>
          <p:cNvSpPr/>
          <p:nvPr/>
        </p:nvSpPr>
        <p:spPr>
          <a:xfrm>
            <a:off x="6819730" y="2495550"/>
            <a:ext cx="4524262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涵養 = 地下水系に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水が加わること。</a:t>
            </a:r>
            <a:endParaRPr lang="en-US" sz="2700" dirty="0"/>
          </a:p>
        </p:txBody>
      </p:sp>
      <p:sp>
        <p:nvSpPr>
          <p:cNvPr id="14" name="Node-label:aquifer-note"/>
          <p:cNvSpPr/>
          <p:nvPr/>
        </p:nvSpPr>
        <p:spPr>
          <a:xfrm>
            <a:off x="6819730" y="4914900"/>
            <a:ext cx="4524262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帯水層は、水を通し、</a:t>
            </a:r>
            <a:endParaRPr lang="en-US" sz="1875" dirty="0"/>
          </a:p>
          <a:p>
            <a:pPr algn="l" indent="0" marL="0">
              <a:buNone/>
            </a:pPr>
            <a:r>
              <a:rPr lang="en-US" sz="187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取り出せる地層。</a:t>
            </a:r>
            <a:endParaRPr lang="en-US" sz="1875" dirty="0"/>
          </a:p>
          <a:p>
            <a:pPr algn="l" indent="0" marL="0">
              <a:buNone/>
            </a:pPr>
            <a:endParaRPr lang="en-US" sz="1875" dirty="0"/>
          </a:p>
          <a:p>
            <a:pPr algn="l" indent="0" marL="0">
              <a:buNone/>
            </a:pPr>
            <a:r>
              <a:rPr lang="en-US" sz="187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地下の空洞を意味しない。</a:t>
            </a:r>
            <a:endParaRPr lang="en-US" sz="1875" dirty="0"/>
          </a:p>
        </p:txBody>
      </p:sp>
      <p:sp>
        <p:nvSpPr>
          <p:cNvPr id="15" name="Node-label:concept-notice"/>
          <p:cNvSpPr/>
          <p:nvPr/>
        </p:nvSpPr>
        <p:spPr>
          <a:xfrm>
            <a:off x="590535" y="6429375"/>
            <a:ext cx="9905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概念モデル / 厚さ・大きさ・流速は縮尺を持ちません。</a:t>
            </a:r>
            <a:endParaRPr lang="en-US" sz="975" dirty="0"/>
          </a:p>
        </p:txBody>
      </p:sp>
      <p:sp>
        <p:nvSpPr>
          <p:cNvPr id="16" name="Node-label:page"/>
          <p:cNvSpPr/>
          <p:nvPr/>
        </p:nvSpPr>
        <p:spPr>
          <a:xfrm>
            <a:off x="10762981" y="6419850"/>
            <a:ext cx="9524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B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05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land"/>
          <p:cNvSpPr/>
          <p:nvPr/>
        </p:nvSpPr>
        <p:spPr>
          <a:xfrm>
            <a:off x="600060" y="3048000"/>
            <a:ext cx="11001100" cy="3048000"/>
          </a:xfrm>
          <a:prstGeom prst="rect">
            <a:avLst/>
          </a:prstGeom>
          <a:solidFill>
            <a:srgbClr val="CEB68E"/>
          </a:solidFill>
          <a:ln w="12700">
            <a:solidFill>
              <a:srgbClr val="CEB68E"/>
            </a:solidFill>
            <a:prstDash val="solid"/>
          </a:ln>
        </p:spPr>
      </p:sp>
      <p:sp>
        <p:nvSpPr>
          <p:cNvPr id="3" name="Node:saturated-zone"/>
          <p:cNvSpPr/>
          <p:nvPr/>
        </p:nvSpPr>
        <p:spPr>
          <a:xfrm>
            <a:off x="600060" y="4286250"/>
            <a:ext cx="11001100" cy="1809750"/>
          </a:xfrm>
          <a:prstGeom prst="rect">
            <a:avLst/>
          </a:prstGeom>
          <a:solidFill>
            <a:srgbClr val="B5E5EF"/>
          </a:solidFill>
          <a:ln w="12700">
            <a:solidFill>
              <a:srgbClr val="B5E5EF"/>
            </a:solidFill>
            <a:prstDash val="solid"/>
          </a:ln>
        </p:spPr>
      </p:sp>
      <p:sp>
        <p:nvSpPr>
          <p:cNvPr id="4" name="Node:stream-channel"/>
          <p:cNvSpPr/>
          <p:nvPr/>
        </p:nvSpPr>
        <p:spPr>
          <a:xfrm>
            <a:off x="8124622" y="3238500"/>
            <a:ext cx="1142971" cy="1047750"/>
          </a:xfrm>
          <a:prstGeom prst="rect">
            <a:avLst/>
          </a:prstGeom>
          <a:solidFill>
            <a:srgbClr val="EEE5D4"/>
          </a:solidFill>
          <a:ln w="12700">
            <a:solidFill>
              <a:srgbClr val="EEE5D4"/>
            </a:solidFill>
            <a:prstDash val="solid"/>
          </a:ln>
        </p:spPr>
      </p:sp>
      <p:sp>
        <p:nvSpPr>
          <p:cNvPr id="5" name="Node:river"/>
          <p:cNvSpPr/>
          <p:nvPr/>
        </p:nvSpPr>
        <p:spPr>
          <a:xfrm>
            <a:off x="8124622" y="4286250"/>
            <a:ext cx="1142971" cy="266700"/>
          </a:xfrm>
          <a:prstGeom prst="rect">
            <a:avLst/>
          </a:prstGeom>
          <a:solidFill>
            <a:srgbClr val="00B9E8"/>
          </a:solidFill>
          <a:ln w="12700">
            <a:solidFill>
              <a:srgbClr val="00B9E8"/>
            </a:solidFill>
            <a:prstDash val="solid"/>
          </a:ln>
        </p:spPr>
      </p:sp>
      <p:sp>
        <p:nvSpPr>
          <p:cNvPr id="6" name="Edge:infiltration-to-recharge:segment-1"/>
          <p:cNvSpPr/>
          <p:nvPr/>
        </p:nvSpPr>
        <p:spPr>
          <a:xfrm>
            <a:off x="3590835" y="2924175"/>
            <a:ext cx="0" cy="1266825"/>
          </a:xfrm>
          <a:prstGeom prst="line">
            <a:avLst/>
          </a:prstGeom>
          <a:noFill/>
          <a:ln w="63500">
            <a:solidFill>
              <a:srgbClr val="00B9E8"/>
            </a:solidFill>
            <a:prstDash val="solid"/>
            <a:headEnd type="none"/>
            <a:tailEnd type="triangle"/>
          </a:ln>
        </p:spPr>
      </p:sp>
      <p:sp>
        <p:nvSpPr>
          <p:cNvPr id="7" name="Edge:groundwater-to-river:segment-1"/>
          <p:cNvSpPr/>
          <p:nvPr/>
        </p:nvSpPr>
        <p:spPr>
          <a:xfrm>
            <a:off x="4286143" y="5172075"/>
            <a:ext cx="3143171" cy="0"/>
          </a:xfrm>
          <a:prstGeom prst="line">
            <a:avLst/>
          </a:prstGeom>
          <a:noFill/>
          <a:ln w="63500">
            <a:solidFill>
              <a:srgbClr val="00B9E8"/>
            </a:solidFill>
            <a:prstDash val="solid"/>
            <a:headEnd type="none"/>
            <a:tailEnd type="none"/>
          </a:ln>
        </p:spPr>
      </p:sp>
      <p:sp>
        <p:nvSpPr>
          <p:cNvPr id="8" name="Edge:groundwater-to-river:segment-2"/>
          <p:cNvSpPr/>
          <p:nvPr/>
        </p:nvSpPr>
        <p:spPr>
          <a:xfrm flipV="1">
            <a:off x="7429314" y="4524375"/>
            <a:ext cx="1019150" cy="647700"/>
          </a:xfrm>
          <a:prstGeom prst="line">
            <a:avLst/>
          </a:prstGeom>
          <a:noFill/>
          <a:ln w="63500">
            <a:solidFill>
              <a:srgbClr val="00B9E8"/>
            </a:solidFill>
            <a:prstDash val="solid"/>
            <a:headEnd type="none"/>
            <a:tailEnd type="triangle"/>
          </a:ln>
        </p:spPr>
      </p:sp>
      <p:sp>
        <p:nvSpPr>
          <p:cNvPr id="9" name="Edge:river-callout:segment-1"/>
          <p:cNvSpPr/>
          <p:nvPr/>
        </p:nvSpPr>
        <p:spPr>
          <a:xfrm>
            <a:off x="9029474" y="4048125"/>
            <a:ext cx="0" cy="238125"/>
          </a:xfrm>
          <a:prstGeom prst="line">
            <a:avLst/>
          </a:prstGeom>
          <a:noFill/>
          <a:ln w="25400">
            <a:solidFill>
              <a:srgbClr val="12384C"/>
            </a:solidFill>
            <a:prstDash val="solid"/>
            <a:headEnd type="none"/>
            <a:tailEnd type="none"/>
          </a:ln>
        </p:spPr>
      </p:sp>
      <p:sp>
        <p:nvSpPr>
          <p:cNvPr id="10" name="Node-label:kicker"/>
          <p:cNvSpPr/>
          <p:nvPr/>
        </p:nvSpPr>
        <p:spPr>
          <a:xfrm>
            <a:off x="590535" y="304800"/>
            <a:ext cx="10572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0B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A CONNECTED WATER SYSTEM</a:t>
            </a:r>
            <a:endParaRPr lang="en-US" sz="1125" dirty="0"/>
          </a:p>
        </p:txBody>
      </p:sp>
      <p:sp>
        <p:nvSpPr>
          <p:cNvPr id="11" name="Node-label:headline"/>
          <p:cNvSpPr/>
          <p:nvPr/>
        </p:nvSpPr>
        <p:spPr>
          <a:xfrm>
            <a:off x="590535" y="857250"/>
            <a:ext cx="110011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地下水は、川へつながる。</a:t>
            </a:r>
            <a:endParaRPr lang="en-US" sz="4200" dirty="0"/>
          </a:p>
        </p:txBody>
      </p:sp>
      <p:sp>
        <p:nvSpPr>
          <p:cNvPr id="12" name="Node-label:rain-input"/>
          <p:cNvSpPr/>
          <p:nvPr/>
        </p:nvSpPr>
        <p:spPr>
          <a:xfrm>
            <a:off x="752456" y="2209800"/>
            <a:ext cx="633396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雨の一部が浸透し、涵養する</a:t>
            </a:r>
            <a:endParaRPr lang="en-US" sz="2250" dirty="0"/>
          </a:p>
        </p:txBody>
      </p:sp>
      <p:sp>
        <p:nvSpPr>
          <p:cNvPr id="13" name="Node-label:aquifer"/>
          <p:cNvSpPr/>
          <p:nvPr/>
        </p:nvSpPr>
        <p:spPr>
          <a:xfrm>
            <a:off x="1219170" y="4953000"/>
            <a:ext cx="31431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帯水層</a:t>
            </a:r>
            <a:endParaRPr lang="en-US" sz="2325" dirty="0"/>
          </a:p>
        </p:txBody>
      </p:sp>
      <p:sp>
        <p:nvSpPr>
          <p:cNvPr id="14" name="Node-label:river-label"/>
          <p:cNvSpPr/>
          <p:nvPr/>
        </p:nvSpPr>
        <p:spPr>
          <a:xfrm>
            <a:off x="8810405" y="3581400"/>
            <a:ext cx="11429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B9E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</a:t>
            </a:r>
            <a:endParaRPr lang="en-US" sz="2250" dirty="0"/>
          </a:p>
        </p:txBody>
      </p:sp>
      <p:sp>
        <p:nvSpPr>
          <p:cNvPr id="15" name="Node-label:flow-note"/>
          <p:cNvSpPr/>
          <p:nvPr/>
        </p:nvSpPr>
        <p:spPr>
          <a:xfrm>
            <a:off x="619110" y="5581650"/>
            <a:ext cx="1074393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この図は、地下水が川へ流出する場合。</a:t>
            </a:r>
            <a:endParaRPr lang="en-US" sz="1725" dirty="0"/>
          </a:p>
          <a:p>
            <a:pPr algn="l" indent="0" marL="0">
              <a:buNone/>
            </a:pPr>
            <a:r>
              <a:rPr lang="en-US" sz="172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場所や条件によって、川の水が地下へ入る場合もある。</a:t>
            </a:r>
            <a:endParaRPr lang="en-US" sz="1725" dirty="0"/>
          </a:p>
        </p:txBody>
      </p:sp>
      <p:sp>
        <p:nvSpPr>
          <p:cNvPr id="16" name="Node-label:concept-notice"/>
          <p:cNvSpPr/>
          <p:nvPr/>
        </p:nvSpPr>
        <p:spPr>
          <a:xfrm>
            <a:off x="590535" y="6429375"/>
            <a:ext cx="9905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2384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概念モデル / 厚さ・大きさ・流速は縮尺を持ちません。</a:t>
            </a:r>
            <a:endParaRPr lang="en-US" sz="975" dirty="0"/>
          </a:p>
        </p:txBody>
      </p:sp>
      <p:sp>
        <p:nvSpPr>
          <p:cNvPr id="17" name="Node-label:page"/>
          <p:cNvSpPr/>
          <p:nvPr/>
        </p:nvSpPr>
        <p:spPr>
          <a:xfrm>
            <a:off x="10762981" y="6419850"/>
            <a:ext cx="9524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B9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Zen Kaku Gothic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Zen Kaku Gothic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雨が、地下水になるまで。</dc:title>
  <dc:subject>Native editable scientific schematic</dc:subject>
  <dc:creator>Studio Yebisu / SciDiagram portable adaptation</dc:creator>
  <cp:lastModifiedBy>Studio Yebisu / SciDiagram portable adaptation</cp:lastModifiedBy>
  <cp:revision>1</cp:revision>
  <dcterms:created xsi:type="dcterms:W3CDTF">2026-10-14T00:37:25Z</dcterms:created>
  <dcterms:modified xsi:type="dcterms:W3CDTF">2026-10-14T00:37:25Z</dcterms:modified>
</cp:coreProperties>
</file>