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線形探索</c:v>
                </c:pt>
              </c:strCache>
            </c:strRef>
          </c:tx>
          <c:spPr>
            <a:ln w="31750">
              <a:solidFill>
                <a:srgbClr val="A8471C"/>
              </a:solidFill>
            </a:ln>
          </c:spPr>
          <c:marker>
            <c:spPr>
              <a:solidFill>
                <a:srgbClr val="A8471C"/>
              </a:solidFill>
              <a:ln>
                <a:solidFill>
                  <a:srgbClr val="A8471C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二分探索</c:v>
                </c:pt>
              </c:strCache>
            </c:strRef>
          </c:tx>
          <c:spPr>
            <a:ln w="31750">
              <a:solidFill>
                <a:srgbClr val="116B8A"/>
              </a:solidFill>
            </a:ln>
          </c:spPr>
          <c:marker>
            <c:spPr>
              <a:solidFill>
                <a:srgbClr val="116B8A"/>
              </a:solidFill>
              <a:ln>
                <a:solidFill>
                  <a:srgbClr val="116B8A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4</c:v>
                </c:pt>
                <c:pt idx="9">
                  <c:v>3</c:v>
                </c:pt>
                <c:pt idx="10">
                  <c:v>4</c:v>
                </c:pt>
                <c:pt idx="11">
                  <c:v>2</c:v>
                </c:pt>
                <c:pt idx="12">
                  <c:v>4</c:v>
                </c:pt>
                <c:pt idx="13">
                  <c:v>3</c:v>
                </c:pt>
                <c:pt idx="14">
                  <c:v>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Yu Gothic"/>
                <a:ea typeface="Yu Gothi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.0"/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Yu Gothic"/>
                <a:ea typeface="Yu Gothic"/>
              </a:defRPr>
            </a:pPr>
          </a:p>
        </c:txPr>
        <c:crossAx val="2118791784"/>
        <c:crosses val="autoZero"/>
        <c:majorUnit val="4.0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Yu Gothic"/>
              <a:ea typeface="Yu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Yu Gothic"/>
          <a:ea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初めて探索を学ぶ人への短い教材です。同じ昇順の配列から、実際にPythonで13を探しました。ここで数える1回は、調べる要素を1つ選んで目的値と比べることです。CPU命令数や秒数ではありません。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線形探索では先頭から順に値を確認します。目的値が13なら1から13まで調べます。この方法は、データが未整列でも使えます。今回は両方式で同じ配列を使って条件をそろえました。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二分探索は昇順という前提を利用します。8より大きいので9〜15、12より大きいので13〜15、14より小さいので13だけを残し、次に13を調べて終了します。中央は添字の小さい側へ切り捨てています。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から15の全てを目的値にして実行しました。線形探索は先頭の1なら1回、末尾の15なら15回。二分探索は8なら1回で、最多でも4回でした。存在する値だけを探す15通りの比較であり、未発見時や大規模データの計測は含め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分探索の前に整列が必要です。今回の実行では初めから昇順の配列を与えたため、並べ替えの手間は計測していません。途中で並びを変えれば前提が崩れます。配列の中央を直接参照できる条件での教材であり、検索回数の減少をそのまま何倍速いと読み替えないで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kit-a11ytitle"/>
          <p:cNvSpPr>
            <a:spLocks noGrp="1"/>
          </p:cNvSpPr>
          <p:nvPr>
            <p:ph type="title"/>
          </p:nvPr>
        </p:nvSpPr>
        <p:spPr>
          <a:xfrm>
            <a:off x="0" y="-914400"/>
            <a:ext cx="12191695" cy="457200"/>
          </a:xfrm>
        </p:spPr>
        <p:txBody>
          <a:bodyPr/>
          <a:lstStyle/>
          <a:p>
            <a:r>
              <a:rPr sz="1000" b="0" i="0">
                <a:solidFill>
                  <a:srgbClr val="132C3B"/>
                </a:solidFill>
                <a:latin typeface="Yu Gothic"/>
                <a:ea typeface="Yu Gothic"/>
              </a:rPr>
              <a:t>並べておくと、探し方が変わる</a:t>
            </a:r>
          </a:p>
        </p:txBody>
      </p:sp>
      <p:sp>
        <p:nvSpPr>
          <p:cNvPr id="3" name="deckkit-chrome-title"/>
          <p:cNvSpPr txBox="1"/>
          <p:nvPr/>
        </p:nvSpPr>
        <p:spPr>
          <a:xfrm>
            <a:off x="502920" y="274320"/>
            <a:ext cx="1118585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探索のしくみ  /  1〜15で実行</a:t>
            </a:r>
          </a:p>
        </p:txBody>
      </p:sp>
      <p:sp>
        <p:nvSpPr>
          <p:cNvPr id="4" name="deckkit-chrome-title"/>
          <p:cNvSpPr txBox="1"/>
          <p:nvPr/>
        </p:nvSpPr>
        <p:spPr>
          <a:xfrm>
            <a:off x="502920" y="493776"/>
            <a:ext cx="1118585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並べておくと、探し方が変わる</a:t>
            </a:r>
          </a:p>
        </p:txBody>
      </p:sp>
      <p:sp>
        <p:nvSpPr>
          <p:cNvPr id="5" name="deckkit-chrome-title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Yu Gothic"/>
                <a:ea typeface="Yu Gothic"/>
              </a:rPr>
              <a:t>条件：昇順の配列 1〜15 ／ 比較回数＝訪問した要素数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37960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069848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32C3B"/>
                </a:solidFill>
                <a:latin typeface="Yu Gothic"/>
                <a:ea typeface="Yu Gothic"/>
              </a:rPr>
              <a:t>15個の数字から「13」を見つける。</a:t>
            </a:r>
          </a:p>
        </p:txBody>
      </p:sp>
      <p:sp>
        <p:nvSpPr>
          <p:cNvPr id="9" name="Rectangle 8" descr="値 1：対象外"/>
          <p:cNvSpPr/>
          <p:nvPr/>
        </p:nvSpPr>
        <p:spPr>
          <a:xfrm>
            <a:off x="566928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1" name="Rectangle 10" descr="値 2：対象外"/>
          <p:cNvSpPr/>
          <p:nvPr/>
        </p:nvSpPr>
        <p:spPr>
          <a:xfrm>
            <a:off x="1303020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03020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3" name="Rectangle 12" descr="値 3：対象外"/>
          <p:cNvSpPr/>
          <p:nvPr/>
        </p:nvSpPr>
        <p:spPr>
          <a:xfrm>
            <a:off x="2039112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9112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5" name="Rectangle 14" descr="値 4：対象外"/>
          <p:cNvSpPr/>
          <p:nvPr/>
        </p:nvSpPr>
        <p:spPr>
          <a:xfrm>
            <a:off x="2775204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75204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7" name="Rectangle 16" descr="値 5：対象外"/>
          <p:cNvSpPr/>
          <p:nvPr/>
        </p:nvSpPr>
        <p:spPr>
          <a:xfrm>
            <a:off x="3511296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1296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19" name="Rectangle 18" descr="値 6：対象外"/>
          <p:cNvSpPr/>
          <p:nvPr/>
        </p:nvSpPr>
        <p:spPr>
          <a:xfrm>
            <a:off x="4247388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7388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21" name="Rectangle 20" descr="値 7：対象外"/>
          <p:cNvSpPr/>
          <p:nvPr/>
        </p:nvSpPr>
        <p:spPr>
          <a:xfrm>
            <a:off x="4983480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23" name="Rectangle 22" descr="値 8：対象外"/>
          <p:cNvSpPr/>
          <p:nvPr/>
        </p:nvSpPr>
        <p:spPr>
          <a:xfrm>
            <a:off x="5719572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9572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25" name="Rectangle 24" descr="値 9：対象外"/>
          <p:cNvSpPr/>
          <p:nvPr/>
        </p:nvSpPr>
        <p:spPr>
          <a:xfrm>
            <a:off x="6455664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27" name="Rectangle 26" descr="値 10：対象外"/>
          <p:cNvSpPr/>
          <p:nvPr/>
        </p:nvSpPr>
        <p:spPr>
          <a:xfrm>
            <a:off x="7191756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91756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29" name="Rectangle 28" descr="値 11：対象外"/>
          <p:cNvSpPr/>
          <p:nvPr/>
        </p:nvSpPr>
        <p:spPr>
          <a:xfrm>
            <a:off x="7927848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7848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31" name="Rectangle 30" descr="値 12：対象外"/>
          <p:cNvSpPr/>
          <p:nvPr/>
        </p:nvSpPr>
        <p:spPr>
          <a:xfrm>
            <a:off x="8663940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63940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33" name="Rectangle 32" descr="値 13：対象外"/>
          <p:cNvSpPr/>
          <p:nvPr/>
        </p:nvSpPr>
        <p:spPr>
          <a:xfrm>
            <a:off x="9400032" y="2423160"/>
            <a:ext cx="649224" cy="594360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0032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35" name="Rectangle 34" descr="値 14：対象外"/>
          <p:cNvSpPr/>
          <p:nvPr/>
        </p:nvSpPr>
        <p:spPr>
          <a:xfrm>
            <a:off x="10136124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6124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37" name="Rectangle 36" descr="値 15：対象外"/>
          <p:cNvSpPr/>
          <p:nvPr/>
        </p:nvSpPr>
        <p:spPr>
          <a:xfrm>
            <a:off x="10872216" y="242316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72216" y="242316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703320"/>
            <a:ext cx="4846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A8471C"/>
                </a:solidFill>
                <a:latin typeface="Yu Gothic"/>
                <a:ea typeface="Yu Gothic"/>
              </a:rPr>
              <a:t>先頭から、ひとつずつ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703320"/>
            <a:ext cx="49377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16B8A"/>
                </a:solidFill>
                <a:latin typeface="Yu Gothic"/>
                <a:ea typeface="Yu Gothic"/>
              </a:rPr>
              <a:t>真ん中から、範囲を半分に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389120"/>
            <a:ext cx="48463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A8471C"/>
                </a:solidFill>
                <a:latin typeface="Yu Gothic"/>
                <a:ea typeface="Yu Gothic"/>
              </a:rPr>
              <a:t>13回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389120"/>
            <a:ext cx="48463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16B8A"/>
                </a:solidFill>
                <a:latin typeface="Yu Gothic"/>
                <a:ea typeface="Yu Gothic"/>
              </a:rPr>
              <a:t>4回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32C3B"/>
                </a:solidFill>
                <a:latin typeface="Yu Gothic"/>
                <a:ea typeface="Yu Gothic"/>
              </a:rPr>
              <a:t>同じデータでも、並び方を使うと調べる場所を減らせる。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kit-a11ytitle"/>
          <p:cNvSpPr>
            <a:spLocks noGrp="1"/>
          </p:cNvSpPr>
          <p:nvPr>
            <p:ph type="title"/>
          </p:nvPr>
        </p:nvSpPr>
        <p:spPr>
          <a:xfrm>
            <a:off x="0" y="-914400"/>
            <a:ext cx="12191695" cy="457200"/>
          </a:xfrm>
        </p:spPr>
        <p:txBody>
          <a:bodyPr/>
          <a:lstStyle/>
          <a:p>
            <a:r>
              <a:rPr sz="1000" b="0" i="0">
                <a:solidFill>
                  <a:srgbClr val="132C3B"/>
                </a:solidFill>
                <a:latin typeface="Yu Gothic"/>
                <a:ea typeface="Yu Gothic"/>
              </a:rPr>
              <a:t>先頭からなら、13まで13回</a:t>
            </a:r>
          </a:p>
        </p:txBody>
      </p:sp>
      <p:sp>
        <p:nvSpPr>
          <p:cNvPr id="3" name="deckkit-chrome-title"/>
          <p:cNvSpPr txBox="1"/>
          <p:nvPr/>
        </p:nvSpPr>
        <p:spPr>
          <a:xfrm>
            <a:off x="502920" y="274320"/>
            <a:ext cx="1118585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探索のしくみ  /  1〜15で実行</a:t>
            </a:r>
          </a:p>
        </p:txBody>
      </p:sp>
      <p:sp>
        <p:nvSpPr>
          <p:cNvPr id="4" name="deckkit-chrome-title"/>
          <p:cNvSpPr txBox="1"/>
          <p:nvPr/>
        </p:nvSpPr>
        <p:spPr>
          <a:xfrm>
            <a:off x="502920" y="493776"/>
            <a:ext cx="1118585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先頭からなら、13まで13回</a:t>
            </a:r>
          </a:p>
        </p:txBody>
      </p:sp>
      <p:sp>
        <p:nvSpPr>
          <p:cNvPr id="5" name="deckkit-chrome-title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Yu Gothic"/>
                <a:ea typeface="Yu Gothic"/>
              </a:rPr>
              <a:t>条件：昇順の配列 1〜15 ／ 比較回数＝訪問した要素数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37960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8" name="Rectangle 7" descr="値 1：確認する値"/>
          <p:cNvSpPr/>
          <p:nvPr/>
        </p:nvSpPr>
        <p:spPr>
          <a:xfrm>
            <a:off x="566928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0" name="Rectangle 9" descr="値 2：確認する値"/>
          <p:cNvSpPr/>
          <p:nvPr/>
        </p:nvSpPr>
        <p:spPr>
          <a:xfrm>
            <a:off x="1303020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3020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2" name="Rectangle 11" descr="値 3：確認する値"/>
          <p:cNvSpPr/>
          <p:nvPr/>
        </p:nvSpPr>
        <p:spPr>
          <a:xfrm>
            <a:off x="2039112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4" name="Rectangle 13" descr="値 4：確認する値"/>
          <p:cNvSpPr/>
          <p:nvPr/>
        </p:nvSpPr>
        <p:spPr>
          <a:xfrm>
            <a:off x="2775204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5204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6" name="Rectangle 15" descr="値 5：確認する値"/>
          <p:cNvSpPr/>
          <p:nvPr/>
        </p:nvSpPr>
        <p:spPr>
          <a:xfrm>
            <a:off x="3511296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18" name="Rectangle 17" descr="値 6：確認する値"/>
          <p:cNvSpPr/>
          <p:nvPr/>
        </p:nvSpPr>
        <p:spPr>
          <a:xfrm>
            <a:off x="4247388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7388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20" name="Rectangle 19" descr="値 7：確認する値"/>
          <p:cNvSpPr/>
          <p:nvPr/>
        </p:nvSpPr>
        <p:spPr>
          <a:xfrm>
            <a:off x="4983480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22" name="Rectangle 21" descr="値 8：確認する値"/>
          <p:cNvSpPr/>
          <p:nvPr/>
        </p:nvSpPr>
        <p:spPr>
          <a:xfrm>
            <a:off x="5719572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9572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24" name="Rectangle 23" descr="値 9：確認する値"/>
          <p:cNvSpPr/>
          <p:nvPr/>
        </p:nvSpPr>
        <p:spPr>
          <a:xfrm>
            <a:off x="6455664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26" name="Rectangle 25" descr="値 10：確認する値"/>
          <p:cNvSpPr/>
          <p:nvPr/>
        </p:nvSpPr>
        <p:spPr>
          <a:xfrm>
            <a:off x="7191756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1756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28" name="Rectangle 27" descr="値 11：確認する値"/>
          <p:cNvSpPr/>
          <p:nvPr/>
        </p:nvSpPr>
        <p:spPr>
          <a:xfrm>
            <a:off x="7927848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7848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30" name="Rectangle 29" descr="値 12：確認する値"/>
          <p:cNvSpPr/>
          <p:nvPr/>
        </p:nvSpPr>
        <p:spPr>
          <a:xfrm>
            <a:off x="8663940" y="2148840"/>
            <a:ext cx="649224" cy="594360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63940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32" name="Rectangle 31" descr="値 13：確認する値"/>
          <p:cNvSpPr/>
          <p:nvPr/>
        </p:nvSpPr>
        <p:spPr>
          <a:xfrm>
            <a:off x="9400032" y="2148840"/>
            <a:ext cx="649224" cy="594360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34" name="Rectangle 33" descr="値 14：対象外"/>
          <p:cNvSpPr/>
          <p:nvPr/>
        </p:nvSpPr>
        <p:spPr>
          <a:xfrm>
            <a:off x="10136124" y="214884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6124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36" name="Rectangle 35" descr="値 15：対象外"/>
          <p:cNvSpPr/>
          <p:nvPr/>
        </p:nvSpPr>
        <p:spPr>
          <a:xfrm>
            <a:off x="10872216" y="2148840"/>
            <a:ext cx="649224" cy="594360"/>
          </a:xfrm>
          <a:prstGeom prst="rect">
            <a:avLst/>
          </a:prstGeom>
          <a:solidFill>
            <a:srgbClr val="E8EE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2216" y="2148840"/>
            <a:ext cx="649224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626C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1508760"/>
            <a:ext cx="1078992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線形探索：見つかるまで、左から順に照合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246120"/>
            <a:ext cx="7680960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8471C"/>
                </a:solidFill>
                <a:latin typeface="Yu Gothic"/>
                <a:ea typeface="Yu Gothic"/>
              </a:rPr>
              <a:t>1 → 2 → 3 → … → 12 → 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251960"/>
            <a:ext cx="777240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32C3B"/>
                </a:solidFill>
                <a:latin typeface="Yu Gothic"/>
                <a:ea typeface="Yu Gothic"/>
              </a:rPr>
              <a:t>今回は13回目で見つかった。
並んでいないデータにも使える。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337560"/>
            <a:ext cx="2194560" cy="10058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A8471C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38912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A8471C"/>
                </a:solidFill>
                <a:latin typeface="Yu Gothic"/>
                <a:ea typeface="Yu Gothic"/>
              </a:rPr>
              <a:t>回の比較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kit-a11ytitle"/>
          <p:cNvSpPr>
            <a:spLocks noGrp="1"/>
          </p:cNvSpPr>
          <p:nvPr>
            <p:ph type="title"/>
          </p:nvPr>
        </p:nvSpPr>
        <p:spPr>
          <a:xfrm>
            <a:off x="0" y="-914400"/>
            <a:ext cx="12191695" cy="457200"/>
          </a:xfrm>
        </p:spPr>
        <p:txBody>
          <a:bodyPr/>
          <a:lstStyle/>
          <a:p>
            <a:r>
              <a:rPr sz="1000" b="0" i="0">
                <a:solidFill>
                  <a:srgbClr val="132C3B"/>
                </a:solidFill>
                <a:latin typeface="Yu Gothic"/>
                <a:ea typeface="Yu Gothic"/>
              </a:rPr>
              <a:t>真ん中で分けると、4回で届く</a:t>
            </a:r>
          </a:p>
        </p:txBody>
      </p:sp>
      <p:sp>
        <p:nvSpPr>
          <p:cNvPr id="3" name="deckkit-chrome-title"/>
          <p:cNvSpPr txBox="1"/>
          <p:nvPr/>
        </p:nvSpPr>
        <p:spPr>
          <a:xfrm>
            <a:off x="502920" y="274320"/>
            <a:ext cx="1118585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探索のしくみ  /  1〜15で実行</a:t>
            </a:r>
          </a:p>
        </p:txBody>
      </p:sp>
      <p:sp>
        <p:nvSpPr>
          <p:cNvPr id="4" name="deckkit-chrome-title"/>
          <p:cNvSpPr txBox="1"/>
          <p:nvPr/>
        </p:nvSpPr>
        <p:spPr>
          <a:xfrm>
            <a:off x="502920" y="493776"/>
            <a:ext cx="1118585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真ん中で分けると、4回で届く</a:t>
            </a:r>
          </a:p>
        </p:txBody>
      </p:sp>
      <p:sp>
        <p:nvSpPr>
          <p:cNvPr id="5" name="deckkit-chrome-title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Yu Gothic"/>
                <a:ea typeface="Yu Gothic"/>
              </a:rPr>
              <a:t>条件：昇順の配列 1〜15 ／ 比較回数＝訪問した要素数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37960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6B8A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2148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32C3B"/>
                </a:solidFill>
                <a:latin typeface="Yu Gothic"/>
                <a:ea typeface="Yu Gothic"/>
              </a:rPr>
              <a:t>範囲 1〜15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20824"/>
            <a:ext cx="214884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8471C"/>
                </a:solidFill>
                <a:latin typeface="Yu Gothic"/>
                <a:ea typeface="Yu Gothic"/>
              </a:rPr>
              <a:t>13 &gt; 8：右へ</a:t>
            </a:r>
          </a:p>
        </p:txBody>
      </p:sp>
      <p:sp>
        <p:nvSpPr>
          <p:cNvPr id="11" name="Rectangle 10" descr="第1回 値1"/>
          <p:cNvSpPr/>
          <p:nvPr/>
        </p:nvSpPr>
        <p:spPr>
          <a:xfrm>
            <a:off x="3337560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3" name="Rectangle 12" descr="第1回 値2"/>
          <p:cNvSpPr/>
          <p:nvPr/>
        </p:nvSpPr>
        <p:spPr>
          <a:xfrm>
            <a:off x="3867911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1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5" name="Rectangle 14" descr="第1回 値3"/>
          <p:cNvSpPr/>
          <p:nvPr/>
        </p:nvSpPr>
        <p:spPr>
          <a:xfrm>
            <a:off x="4398264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8264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7" name="Rectangle 16" descr="第1回 値4"/>
          <p:cNvSpPr/>
          <p:nvPr/>
        </p:nvSpPr>
        <p:spPr>
          <a:xfrm>
            <a:off x="4928616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9" name="Rectangle 18" descr="第1回 値5"/>
          <p:cNvSpPr/>
          <p:nvPr/>
        </p:nvSpPr>
        <p:spPr>
          <a:xfrm>
            <a:off x="5458968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58968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21" name="Rectangle 20" descr="第1回 値6"/>
          <p:cNvSpPr/>
          <p:nvPr/>
        </p:nvSpPr>
        <p:spPr>
          <a:xfrm>
            <a:off x="5989320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23" name="Rectangle 22" descr="第1回 値7"/>
          <p:cNvSpPr/>
          <p:nvPr/>
        </p:nvSpPr>
        <p:spPr>
          <a:xfrm>
            <a:off x="6519671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1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25" name="Rectangle 24" descr="第1回 値8 中央で照合"/>
          <p:cNvSpPr/>
          <p:nvPr/>
        </p:nvSpPr>
        <p:spPr>
          <a:xfrm>
            <a:off x="7050023" y="1554480"/>
            <a:ext cx="466344" cy="475488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3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27" name="Rectangle 26" descr="第1回 値9"/>
          <p:cNvSpPr/>
          <p:nvPr/>
        </p:nvSpPr>
        <p:spPr>
          <a:xfrm>
            <a:off x="7580375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0375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29" name="Rectangle 28" descr="第1回 値10"/>
          <p:cNvSpPr/>
          <p:nvPr/>
        </p:nvSpPr>
        <p:spPr>
          <a:xfrm>
            <a:off x="8110727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0727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31" name="Rectangle 30" descr="第1回 値11"/>
          <p:cNvSpPr/>
          <p:nvPr/>
        </p:nvSpPr>
        <p:spPr>
          <a:xfrm>
            <a:off x="8641080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33" name="Rectangle 32" descr="第1回 値12"/>
          <p:cNvSpPr/>
          <p:nvPr/>
        </p:nvSpPr>
        <p:spPr>
          <a:xfrm>
            <a:off x="9171432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1432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35" name="Rectangle 34" descr="第1回 値13"/>
          <p:cNvSpPr/>
          <p:nvPr/>
        </p:nvSpPr>
        <p:spPr>
          <a:xfrm>
            <a:off x="9701784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01784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37" name="Rectangle 36" descr="第1回 値14"/>
          <p:cNvSpPr/>
          <p:nvPr/>
        </p:nvSpPr>
        <p:spPr>
          <a:xfrm>
            <a:off x="10232136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32136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39" name="Rectangle 38" descr="第1回 値15"/>
          <p:cNvSpPr/>
          <p:nvPr/>
        </p:nvSpPr>
        <p:spPr>
          <a:xfrm>
            <a:off x="10762488" y="1554480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62488" y="1554480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2523744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6B8A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2523744"/>
            <a:ext cx="2148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32C3B"/>
                </a:solidFill>
                <a:latin typeface="Yu Gothic"/>
                <a:ea typeface="Yu Gothic"/>
              </a:rPr>
              <a:t>範囲 9〜15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2990087"/>
            <a:ext cx="214884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8471C"/>
                </a:solidFill>
                <a:latin typeface="Yu Gothic"/>
                <a:ea typeface="Yu Gothic"/>
              </a:rPr>
              <a:t>13 &gt; 12：右へ</a:t>
            </a:r>
          </a:p>
        </p:txBody>
      </p:sp>
      <p:sp>
        <p:nvSpPr>
          <p:cNvPr id="44" name="Rectangle 43" descr="第2回 値1"/>
          <p:cNvSpPr/>
          <p:nvPr/>
        </p:nvSpPr>
        <p:spPr>
          <a:xfrm>
            <a:off x="3337560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37560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46" name="Rectangle 45" descr="第2回 値2"/>
          <p:cNvSpPr/>
          <p:nvPr/>
        </p:nvSpPr>
        <p:spPr>
          <a:xfrm>
            <a:off x="3867911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67911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48" name="Rectangle 47" descr="第2回 値3"/>
          <p:cNvSpPr/>
          <p:nvPr/>
        </p:nvSpPr>
        <p:spPr>
          <a:xfrm>
            <a:off x="4398264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98264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50" name="Rectangle 49" descr="第2回 値4"/>
          <p:cNvSpPr/>
          <p:nvPr/>
        </p:nvSpPr>
        <p:spPr>
          <a:xfrm>
            <a:off x="4928616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28616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52" name="Rectangle 51" descr="第2回 値5"/>
          <p:cNvSpPr/>
          <p:nvPr/>
        </p:nvSpPr>
        <p:spPr>
          <a:xfrm>
            <a:off x="5458968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54" name="Rectangle 53" descr="第2回 値6"/>
          <p:cNvSpPr/>
          <p:nvPr/>
        </p:nvSpPr>
        <p:spPr>
          <a:xfrm>
            <a:off x="5989320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89320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56" name="Rectangle 55" descr="第2回 値7"/>
          <p:cNvSpPr/>
          <p:nvPr/>
        </p:nvSpPr>
        <p:spPr>
          <a:xfrm>
            <a:off x="6519671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1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58" name="Rectangle 57" descr="第2回 値8"/>
          <p:cNvSpPr/>
          <p:nvPr/>
        </p:nvSpPr>
        <p:spPr>
          <a:xfrm>
            <a:off x="7050023" y="2523744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0023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60" name="Rectangle 59" descr="第2回 値9"/>
          <p:cNvSpPr/>
          <p:nvPr/>
        </p:nvSpPr>
        <p:spPr>
          <a:xfrm>
            <a:off x="7580375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0375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62" name="Rectangle 61" descr="第2回 値10"/>
          <p:cNvSpPr/>
          <p:nvPr/>
        </p:nvSpPr>
        <p:spPr>
          <a:xfrm>
            <a:off x="8110727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10727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64" name="Rectangle 63" descr="第2回 値11"/>
          <p:cNvSpPr/>
          <p:nvPr/>
        </p:nvSpPr>
        <p:spPr>
          <a:xfrm>
            <a:off x="8641080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41080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66" name="Rectangle 65" descr="第2回 値12 中央で照合"/>
          <p:cNvSpPr/>
          <p:nvPr/>
        </p:nvSpPr>
        <p:spPr>
          <a:xfrm>
            <a:off x="9171432" y="2523744"/>
            <a:ext cx="466344" cy="475488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71432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68" name="Rectangle 67" descr="第2回 値13"/>
          <p:cNvSpPr/>
          <p:nvPr/>
        </p:nvSpPr>
        <p:spPr>
          <a:xfrm>
            <a:off x="9701784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01784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70" name="Rectangle 69" descr="第2回 値14"/>
          <p:cNvSpPr/>
          <p:nvPr/>
        </p:nvSpPr>
        <p:spPr>
          <a:xfrm>
            <a:off x="10232136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32136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72" name="Rectangle 71" descr="第2回 値15"/>
          <p:cNvSpPr/>
          <p:nvPr/>
        </p:nvSpPr>
        <p:spPr>
          <a:xfrm>
            <a:off x="10762488" y="2523744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62488" y="2523744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49300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6B8A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" y="3493008"/>
            <a:ext cx="2148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32C3B"/>
                </a:solidFill>
                <a:latin typeface="Yu Gothic"/>
                <a:ea typeface="Yu Gothic"/>
              </a:rPr>
              <a:t>範囲 13〜15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3959352"/>
            <a:ext cx="214884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8471C"/>
                </a:solidFill>
                <a:latin typeface="Yu Gothic"/>
                <a:ea typeface="Yu Gothic"/>
              </a:rPr>
              <a:t>13 &lt; 14：左へ</a:t>
            </a:r>
          </a:p>
        </p:txBody>
      </p:sp>
      <p:sp>
        <p:nvSpPr>
          <p:cNvPr id="77" name="Rectangle 76" descr="第3回 値1"/>
          <p:cNvSpPr/>
          <p:nvPr/>
        </p:nvSpPr>
        <p:spPr>
          <a:xfrm>
            <a:off x="3337560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37560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79" name="Rectangle 78" descr="第3回 値2"/>
          <p:cNvSpPr/>
          <p:nvPr/>
        </p:nvSpPr>
        <p:spPr>
          <a:xfrm>
            <a:off x="3867911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67911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81" name="Rectangle 80" descr="第3回 値3"/>
          <p:cNvSpPr/>
          <p:nvPr/>
        </p:nvSpPr>
        <p:spPr>
          <a:xfrm>
            <a:off x="4398264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98264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83" name="Rectangle 82" descr="第3回 値4"/>
          <p:cNvSpPr/>
          <p:nvPr/>
        </p:nvSpPr>
        <p:spPr>
          <a:xfrm>
            <a:off x="4928616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28616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85" name="Rectangle 84" descr="第3回 値5"/>
          <p:cNvSpPr/>
          <p:nvPr/>
        </p:nvSpPr>
        <p:spPr>
          <a:xfrm>
            <a:off x="5458968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58968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87" name="Rectangle 86" descr="第3回 値6"/>
          <p:cNvSpPr/>
          <p:nvPr/>
        </p:nvSpPr>
        <p:spPr>
          <a:xfrm>
            <a:off x="5989320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89320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89" name="Rectangle 88" descr="第3回 値7"/>
          <p:cNvSpPr/>
          <p:nvPr/>
        </p:nvSpPr>
        <p:spPr>
          <a:xfrm>
            <a:off x="6519671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519671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91" name="Rectangle 90" descr="第3回 値8"/>
          <p:cNvSpPr/>
          <p:nvPr/>
        </p:nvSpPr>
        <p:spPr>
          <a:xfrm>
            <a:off x="7050023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50023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93" name="Rectangle 92" descr="第3回 値9"/>
          <p:cNvSpPr/>
          <p:nvPr/>
        </p:nvSpPr>
        <p:spPr>
          <a:xfrm>
            <a:off x="7580375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580375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95" name="Rectangle 94" descr="第3回 値10"/>
          <p:cNvSpPr/>
          <p:nvPr/>
        </p:nvSpPr>
        <p:spPr>
          <a:xfrm>
            <a:off x="8110727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110727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97" name="Rectangle 96" descr="第3回 値11"/>
          <p:cNvSpPr/>
          <p:nvPr/>
        </p:nvSpPr>
        <p:spPr>
          <a:xfrm>
            <a:off x="8641080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41080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99" name="Rectangle 98" descr="第3回 値12"/>
          <p:cNvSpPr/>
          <p:nvPr/>
        </p:nvSpPr>
        <p:spPr>
          <a:xfrm>
            <a:off x="9171432" y="3493008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71432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101" name="Rectangle 100" descr="第3回 値13"/>
          <p:cNvSpPr/>
          <p:nvPr/>
        </p:nvSpPr>
        <p:spPr>
          <a:xfrm>
            <a:off x="9701784" y="3493008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103" name="Rectangle 102" descr="第3回 値14 中央で照合"/>
          <p:cNvSpPr/>
          <p:nvPr/>
        </p:nvSpPr>
        <p:spPr>
          <a:xfrm>
            <a:off x="10232136" y="3493008"/>
            <a:ext cx="466344" cy="475488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32136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105" name="Rectangle 104" descr="第3回 値15"/>
          <p:cNvSpPr/>
          <p:nvPr/>
        </p:nvSpPr>
        <p:spPr>
          <a:xfrm>
            <a:off x="10762488" y="3493008"/>
            <a:ext cx="466344" cy="475488"/>
          </a:xfrm>
          <a:prstGeom prst="rect">
            <a:avLst/>
          </a:prstGeom>
          <a:solidFill>
            <a:srgbClr val="D8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762488" y="3493008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32C3B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0" y="4462272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6B8A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280" y="4462272"/>
            <a:ext cx="2148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32C3B"/>
                </a:solidFill>
                <a:latin typeface="Yu Gothic"/>
                <a:ea typeface="Yu Gothic"/>
              </a:rPr>
              <a:t>範囲 13〜13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97280" y="4928616"/>
            <a:ext cx="214884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8471C"/>
                </a:solidFill>
                <a:latin typeface="Yu Gothic"/>
                <a:ea typeface="Yu Gothic"/>
              </a:rPr>
              <a:t>13 = 13：発見</a:t>
            </a:r>
          </a:p>
        </p:txBody>
      </p:sp>
      <p:sp>
        <p:nvSpPr>
          <p:cNvPr id="110" name="Rectangle 109" descr="第4回 値1"/>
          <p:cNvSpPr/>
          <p:nvPr/>
        </p:nvSpPr>
        <p:spPr>
          <a:xfrm>
            <a:off x="3337560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337560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12" name="Rectangle 111" descr="第4回 値2"/>
          <p:cNvSpPr/>
          <p:nvPr/>
        </p:nvSpPr>
        <p:spPr>
          <a:xfrm>
            <a:off x="3867911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867911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14" name="Rectangle 113" descr="第4回 値3"/>
          <p:cNvSpPr/>
          <p:nvPr/>
        </p:nvSpPr>
        <p:spPr>
          <a:xfrm>
            <a:off x="4398264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398264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16" name="Rectangle 115" descr="第4回 値4"/>
          <p:cNvSpPr/>
          <p:nvPr/>
        </p:nvSpPr>
        <p:spPr>
          <a:xfrm>
            <a:off x="4928616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928616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18" name="Rectangle 117" descr="第4回 値5"/>
          <p:cNvSpPr/>
          <p:nvPr/>
        </p:nvSpPr>
        <p:spPr>
          <a:xfrm>
            <a:off x="5458968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58968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120" name="Rectangle 119" descr="第4回 値6"/>
          <p:cNvSpPr/>
          <p:nvPr/>
        </p:nvSpPr>
        <p:spPr>
          <a:xfrm>
            <a:off x="5989320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122" name="Rectangle 121" descr="第4回 値7"/>
          <p:cNvSpPr/>
          <p:nvPr/>
        </p:nvSpPr>
        <p:spPr>
          <a:xfrm>
            <a:off x="6519671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19671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124" name="Rectangle 123" descr="第4回 値8"/>
          <p:cNvSpPr/>
          <p:nvPr/>
        </p:nvSpPr>
        <p:spPr>
          <a:xfrm>
            <a:off x="7050023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050023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126" name="Rectangle 125" descr="第4回 値9"/>
          <p:cNvSpPr/>
          <p:nvPr/>
        </p:nvSpPr>
        <p:spPr>
          <a:xfrm>
            <a:off x="7580375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580375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128" name="Rectangle 127" descr="第4回 値10"/>
          <p:cNvSpPr/>
          <p:nvPr/>
        </p:nvSpPr>
        <p:spPr>
          <a:xfrm>
            <a:off x="8110727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10727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130" name="Rectangle 129" descr="第4回 値11"/>
          <p:cNvSpPr/>
          <p:nvPr/>
        </p:nvSpPr>
        <p:spPr>
          <a:xfrm>
            <a:off x="8641080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641080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132" name="Rectangle 131" descr="第4回 値12"/>
          <p:cNvSpPr/>
          <p:nvPr/>
        </p:nvSpPr>
        <p:spPr>
          <a:xfrm>
            <a:off x="9171432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71432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134" name="Rectangle 133" descr="第4回 値13 中央で照合"/>
          <p:cNvSpPr/>
          <p:nvPr/>
        </p:nvSpPr>
        <p:spPr>
          <a:xfrm>
            <a:off x="9701784" y="4462272"/>
            <a:ext cx="466344" cy="475488"/>
          </a:xfrm>
          <a:prstGeom prst="rect">
            <a:avLst/>
          </a:prstGeom>
          <a:solidFill>
            <a:srgbClr val="A847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701784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136" name="Rectangle 135" descr="第4回 値14"/>
          <p:cNvSpPr/>
          <p:nvPr/>
        </p:nvSpPr>
        <p:spPr>
          <a:xfrm>
            <a:off x="10232136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232136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138" name="Rectangle 137" descr="第4回 値15"/>
          <p:cNvSpPr/>
          <p:nvPr/>
        </p:nvSpPr>
        <p:spPr>
          <a:xfrm>
            <a:off x="10762488" y="4462272"/>
            <a:ext cx="466344" cy="475488"/>
          </a:xfrm>
          <a:prstGeom prst="rect">
            <a:avLst/>
          </a:prstGeom>
          <a:solidFill>
            <a:srgbClr val="F2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762488" y="4462272"/>
            <a:ext cx="466344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94360" y="5596128"/>
            <a:ext cx="109728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C3B"/>
                </a:solidFill>
                <a:latin typeface="Yu Gothic"/>
                <a:ea typeface="Yu Gothic"/>
              </a:rPr>
              <a:t>茶色＝照合する中央の値　　8 → 12 → 14 → 13 の4回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kit-a11ytitle"/>
          <p:cNvSpPr>
            <a:spLocks noGrp="1"/>
          </p:cNvSpPr>
          <p:nvPr>
            <p:ph type="title"/>
          </p:nvPr>
        </p:nvSpPr>
        <p:spPr>
          <a:xfrm>
            <a:off x="0" y="-914400"/>
            <a:ext cx="12191695" cy="457200"/>
          </a:xfrm>
        </p:spPr>
        <p:txBody>
          <a:bodyPr/>
          <a:lstStyle/>
          <a:p>
            <a:r>
              <a:rPr sz="1000" b="0" i="0">
                <a:solidFill>
                  <a:srgbClr val="132C3B"/>
                </a:solidFill>
                <a:latin typeface="Yu Gothic"/>
                <a:ea typeface="Yu Gothic"/>
              </a:rPr>
              <a:t>15個すべてで試すと、最大4回</a:t>
            </a:r>
          </a:p>
        </p:txBody>
      </p:sp>
      <p:sp>
        <p:nvSpPr>
          <p:cNvPr id="3" name="deckkit-chrome-title"/>
          <p:cNvSpPr txBox="1"/>
          <p:nvPr/>
        </p:nvSpPr>
        <p:spPr>
          <a:xfrm>
            <a:off x="502920" y="274320"/>
            <a:ext cx="1118585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探索のしくみ  /  1〜15で実行</a:t>
            </a:r>
          </a:p>
        </p:txBody>
      </p:sp>
      <p:sp>
        <p:nvSpPr>
          <p:cNvPr id="4" name="deckkit-chrome-title"/>
          <p:cNvSpPr txBox="1"/>
          <p:nvPr/>
        </p:nvSpPr>
        <p:spPr>
          <a:xfrm>
            <a:off x="502920" y="493776"/>
            <a:ext cx="1118585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15個すべてで試すと、最大4回</a:t>
            </a:r>
          </a:p>
        </p:txBody>
      </p:sp>
      <p:sp>
        <p:nvSpPr>
          <p:cNvPr id="5" name="deckkit-chrome-title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Yu Gothic"/>
                <a:ea typeface="Yu Gothic"/>
              </a:rPr>
              <a:t>条件：昇順の配列 1〜15 ／ 比較回数＝訪問した要素数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37960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399032"/>
            <a:ext cx="10881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2C3B"/>
                </a:solidFill>
                <a:latin typeface="Yu Gothic"/>
                <a:ea typeface="Yu Gothic"/>
              </a:rPr>
              <a:t>目的値を1〜15に変えて、全15通りを実行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956816"/>
          <a:ext cx="845820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1856231"/>
            <a:ext cx="18288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E626C"/>
                </a:solidFill>
                <a:latin typeface="Yu Gothic"/>
                <a:ea typeface="Yu Gothic"/>
              </a:rPr>
              <a:t>比較回数（回）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5605272"/>
            <a:ext cx="21488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626C"/>
                </a:solidFill>
                <a:latin typeface="Yu Gothic"/>
                <a:ea typeface="Yu Gothic"/>
              </a:rPr>
              <a:t>探す値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240280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二分探索の最大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551176"/>
            <a:ext cx="23774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32C3B"/>
                </a:solidFill>
                <a:latin typeface="Yu Gothic"/>
                <a:ea typeface="Yu Gothic"/>
              </a:rPr>
              <a:t>4回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429000"/>
            <a:ext cx="2377440" cy="51206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626C"/>
                </a:solidFill>
                <a:latin typeface="Yu Gothic"/>
                <a:ea typeface="Yu Gothic"/>
              </a:rPr>
              <a:t>この15通りでは、
線形探索は最大15回。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98464"/>
            <a:ext cx="1088136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626C"/>
                </a:solidFill>
                <a:latin typeface="Yu Gothic"/>
                <a:ea typeface="Yu Gothic"/>
              </a:rPr>
              <a:t>実行結果：input/data.json ／ 配列内に存在する値だけを比較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kit-a11ytitle"/>
          <p:cNvSpPr>
            <a:spLocks noGrp="1"/>
          </p:cNvSpPr>
          <p:nvPr>
            <p:ph type="title"/>
          </p:nvPr>
        </p:nvSpPr>
        <p:spPr>
          <a:xfrm>
            <a:off x="0" y="-914400"/>
            <a:ext cx="12191695" cy="457200"/>
          </a:xfrm>
        </p:spPr>
        <p:txBody>
          <a:bodyPr/>
          <a:lstStyle/>
          <a:p>
            <a:r>
              <a:rPr sz="1000" b="0" i="0">
                <a:solidFill>
                  <a:srgbClr val="132C3B"/>
                </a:solidFill>
                <a:latin typeface="Yu Gothic"/>
                <a:ea typeface="Yu Gothic"/>
              </a:rPr>
              <a:t>使える条件も、いっしょに覚える</a:t>
            </a:r>
          </a:p>
        </p:txBody>
      </p:sp>
      <p:sp>
        <p:nvSpPr>
          <p:cNvPr id="3" name="deckkit-chrome-title"/>
          <p:cNvSpPr txBox="1"/>
          <p:nvPr/>
        </p:nvSpPr>
        <p:spPr>
          <a:xfrm>
            <a:off x="502920" y="274320"/>
            <a:ext cx="1118585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6B8A"/>
                </a:solidFill>
                <a:latin typeface="Yu Gothic"/>
                <a:ea typeface="Yu Gothic"/>
              </a:rPr>
              <a:t>探索のしくみ  /  1〜15で実行</a:t>
            </a:r>
          </a:p>
        </p:txBody>
      </p:sp>
      <p:sp>
        <p:nvSpPr>
          <p:cNvPr id="4" name="deckkit-chrome-title"/>
          <p:cNvSpPr txBox="1"/>
          <p:nvPr/>
        </p:nvSpPr>
        <p:spPr>
          <a:xfrm>
            <a:off x="502920" y="493776"/>
            <a:ext cx="1118585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C3B"/>
                </a:solidFill>
                <a:latin typeface="Yu Gothic"/>
                <a:ea typeface="Yu Gothic"/>
              </a:rPr>
              <a:t>使える条件も、いっしょに覚える</a:t>
            </a:r>
          </a:p>
        </p:txBody>
      </p:sp>
      <p:sp>
        <p:nvSpPr>
          <p:cNvPr id="5" name="deckkit-chrome-title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116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Yu Gothic"/>
                <a:ea typeface="Yu Gothic"/>
              </a:rPr>
              <a:t>条件：昇順の配列 1〜15 ／ 比較回数＝訪問した要素数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537960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789920" cy="5943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16B8A"/>
                </a:solidFill>
                <a:latin typeface="Yu Gothic"/>
                <a:ea typeface="Yu Gothic"/>
              </a:rPr>
              <a:t>二分探索の前提は「昇順が保たれていること」。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49377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2C3B"/>
                </a:solidFill>
                <a:latin typeface="Yu Gothic"/>
                <a:ea typeface="Yu Gothic"/>
              </a:rPr>
              <a:t>今回、確かめたこと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19272"/>
            <a:ext cx="4937760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32C3B"/>
                </a:solidFill>
                <a:latin typeface="Yu Gothic"/>
                <a:ea typeface="Yu Gothic"/>
              </a:rPr>
              <a:t>1〜15の全15通り
二分探索の比較は最大4回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9377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2C3B"/>
                </a:solidFill>
                <a:latin typeface="Yu Gothic"/>
                <a:ea typeface="Yu Gothic"/>
              </a:rPr>
              <a:t>今回、測っていないこと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19272"/>
            <a:ext cx="4937760" cy="1143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32C3B"/>
                </a:solidFill>
                <a:latin typeface="Yu Gothic"/>
                <a:ea typeface="Yu Gothic"/>
              </a:rPr>
              <a:t>実際にかかる秒数
並べ替えにかかる手間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A8471C"/>
                </a:solidFill>
                <a:latin typeface="Yu Gothic"/>
                <a:ea typeface="Yu Gothic"/>
              </a:rPr>
              <a:t>「比較が少ない」と「何倍速い」は、分けて考える。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ja-JP</dc:language>
</cp:coreProperties>
</file>