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線形探索</c:v>
                </c:pt>
              </c:strCache>
            </c:strRef>
          </c:tx>
          <c:spPr>
            <a:ln w="31750">
              <a:solidFill>
                <a:srgbClr val="116B8A"/>
              </a:solidFill>
            </a:ln>
          </c:spPr>
          <c:marker>
            <c:spPr>
              <a:solidFill>
                <a:srgbClr val="116B8A"/>
              </a:solidFill>
              <a:ln>
                <a:solidFill>
                  <a:srgbClr val="116B8A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二分探索</c:v>
                </c:pt>
              </c:strCache>
            </c:strRef>
          </c:tx>
          <c:spPr>
            <a:ln w="31750">
              <a:solidFill>
                <a:srgbClr val="7044A0"/>
              </a:solidFill>
            </a:ln>
          </c:spPr>
          <c:marker>
            <c:spPr>
              <a:solidFill>
                <a:srgbClr val="7044A0"/>
              </a:solidFill>
              <a:ln>
                <a:solidFill>
                  <a:srgbClr val="7044A0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4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4</c:v>
                </c:pt>
                <c:pt idx="5">
                  <c:v>3</c:v>
                </c:pt>
                <c:pt idx="6">
                  <c:v>4</c:v>
                </c:pt>
                <c:pt idx="7">
                  <c:v>1</c:v>
                </c:pt>
                <c:pt idx="8">
                  <c:v>4</c:v>
                </c:pt>
                <c:pt idx="9">
                  <c:v>3</c:v>
                </c:pt>
                <c:pt idx="10">
                  <c:v>4</c:v>
                </c:pt>
                <c:pt idx="11">
                  <c:v>2</c:v>
                </c:pt>
                <c:pt idx="12">
                  <c:v>4</c:v>
                </c:pt>
                <c:pt idx="13">
                  <c:v>3</c:v>
                </c:pt>
                <c:pt idx="14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600">
                    <a:latin typeface="Yu Gothic"/>
                  </a:rPr>
                  <a:t>探す値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600">
                <a:solidFill>
                  <a:srgbClr val="222A37"/>
                </a:solidFill>
                <a:latin typeface="Yu Gothic"/>
                <a:ea typeface="Yu Gothi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.0"/>
          <c:min val="0.0"/>
        </c:scaling>
        <c:delete val="0"/>
        <c:axPos val="l"/>
        <c:majorGridlines>
          <c:spPr>
            <a:ln w="6350">
              <a:solidFill>
                <a:srgbClr val="E7E9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600">
                    <a:latin typeface="Yu Gothic"/>
                  </a:rPr>
                  <a:t>比較回数（回）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E7E9F0"/>
            </a:solidFill>
          </a:ln>
        </c:spPr>
        <c:txPr>
          <a:bodyPr/>
          <a:lstStyle/>
          <a:p>
            <a:pPr>
              <a:defRPr sz="1600">
                <a:solidFill>
                  <a:srgbClr val="222A37"/>
                </a:solidFill>
                <a:latin typeface="Yu Gothic"/>
                <a:ea typeface="Yu Gothic"/>
              </a:defRPr>
            </a:pPr>
          </a:p>
        </c:txPr>
        <c:crossAx val="2118791784"/>
        <c:crosses val="autoZero"/>
        <c:majorUnit val="4.0"/>
      </c:valAx>
    </c:plotArea>
    <c:legend>
      <c:legendPos val="t"/>
      <c:layout/>
      <c:overlay val="1"/>
      <c:txPr>
        <a:bodyPr/>
        <a:lstStyle/>
        <a:p>
          <a:pPr>
            <a:defRPr sz="1600">
              <a:solidFill>
                <a:srgbClr val="222A37"/>
              </a:solidFill>
              <a:latin typeface="Yu Gothic"/>
              <a:ea typeface="Yu Gothi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600">
          <a:solidFill>
            <a:srgbClr val="222A37"/>
          </a:solidFill>
          <a:latin typeface="Yu Gothic"/>
          <a:ea typeface="Yu Gothi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初めて探索を学ぶ人への短い教材です。同じ昇順の配列から、実際にPythonで13を探しました。ここで数える1回は、調べる要素を1つ選んで目的値と比べることです。CPU命令数や秒数ではありません。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線形探索では先頭から順に値を確認します。目的値が13なら1から13まで調べます。この方法は、データが未整列でも使えます。今回は両方式で同じ配列を使って条件をそろえました。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二分探索は昇順という前提を利用します。8より大きいので9〜15、12より大きいので13〜15、14より小さいので13だけを残し、次に13を調べて終了します。中央は添字の小さい側へ切り捨てています。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から15の全てを目的値にして実行しました。線形探索は先頭の1なら1回、末尾の15なら15回。二分探索は8なら1回で、最多でも4回でした。存在する値だけを探す15通りの比較であり、未発見時や大規模データの計測は含めていません。</a:t>
            </a:r>
          </a:p>
          <a:p>
            <a:r>
              <a:t>実行結果：input/data.json。配列内に存在する値だけの比較。目的値1では線形1回に対し二分4回であり、個々の値で常に二分が少ないとは限らない。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分探索の前に整列が必要です。今回の実行では初めから昇順の配列を与えたため、並べ替えの手間は計測していません。途中で並びを変えれば前提が崩れます。配列の中央を直接参照できる条件での教材であり、検索回数の減少をそのまま何倍速いと読み替えない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3400" b="0" i="0">
                <a:solidFill>
                  <a:srgbClr val="132C3B"/>
                </a:solidFill>
                <a:latin typeface="Yu Gothic"/>
                <a:ea typeface="Yu Gothic"/>
              </a:rPr>
              <a:t>昇順なら、中央から範囲を絞れる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32C3B"/>
                </a:solidFill>
                <a:latin typeface="Yu Gothic"/>
                <a:ea typeface="Yu Gothic"/>
              </a:rPr>
              <a:t>昇順なら、中央から範囲を絞れる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424160" cy="3200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626C"/>
                </a:solidFill>
                <a:latin typeface="Yu Gothic"/>
                <a:ea typeface="Yu Gothic"/>
              </a:rPr>
              <a:t>条件：昇順の配列1〜15／比較回数＝訪問した要素数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0698480" cy="5029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15個の数字から「13」を見つける。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75104"/>
            <a:ext cx="10881360" cy="4114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2C3B"/>
                </a:solidFill>
                <a:latin typeface="Yu Gothic"/>
                <a:ea typeface="Yu Gothic"/>
              </a:rPr>
              <a:t>目標：次に調べる値を、自分で選べる。</a:t>
            </a:r>
          </a:p>
        </p:txBody>
      </p:sp>
      <p:sp>
        <p:nvSpPr>
          <p:cNvPr id="8" name="Rectangle 7" descr="値 1：対象外"/>
          <p:cNvSpPr/>
          <p:nvPr/>
        </p:nvSpPr>
        <p:spPr>
          <a:xfrm>
            <a:off x="502920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0" name="Rectangle 9" descr="値 2：対象外"/>
          <p:cNvSpPr/>
          <p:nvPr/>
        </p:nvSpPr>
        <p:spPr>
          <a:xfrm>
            <a:off x="1239012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9012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2" name="Rectangle 11" descr="値 3：対象外"/>
          <p:cNvSpPr/>
          <p:nvPr/>
        </p:nvSpPr>
        <p:spPr>
          <a:xfrm>
            <a:off x="1975104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75104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4" name="Rectangle 13" descr="値 4：対象外"/>
          <p:cNvSpPr/>
          <p:nvPr/>
        </p:nvSpPr>
        <p:spPr>
          <a:xfrm>
            <a:off x="2711196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1196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6" name="Rectangle 15" descr="値 5：対象外"/>
          <p:cNvSpPr/>
          <p:nvPr/>
        </p:nvSpPr>
        <p:spPr>
          <a:xfrm>
            <a:off x="3447288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18" name="Rectangle 17" descr="値 6：対象外"/>
          <p:cNvSpPr/>
          <p:nvPr/>
        </p:nvSpPr>
        <p:spPr>
          <a:xfrm>
            <a:off x="4183380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83380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20" name="Rectangle 19" descr="値 7：対象外"/>
          <p:cNvSpPr/>
          <p:nvPr/>
        </p:nvSpPr>
        <p:spPr>
          <a:xfrm>
            <a:off x="4919472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9472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22" name="Rectangle 21" descr="値 8：対象外"/>
          <p:cNvSpPr/>
          <p:nvPr/>
        </p:nvSpPr>
        <p:spPr>
          <a:xfrm>
            <a:off x="5655564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5564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24" name="Rectangle 23" descr="値 9：対象外"/>
          <p:cNvSpPr/>
          <p:nvPr/>
        </p:nvSpPr>
        <p:spPr>
          <a:xfrm>
            <a:off x="6391656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9</a:t>
            </a:r>
          </a:p>
        </p:txBody>
      </p:sp>
      <p:sp>
        <p:nvSpPr>
          <p:cNvPr id="26" name="Rectangle 25" descr="値 10：対象外"/>
          <p:cNvSpPr/>
          <p:nvPr/>
        </p:nvSpPr>
        <p:spPr>
          <a:xfrm>
            <a:off x="7127748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7748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28" name="Rectangle 27" descr="値 11：対象外"/>
          <p:cNvSpPr/>
          <p:nvPr/>
        </p:nvSpPr>
        <p:spPr>
          <a:xfrm>
            <a:off x="7863840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11</a:t>
            </a:r>
          </a:p>
        </p:txBody>
      </p:sp>
      <p:sp>
        <p:nvSpPr>
          <p:cNvPr id="30" name="Rectangle 29" descr="値 12：対象外"/>
          <p:cNvSpPr/>
          <p:nvPr/>
        </p:nvSpPr>
        <p:spPr>
          <a:xfrm>
            <a:off x="8599932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9932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12</a:t>
            </a:r>
          </a:p>
        </p:txBody>
      </p:sp>
      <p:sp>
        <p:nvSpPr>
          <p:cNvPr id="32" name="Rectangle 31" descr="値 13：対象外"/>
          <p:cNvSpPr/>
          <p:nvPr/>
        </p:nvSpPr>
        <p:spPr>
          <a:xfrm>
            <a:off x="9336024" y="2606040"/>
            <a:ext cx="649224" cy="594360"/>
          </a:xfrm>
          <a:prstGeom prst="rect">
            <a:avLst/>
          </a:prstGeom>
          <a:solidFill>
            <a:srgbClr val="A847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6024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34" name="Rectangle 33" descr="値 14：対象外"/>
          <p:cNvSpPr/>
          <p:nvPr/>
        </p:nvSpPr>
        <p:spPr>
          <a:xfrm>
            <a:off x="10072116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72116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14</a:t>
            </a:r>
          </a:p>
        </p:txBody>
      </p:sp>
      <p:sp>
        <p:nvSpPr>
          <p:cNvPr id="36" name="Rectangle 35" descr="値 15：対象外"/>
          <p:cNvSpPr/>
          <p:nvPr/>
        </p:nvSpPr>
        <p:spPr>
          <a:xfrm>
            <a:off x="10808208" y="26060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08208" y="26060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264408"/>
            <a:ext cx="11064240" cy="29260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E626C"/>
                </a:solidFill>
                <a:latin typeface="Yu Gothic"/>
                <a:ea typeface="Yu Gothic"/>
              </a:rPr>
              <a:t>1回＝値を一つ選び、目的値と比べること。秒数は数えない。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703320"/>
            <a:ext cx="484632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6B8A"/>
                </a:solidFill>
                <a:latin typeface="Yu Gothic"/>
                <a:ea typeface="Yu Gothic"/>
              </a:rPr>
              <a:t>線形探索：先頭から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703320"/>
            <a:ext cx="493776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44A0"/>
                </a:solidFill>
                <a:latin typeface="Yu Gothic"/>
                <a:ea typeface="Yu Gothic"/>
              </a:rPr>
              <a:t>二分探索：中央から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389120"/>
            <a:ext cx="4846320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16B8A"/>
                </a:solidFill>
                <a:latin typeface="Yu Gothic"/>
                <a:ea typeface="Yu Gothic"/>
              </a:rPr>
              <a:t>13回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389120"/>
            <a:ext cx="4846320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7044A0"/>
                </a:solidFill>
                <a:latin typeface="Yu Gothic"/>
                <a:ea typeface="Yu Gothic"/>
              </a:rPr>
              <a:t>4回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2C3B"/>
                </a:solidFill>
                <a:latin typeface="Yu Gothic"/>
                <a:ea typeface="Yu Gothic"/>
              </a:rPr>
              <a:t>昇順の15個なら、二分探索は最悪でも4回。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3400" b="0" i="0">
                <a:solidFill>
                  <a:srgbClr val="132C3B"/>
                </a:solidFill>
                <a:latin typeface="Yu Gothic"/>
                <a:ea typeface="Yu Gothic"/>
              </a:rPr>
              <a:t>線形探索は、先頭から13回比較する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32C3B"/>
                </a:solidFill>
                <a:latin typeface="Yu Gothic"/>
                <a:ea typeface="Yu Gothic"/>
              </a:rPr>
              <a:t>線形探索は、先頭から13回比較する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424160" cy="3200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626C"/>
                </a:solidFill>
                <a:latin typeface="Yu Gothic"/>
                <a:ea typeface="Yu Gothic"/>
              </a:rPr>
              <a:t>条件：昇順の配列1〜15／比較回数＝訪問した要素数</a:t>
            </a:r>
          </a:p>
        </p:txBody>
      </p:sp>
      <p:sp>
        <p:nvSpPr>
          <p:cNvPr id="6" name="Rectangle 5" descr="値 1：確認する値"/>
          <p:cNvSpPr/>
          <p:nvPr/>
        </p:nvSpPr>
        <p:spPr>
          <a:xfrm>
            <a:off x="502920" y="2148840"/>
            <a:ext cx="649224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8" name="Rectangle 7" descr="値 2：確認する値"/>
          <p:cNvSpPr/>
          <p:nvPr/>
        </p:nvSpPr>
        <p:spPr>
          <a:xfrm>
            <a:off x="1239012" y="2148840"/>
            <a:ext cx="649224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9012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0" name="Rectangle 9" descr="値 3：確認する値"/>
          <p:cNvSpPr/>
          <p:nvPr/>
        </p:nvSpPr>
        <p:spPr>
          <a:xfrm>
            <a:off x="1975104" y="2148840"/>
            <a:ext cx="649224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75104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2" name="Rectangle 11" descr="値 4：確認する値"/>
          <p:cNvSpPr/>
          <p:nvPr/>
        </p:nvSpPr>
        <p:spPr>
          <a:xfrm>
            <a:off x="2711196" y="2148840"/>
            <a:ext cx="649224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1196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4" name="Rectangle 13" descr="値 5：確認する値"/>
          <p:cNvSpPr/>
          <p:nvPr/>
        </p:nvSpPr>
        <p:spPr>
          <a:xfrm>
            <a:off x="3447288" y="2148840"/>
            <a:ext cx="649224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16" name="Rectangle 15" descr="値 6：確認する値"/>
          <p:cNvSpPr/>
          <p:nvPr/>
        </p:nvSpPr>
        <p:spPr>
          <a:xfrm>
            <a:off x="4183380" y="2148840"/>
            <a:ext cx="649224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3380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18" name="Rectangle 17" descr="値 7：確認する値"/>
          <p:cNvSpPr/>
          <p:nvPr/>
        </p:nvSpPr>
        <p:spPr>
          <a:xfrm>
            <a:off x="4919472" y="2148840"/>
            <a:ext cx="649224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20" name="Rectangle 19" descr="値 8：確認する値"/>
          <p:cNvSpPr/>
          <p:nvPr/>
        </p:nvSpPr>
        <p:spPr>
          <a:xfrm>
            <a:off x="5655564" y="2148840"/>
            <a:ext cx="649224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5564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22" name="Rectangle 21" descr="値 9：確認する値"/>
          <p:cNvSpPr/>
          <p:nvPr/>
        </p:nvSpPr>
        <p:spPr>
          <a:xfrm>
            <a:off x="6391656" y="2148840"/>
            <a:ext cx="649224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9</a:t>
            </a:r>
          </a:p>
        </p:txBody>
      </p:sp>
      <p:sp>
        <p:nvSpPr>
          <p:cNvPr id="24" name="Rectangle 23" descr="値 10：確認する値"/>
          <p:cNvSpPr/>
          <p:nvPr/>
        </p:nvSpPr>
        <p:spPr>
          <a:xfrm>
            <a:off x="7127748" y="2148840"/>
            <a:ext cx="649224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7748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26" name="Rectangle 25" descr="値 11：確認する値"/>
          <p:cNvSpPr/>
          <p:nvPr/>
        </p:nvSpPr>
        <p:spPr>
          <a:xfrm>
            <a:off x="7863840" y="2148840"/>
            <a:ext cx="649224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11</a:t>
            </a:r>
          </a:p>
        </p:txBody>
      </p:sp>
      <p:sp>
        <p:nvSpPr>
          <p:cNvPr id="28" name="Rectangle 27" descr="値 12：確認する値"/>
          <p:cNvSpPr/>
          <p:nvPr/>
        </p:nvSpPr>
        <p:spPr>
          <a:xfrm>
            <a:off x="8599932" y="2148840"/>
            <a:ext cx="649224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9932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12</a:t>
            </a:r>
          </a:p>
        </p:txBody>
      </p:sp>
      <p:sp>
        <p:nvSpPr>
          <p:cNvPr id="30" name="Rectangle 29" descr="値 13：確認する値"/>
          <p:cNvSpPr/>
          <p:nvPr/>
        </p:nvSpPr>
        <p:spPr>
          <a:xfrm>
            <a:off x="9336024" y="2148840"/>
            <a:ext cx="649224" cy="594360"/>
          </a:xfrm>
          <a:prstGeom prst="rect">
            <a:avLst/>
          </a:prstGeom>
          <a:solidFill>
            <a:srgbClr val="A847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6024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32" name="Rectangle 31" descr="値 14：対象外"/>
          <p:cNvSpPr/>
          <p:nvPr/>
        </p:nvSpPr>
        <p:spPr>
          <a:xfrm>
            <a:off x="10072116" y="21488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72116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14</a:t>
            </a:r>
          </a:p>
        </p:txBody>
      </p:sp>
      <p:sp>
        <p:nvSpPr>
          <p:cNvPr id="34" name="Rectangle 33" descr="値 15：対象外"/>
          <p:cNvSpPr/>
          <p:nvPr/>
        </p:nvSpPr>
        <p:spPr>
          <a:xfrm>
            <a:off x="10808208" y="2148840"/>
            <a:ext cx="649224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08208" y="2148840"/>
            <a:ext cx="649224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E626C"/>
                </a:solidFill>
                <a:latin typeface="Yu Gothic"/>
                <a:ea typeface="Yu Gothic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1508760"/>
            <a:ext cx="10789920" cy="4114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6B8A"/>
                </a:solidFill>
                <a:latin typeface="Yu Gothic"/>
                <a:ea typeface="Yu Gothic"/>
              </a:rPr>
              <a:t>線形探索：見つかるまで、左から順に照合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2834640"/>
            <a:ext cx="10789920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E626C"/>
                </a:solidFill>
                <a:latin typeface="Yu Gothic"/>
                <a:ea typeface="Yu Gothic"/>
              </a:rPr>
              <a:t>青：照合済み　茶：発見　灰：調べていない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474720"/>
            <a:ext cx="7680960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32C3B"/>
                </a:solidFill>
                <a:latin typeface="Yu Gothic"/>
                <a:ea typeface="Yu Gothic"/>
              </a:rPr>
              <a:t>1 → 2 → 3 → … → 12 →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63440"/>
            <a:ext cx="7955279" cy="7315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2C3B"/>
                </a:solidFill>
                <a:latin typeface="Yu Gothic"/>
                <a:ea typeface="Yu Gothic"/>
              </a:rPr>
              <a:t>先頭から13個と比べて、13を見つけた。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474720"/>
            <a:ext cx="2194560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16B8A"/>
                </a:solidFill>
                <a:latin typeface="Yu Gothic"/>
                <a:ea typeface="Yu Gothic"/>
              </a:rPr>
              <a:t>13回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160520"/>
            <a:ext cx="219456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比較した回数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3400" b="0" i="0">
                <a:solidFill>
                  <a:srgbClr val="132C3B"/>
                </a:solidFill>
                <a:latin typeface="Yu Gothic"/>
                <a:ea typeface="Yu Gothic"/>
              </a:rPr>
              <a:t>二分探索は、大小で残す側を決める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32C3B"/>
                </a:solidFill>
                <a:latin typeface="Yu Gothic"/>
                <a:ea typeface="Yu Gothic"/>
              </a:rPr>
              <a:t>二分探索は、大小で残す側を決める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424160" cy="3200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626C"/>
                </a:solidFill>
                <a:latin typeface="Yu Gothic"/>
                <a:ea typeface="Yu Gothic"/>
              </a:rPr>
              <a:t>条件：昇順の配列1〜15／比較回数＝訪問した要素数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64008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44A0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21488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2C3B"/>
                </a:solidFill>
                <a:latin typeface="Yu Gothic"/>
                <a:ea typeface="Yu Gothic"/>
              </a:rPr>
              <a:t>範囲1〜15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93391"/>
            <a:ext cx="2788920" cy="4206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44A0"/>
                </a:solidFill>
                <a:latin typeface="Yu Gothic"/>
                <a:ea typeface="Yu Gothic"/>
              </a:rPr>
              <a:t>13 &gt; 8 → 右半分</a:t>
            </a:r>
          </a:p>
        </p:txBody>
      </p:sp>
      <p:sp>
        <p:nvSpPr>
          <p:cNvPr id="9" name="Rectangle 8" descr="第1回 値1"/>
          <p:cNvSpPr/>
          <p:nvPr/>
        </p:nvSpPr>
        <p:spPr>
          <a:xfrm>
            <a:off x="3337560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1" name="Rectangle 10" descr="第1回 値2"/>
          <p:cNvSpPr/>
          <p:nvPr/>
        </p:nvSpPr>
        <p:spPr>
          <a:xfrm>
            <a:off x="3867911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1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3" name="Rectangle 12" descr="第1回 値3"/>
          <p:cNvSpPr/>
          <p:nvPr/>
        </p:nvSpPr>
        <p:spPr>
          <a:xfrm>
            <a:off x="4398264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8264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5" name="Rectangle 14" descr="第1回 値4"/>
          <p:cNvSpPr/>
          <p:nvPr/>
        </p:nvSpPr>
        <p:spPr>
          <a:xfrm>
            <a:off x="4928616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28616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7" name="Rectangle 16" descr="第1回 値5"/>
          <p:cNvSpPr/>
          <p:nvPr/>
        </p:nvSpPr>
        <p:spPr>
          <a:xfrm>
            <a:off x="5458968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8968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19" name="Rectangle 18" descr="第1回 値6"/>
          <p:cNvSpPr/>
          <p:nvPr/>
        </p:nvSpPr>
        <p:spPr>
          <a:xfrm>
            <a:off x="5989320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21" name="Rectangle 20" descr="第1回 値7"/>
          <p:cNvSpPr/>
          <p:nvPr/>
        </p:nvSpPr>
        <p:spPr>
          <a:xfrm>
            <a:off x="6519671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1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23" name="Rectangle 22" descr="第1回 値8 中央で照合"/>
          <p:cNvSpPr/>
          <p:nvPr/>
        </p:nvSpPr>
        <p:spPr>
          <a:xfrm>
            <a:off x="7050023" y="1508760"/>
            <a:ext cx="466344" cy="475488"/>
          </a:xfrm>
          <a:prstGeom prst="rect">
            <a:avLst/>
          </a:prstGeom>
          <a:solidFill>
            <a:srgbClr val="7044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0023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25" name="Rectangle 24" descr="第1回 値9"/>
          <p:cNvSpPr/>
          <p:nvPr/>
        </p:nvSpPr>
        <p:spPr>
          <a:xfrm>
            <a:off x="7580375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0375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9</a:t>
            </a:r>
          </a:p>
        </p:txBody>
      </p:sp>
      <p:sp>
        <p:nvSpPr>
          <p:cNvPr id="27" name="Rectangle 26" descr="第1回 値10"/>
          <p:cNvSpPr/>
          <p:nvPr/>
        </p:nvSpPr>
        <p:spPr>
          <a:xfrm>
            <a:off x="8110727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7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29" name="Rectangle 28" descr="第1回 値11"/>
          <p:cNvSpPr/>
          <p:nvPr/>
        </p:nvSpPr>
        <p:spPr>
          <a:xfrm>
            <a:off x="8641080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11</a:t>
            </a:r>
          </a:p>
        </p:txBody>
      </p:sp>
      <p:sp>
        <p:nvSpPr>
          <p:cNvPr id="31" name="Rectangle 30" descr="第1回 値12"/>
          <p:cNvSpPr/>
          <p:nvPr/>
        </p:nvSpPr>
        <p:spPr>
          <a:xfrm>
            <a:off x="9171432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2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12</a:t>
            </a:r>
          </a:p>
        </p:txBody>
      </p:sp>
      <p:sp>
        <p:nvSpPr>
          <p:cNvPr id="33" name="Rectangle 32" descr="第1回 値13"/>
          <p:cNvSpPr/>
          <p:nvPr/>
        </p:nvSpPr>
        <p:spPr>
          <a:xfrm>
            <a:off x="9701784" y="1508760"/>
            <a:ext cx="466344" cy="475488"/>
          </a:xfrm>
          <a:prstGeom prst="rect">
            <a:avLst/>
          </a:prstGeom>
          <a:solidFill>
            <a:srgbClr val="E6DDF0"/>
          </a:solidFill>
          <a:ln w="19050">
            <a:solidFill>
              <a:srgbClr val="A8471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01784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35" name="Rectangle 34" descr="第1回 値14"/>
          <p:cNvSpPr/>
          <p:nvPr/>
        </p:nvSpPr>
        <p:spPr>
          <a:xfrm>
            <a:off x="10232136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32136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14</a:t>
            </a:r>
          </a:p>
        </p:txBody>
      </p:sp>
      <p:sp>
        <p:nvSpPr>
          <p:cNvPr id="37" name="Rectangle 36" descr="第1回 値15"/>
          <p:cNvSpPr/>
          <p:nvPr/>
        </p:nvSpPr>
        <p:spPr>
          <a:xfrm>
            <a:off x="10762488" y="1508760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62488" y="1508760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2496312"/>
            <a:ext cx="64008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44A0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2496312"/>
            <a:ext cx="21488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2C3B"/>
                </a:solidFill>
                <a:latin typeface="Yu Gothic"/>
                <a:ea typeface="Yu Gothic"/>
              </a:rPr>
              <a:t>範囲9〜15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2980944"/>
            <a:ext cx="2788920" cy="4206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44A0"/>
                </a:solidFill>
                <a:latin typeface="Yu Gothic"/>
                <a:ea typeface="Yu Gothic"/>
              </a:rPr>
              <a:t>13 &gt; 12 → 右半分</a:t>
            </a:r>
          </a:p>
        </p:txBody>
      </p:sp>
      <p:sp>
        <p:nvSpPr>
          <p:cNvPr id="42" name="Rectangle 41" descr="第2回 値1"/>
          <p:cNvSpPr/>
          <p:nvPr/>
        </p:nvSpPr>
        <p:spPr>
          <a:xfrm>
            <a:off x="3337560" y="2496312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 descr="第2回 値2"/>
          <p:cNvSpPr/>
          <p:nvPr/>
        </p:nvSpPr>
        <p:spPr>
          <a:xfrm>
            <a:off x="3867911" y="2496312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 descr="第2回 値3"/>
          <p:cNvSpPr/>
          <p:nvPr/>
        </p:nvSpPr>
        <p:spPr>
          <a:xfrm>
            <a:off x="4398264" y="2496312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 descr="第2回 値4"/>
          <p:cNvSpPr/>
          <p:nvPr/>
        </p:nvSpPr>
        <p:spPr>
          <a:xfrm>
            <a:off x="4928616" y="2496312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 descr="第2回 値5"/>
          <p:cNvSpPr/>
          <p:nvPr/>
        </p:nvSpPr>
        <p:spPr>
          <a:xfrm>
            <a:off x="5458968" y="2496312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 descr="第2回 値6"/>
          <p:cNvSpPr/>
          <p:nvPr/>
        </p:nvSpPr>
        <p:spPr>
          <a:xfrm>
            <a:off x="5989320" y="2496312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 descr="第2回 値7"/>
          <p:cNvSpPr/>
          <p:nvPr/>
        </p:nvSpPr>
        <p:spPr>
          <a:xfrm>
            <a:off x="6519671" y="2496312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 descr="第2回 値8"/>
          <p:cNvSpPr/>
          <p:nvPr/>
        </p:nvSpPr>
        <p:spPr>
          <a:xfrm>
            <a:off x="7050023" y="2496312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 descr="第2回 値9"/>
          <p:cNvSpPr/>
          <p:nvPr/>
        </p:nvSpPr>
        <p:spPr>
          <a:xfrm>
            <a:off x="7580375" y="2496312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0375" y="2496312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9</a:t>
            </a:r>
          </a:p>
        </p:txBody>
      </p:sp>
      <p:sp>
        <p:nvSpPr>
          <p:cNvPr id="52" name="Rectangle 51" descr="第2回 値10"/>
          <p:cNvSpPr/>
          <p:nvPr/>
        </p:nvSpPr>
        <p:spPr>
          <a:xfrm>
            <a:off x="8110727" y="2496312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10727" y="2496312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54" name="Rectangle 53" descr="第2回 値11"/>
          <p:cNvSpPr/>
          <p:nvPr/>
        </p:nvSpPr>
        <p:spPr>
          <a:xfrm>
            <a:off x="8641080" y="2496312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41080" y="2496312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11</a:t>
            </a:r>
          </a:p>
        </p:txBody>
      </p:sp>
      <p:sp>
        <p:nvSpPr>
          <p:cNvPr id="56" name="Rectangle 55" descr="第2回 値12 中央で照合"/>
          <p:cNvSpPr/>
          <p:nvPr/>
        </p:nvSpPr>
        <p:spPr>
          <a:xfrm>
            <a:off x="9171432" y="2496312"/>
            <a:ext cx="466344" cy="475488"/>
          </a:xfrm>
          <a:prstGeom prst="rect">
            <a:avLst/>
          </a:prstGeom>
          <a:solidFill>
            <a:srgbClr val="7044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71432" y="2496312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12</a:t>
            </a:r>
          </a:p>
        </p:txBody>
      </p:sp>
      <p:sp>
        <p:nvSpPr>
          <p:cNvPr id="58" name="Rectangle 57" descr="第2回 値13"/>
          <p:cNvSpPr/>
          <p:nvPr/>
        </p:nvSpPr>
        <p:spPr>
          <a:xfrm>
            <a:off x="9701784" y="2496312"/>
            <a:ext cx="466344" cy="475488"/>
          </a:xfrm>
          <a:prstGeom prst="rect">
            <a:avLst/>
          </a:prstGeom>
          <a:solidFill>
            <a:srgbClr val="E6DDF0"/>
          </a:solidFill>
          <a:ln w="19050">
            <a:solidFill>
              <a:srgbClr val="A8471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01784" y="2496312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60" name="Rectangle 59" descr="第2回 値14"/>
          <p:cNvSpPr/>
          <p:nvPr/>
        </p:nvSpPr>
        <p:spPr>
          <a:xfrm>
            <a:off x="10232136" y="2496312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32136" y="2496312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14</a:t>
            </a:r>
          </a:p>
        </p:txBody>
      </p:sp>
      <p:sp>
        <p:nvSpPr>
          <p:cNvPr id="62" name="Rectangle 61" descr="第2回 値15"/>
          <p:cNvSpPr/>
          <p:nvPr/>
        </p:nvSpPr>
        <p:spPr>
          <a:xfrm>
            <a:off x="10762488" y="2496312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62488" y="2496312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3483864"/>
            <a:ext cx="64008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44A0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" y="3483864"/>
            <a:ext cx="21488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2C3B"/>
                </a:solidFill>
                <a:latin typeface="Yu Gothic"/>
                <a:ea typeface="Yu Gothic"/>
              </a:rPr>
              <a:t>範囲13〜15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3968496"/>
            <a:ext cx="2788920" cy="4206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44A0"/>
                </a:solidFill>
                <a:latin typeface="Yu Gothic"/>
                <a:ea typeface="Yu Gothic"/>
              </a:rPr>
              <a:t>13 &lt; 14 → 左半分</a:t>
            </a:r>
          </a:p>
        </p:txBody>
      </p:sp>
      <p:sp>
        <p:nvSpPr>
          <p:cNvPr id="67" name="Rectangle 66" descr="第3回 値1"/>
          <p:cNvSpPr/>
          <p:nvPr/>
        </p:nvSpPr>
        <p:spPr>
          <a:xfrm>
            <a:off x="3337560" y="3483864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 descr="第3回 値2"/>
          <p:cNvSpPr/>
          <p:nvPr/>
        </p:nvSpPr>
        <p:spPr>
          <a:xfrm>
            <a:off x="3867911" y="3483864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 descr="第3回 値3"/>
          <p:cNvSpPr/>
          <p:nvPr/>
        </p:nvSpPr>
        <p:spPr>
          <a:xfrm>
            <a:off x="4398264" y="3483864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 descr="第3回 値4"/>
          <p:cNvSpPr/>
          <p:nvPr/>
        </p:nvSpPr>
        <p:spPr>
          <a:xfrm>
            <a:off x="4928616" y="3483864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 descr="第3回 値5"/>
          <p:cNvSpPr/>
          <p:nvPr/>
        </p:nvSpPr>
        <p:spPr>
          <a:xfrm>
            <a:off x="5458968" y="3483864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 descr="第3回 値6"/>
          <p:cNvSpPr/>
          <p:nvPr/>
        </p:nvSpPr>
        <p:spPr>
          <a:xfrm>
            <a:off x="5989320" y="3483864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 descr="第3回 値7"/>
          <p:cNvSpPr/>
          <p:nvPr/>
        </p:nvSpPr>
        <p:spPr>
          <a:xfrm>
            <a:off x="6519671" y="3483864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 descr="第3回 値8"/>
          <p:cNvSpPr/>
          <p:nvPr/>
        </p:nvSpPr>
        <p:spPr>
          <a:xfrm>
            <a:off x="7050023" y="3483864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 descr="第3回 値9"/>
          <p:cNvSpPr/>
          <p:nvPr/>
        </p:nvSpPr>
        <p:spPr>
          <a:xfrm>
            <a:off x="7580375" y="3483864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 descr="第3回 値10"/>
          <p:cNvSpPr/>
          <p:nvPr/>
        </p:nvSpPr>
        <p:spPr>
          <a:xfrm>
            <a:off x="8110727" y="3483864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 descr="第3回 値11"/>
          <p:cNvSpPr/>
          <p:nvPr/>
        </p:nvSpPr>
        <p:spPr>
          <a:xfrm>
            <a:off x="8641080" y="3483864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 descr="第3回 値12"/>
          <p:cNvSpPr/>
          <p:nvPr/>
        </p:nvSpPr>
        <p:spPr>
          <a:xfrm>
            <a:off x="9171432" y="3483864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 descr="第3回 値13"/>
          <p:cNvSpPr/>
          <p:nvPr/>
        </p:nvSpPr>
        <p:spPr>
          <a:xfrm>
            <a:off x="9701784" y="3483864"/>
            <a:ext cx="466344" cy="475488"/>
          </a:xfrm>
          <a:prstGeom prst="rect">
            <a:avLst/>
          </a:prstGeom>
          <a:solidFill>
            <a:srgbClr val="E6DDF0"/>
          </a:solidFill>
          <a:ln w="19050">
            <a:solidFill>
              <a:srgbClr val="A8471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701784" y="3483864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81" name="Rectangle 80" descr="第3回 値14 中央で照合"/>
          <p:cNvSpPr/>
          <p:nvPr/>
        </p:nvSpPr>
        <p:spPr>
          <a:xfrm>
            <a:off x="10232136" y="3483864"/>
            <a:ext cx="466344" cy="475488"/>
          </a:xfrm>
          <a:prstGeom prst="rect">
            <a:avLst/>
          </a:prstGeom>
          <a:solidFill>
            <a:srgbClr val="7044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232136" y="3483864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14</a:t>
            </a:r>
          </a:p>
        </p:txBody>
      </p:sp>
      <p:sp>
        <p:nvSpPr>
          <p:cNvPr id="83" name="Rectangle 82" descr="第3回 値15"/>
          <p:cNvSpPr/>
          <p:nvPr/>
        </p:nvSpPr>
        <p:spPr>
          <a:xfrm>
            <a:off x="10762488" y="3483864"/>
            <a:ext cx="466344" cy="475488"/>
          </a:xfrm>
          <a:prstGeom prst="rect">
            <a:avLst/>
          </a:prstGeom>
          <a:solidFill>
            <a:srgbClr val="E6DD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762488" y="3483864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4471416"/>
            <a:ext cx="64008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44A0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7280" y="4471416"/>
            <a:ext cx="21488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2C3B"/>
                </a:solidFill>
                <a:latin typeface="Yu Gothic"/>
                <a:ea typeface="Yu Gothic"/>
              </a:rPr>
              <a:t>範囲13〜13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4956048"/>
            <a:ext cx="2788920" cy="4206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8471C"/>
                </a:solidFill>
                <a:latin typeface="Yu Gothic"/>
                <a:ea typeface="Yu Gothic"/>
              </a:rPr>
              <a:t>13 = 13 → 発見</a:t>
            </a:r>
          </a:p>
        </p:txBody>
      </p:sp>
      <p:sp>
        <p:nvSpPr>
          <p:cNvPr id="88" name="Rectangle 87" descr="第4回 値1"/>
          <p:cNvSpPr/>
          <p:nvPr/>
        </p:nvSpPr>
        <p:spPr>
          <a:xfrm>
            <a:off x="3337560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 descr="第4回 値2"/>
          <p:cNvSpPr/>
          <p:nvPr/>
        </p:nvSpPr>
        <p:spPr>
          <a:xfrm>
            <a:off x="3867911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 descr="第4回 値3"/>
          <p:cNvSpPr/>
          <p:nvPr/>
        </p:nvSpPr>
        <p:spPr>
          <a:xfrm>
            <a:off x="4398264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 descr="第4回 値4"/>
          <p:cNvSpPr/>
          <p:nvPr/>
        </p:nvSpPr>
        <p:spPr>
          <a:xfrm>
            <a:off x="4928616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 descr="第4回 値5"/>
          <p:cNvSpPr/>
          <p:nvPr/>
        </p:nvSpPr>
        <p:spPr>
          <a:xfrm>
            <a:off x="5458968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 descr="第4回 値6"/>
          <p:cNvSpPr/>
          <p:nvPr/>
        </p:nvSpPr>
        <p:spPr>
          <a:xfrm>
            <a:off x="5989320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 descr="第4回 値7"/>
          <p:cNvSpPr/>
          <p:nvPr/>
        </p:nvSpPr>
        <p:spPr>
          <a:xfrm>
            <a:off x="6519671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 descr="第4回 値8"/>
          <p:cNvSpPr/>
          <p:nvPr/>
        </p:nvSpPr>
        <p:spPr>
          <a:xfrm>
            <a:off x="7050023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 descr="第4回 値9"/>
          <p:cNvSpPr/>
          <p:nvPr/>
        </p:nvSpPr>
        <p:spPr>
          <a:xfrm>
            <a:off x="7580375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 descr="第4回 値10"/>
          <p:cNvSpPr/>
          <p:nvPr/>
        </p:nvSpPr>
        <p:spPr>
          <a:xfrm>
            <a:off x="8110727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 descr="第4回 値11"/>
          <p:cNvSpPr/>
          <p:nvPr/>
        </p:nvSpPr>
        <p:spPr>
          <a:xfrm>
            <a:off x="8641080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 descr="第4回 値12"/>
          <p:cNvSpPr/>
          <p:nvPr/>
        </p:nvSpPr>
        <p:spPr>
          <a:xfrm>
            <a:off x="9171432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 descr="第4回 値13 中央で照合"/>
          <p:cNvSpPr/>
          <p:nvPr/>
        </p:nvSpPr>
        <p:spPr>
          <a:xfrm>
            <a:off x="9701784" y="4471416"/>
            <a:ext cx="466344" cy="475488"/>
          </a:xfrm>
          <a:prstGeom prst="rect">
            <a:avLst/>
          </a:prstGeom>
          <a:solidFill>
            <a:srgbClr val="A8471C"/>
          </a:solidFill>
          <a:ln w="19050">
            <a:solidFill>
              <a:srgbClr val="A8471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01784" y="4471416"/>
            <a:ext cx="466344" cy="47548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102" name="Rectangle 101" descr="第4回 値14"/>
          <p:cNvSpPr/>
          <p:nvPr/>
        </p:nvSpPr>
        <p:spPr>
          <a:xfrm>
            <a:off x="10232136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 descr="第4回 値15"/>
          <p:cNvSpPr/>
          <p:nvPr/>
        </p:nvSpPr>
        <p:spPr>
          <a:xfrm>
            <a:off x="10762488" y="4471416"/>
            <a:ext cx="466344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5486400"/>
            <a:ext cx="11064240" cy="4114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昇順なら、中央より小さい値は左、大きい値は右。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2920" y="5925312"/>
            <a:ext cx="11064240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E626C"/>
                </a:solidFill>
                <a:latin typeface="Yu Gothic"/>
                <a:ea typeface="Yu Gothic"/>
              </a:rPr>
              <a:t>紫：中央　茶枠：目的値13　茶塗り：発見　空枠：除外した位置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3400" b="0" i="0">
                <a:solidFill>
                  <a:srgbClr val="132C3B"/>
                </a:solidFill>
                <a:latin typeface="Yu Gothic"/>
                <a:ea typeface="Yu Gothic"/>
              </a:rPr>
              <a:t>二分探索は、15通りとも4回以内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32C3B"/>
                </a:solidFill>
                <a:latin typeface="Yu Gothic"/>
                <a:ea typeface="Yu Gothic"/>
              </a:rPr>
              <a:t>二分探索は、15通りとも4回以内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424160" cy="3200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626C"/>
                </a:solidFill>
                <a:latin typeface="Yu Gothic"/>
                <a:ea typeface="Yu Gothic"/>
              </a:rPr>
              <a:t>条件：昇順の配列1〜15／比較回数＝訪問した要素数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99032"/>
            <a:ext cx="1088136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目的値を1〜15に変えて、全15通りを実行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956816"/>
          <a:ext cx="8046720" cy="3337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281160" y="2377440"/>
            <a:ext cx="2377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44A0"/>
                </a:solidFill>
                <a:latin typeface="Yu Gothic"/>
                <a:ea typeface="Yu Gothic"/>
              </a:rPr>
              <a:t>二分探索の最大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2926080"/>
            <a:ext cx="2377440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7044A0"/>
                </a:solidFill>
                <a:latin typeface="Yu Gothic"/>
                <a:ea typeface="Yu Gothic"/>
              </a:rPr>
              <a:t>4回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3749039"/>
            <a:ext cx="2377440" cy="10515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16B8A"/>
                </a:solidFill>
                <a:latin typeface="Yu Gothic"/>
                <a:ea typeface="Yu Gothic"/>
              </a:rPr>
              <a:t>線形探索は
最大15回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23560"/>
            <a:ext cx="11064240" cy="5029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目的値1〜3は線形の方が少ない。比べるのは最大回数。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  <a:ln/>
        </p:spPr>
        <p:txBody>
          <a:bodyPr/>
          <a:lstStyle/>
          <a:p>
            <a:pPr/>
            <a:r>
              <a:rPr sz="3400" b="0" i="0">
                <a:solidFill>
                  <a:srgbClr val="132C3B"/>
                </a:solidFill>
                <a:latin typeface="Yu Gothic"/>
                <a:ea typeface="Yu Gothic"/>
              </a:rPr>
              <a:t>比較回数から、秒数は決められない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32C3B"/>
                </a:solidFill>
                <a:latin typeface="Yu Gothic"/>
                <a:ea typeface="Yu Gothic"/>
              </a:rPr>
              <a:t>比較回数から、秒数は決められない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537960"/>
            <a:ext cx="5486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A6472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10424160" cy="3200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626C"/>
                </a:solidFill>
                <a:latin typeface="Yu Gothic"/>
                <a:ea typeface="Yu Gothic"/>
              </a:rPr>
              <a:t>条件：昇順の配列1〜15／比較回数＝訪問した要素数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064240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2C3B"/>
                </a:solidFill>
                <a:latin typeface="Yu Gothic"/>
                <a:ea typeface="Yu Gothic"/>
              </a:rPr>
              <a:t>昇順の配列1〜15で、比較回数だけを数えた。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5166360" cy="5029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044A0"/>
                </a:solidFill>
                <a:latin typeface="Yu Gothic"/>
                <a:ea typeface="Yu Gothic"/>
              </a:rPr>
              <a:t>二分探索の比較回数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5166360" cy="914400"/>
          </a:xfrm>
          <a:prstGeom prst="rect">
            <a:avLst/>
          </a:prstGeom>
          <a:solidFill>
            <a:srgbClr val="7044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5166360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Yu Gothic"/>
                <a:ea typeface="Yu Gothic"/>
              </a:rPr>
              <a:t>最大4回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89120"/>
            <a:ext cx="5166360" cy="6858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2C3B"/>
                </a:solidFill>
                <a:latin typeface="Yu Gothic"/>
                <a:ea typeface="Yu Gothic"/>
              </a:rPr>
              <a:t>全15通りを実行して確認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5166360" cy="5029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実際にかかる秒数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246120"/>
            <a:ext cx="51663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E626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46120"/>
            <a:ext cx="5166360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C3B"/>
                </a:solidFill>
                <a:latin typeface="Yu Gothic"/>
                <a:ea typeface="Yu Gothic"/>
              </a:rPr>
              <a:t>未計測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5166360" cy="6858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32C3B"/>
                </a:solidFill>
                <a:latin typeface="Yu Gothic"/>
                <a:ea typeface="Yu Gothic"/>
              </a:rPr>
              <a:t>並べ替えの手間も含めて測る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86400"/>
            <a:ext cx="11064240" cy="5943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C3B"/>
                </a:solidFill>
                <a:latin typeface="Yu Gothic"/>
                <a:ea typeface="Yu Gothic"/>
              </a:rPr>
              <a:t>回数の比から「何倍速い」とは言えない。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ja-JP</dc:language>
</cp:coreProperties>
</file>