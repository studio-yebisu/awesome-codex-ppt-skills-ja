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kit-chrome-title"/>
          <p:cNvSpPr txBox="1"/>
          <p:nvPr/>
        </p:nvSpPr>
        <p:spPr>
          <a:xfrm>
            <a:off x="502920" y="274320"/>
            <a:ext cx="11185855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CC2"/>
                </a:solidFill>
                <a:latin typeface="Yu Gothic"/>
                <a:ea typeface="Yu Gothic"/>
              </a:rPr>
              <a:t>A / 明るい配列教材</a:t>
            </a:r>
          </a:p>
        </p:txBody>
      </p:sp>
      <p:sp>
        <p:nvSpPr>
          <p:cNvPr id="3" name="deckkit-chrome-title"/>
          <p:cNvSpPr txBox="1"/>
          <p:nvPr/>
        </p:nvSpPr>
        <p:spPr>
          <a:xfrm>
            <a:off x="502920" y="493776"/>
            <a:ext cx="11185855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3C66"/>
                </a:solidFill>
                <a:latin typeface="Yu Gothic"/>
                <a:ea typeface="Yu Gothic"/>
              </a:rPr>
              <a:t>並べておくと、探し方が変わる</a:t>
            </a:r>
          </a:p>
        </p:txBody>
      </p:sp>
      <p:sp>
        <p:nvSpPr>
          <p:cNvPr id="4" name="deckkit-chrome-title"/>
          <p:cNvSpPr/>
          <p:nvPr/>
        </p:nvSpPr>
        <p:spPr>
          <a:xfrm>
            <a:off x="521207" y="1060704"/>
            <a:ext cx="1005840" cy="41148"/>
          </a:xfrm>
          <a:prstGeom prst="rect">
            <a:avLst/>
          </a:prstGeom>
          <a:solidFill>
            <a:srgbClr val="007C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331720"/>
            <a:ext cx="640080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240487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32C3B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9304" y="2331720"/>
            <a:ext cx="640080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3312" y="240487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32C3B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2029968" y="2331720"/>
            <a:ext cx="640080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240487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32C3B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2331720"/>
            <a:ext cx="640080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40487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32C3B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1296" y="2331720"/>
            <a:ext cx="640080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240487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32C3B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2331720"/>
            <a:ext cx="640080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240487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32C3B"/>
                </a:solidFill>
                <a:latin typeface="Yu Gothic"/>
                <a:ea typeface="Yu Gothic"/>
              </a:rPr>
              <a:t>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92624" y="2331720"/>
            <a:ext cx="640080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2" y="240487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32C3B"/>
                </a:solidFill>
                <a:latin typeface="Yu Gothic"/>
                <a:ea typeface="Yu Gothic"/>
              </a:rPr>
              <a:t>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33288" y="2331720"/>
            <a:ext cx="640080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97296" y="240487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32C3B"/>
                </a:solidFill>
                <a:latin typeface="Yu Gothic"/>
                <a:ea typeface="Yu Gothic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73952" y="2331720"/>
            <a:ext cx="640080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240487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32C3B"/>
                </a:solidFill>
                <a:latin typeface="Yu Gothic"/>
                <a:ea typeface="Yu Gothic"/>
              </a:rPr>
              <a:t>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14616" y="2331720"/>
            <a:ext cx="640080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78624" y="240487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32C3B"/>
                </a:solidFill>
                <a:latin typeface="Yu Gothic"/>
                <a:ea typeface="Yu Gothic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80" y="2331720"/>
            <a:ext cx="640080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19288" y="240487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32C3B"/>
                </a:solidFill>
                <a:latin typeface="Yu Gothic"/>
                <a:ea typeface="Yu Gothic"/>
              </a:rPr>
              <a:t>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95944" y="2331720"/>
            <a:ext cx="640080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59952" y="240487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32C3B"/>
                </a:solidFill>
                <a:latin typeface="Yu Gothic"/>
                <a:ea typeface="Yu Gothic"/>
              </a:rPr>
              <a:t>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36608" y="2331720"/>
            <a:ext cx="640080" cy="594360"/>
          </a:xfrm>
          <a:prstGeom prst="rect">
            <a:avLst/>
          </a:prstGeom>
          <a:solidFill>
            <a:srgbClr val="A847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0616" y="240487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FFFFFF"/>
                </a:solidFill>
                <a:latin typeface="Yu Gothic"/>
                <a:ea typeface="Yu Gothic"/>
              </a:rPr>
              <a:t>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77272" y="2331720"/>
            <a:ext cx="640080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240487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32C3B"/>
                </a:solidFill>
                <a:latin typeface="Yu Gothic"/>
                <a:ea typeface="Yu Gothic"/>
              </a:rPr>
              <a:t>14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17936" y="2331720"/>
            <a:ext cx="640080" cy="594360"/>
          </a:xfrm>
          <a:prstGeom prst="rect">
            <a:avLst/>
          </a:prstGeom>
          <a:solidFill>
            <a:srgbClr val="E8EE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81944" y="2404872"/>
            <a:ext cx="5486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0">
                <a:solidFill>
                  <a:srgbClr val="132C3B"/>
                </a:solidFill>
                <a:latin typeface="Yu Gothic"/>
                <a:ea typeface="Yu Gothic"/>
              </a:rPr>
              <a:t>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657600"/>
            <a:ext cx="5029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132C3B"/>
                </a:solidFill>
                <a:latin typeface="Yu Gothic"/>
                <a:ea typeface="Yu Gothic"/>
              </a:rPr>
              <a:t>先頭から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480560"/>
            <a:ext cx="50292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 i="0">
                <a:solidFill>
                  <a:srgbClr val="A8471C"/>
                </a:solidFill>
                <a:latin typeface="Yu Gothic"/>
                <a:ea typeface="Yu Gothic"/>
              </a:rPr>
              <a:t>13回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657600"/>
            <a:ext cx="50292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132C3B"/>
                </a:solidFill>
                <a:latin typeface="Yu Gothic"/>
                <a:ea typeface="Yu Gothic"/>
              </a:rPr>
              <a:t>真ん中から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480560"/>
            <a:ext cx="50292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 i="0">
                <a:solidFill>
                  <a:srgbClr val="116B8A"/>
                </a:solidFill>
                <a:latin typeface="Yu Gothic"/>
                <a:ea typeface="Yu Gothic"/>
              </a:rPr>
              <a:t>4回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C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Yu Gothic"/>
                <a:ea typeface="Yu Gothic"/>
              </a:rPr>
              <a:t>B / コード端末を模した表示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Yu Gothic"/>
                <a:ea typeface="Yu Gothic"/>
              </a:rPr>
              <a:t>target =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0" i="0">
                <a:solidFill>
                  <a:srgbClr val="F4B393"/>
                </a:solidFill>
                <a:latin typeface="Yu Gothic"/>
                <a:ea typeface="Yu Gothic"/>
              </a:rPr>
              <a:t>linear:  1 → 2 → … →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0" i="0">
                <a:solidFill>
                  <a:srgbClr val="8FD0E4"/>
                </a:solidFill>
                <a:latin typeface="Yu Gothic"/>
                <a:ea typeface="Yu Gothic"/>
              </a:rPr>
              <a:t>binary:  8 → 12 → 14 →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0" i="0">
                <a:solidFill>
                  <a:srgbClr val="FFFFFF"/>
                </a:solidFill>
                <a:latin typeface="Yu Gothic"/>
                <a:ea typeface="Yu Gothic"/>
              </a:rPr>
              <a:t>比較回数　13回 / 4回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132C3B"/>
                </a:solidFill>
                <a:latin typeface="Yu Gothic"/>
                <a:ea typeface="Yu Gothic"/>
              </a:rPr>
              <a:t>C / 差だけを先に見る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2011680"/>
            <a:ext cx="7132320" cy="685800"/>
          </a:xfrm>
          <a:prstGeom prst="rect">
            <a:avLst/>
          </a:prstGeom>
          <a:solidFill>
            <a:srgbClr val="A847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0" y="2011680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A8471C"/>
                </a:solidFill>
                <a:latin typeface="Yu Gothic"/>
                <a:ea typeface="Yu Gothic"/>
              </a:rPr>
              <a:t>13回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246120"/>
            <a:ext cx="2194560" cy="68580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3246120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 i="0">
                <a:solidFill>
                  <a:srgbClr val="116B8A"/>
                </a:solidFill>
                <a:latin typeface="Yu Gothic"/>
                <a:ea typeface="Yu Gothic"/>
              </a:rPr>
              <a:t>4回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8348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132C3B"/>
                </a:solidFill>
                <a:latin typeface="Yu Gothic"/>
                <a:ea typeface="Yu Gothic"/>
              </a:rPr>
              <a:t>13を探す：線形探索と二分探索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132C3B"/>
                </a:solidFill>
                <a:latin typeface="Yu Gothic"/>
                <a:ea typeface="Yu Gothic"/>
              </a:rPr>
              <a:t>配列は昇順の1〜15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132C3B"/>
                </a:solidFill>
                <a:latin typeface="Yu Gothic"/>
                <a:ea typeface="Yu Gothic"/>
              </a:rPr>
              <a:t>D / 判定の木として見る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0" y="1828800"/>
            <a:ext cx="914400" cy="59436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23560" y="1883664"/>
            <a:ext cx="731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3017520"/>
            <a:ext cx="914400" cy="59436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52360" y="3072384"/>
            <a:ext cx="731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4206240"/>
            <a:ext cx="914400" cy="59436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81160" y="4261103"/>
            <a:ext cx="731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5394960"/>
            <a:ext cx="914400" cy="594360"/>
          </a:xfrm>
          <a:prstGeom prst="rect">
            <a:avLst/>
          </a:prstGeom>
          <a:solidFill>
            <a:srgbClr val="116B8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5449824"/>
            <a:ext cx="7315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Yu Gothic"/>
                <a:ea typeface="Yu Gothic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4389120" cy="18288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0" i="0">
                <a:solidFill>
                  <a:srgbClr val="132C3B"/>
                </a:solidFill>
                <a:latin typeface="Yu Gothic"/>
                <a:ea typeface="Yu Gothic"/>
              </a:rPr>
              <a:t>中央をたどる
8 → 12 → 14 →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4572000" cy="731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132C3B"/>
                </a:solidFill>
                <a:latin typeface="Yu Gothic"/>
                <a:ea typeface="Yu Gothic"/>
              </a:rPr>
              <a:t>13を4回で見つける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vl.chalkboard"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9" name="deckkit-a11ytitle"/>
          <p:cNvSpPr>
            <a:spLocks noGrp="1"/>
          </p:cNvSpPr>
          <p:nvPr>
            <p:ph type="title"/>
          </p:nvPr>
        </p:nvSpPr>
        <p:spPr>
          <a:xfrm>
            <a:off x="0" y="-914400"/>
            <a:ext cx="12191695" cy="457200"/>
          </a:xfrm>
        </p:spPr>
        <p:txBody>
          <a:bodyPr/>
          <a:lstStyle/>
          <a:p>
            <a:r>
              <a:rPr sz="1000" b="0" i="0">
                <a:solidFill>
                  <a:srgbClr val="F3F1EA"/>
                </a:solidFill>
                <a:latin typeface="Trebuchet MS"/>
                <a:ea typeface="Yu Gothic"/>
              </a:rPr>
              <a:t>並べておくと、探し方が変わる</a:t>
            </a:r>
          </a:p>
        </p:txBody>
      </p:sp>
      <p:sp>
        <p:nvSpPr>
          <p:cNvPr id="2" name="deckkit-decor+vl.chalkboard:the blackboard's wooden frame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7A4F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deckkit-decor+vl.chalkboard:the blackboard's wooden frame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7A4F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deckkit-decor+vl.chalkboard:the blackboard's wooden frame"/>
          <p:cNvSpPr/>
          <p:nvPr/>
        </p:nvSpPr>
        <p:spPr>
          <a:xfrm>
            <a:off x="0" y="128016"/>
            <a:ext cx="128016" cy="6601968"/>
          </a:xfrm>
          <a:prstGeom prst="rect">
            <a:avLst/>
          </a:prstGeom>
          <a:solidFill>
            <a:srgbClr val="7A4F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deckkit-decor+vl.chalkboard:the blackboard's wooden frame"/>
          <p:cNvSpPr/>
          <p:nvPr/>
        </p:nvSpPr>
        <p:spPr>
          <a:xfrm>
            <a:off x="12063679" y="128016"/>
            <a:ext cx="128016" cy="6601968"/>
          </a:xfrm>
          <a:prstGeom prst="rect">
            <a:avLst/>
          </a:prstGeom>
          <a:solidFill>
            <a:srgbClr val="7A4F2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deckkit-decor+vl.chalkboard:a stick of chalk on the board's ledge"/>
          <p:cNvSpPr/>
          <p:nvPr/>
        </p:nvSpPr>
        <p:spPr>
          <a:xfrm>
            <a:off x="3901342" y="6675120"/>
            <a:ext cx="1097280" cy="54864"/>
          </a:xfrm>
          <a:prstGeom prst="rect">
            <a:avLst/>
          </a:prstGeom>
          <a:solidFill>
            <a:srgbClr val="E8E2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eckkit-decor+vl.chalkboard:an eraser smudge on the board; nothing reads from it"/>
          <p:cNvSpPr/>
          <p:nvPr/>
        </p:nvSpPr>
        <p:spPr>
          <a:xfrm>
            <a:off x="2083872" y="5465457"/>
            <a:ext cx="3732864" cy="821230"/>
          </a:xfrm>
          <a:prstGeom prst="ellipse">
            <a:avLst/>
          </a:prstGeom>
          <a:gradFill rotWithShape="1">
            <a:gsLst>
              <a:gs pos="0">
                <a:srgbClr val="F3F1EA">
                  <a:alpha val="6000"/>
                </a:srgbClr>
              </a:gs>
              <a:gs pos="34000">
                <a:srgbClr val="F3F1EA">
                  <a:alpha val="2700"/>
                </a:srgbClr>
              </a:gs>
              <a:gs pos="68000">
                <a:srgbClr val="F3F1EA">
                  <a:alpha val="0"/>
                </a:srgbClr>
              </a:gs>
              <a:gs pos="100000">
                <a:srgbClr val="F3F1E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deckkit-decor+vl.chalkboard:an eraser smudge on the board; nothing reads from it"/>
          <p:cNvSpPr/>
          <p:nvPr/>
        </p:nvSpPr>
        <p:spPr>
          <a:xfrm>
            <a:off x="508745" y="503039"/>
            <a:ext cx="3979597" cy="875511"/>
          </a:xfrm>
          <a:prstGeom prst="ellipse">
            <a:avLst/>
          </a:prstGeom>
          <a:gradFill rotWithShape="1">
            <a:gsLst>
              <a:gs pos="0">
                <a:srgbClr val="F3F1EA">
                  <a:alpha val="6000"/>
                </a:srgbClr>
              </a:gs>
              <a:gs pos="34000">
                <a:srgbClr val="F3F1EA">
                  <a:alpha val="2700"/>
                </a:srgbClr>
              </a:gs>
              <a:gs pos="68000">
                <a:srgbClr val="F3F1EA">
                  <a:alpha val="0"/>
                </a:srgbClr>
              </a:gs>
              <a:gs pos="100000">
                <a:srgbClr val="F3F1E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deckkit-decor+vl.chalkboard:an eraser smudge on the board; nothing reads from it"/>
          <p:cNvSpPr/>
          <p:nvPr/>
        </p:nvSpPr>
        <p:spPr>
          <a:xfrm>
            <a:off x="5108148" y="552025"/>
            <a:ext cx="3436247" cy="755974"/>
          </a:xfrm>
          <a:prstGeom prst="ellipse">
            <a:avLst/>
          </a:prstGeom>
          <a:gradFill rotWithShape="1">
            <a:gsLst>
              <a:gs pos="0">
                <a:srgbClr val="F3F1EA">
                  <a:alpha val="6000"/>
                </a:srgbClr>
              </a:gs>
              <a:gs pos="34000">
                <a:srgbClr val="F3F1EA">
                  <a:alpha val="2700"/>
                </a:srgbClr>
              </a:gs>
              <a:gs pos="68000">
                <a:srgbClr val="F3F1EA">
                  <a:alpha val="0"/>
                </a:srgbClr>
              </a:gs>
              <a:gs pos="100000">
                <a:srgbClr val="F3F1E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deckkit-motif-quiet+decor+vl.chalkboard:a chalk stroke; the words it frames carry the meaning"/>
          <p:cNvSpPr/>
          <p:nvPr/>
        </p:nvSpPr>
        <p:spPr>
          <a:xfrm>
            <a:off x="819311" y="1611208"/>
            <a:ext cx="2594188" cy="493219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824" y="5604"/>
                </a:moveTo>
                <a:lnTo>
                  <a:pt x="99062" y="6755"/>
                </a:lnTo>
                <a:lnTo>
                  <a:pt x="100000" y="85116"/>
                </a:lnTo>
                <a:lnTo>
                  <a:pt x="0" y="100000"/>
                </a:lnTo>
                <a:lnTo>
                  <a:pt x="3343" y="0"/>
                </a:lnTo>
              </a:path>
            </a:pathLst>
          </a:custGeom>
          <a:noFill/>
          <a:ln w="25400" cap="rnd">
            <a:solidFill>
              <a:srgbClr val="F2A9B8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deckkit-motif-quiet+decor+vl.chalkboard:a chalk stroke; the words it frames carry the meaning"/>
          <p:cNvSpPr/>
          <p:nvPr/>
        </p:nvSpPr>
        <p:spPr>
          <a:xfrm>
            <a:off x="832954" y="1622333"/>
            <a:ext cx="2580837" cy="482765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944" y="3085"/>
                </a:moveTo>
                <a:lnTo>
                  <a:pt x="99443" y="4017"/>
                </a:lnTo>
                <a:lnTo>
                  <a:pt x="100000" y="85042"/>
                </a:lnTo>
                <a:lnTo>
                  <a:pt x="0" y="100000"/>
                </a:lnTo>
                <a:lnTo>
                  <a:pt x="3056" y="0"/>
                </a:lnTo>
              </a:path>
            </a:pathLst>
          </a:custGeom>
          <a:noFill/>
          <a:ln w="15240" cap="rnd">
            <a:solidFill>
              <a:srgbClr val="F2A9B8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deckkit-motif-quiet+decor+vl.chalkboard:a chalk stroke; the words it frames carry the meaning"/>
          <p:cNvSpPr/>
          <p:nvPr/>
        </p:nvSpPr>
        <p:spPr>
          <a:xfrm>
            <a:off x="978032" y="4284482"/>
            <a:ext cx="6708566" cy="60235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4758"/>
                </a:moveTo>
                <a:lnTo>
                  <a:pt x="10052" y="74177"/>
                </a:lnTo>
                <a:lnTo>
                  <a:pt x="20029" y="93926"/>
                </a:lnTo>
                <a:lnTo>
                  <a:pt x="29792" y="9901"/>
                </a:lnTo>
                <a:lnTo>
                  <a:pt x="40086" y="13463"/>
                </a:lnTo>
                <a:lnTo>
                  <a:pt x="50068" y="62133"/>
                </a:lnTo>
                <a:lnTo>
                  <a:pt x="59922" y="52538"/>
                </a:lnTo>
                <a:lnTo>
                  <a:pt x="69941" y="0"/>
                </a:lnTo>
                <a:lnTo>
                  <a:pt x="79763" y="18052"/>
                </a:lnTo>
                <a:lnTo>
                  <a:pt x="89846" y="100000"/>
                </a:lnTo>
                <a:lnTo>
                  <a:pt x="100000" y="26815"/>
                </a:lnTo>
              </a:path>
            </a:pathLst>
          </a:custGeom>
          <a:noFill/>
          <a:ln w="33020" cap="rnd">
            <a:solidFill>
              <a:srgbClr val="F2D16B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deckkit-motif-quiet+decor+vl.chalkboard:a chalk stroke; the words it frames carry the meaning"/>
          <p:cNvSpPr/>
          <p:nvPr/>
        </p:nvSpPr>
        <p:spPr>
          <a:xfrm>
            <a:off x="981856" y="4274115"/>
            <a:ext cx="6695864" cy="66409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0"/>
                </a:moveTo>
                <a:lnTo>
                  <a:pt x="9955" y="55935"/>
                </a:lnTo>
                <a:lnTo>
                  <a:pt x="19768" y="99122"/>
                </a:lnTo>
                <a:lnTo>
                  <a:pt x="29850" y="16326"/>
                </a:lnTo>
                <a:lnTo>
                  <a:pt x="40118" y="35207"/>
                </a:lnTo>
                <a:lnTo>
                  <a:pt x="49905" y="100000"/>
                </a:lnTo>
                <a:lnTo>
                  <a:pt x="60001" y="77516"/>
                </a:lnTo>
                <a:lnTo>
                  <a:pt x="69906" y="27741"/>
                </a:lnTo>
                <a:lnTo>
                  <a:pt x="80079" y="56764"/>
                </a:lnTo>
                <a:lnTo>
                  <a:pt x="90160" y="85907"/>
                </a:lnTo>
                <a:lnTo>
                  <a:pt x="100000" y="40143"/>
                </a:lnTo>
              </a:path>
            </a:pathLst>
          </a:custGeom>
          <a:noFill/>
          <a:ln w="19812" cap="rnd">
            <a:solidFill>
              <a:srgbClr val="F2D16B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deckkit-motif-quiet+decor+vl.chalkboard:a chalk stroke; the words it frames carry the meaning"/>
          <p:cNvSpPr/>
          <p:nvPr/>
        </p:nvSpPr>
        <p:spPr>
          <a:xfrm>
            <a:off x="1073213" y="4380821"/>
            <a:ext cx="6522772" cy="59518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14904"/>
                </a:moveTo>
                <a:lnTo>
                  <a:pt x="9896" y="39215"/>
                </a:lnTo>
                <a:lnTo>
                  <a:pt x="19733" y="97844"/>
                </a:lnTo>
                <a:lnTo>
                  <a:pt x="29890" y="79898"/>
                </a:lnTo>
                <a:lnTo>
                  <a:pt x="39857" y="24933"/>
                </a:lnTo>
                <a:lnTo>
                  <a:pt x="49823" y="18012"/>
                </a:lnTo>
                <a:lnTo>
                  <a:pt x="59977" y="54729"/>
                </a:lnTo>
                <a:lnTo>
                  <a:pt x="69912" y="100000"/>
                </a:lnTo>
                <a:lnTo>
                  <a:pt x="79795" y="63177"/>
                </a:lnTo>
                <a:lnTo>
                  <a:pt x="90001" y="0"/>
                </a:lnTo>
                <a:lnTo>
                  <a:pt x="100000" y="19463"/>
                </a:lnTo>
              </a:path>
            </a:pathLst>
          </a:custGeom>
          <a:noFill/>
          <a:ln w="22860" cap="rnd">
            <a:solidFill>
              <a:srgbClr val="F2D16B">
                <a:alpha val="8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deckkit-motif-quiet+decor+vl.chalkboard:a chalk stroke; the words it frames carry the meaning"/>
          <p:cNvSpPr/>
          <p:nvPr/>
        </p:nvSpPr>
        <p:spPr>
          <a:xfrm>
            <a:off x="1074331" y="4379018"/>
            <a:ext cx="6521701" cy="66823"/>
          </a:xfrm>
          <a:custGeom>
            <a:avLst/>
            <a:gdLst/>
            <a:ahLst/>
            <a:cxnLst/>
            <a:rect l="0" t="0" r="r" b="b"/>
            <a:pathLst>
              <a:path w="100000" h="100000" fill="none">
                <a:moveTo>
                  <a:pt x="0" y="0"/>
                </a:moveTo>
                <a:lnTo>
                  <a:pt x="9749" y="55317"/>
                </a:lnTo>
                <a:lnTo>
                  <a:pt x="19989" y="82700"/>
                </a:lnTo>
                <a:lnTo>
                  <a:pt x="29751" y="55387"/>
                </a:lnTo>
                <a:lnTo>
                  <a:pt x="39935" y="9176"/>
                </a:lnTo>
                <a:lnTo>
                  <a:pt x="50043" y="11735"/>
                </a:lnTo>
                <a:lnTo>
                  <a:pt x="59791" y="59373"/>
                </a:lnTo>
                <a:lnTo>
                  <a:pt x="69846" y="100000"/>
                </a:lnTo>
                <a:lnTo>
                  <a:pt x="80032" y="57690"/>
                </a:lnTo>
                <a:lnTo>
                  <a:pt x="89945" y="16899"/>
                </a:lnTo>
                <a:lnTo>
                  <a:pt x="100000" y="29581"/>
                </a:lnTo>
              </a:path>
            </a:pathLst>
          </a:custGeom>
          <a:noFill/>
          <a:ln w="13716" cap="rnd">
            <a:solidFill>
              <a:srgbClr val="F2D16B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deckkit-vl.chalkboard"/>
          <p:cNvSpPr txBox="1"/>
          <p:nvPr/>
        </p:nvSpPr>
        <p:spPr>
          <a:xfrm>
            <a:off x="975335" y="1689506"/>
            <a:ext cx="10241023" cy="32796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2A9B8"/>
                </a:solidFill>
                <a:latin typeface="Trebuchet MS"/>
                <a:ea typeface="Yu Gothic"/>
              </a:rPr>
              <a:t>E / 原典の黒板スタイル</a:t>
            </a:r>
          </a:p>
        </p:txBody>
      </p:sp>
      <p:sp>
        <p:nvSpPr>
          <p:cNvPr id="17" name="deckkit-vl.chalkboard"/>
          <p:cNvSpPr txBox="1"/>
          <p:nvPr/>
        </p:nvSpPr>
        <p:spPr>
          <a:xfrm>
            <a:off x="975335" y="2200351"/>
            <a:ext cx="10241023" cy="203484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>
                <a:solidFill>
                  <a:srgbClr val="F3F1EA"/>
                </a:solidFill>
                <a:latin typeface="Trebuchet MS"/>
                <a:ea typeface="Yu Gothic"/>
              </a:rPr>
              <a:t>並べておくと、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>
                <a:solidFill>
                  <a:srgbClr val="F3F1EA"/>
                </a:solidFill>
                <a:latin typeface="Trebuchet MS"/>
                <a:ea typeface="Yu Gothic"/>
              </a:rPr>
              <a:t>探し方が変わる</a:t>
            </a:r>
          </a:p>
        </p:txBody>
      </p:sp>
      <p:sp>
        <p:nvSpPr>
          <p:cNvPr id="18" name="deckkit-vl.chalkboard"/>
          <p:cNvSpPr txBox="1"/>
          <p:nvPr/>
        </p:nvSpPr>
        <p:spPr>
          <a:xfrm>
            <a:off x="975335" y="4600956"/>
            <a:ext cx="10241023" cy="430377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C9D3C9"/>
                </a:solidFill>
                <a:latin typeface="Trebuchet MS"/>
                <a:ea typeface="Yu Gothic"/>
              </a:rPr>
              <a:t>1〜15から13を探す：13回と4回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