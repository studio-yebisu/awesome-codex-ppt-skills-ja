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架空の町内会を想定した手順案です。実際の貸出規則ではありません。申込みから返却までの確認事項を、借りる人と担当者が同じ順序で使うことを目指します。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申込書の例を見せます。折りたたみ椅子10脚、10月20日9時から16時、集会所前での受取りと返却という架空の設定です。実際の担当窓口と貸出条件を確認して記入します。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借りる人だけで判断せず、担当者と一緒に数、傷や欠品、返却日時と場所を確かめる手順案です。気づいた点は受取り時の記録に残します。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受取り時でも使用中でも、異常に気づいたら使い続けず担当者に知らせる案です。破損の原因や弁償をこの資料で決めるものではなく、実際のルールと担当者の指示を確認します。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数量、付属品、状態を記録と照合し、担当者の確認を受けて返却を完了する案です。無人で置いていく可否も各町内会のルールによるため、事前に返却方法を聞きます。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実際の貸出ルールと窓口を確認することが次の行動です。この6ページは相談用の架空の手順案で、既存の運用規則の代わりにはなりません。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町内会の備品貸出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881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FFFFFF"/>
                </a:solidFill>
                <a:latin typeface="Yu Gothic"/>
              </a:defRPr>
            </a:pPr>
            <a:r>
              <a:t>町内会の備品貸出を、</a:t>
            </a:r>
          </a:p>
          <a:p>
            <a:pPr>
              <a:spcAft>
                <a:spcPts val="800"/>
              </a:spcAft>
              <a:defRPr sz="4300" b="1">
                <a:solidFill>
                  <a:srgbClr val="FFFFFF"/>
                </a:solidFill>
                <a:latin typeface="Yu Gothic"/>
              </a:defRPr>
            </a:pPr>
            <a:r>
              <a:t>迷わない手順に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200400"/>
            <a:ext cx="82296" cy="1033271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182112"/>
            <a:ext cx="10058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借りる前に、</a:t>
            </a:r>
          </a:p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返すところまで決める。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25780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0">
                <a:solidFill>
                  <a:srgbClr val="FFFFFF"/>
                </a:solidFill>
                <a:latin typeface="Yu Gothic"/>
              </a:defRPr>
            </a:pPr>
            <a:r>
              <a:t>申込み  →  受取り  →  使用  →  返却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12324A"/>
                </a:solidFill>
                <a:latin typeface="Yu Gothic"/>
              </a:defRPr>
            </a:pPr>
            <a:r>
              <a:t>品名・数量・日時を、まとめて伝える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48256"/>
            <a:ext cx="10835640" cy="3401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85416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B7472A"/>
                </a:solidFill>
                <a:latin typeface="Yu Gothic"/>
              </a:defRPr>
            </a:pPr>
            <a:r>
              <a:t>申込みの記入例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品名・数量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4176" y="27432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折りたたみ椅子 10脚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18688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346704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利用日時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346704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10月20日 9:00〜16:00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822191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950208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受取・返却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395020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集会所前で担当者と確認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25696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53712"/>
            <a:ext cx="2651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435B6A"/>
                </a:solidFill>
                <a:latin typeface="Yu Gothic"/>
              </a:defRPr>
            </a:pPr>
            <a:r>
              <a:t>連絡先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4553712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12324A"/>
                </a:solidFill>
                <a:latin typeface="Yu Gothic"/>
              </a:defRPr>
            </a:pPr>
            <a:r>
              <a:t>申込み時に窓口へ伝える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5029200"/>
            <a:ext cx="10241280" cy="10972"/>
          </a:xfrm>
          <a:prstGeom prst="rect">
            <a:avLst/>
          </a:prstGeom>
          <a:solidFill>
            <a:srgbClr val="CB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42432"/>
            <a:ext cx="107899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2324A"/>
                </a:solidFill>
                <a:latin typeface="Yu Gothic"/>
              </a:defRPr>
            </a:pPr>
            <a:r>
              <a:t>受付方法と貸出条件は、実際の窓口で確認する。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12324A"/>
                </a:solidFill>
                <a:latin typeface="Yu Gothic"/>
              </a:defRPr>
            </a:pPr>
            <a:r>
              <a:t>数と状態を、その場で一緒に確認する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14600"/>
            <a:ext cx="3255264" cy="41148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7472A"/>
                </a:solidFill>
                <a:latin typeface="Yu 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7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324A"/>
                </a:solidFill>
                <a:latin typeface="Yu Gothic"/>
              </a:defRPr>
            </a:pPr>
            <a:r>
              <a:t>数を数える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借りる品と付属品を</a:t>
            </a:r>
          </a:p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記録に照らす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6552" y="2514600"/>
            <a:ext cx="3255264" cy="41148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9019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7472A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907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324A"/>
                </a:solidFill>
                <a:latin typeface="Yu Gothic"/>
              </a:defRPr>
            </a:pPr>
            <a:r>
              <a:t>状態を見る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3840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傷・汚れ・欠品を</a:t>
            </a:r>
          </a:p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担当者と確かめる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2514600"/>
            <a:ext cx="3255264" cy="41148"/>
          </a:xfrm>
          <a:prstGeom prst="rect">
            <a:avLst/>
          </a:prstGeom>
          <a:solidFill>
            <a:srgbClr val="B74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7304" y="190195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B7472A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7304" y="2907792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12324A"/>
                </a:solidFill>
                <a:latin typeface="Yu Gothic"/>
              </a:defRPr>
            </a:pPr>
            <a:r>
              <a:t>返却を確認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38404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返す日時と場所を</a:t>
            </a:r>
          </a:p>
          <a:p>
            <a:pPr>
              <a:spcAft>
                <a:spcPts val="800"/>
              </a:spcAft>
              <a:defRPr sz="2300" b="0">
                <a:solidFill>
                  <a:srgbClr val="12324A"/>
                </a:solidFill>
                <a:latin typeface="Yu Gothic"/>
              </a:defRPr>
            </a:pPr>
            <a:r>
              <a:t>記録に残す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65099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12324A"/>
                </a:solidFill>
                <a:latin typeface="Yu Gothic"/>
              </a:defRPr>
            </a:pPr>
            <a:r>
              <a:t>気づいた点は、持ち帰る前に伝える。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FFFFF"/>
                </a:solidFill>
                <a:latin typeface="Yu Gothic"/>
              </a:defRPr>
            </a:pPr>
            <a:r>
              <a:t>町内会の備品貸出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FFFFFF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Yu Gothic"/>
              </a:defRPr>
            </a:pPr>
            <a:r>
              <a:t>不具合に気づいたら、使う前に窓口へ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Yu Gothic"/>
              </a:defRPr>
            </a:pPr>
            <a:r>
              <a:t>受取りのとき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6382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Yu Gothic"/>
              </a:defRPr>
            </a:pPr>
            <a:r>
              <a:t>傷や欠品があった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59" y="24688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FFFFFF"/>
                </a:solidFill>
                <a:latin typeface="Yu Gothic"/>
              </a:defRPr>
            </a:pPr>
            <a:r>
              <a:t>使っているとき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59" y="316382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FFFFF"/>
                </a:solidFill>
                <a:latin typeface="Yu Gothic"/>
              </a:defRPr>
            </a:pPr>
            <a:r>
              <a:t>ぐらつきや破損に気づいた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15968"/>
            <a:ext cx="10698480" cy="18288"/>
          </a:xfrm>
          <a:prstGeom prst="rect">
            <a:avLst/>
          </a:prstGeom>
          <a:solidFill>
            <a:srgbClr val="779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45152"/>
            <a:ext cx="107899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使い続けず、担当者に知らせる。</a:t>
            </a:r>
          </a:p>
          <a:p>
            <a:pPr>
              <a:spcAft>
                <a:spcPts val="800"/>
              </a:spcAft>
              <a:defRPr sz="2800" b="1">
                <a:solidFill>
                  <a:srgbClr val="FFFFFF"/>
                </a:solidFill>
                <a:latin typeface="Yu Gothic"/>
              </a:defRPr>
            </a:pPr>
            <a:r>
              <a:t>その後の扱いを確認する。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500" b="1">
                <a:solidFill>
                  <a:srgbClr val="12324A"/>
                </a:solidFill>
                <a:latin typeface="Yu Gothic"/>
              </a:defRPr>
            </a:pPr>
            <a:r>
              <a:t>返却は、置くだけで終わらせない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94560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95144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数量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8648" y="2295144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借りた数と、返す数が合うか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2862072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999232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099815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付属品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099815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袋・部品などの戻し忘れはないか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3666744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03904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904488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状態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3904488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使用中の変化を担当者へ伝えたか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4471416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608576"/>
            <a:ext cx="1874519" cy="676656"/>
          </a:xfrm>
          <a:prstGeom prst="rect">
            <a:avLst/>
          </a:prstGeom>
          <a:solidFill>
            <a:srgbClr val="12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709160"/>
            <a:ext cx="1554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470916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0">
                <a:solidFill>
                  <a:srgbClr val="12324A"/>
                </a:solidFill>
                <a:latin typeface="Yu Gothic"/>
              </a:defRPr>
            </a:pPr>
            <a:r>
              <a:t>担当者の確認を記録したか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5276088"/>
            <a:ext cx="8412480" cy="13716"/>
          </a:xfrm>
          <a:prstGeom prst="rect">
            <a:avLst/>
          </a:prstGeom>
          <a:solidFill>
            <a:srgbClr val="9DA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7900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12324A"/>
                </a:solidFill>
                <a:latin typeface="Yu Gothic"/>
              </a:defRPr>
            </a:pPr>
            <a:r>
              <a:t>無人で置いてよいかも、あらかじめ確認する。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12324A"/>
                </a:solidFill>
                <a:latin typeface="Yu Gothic"/>
              </a:defRPr>
            </a:pPr>
            <a:r>
              <a:t>町内会の備品貸出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12324A"/>
                </a:solidFill>
                <a:latin typeface="Yu Gothic"/>
              </a:defRPr>
            </a:pPr>
            <a:r>
              <a:t>架空の町内会を想定した手順案  ・  実際のルールは担当窓口へ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41832"/>
            <a:ext cx="109728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4300" b="1">
                <a:solidFill>
                  <a:srgbClr val="12324A"/>
                </a:solidFill>
                <a:latin typeface="Yu Gothic"/>
              </a:defRPr>
            </a:pPr>
            <a:r>
              <a:t>借りる前に、</a:t>
            </a:r>
          </a:p>
          <a:p>
            <a:pPr>
              <a:spcAft>
                <a:spcPts val="800"/>
              </a:spcAft>
              <a:defRPr sz="4300" b="1">
                <a:solidFill>
                  <a:srgbClr val="12324A"/>
                </a:solidFill>
                <a:latin typeface="Yu Gothic"/>
              </a:defRPr>
            </a:pPr>
            <a:r>
              <a:t>返却方法まで聞こう。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99232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B7472A"/>
                </a:solidFill>
                <a:latin typeface="Yu Gothic"/>
              </a:defRPr>
            </a:pPr>
            <a:r>
              <a:t>誰に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7" y="2999232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12324A"/>
                </a:solidFill>
                <a:latin typeface="Yu Gothic"/>
              </a:defRPr>
            </a:pPr>
            <a:r>
              <a:t>申込みと返却の窓口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59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B7472A"/>
                </a:solidFill>
                <a:latin typeface="Yu Gothic"/>
              </a:defRPr>
            </a:pPr>
            <a:r>
              <a:t>いつ・どこで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7" y="3794759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12324A"/>
                </a:solidFill>
                <a:latin typeface="Yu Gothic"/>
              </a:defRPr>
            </a:pPr>
            <a:r>
              <a:t>受取りと返却の日時・場所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90288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B7472A"/>
                </a:solidFill>
                <a:latin typeface="Yu Gothic"/>
              </a:defRPr>
            </a:pPr>
            <a:r>
              <a:t>変わったら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4590288"/>
            <a:ext cx="7680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600" b="0">
                <a:solidFill>
                  <a:srgbClr val="12324A"/>
                </a:solidFill>
                <a:latin typeface="Yu Gothic"/>
              </a:defRPr>
            </a:pPr>
            <a:r>
              <a:t>予定変更や不具合の連絡先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05856"/>
            <a:ext cx="10972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2324A"/>
                </a:solidFill>
                <a:latin typeface="Yu Gothic"/>
              </a:defRPr>
            </a:pPr>
            <a:r>
              <a:t>実際の貸出ルールを確認してから、申し込む。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