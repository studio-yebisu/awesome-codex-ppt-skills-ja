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架空の働き方ワークショップ案です。朝の20分は例示の配置で、効果を実証した方法ではありません。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3分で一つ選び、10分取り組み、5分でメモし、2分で次を残す案です。合計20分。仕事の条件に合わせて調整します。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前日に作業の入口を一つ決め、朝はその作業を進め、終了時に続きを一言残す流れの案です。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一週目に観察、二・三週目に一つ試し、四週目に続け方を話す例示計画。記録と相談を並行させ、負担があれば変更します。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571500"/>
            <a:ext cx="114300" cy="114300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2452" y="570071"/>
            <a:ext cx="76526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朝作業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7185" y="2599372"/>
            <a:ext cx="6605846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朝20分の作業ワークショップ案</a:t>
            </a:r>
          </a:p>
        </p:txBody>
      </p:sp>
      <p:sp>
        <p:nvSpPr>
          <p:cNvPr id="6" name="Rectangle 6"/>
          <p:cNvSpPr/>
          <p:nvPr/>
        </p:nvSpPr>
        <p:spPr>
          <a:xfrm>
            <a:off x="400050" y="3790950"/>
            <a:ext cx="1104900" cy="38100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8153400" y="2628900"/>
            <a:ext cx="9525" cy="2095500"/>
          </a:xfrm>
          <a:custGeom>
            <a:avLst/>
            <a:gdLst/>
            <a:ahLst/>
            <a:cxnLst/>
            <a:rect l="l" t="t" r="r" b="b"/>
            <a:pathLst>
              <a:path w="9525" h="2095500">
                <a:moveTo>
                  <a:pt x="0" y="0"/>
                </a:moveTo>
                <a:lnTo>
                  <a:pt x="0" y="209550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483918" y="2714149"/>
            <a:ext cx="3384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B9B9B"/>
                </a:solidFill>
                <a:latin typeface="Manrope"/>
                <a:ea typeface="Zen Kaku Gothic New"/>
                <a:cs typeface="Manrope"/>
              </a:rPr>
              <a:t>目次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81060" y="3147060"/>
            <a:ext cx="24247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B9B9B"/>
                </a:solidFill>
                <a:latin typeface="Manrope"/>
                <a:ea typeface="Zen Kaku Gothic New"/>
                <a:cs typeface="Manrope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99208" y="3138964"/>
            <a:ext cx="85291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時間配分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81060" y="3547110"/>
            <a:ext cx="2651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B9B9B"/>
                </a:solidFill>
                <a:latin typeface="Manrope"/>
                <a:ea typeface="Zen Kaku Gothic New"/>
                <a:cs typeface="Manrope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99208" y="3539014"/>
            <a:ext cx="97760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作業の入口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81060" y="3947160"/>
            <a:ext cx="2651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B9B9B"/>
                </a:solidFill>
                <a:latin typeface="Manrope"/>
                <a:ea typeface="Zen Kaku Gothic New"/>
                <a:cs typeface="Manrope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99208" y="3939064"/>
            <a:ext cx="159300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四週間の試行計画</a:t>
            </a:r>
          </a:p>
        </p:txBody>
      </p:sp>
      <p:sp>
        <p:nvSpPr>
          <p:cNvPr id="15" name="Line 15"/>
          <p:cNvSpPr/>
          <p:nvPr/>
        </p:nvSpPr>
        <p:spPr>
          <a:xfrm>
            <a:off x="381000" y="61722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68618" y="6390799"/>
            <a:ext cx="390336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B9B9B"/>
                </a:solidFill>
                <a:latin typeface="Manrope"/>
                <a:ea typeface="Zen Kaku Gothic New"/>
                <a:cs typeface="Manrope"/>
              </a:rPr>
              <a:t>架空のワークショップ案。時間配分は例示で、効果は測定していない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75801" y="6390799"/>
            <a:ext cx="7475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B9B9B"/>
                </a:solidFill>
                <a:latin typeface="Manrope"/>
                <a:ea typeface="Zen Kaku Gothic New"/>
                <a:cs typeface="Manrope"/>
              </a:rPr>
              <a:t>試行前の案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39541"/>
            <a:ext cx="55188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E6E6E"/>
                </a:solidFill>
                <a:latin typeface="Manrope"/>
                <a:ea typeface="Zen Kaku Gothic New"/>
                <a:cs typeface="Manrope"/>
              </a:rPr>
              <a:t>時間配分</a:t>
            </a:r>
          </a:p>
        </p:txBody>
      </p:sp>
      <p:sp>
        <p:nvSpPr>
          <p:cNvPr id="4" name="Rectangle 4"/>
          <p:cNvSpPr/>
          <p:nvPr/>
        </p:nvSpPr>
        <p:spPr>
          <a:xfrm>
            <a:off x="11315700" y="152400"/>
            <a:ext cx="85725" cy="85725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339107" y="131445"/>
            <a:ext cx="4833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朝作業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304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50520" y="483870"/>
            <a:ext cx="673015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サンプル行程は朝の作業を四つの手順に分ける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9" name="Line 9"/>
          <p:cNvSpPr/>
          <p:nvPr/>
        </p:nvSpPr>
        <p:spPr>
          <a:xfrm>
            <a:off x="1809750" y="1466850"/>
            <a:ext cx="9525" cy="3733800"/>
          </a:xfrm>
          <a:custGeom>
            <a:avLst/>
            <a:gdLst/>
            <a:ahLst/>
            <a:cxnLst/>
            <a:rect l="l" t="t" r="r" b="b"/>
            <a:pathLst>
              <a:path w="9525" h="3733800">
                <a:moveTo>
                  <a:pt x="0" y="0"/>
                </a:moveTo>
                <a:lnTo>
                  <a:pt x="0" y="3733800"/>
                </a:lnTo>
              </a:path>
            </a:pathLst>
          </a:custGeom>
          <a:noFill/>
          <a:ln w="4762">
            <a:solidFill>
              <a:srgbClr val="E7E7E7"/>
            </a:solidFill>
            <a:prstDash val="sysDot"/>
          </a:ln>
        </p:spPr>
      </p:sp>
      <p:sp>
        <p:nvSpPr>
          <p:cNvPr id="10" name="TextBox 10"/>
          <p:cNvSpPr txBox="1"/>
          <p:nvPr/>
        </p:nvSpPr>
        <p:spPr>
          <a:xfrm>
            <a:off x="1765862" y="1351836"/>
            <a:ext cx="87776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dirty="0">
                <a:solidFill>
                  <a:srgbClr val="9B9B9B"/>
                </a:solidFill>
                <a:latin typeface="Manrope"/>
                <a:ea typeface="Zen Kaku Gothic New"/>
                <a:cs typeface="Manrope"/>
              </a:rPr>
              <a:t>0</a:t>
            </a:r>
          </a:p>
        </p:txBody>
      </p:sp>
      <p:sp>
        <p:nvSpPr>
          <p:cNvPr id="11" name="Line 11"/>
          <p:cNvSpPr/>
          <p:nvPr/>
        </p:nvSpPr>
        <p:spPr>
          <a:xfrm>
            <a:off x="3258502" y="1466850"/>
            <a:ext cx="9525" cy="3733800"/>
          </a:xfrm>
          <a:custGeom>
            <a:avLst/>
            <a:gdLst/>
            <a:ahLst/>
            <a:cxnLst/>
            <a:rect l="l" t="t" r="r" b="b"/>
            <a:pathLst>
              <a:path w="9525" h="3733800">
                <a:moveTo>
                  <a:pt x="0" y="0"/>
                </a:moveTo>
                <a:lnTo>
                  <a:pt x="0" y="3733800"/>
                </a:lnTo>
              </a:path>
            </a:pathLst>
          </a:custGeom>
          <a:noFill/>
          <a:ln w="4762">
            <a:solidFill>
              <a:srgbClr val="E7E7E7"/>
            </a:solidFill>
            <a:prstDash val="sysDot"/>
          </a:ln>
        </p:spPr>
      </p:sp>
      <p:sp>
        <p:nvSpPr>
          <p:cNvPr id="12" name="TextBox 12"/>
          <p:cNvSpPr txBox="1"/>
          <p:nvPr/>
        </p:nvSpPr>
        <p:spPr>
          <a:xfrm>
            <a:off x="3214614" y="1351836"/>
            <a:ext cx="87776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dirty="0">
                <a:solidFill>
                  <a:srgbClr val="9B9B9B"/>
                </a:solidFill>
                <a:latin typeface="Manrope"/>
                <a:ea typeface="Zen Kaku Gothic New"/>
                <a:cs typeface="Manrope"/>
              </a:rPr>
              <a:t>3</a:t>
            </a:r>
          </a:p>
        </p:txBody>
      </p:sp>
      <p:sp>
        <p:nvSpPr>
          <p:cNvPr id="13" name="Line 13"/>
          <p:cNvSpPr/>
          <p:nvPr/>
        </p:nvSpPr>
        <p:spPr>
          <a:xfrm>
            <a:off x="4707255" y="1466850"/>
            <a:ext cx="9525" cy="3733800"/>
          </a:xfrm>
          <a:custGeom>
            <a:avLst/>
            <a:gdLst/>
            <a:ahLst/>
            <a:cxnLst/>
            <a:rect l="l" t="t" r="r" b="b"/>
            <a:pathLst>
              <a:path w="9525" h="3733800">
                <a:moveTo>
                  <a:pt x="0" y="0"/>
                </a:moveTo>
                <a:lnTo>
                  <a:pt x="0" y="3733800"/>
                </a:lnTo>
              </a:path>
            </a:pathLst>
          </a:custGeom>
          <a:noFill/>
          <a:ln w="4762">
            <a:solidFill>
              <a:srgbClr val="E7E7E7"/>
            </a:solidFill>
            <a:prstDash val="sysDot"/>
          </a:ln>
        </p:spPr>
      </p:sp>
      <p:sp>
        <p:nvSpPr>
          <p:cNvPr id="14" name="TextBox 14"/>
          <p:cNvSpPr txBox="1"/>
          <p:nvPr/>
        </p:nvSpPr>
        <p:spPr>
          <a:xfrm>
            <a:off x="4663367" y="1351836"/>
            <a:ext cx="87776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dirty="0">
                <a:solidFill>
                  <a:srgbClr val="9B9B9B"/>
                </a:solidFill>
                <a:latin typeface="Manrope"/>
                <a:ea typeface="Zen Kaku Gothic New"/>
                <a:cs typeface="Manrope"/>
              </a:rPr>
              <a:t>6</a:t>
            </a:r>
          </a:p>
        </p:txBody>
      </p:sp>
      <p:sp>
        <p:nvSpPr>
          <p:cNvPr id="15" name="Line 15"/>
          <p:cNvSpPr/>
          <p:nvPr/>
        </p:nvSpPr>
        <p:spPr>
          <a:xfrm>
            <a:off x="6156008" y="1466850"/>
            <a:ext cx="9525" cy="3733800"/>
          </a:xfrm>
          <a:custGeom>
            <a:avLst/>
            <a:gdLst/>
            <a:ahLst/>
            <a:cxnLst/>
            <a:rect l="l" t="t" r="r" b="b"/>
            <a:pathLst>
              <a:path w="9525" h="3733800">
                <a:moveTo>
                  <a:pt x="0" y="0"/>
                </a:moveTo>
                <a:lnTo>
                  <a:pt x="0" y="3733800"/>
                </a:lnTo>
              </a:path>
            </a:pathLst>
          </a:custGeom>
          <a:noFill/>
          <a:ln w="4762">
            <a:solidFill>
              <a:srgbClr val="E7E7E7"/>
            </a:solidFill>
            <a:prstDash val="sysDot"/>
          </a:ln>
        </p:spPr>
      </p:sp>
      <p:sp>
        <p:nvSpPr>
          <p:cNvPr id="16" name="TextBox 16"/>
          <p:cNvSpPr txBox="1"/>
          <p:nvPr/>
        </p:nvSpPr>
        <p:spPr>
          <a:xfrm>
            <a:off x="6112119" y="1351836"/>
            <a:ext cx="87776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dirty="0">
                <a:solidFill>
                  <a:srgbClr val="9B9B9B"/>
                </a:solidFill>
                <a:latin typeface="Manrope"/>
                <a:ea typeface="Zen Kaku Gothic New"/>
                <a:cs typeface="Manrope"/>
              </a:rPr>
              <a:t>9</a:t>
            </a:r>
          </a:p>
        </p:txBody>
      </p:sp>
      <p:sp>
        <p:nvSpPr>
          <p:cNvPr id="17" name="Line 17"/>
          <p:cNvSpPr/>
          <p:nvPr/>
        </p:nvSpPr>
        <p:spPr>
          <a:xfrm>
            <a:off x="7604760" y="1466850"/>
            <a:ext cx="9525" cy="3733800"/>
          </a:xfrm>
          <a:custGeom>
            <a:avLst/>
            <a:gdLst/>
            <a:ahLst/>
            <a:cxnLst/>
            <a:rect l="l" t="t" r="r" b="b"/>
            <a:pathLst>
              <a:path w="9525" h="3733800">
                <a:moveTo>
                  <a:pt x="0" y="0"/>
                </a:moveTo>
                <a:lnTo>
                  <a:pt x="0" y="3733800"/>
                </a:lnTo>
              </a:path>
            </a:pathLst>
          </a:custGeom>
          <a:noFill/>
          <a:ln w="4762">
            <a:solidFill>
              <a:srgbClr val="E7E7E7"/>
            </a:solidFill>
            <a:prstDash val="sysDot"/>
          </a:ln>
        </p:spPr>
      </p:sp>
      <p:sp>
        <p:nvSpPr>
          <p:cNvPr id="18" name="TextBox 18"/>
          <p:cNvSpPr txBox="1"/>
          <p:nvPr/>
        </p:nvSpPr>
        <p:spPr>
          <a:xfrm>
            <a:off x="7532775" y="1351836"/>
            <a:ext cx="143969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dirty="0">
                <a:solidFill>
                  <a:srgbClr val="9B9B9B"/>
                </a:solidFill>
                <a:latin typeface="Manrope"/>
                <a:ea typeface="Zen Kaku Gothic New"/>
                <a:cs typeface="Manrope"/>
              </a:rPr>
              <a:t>12</a:t>
            </a:r>
          </a:p>
        </p:txBody>
      </p:sp>
      <p:sp>
        <p:nvSpPr>
          <p:cNvPr id="19" name="Line 19"/>
          <p:cNvSpPr/>
          <p:nvPr/>
        </p:nvSpPr>
        <p:spPr>
          <a:xfrm>
            <a:off x="9053512" y="1466850"/>
            <a:ext cx="9525" cy="3733800"/>
          </a:xfrm>
          <a:custGeom>
            <a:avLst/>
            <a:gdLst/>
            <a:ahLst/>
            <a:cxnLst/>
            <a:rect l="l" t="t" r="r" b="b"/>
            <a:pathLst>
              <a:path w="9525" h="3733800">
                <a:moveTo>
                  <a:pt x="0" y="0"/>
                </a:moveTo>
                <a:lnTo>
                  <a:pt x="0" y="3733800"/>
                </a:lnTo>
              </a:path>
            </a:pathLst>
          </a:custGeom>
          <a:noFill/>
          <a:ln w="4762">
            <a:solidFill>
              <a:srgbClr val="E7E7E7"/>
            </a:solidFill>
            <a:prstDash val="sysDot"/>
          </a:ln>
        </p:spPr>
      </p:sp>
      <p:sp>
        <p:nvSpPr>
          <p:cNvPr id="20" name="TextBox 20"/>
          <p:cNvSpPr txBox="1"/>
          <p:nvPr/>
        </p:nvSpPr>
        <p:spPr>
          <a:xfrm>
            <a:off x="8981528" y="1351836"/>
            <a:ext cx="143969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dirty="0">
                <a:solidFill>
                  <a:srgbClr val="9B9B9B"/>
                </a:solidFill>
                <a:latin typeface="Manrope"/>
                <a:ea typeface="Zen Kaku Gothic New"/>
                <a:cs typeface="Manrope"/>
              </a:rPr>
              <a:t>15</a:t>
            </a:r>
          </a:p>
        </p:txBody>
      </p:sp>
      <p:sp>
        <p:nvSpPr>
          <p:cNvPr id="21" name="Line 21"/>
          <p:cNvSpPr/>
          <p:nvPr/>
        </p:nvSpPr>
        <p:spPr>
          <a:xfrm>
            <a:off x="10502265" y="1466850"/>
            <a:ext cx="9525" cy="3733800"/>
          </a:xfrm>
          <a:custGeom>
            <a:avLst/>
            <a:gdLst/>
            <a:ahLst/>
            <a:cxnLst/>
            <a:rect l="l" t="t" r="r" b="b"/>
            <a:pathLst>
              <a:path w="9525" h="3733800">
                <a:moveTo>
                  <a:pt x="0" y="0"/>
                </a:moveTo>
                <a:lnTo>
                  <a:pt x="0" y="3733800"/>
                </a:lnTo>
              </a:path>
            </a:pathLst>
          </a:custGeom>
          <a:noFill/>
          <a:ln w="4762">
            <a:solidFill>
              <a:srgbClr val="E7E7E7"/>
            </a:solidFill>
            <a:prstDash val="sysDot"/>
          </a:ln>
        </p:spPr>
      </p:sp>
      <p:sp>
        <p:nvSpPr>
          <p:cNvPr id="22" name="TextBox 22"/>
          <p:cNvSpPr txBox="1"/>
          <p:nvPr/>
        </p:nvSpPr>
        <p:spPr>
          <a:xfrm>
            <a:off x="10430280" y="1351836"/>
            <a:ext cx="143969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dirty="0">
                <a:solidFill>
                  <a:srgbClr val="9B9B9B"/>
                </a:solidFill>
                <a:latin typeface="Manrope"/>
                <a:ea typeface="Zen Kaku Gothic New"/>
                <a:cs typeface="Manrope"/>
              </a:rPr>
              <a:t>18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0774" y="1907858"/>
            <a:ext cx="8661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E6E6E"/>
                </a:solidFill>
                <a:latin typeface="Manrope"/>
                <a:ea typeface="Zen Kaku Gothic New"/>
                <a:cs typeface="Manrope"/>
              </a:rPr>
              <a:t>作業を一つ選ぶ</a:t>
            </a:r>
          </a:p>
        </p:txBody>
      </p:sp>
      <p:sp>
        <p:nvSpPr>
          <p:cNvPr id="24" name="Rectangle 24"/>
          <p:cNvSpPr/>
          <p:nvPr/>
        </p:nvSpPr>
        <p:spPr>
          <a:xfrm>
            <a:off x="1809750" y="1862138"/>
            <a:ext cx="1448752" cy="209550"/>
          </a:xfrm>
          <a:prstGeom prst="rect">
            <a:avLst/>
          </a:prstGeom>
          <a:solidFill>
            <a:srgbClr val="9B9B9B"/>
          </a:solidFill>
          <a:ln w="9525">
            <a:solidFill>
              <a:srgbClr val="6E6E6E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3306128" y="1924050"/>
            <a:ext cx="21306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E6E6E"/>
                </a:solidFill>
                <a:latin typeface="Manrope"/>
                <a:ea typeface="Zen Kaku Gothic New"/>
                <a:cs typeface="Manrope"/>
              </a:rPr>
              <a:t>3分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9943" y="2831782"/>
            <a:ext cx="1186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E6E6E"/>
                </a:solidFill>
                <a:latin typeface="Manrope"/>
                <a:ea typeface="Zen Kaku Gothic New"/>
                <a:cs typeface="Manrope"/>
              </a:rPr>
              <a:t>選んだ作業に取り組む</a:t>
            </a:r>
          </a:p>
        </p:txBody>
      </p:sp>
      <p:sp>
        <p:nvSpPr>
          <p:cNvPr id="27" name="Rectangle 27"/>
          <p:cNvSpPr/>
          <p:nvPr/>
        </p:nvSpPr>
        <p:spPr>
          <a:xfrm>
            <a:off x="3258502" y="2786062"/>
            <a:ext cx="4829175" cy="209550"/>
          </a:xfrm>
          <a:prstGeom prst="rect">
            <a:avLst/>
          </a:prstGeom>
          <a:solidFill>
            <a:srgbClr val="336EE8"/>
          </a:solidFill>
          <a:ln w="9525">
            <a:solidFill>
              <a:srgbClr val="6E6E6E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135302" y="2847975"/>
            <a:ext cx="27221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E6E6E"/>
                </a:solidFill>
                <a:latin typeface="Manrope"/>
                <a:ea typeface="Zen Kaku Gothic New"/>
                <a:cs typeface="Manrope"/>
              </a:rPr>
              <a:t>10分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21527" y="3755708"/>
            <a:ext cx="9853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E6E6E"/>
                </a:solidFill>
                <a:latin typeface="Manrope"/>
                <a:ea typeface="Zen Kaku Gothic New"/>
                <a:cs typeface="Manrope"/>
              </a:rPr>
              <a:t>進み具合をメモする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087678" y="3709988"/>
            <a:ext cx="2414588" cy="209550"/>
          </a:xfrm>
          <a:prstGeom prst="rect">
            <a:avLst/>
          </a:prstGeom>
          <a:solidFill>
            <a:srgbClr val="9B9B9B"/>
          </a:solidFill>
          <a:ln w="9525">
            <a:solidFill>
              <a:srgbClr val="6E6E6E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0549890" y="3771900"/>
            <a:ext cx="21306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E6E6E"/>
                </a:solidFill>
                <a:latin typeface="Manrope"/>
                <a:ea typeface="Zen Kaku Gothic New"/>
                <a:cs typeface="Manrope"/>
              </a:rPr>
              <a:t>5分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8311" y="4679632"/>
            <a:ext cx="9285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E6E6E"/>
                </a:solidFill>
                <a:latin typeface="Manrope"/>
                <a:ea typeface="Zen Kaku Gothic New"/>
                <a:cs typeface="Manrope"/>
              </a:rPr>
              <a:t>次にやることを書く</a:t>
            </a:r>
          </a:p>
        </p:txBody>
      </p:sp>
      <p:sp>
        <p:nvSpPr>
          <p:cNvPr id="33" name="Rectangle 33"/>
          <p:cNvSpPr/>
          <p:nvPr/>
        </p:nvSpPr>
        <p:spPr>
          <a:xfrm>
            <a:off x="10502265" y="4633912"/>
            <a:ext cx="965835" cy="209550"/>
          </a:xfrm>
          <a:prstGeom prst="rect">
            <a:avLst/>
          </a:prstGeom>
          <a:solidFill>
            <a:srgbClr val="9B9B9B"/>
          </a:solidFill>
          <a:ln w="9525">
            <a:solidFill>
              <a:srgbClr val="6E6E6E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11515725" y="4695825"/>
            <a:ext cx="21306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E6E6E"/>
                </a:solidFill>
                <a:latin typeface="Manrope"/>
                <a:ea typeface="Zen Kaku Gothic New"/>
                <a:cs typeface="Manrope"/>
              </a:rPr>
              <a:t>2分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21018" y="6143149"/>
            <a:ext cx="36880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E6E6E"/>
                </a:solidFill>
                <a:latin typeface="Manrope"/>
                <a:ea typeface="Zen Kaku Gothic New"/>
                <a:cs typeface="Manrope"/>
              </a:rPr>
              <a:t>横軸の右端＝20分（3＋10＋5＋2分）。時間は例示値</a:t>
            </a:r>
          </a:p>
        </p:txBody>
      </p:sp>
      <p:sp>
        <p:nvSpPr>
          <p:cNvPr id="36" name="Line 36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370522" y="6664166"/>
            <a:ext cx="32976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E6E6E"/>
                </a:solidFill>
                <a:latin typeface="Manrope"/>
                <a:ea typeface="Zen Kaku Gothic New"/>
                <a:cs typeface="Manrope"/>
              </a:rPr>
              <a:t>出典：架空のワークショップ案。時間配分は例示で効果は未測定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475196" y="6664166"/>
            <a:ext cx="34628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E6E6E"/>
                </a:solidFill>
                <a:latin typeface="Manrope"/>
                <a:ea typeface="Zen Kaku Gothic New"/>
                <a:cs typeface="Manrope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39541"/>
            <a:ext cx="63256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E6E6E"/>
                </a:solidFill>
                <a:latin typeface="Manrope"/>
                <a:ea typeface="Zen Kaku Gothic New"/>
                <a:cs typeface="Manrope"/>
              </a:rPr>
              <a:t>作業の入口</a:t>
            </a:r>
          </a:p>
        </p:txBody>
      </p:sp>
      <p:sp>
        <p:nvSpPr>
          <p:cNvPr id="4" name="Rectangle 4"/>
          <p:cNvSpPr/>
          <p:nvPr/>
        </p:nvSpPr>
        <p:spPr>
          <a:xfrm>
            <a:off x="11315700" y="152400"/>
            <a:ext cx="85725" cy="85725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339107" y="131445"/>
            <a:ext cx="4833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朝作業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304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50520" y="483870"/>
            <a:ext cx="639308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本案は前日に作業の入口を一つ決めておく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62000" y="2476500"/>
            <a:ext cx="1905000" cy="952500"/>
          </a:xfrm>
          <a:prstGeom prst="rect">
            <a:avLst/>
          </a:prstGeom>
          <a:solidFill>
            <a:srgbClr val="F3F3F3"/>
          </a:solidFill>
          <a:ln w="14288">
            <a:solidFill>
              <a:srgbClr val="9B9B9B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63325" y="2730341"/>
            <a:ext cx="30234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前日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6489" y="2991802"/>
            <a:ext cx="13960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作業を一つ決めておく</a:t>
            </a:r>
          </a:p>
        </p:txBody>
      </p:sp>
      <p:sp>
        <p:nvSpPr>
          <p:cNvPr id="12" name="Line 12"/>
          <p:cNvSpPr/>
          <p:nvPr/>
        </p:nvSpPr>
        <p:spPr>
          <a:xfrm>
            <a:off x="2667000" y="2952750"/>
            <a:ext cx="1724025" cy="9525"/>
          </a:xfrm>
          <a:custGeom>
            <a:avLst/>
            <a:gdLst/>
            <a:ahLst/>
            <a:cxnLst/>
            <a:rect l="l" t="t" r="r" b="b"/>
            <a:pathLst>
              <a:path w="1724025" h="9525">
                <a:moveTo>
                  <a:pt x="0" y="0"/>
                </a:moveTo>
                <a:lnTo>
                  <a:pt x="1724025" y="0"/>
                </a:lnTo>
              </a:path>
            </a:pathLst>
          </a:custGeom>
          <a:noFill/>
          <a:ln w="19050">
            <a:solidFill>
              <a:srgbClr val="9B9B9B"/>
            </a:solidFill>
          </a:ln>
        </p:spPr>
      </p:sp>
      <p:sp>
        <p:nvSpPr>
          <p:cNvPr id="13" name="Polygon 13"/>
          <p:cNvSpPr/>
          <p:nvPr/>
        </p:nvSpPr>
        <p:spPr>
          <a:xfrm>
            <a:off x="4391025" y="28956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4505325" y="2476500"/>
            <a:ext cx="1905000" cy="952500"/>
          </a:xfrm>
          <a:prstGeom prst="rect">
            <a:avLst/>
          </a:prstGeom>
          <a:solidFill>
            <a:srgbClr val="F3F3F3"/>
          </a:solidFill>
          <a:ln w="14288">
            <a:solidFill>
              <a:srgbClr val="9B9B9B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376999" y="2730341"/>
            <a:ext cx="1616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朝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14237" y="2991802"/>
            <a:ext cx="12871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決めた作業を進める</a:t>
            </a:r>
          </a:p>
        </p:txBody>
      </p:sp>
      <p:sp>
        <p:nvSpPr>
          <p:cNvPr id="17" name="Line 17"/>
          <p:cNvSpPr/>
          <p:nvPr/>
        </p:nvSpPr>
        <p:spPr>
          <a:xfrm>
            <a:off x="6410325" y="2952750"/>
            <a:ext cx="1724025" cy="9525"/>
          </a:xfrm>
          <a:custGeom>
            <a:avLst/>
            <a:gdLst/>
            <a:ahLst/>
            <a:cxnLst/>
            <a:rect l="l" t="t" r="r" b="b"/>
            <a:pathLst>
              <a:path w="1724025" h="9525">
                <a:moveTo>
                  <a:pt x="0" y="0"/>
                </a:moveTo>
                <a:lnTo>
                  <a:pt x="1724025" y="0"/>
                </a:lnTo>
              </a:path>
            </a:pathLst>
          </a:custGeom>
          <a:noFill/>
          <a:ln w="19050">
            <a:solidFill>
              <a:srgbClr val="9B9B9B"/>
            </a:solidFill>
          </a:ln>
        </p:spPr>
      </p:sp>
      <p:sp>
        <p:nvSpPr>
          <p:cNvPr id="18" name="Polygon 18"/>
          <p:cNvSpPr/>
          <p:nvPr/>
        </p:nvSpPr>
        <p:spPr>
          <a:xfrm>
            <a:off x="8134350" y="28956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8248650" y="2476500"/>
            <a:ext cx="1905000" cy="952500"/>
          </a:xfrm>
          <a:prstGeom prst="rect">
            <a:avLst/>
          </a:prstGeom>
          <a:solidFill>
            <a:srgbClr val="F3F3F3"/>
          </a:solidFill>
          <a:ln w="14288">
            <a:solidFill>
              <a:srgbClr val="9B9B9B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979627" y="2730341"/>
            <a:ext cx="4430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終了時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66408" y="2991802"/>
            <a:ext cx="10694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続きを一言残す</a:t>
            </a:r>
          </a:p>
        </p:txBody>
      </p:sp>
      <p:sp>
        <p:nvSpPr>
          <p:cNvPr id="22" name="Line 22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370522" y="6664166"/>
            <a:ext cx="32976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E6E6E"/>
                </a:solidFill>
                <a:latin typeface="Manrope"/>
                <a:ea typeface="Zen Kaku Gothic New"/>
                <a:cs typeface="Manrope"/>
              </a:rPr>
              <a:t>出典：架空のワークショップ案。時間配分は例示で効果は未測定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75196" y="6664166"/>
            <a:ext cx="34628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E6E6E"/>
                </a:solidFill>
                <a:latin typeface="Manrope"/>
                <a:ea typeface="Zen Kaku Gothic New"/>
                <a:cs typeface="Manrope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39541"/>
            <a:ext cx="10307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E6E6E"/>
                </a:solidFill>
                <a:latin typeface="Manrope"/>
                <a:ea typeface="Zen Kaku Gothic New"/>
                <a:cs typeface="Manrope"/>
              </a:rPr>
              <a:t>四週間の試行計画</a:t>
            </a:r>
          </a:p>
        </p:txBody>
      </p:sp>
      <p:sp>
        <p:nvSpPr>
          <p:cNvPr id="4" name="Rectangle 4"/>
          <p:cNvSpPr/>
          <p:nvPr/>
        </p:nvSpPr>
        <p:spPr>
          <a:xfrm>
            <a:off x="11315700" y="152400"/>
            <a:ext cx="85725" cy="85725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339107" y="131445"/>
            <a:ext cx="4833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朝作業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304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50520" y="483870"/>
            <a:ext cx="770926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試行計画は取り組み・記録・相談を週ごとに並べる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9" name="Line 9"/>
          <p:cNvSpPr/>
          <p:nvPr/>
        </p:nvSpPr>
        <p:spPr>
          <a:xfrm>
            <a:off x="1600200" y="1657350"/>
            <a:ext cx="9525" cy="3867150"/>
          </a:xfrm>
          <a:custGeom>
            <a:avLst/>
            <a:gdLst/>
            <a:ahLst/>
            <a:cxnLst/>
            <a:rect l="l" t="t" r="r" b="b"/>
            <a:pathLst>
              <a:path w="9525" h="3867150">
                <a:moveTo>
                  <a:pt x="0" y="0"/>
                </a:moveTo>
                <a:lnTo>
                  <a:pt x="0" y="3867150"/>
                </a:lnTo>
              </a:path>
            </a:pathLst>
          </a:custGeom>
          <a:noFill/>
          <a:ln w="7620">
            <a:solidFill>
              <a:srgbClr val="E7E7E7"/>
            </a:solidFill>
            <a:custDash>
              <a:ds d="250000" sp="375000"/>
            </a:custDash>
          </a:ln>
        </p:spPr>
      </p:sp>
      <p:sp>
        <p:nvSpPr>
          <p:cNvPr id="10" name="TextBox 10"/>
          <p:cNvSpPr txBox="1"/>
          <p:nvPr/>
        </p:nvSpPr>
        <p:spPr>
          <a:xfrm>
            <a:off x="1498995" y="1370886"/>
            <a:ext cx="202410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dirty="0">
                <a:solidFill>
                  <a:srgbClr val="9B9B9B"/>
                </a:solidFill>
                <a:latin typeface="Manrope"/>
                <a:ea typeface="Zen Kaku Gothic New"/>
                <a:cs typeface="Manrope"/>
              </a:rPr>
              <a:t>0週</a:t>
            </a:r>
          </a:p>
        </p:txBody>
      </p:sp>
      <p:sp>
        <p:nvSpPr>
          <p:cNvPr id="11" name="Line 11"/>
          <p:cNvSpPr/>
          <p:nvPr/>
        </p:nvSpPr>
        <p:spPr>
          <a:xfrm>
            <a:off x="4129088" y="1657350"/>
            <a:ext cx="9525" cy="3867150"/>
          </a:xfrm>
          <a:custGeom>
            <a:avLst/>
            <a:gdLst/>
            <a:ahLst/>
            <a:cxnLst/>
            <a:rect l="l" t="t" r="r" b="b"/>
            <a:pathLst>
              <a:path w="9525" h="3867150">
                <a:moveTo>
                  <a:pt x="0" y="0"/>
                </a:moveTo>
                <a:lnTo>
                  <a:pt x="0" y="3867150"/>
                </a:lnTo>
              </a:path>
            </a:pathLst>
          </a:custGeom>
          <a:noFill/>
          <a:ln w="7620">
            <a:solidFill>
              <a:srgbClr val="E7E7E7"/>
            </a:solidFill>
            <a:custDash>
              <a:ds d="250000" sp="375000"/>
            </a:custDash>
          </a:ln>
        </p:spPr>
      </p:sp>
      <p:sp>
        <p:nvSpPr>
          <p:cNvPr id="12" name="TextBox 12"/>
          <p:cNvSpPr txBox="1"/>
          <p:nvPr/>
        </p:nvSpPr>
        <p:spPr>
          <a:xfrm>
            <a:off x="4034626" y="1370886"/>
            <a:ext cx="188923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dirty="0">
                <a:solidFill>
                  <a:srgbClr val="9B9B9B"/>
                </a:solidFill>
                <a:latin typeface="Manrope"/>
                <a:ea typeface="Zen Kaku Gothic New"/>
                <a:cs typeface="Manrope"/>
              </a:rPr>
              <a:t>1週</a:t>
            </a:r>
          </a:p>
        </p:txBody>
      </p:sp>
      <p:sp>
        <p:nvSpPr>
          <p:cNvPr id="13" name="Line 13"/>
          <p:cNvSpPr/>
          <p:nvPr/>
        </p:nvSpPr>
        <p:spPr>
          <a:xfrm>
            <a:off x="6657975" y="1657350"/>
            <a:ext cx="9525" cy="3867150"/>
          </a:xfrm>
          <a:custGeom>
            <a:avLst/>
            <a:gdLst/>
            <a:ahLst/>
            <a:cxnLst/>
            <a:rect l="l" t="t" r="r" b="b"/>
            <a:pathLst>
              <a:path w="9525" h="3867150">
                <a:moveTo>
                  <a:pt x="0" y="0"/>
                </a:moveTo>
                <a:lnTo>
                  <a:pt x="0" y="3867150"/>
                </a:lnTo>
              </a:path>
            </a:pathLst>
          </a:custGeom>
          <a:noFill/>
          <a:ln w="7620">
            <a:solidFill>
              <a:srgbClr val="E7E7E7"/>
            </a:solidFill>
            <a:custDash>
              <a:ds d="250000" sp="375000"/>
            </a:custDash>
          </a:ln>
        </p:spPr>
      </p:sp>
      <p:sp>
        <p:nvSpPr>
          <p:cNvPr id="14" name="TextBox 14"/>
          <p:cNvSpPr txBox="1"/>
          <p:nvPr/>
        </p:nvSpPr>
        <p:spPr>
          <a:xfrm>
            <a:off x="6556770" y="1370886"/>
            <a:ext cx="202410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dirty="0">
                <a:solidFill>
                  <a:srgbClr val="9B9B9B"/>
                </a:solidFill>
                <a:latin typeface="Manrope"/>
                <a:ea typeface="Zen Kaku Gothic New"/>
                <a:cs typeface="Manrope"/>
              </a:rPr>
              <a:t>2週</a:t>
            </a:r>
          </a:p>
        </p:txBody>
      </p:sp>
      <p:sp>
        <p:nvSpPr>
          <p:cNvPr id="15" name="Line 15"/>
          <p:cNvSpPr/>
          <p:nvPr/>
        </p:nvSpPr>
        <p:spPr>
          <a:xfrm>
            <a:off x="9186862" y="1657350"/>
            <a:ext cx="9525" cy="3867150"/>
          </a:xfrm>
          <a:custGeom>
            <a:avLst/>
            <a:gdLst/>
            <a:ahLst/>
            <a:cxnLst/>
            <a:rect l="l" t="t" r="r" b="b"/>
            <a:pathLst>
              <a:path w="9525" h="3867150">
                <a:moveTo>
                  <a:pt x="0" y="0"/>
                </a:moveTo>
                <a:lnTo>
                  <a:pt x="0" y="3867150"/>
                </a:lnTo>
              </a:path>
            </a:pathLst>
          </a:custGeom>
          <a:noFill/>
          <a:ln w="7620">
            <a:solidFill>
              <a:srgbClr val="E7E7E7"/>
            </a:solidFill>
            <a:custDash>
              <a:ds d="250000" sp="375000"/>
            </a:custDash>
          </a:ln>
        </p:spPr>
      </p:sp>
      <p:sp>
        <p:nvSpPr>
          <p:cNvPr id="16" name="TextBox 16"/>
          <p:cNvSpPr txBox="1"/>
          <p:nvPr/>
        </p:nvSpPr>
        <p:spPr>
          <a:xfrm>
            <a:off x="9085658" y="1370886"/>
            <a:ext cx="202410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dirty="0">
                <a:solidFill>
                  <a:srgbClr val="9B9B9B"/>
                </a:solidFill>
                <a:latin typeface="Manrope"/>
                <a:ea typeface="Zen Kaku Gothic New"/>
                <a:cs typeface="Manrope"/>
              </a:rPr>
              <a:t>3週</a:t>
            </a:r>
          </a:p>
        </p:txBody>
      </p:sp>
      <p:sp>
        <p:nvSpPr>
          <p:cNvPr id="17" name="Line 17"/>
          <p:cNvSpPr/>
          <p:nvPr/>
        </p:nvSpPr>
        <p:spPr>
          <a:xfrm>
            <a:off x="11715750" y="1657350"/>
            <a:ext cx="9525" cy="3867150"/>
          </a:xfrm>
          <a:custGeom>
            <a:avLst/>
            <a:gdLst/>
            <a:ahLst/>
            <a:cxnLst/>
            <a:rect l="l" t="t" r="r" b="b"/>
            <a:pathLst>
              <a:path w="9525" h="3867150">
                <a:moveTo>
                  <a:pt x="0" y="0"/>
                </a:moveTo>
                <a:lnTo>
                  <a:pt x="0" y="3867150"/>
                </a:lnTo>
              </a:path>
            </a:pathLst>
          </a:custGeom>
          <a:noFill/>
          <a:ln w="7620">
            <a:solidFill>
              <a:srgbClr val="E7E7E7"/>
            </a:solidFill>
            <a:custDash>
              <a:ds d="250000" sp="375000"/>
            </a:custDash>
          </a:ln>
        </p:spPr>
      </p:sp>
      <p:sp>
        <p:nvSpPr>
          <p:cNvPr id="18" name="TextBox 18"/>
          <p:cNvSpPr txBox="1"/>
          <p:nvPr/>
        </p:nvSpPr>
        <p:spPr>
          <a:xfrm>
            <a:off x="11614545" y="1370886"/>
            <a:ext cx="202410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dirty="0">
                <a:solidFill>
                  <a:srgbClr val="9B9B9B"/>
                </a:solidFill>
                <a:latin typeface="Manrope"/>
                <a:ea typeface="Zen Kaku Gothic New"/>
                <a:cs typeface="Manrope"/>
              </a:rPr>
              <a:t>4週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6244" y="2243534"/>
            <a:ext cx="537946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取り組み</a:t>
            </a:r>
          </a:p>
        </p:txBody>
      </p:sp>
      <p:sp>
        <p:nvSpPr>
          <p:cNvPr id="20" name="Rectangle 20"/>
          <p:cNvSpPr/>
          <p:nvPr/>
        </p:nvSpPr>
        <p:spPr>
          <a:xfrm>
            <a:off x="1600200" y="2178368"/>
            <a:ext cx="2528888" cy="247650"/>
          </a:xfrm>
          <a:prstGeom prst="rect">
            <a:avLst/>
          </a:prstGeom>
          <a:solidFill>
            <a:srgbClr val="FFFFFF"/>
          </a:solidFill>
          <a:ln w="13335">
            <a:solidFill>
              <a:srgbClr val="9B9B9B"/>
            </a:solidFill>
            <a:custDash>
              <a:ds d="357142" sp="214285"/>
            </a:custDash>
          </a:ln>
        </p:spPr>
      </p:sp>
      <p:sp>
        <p:nvSpPr>
          <p:cNvPr id="21" name="TextBox 21"/>
          <p:cNvSpPr txBox="1"/>
          <p:nvPr/>
        </p:nvSpPr>
        <p:spPr>
          <a:xfrm>
            <a:off x="2401728" y="2250916"/>
            <a:ext cx="9258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今の朝を観察する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129088" y="2178368"/>
            <a:ext cx="5057775" cy="247650"/>
          </a:xfrm>
          <a:prstGeom prst="rect">
            <a:avLst/>
          </a:prstGeom>
          <a:solidFill>
            <a:srgbClr val="FFFFFF"/>
          </a:solidFill>
          <a:ln w="13335">
            <a:solidFill>
              <a:srgbClr val="9B9B9B"/>
            </a:solidFill>
            <a:custDash>
              <a:ds d="357142" sp="214285"/>
            </a:custDash>
          </a:ln>
        </p:spPr>
      </p:sp>
      <p:sp>
        <p:nvSpPr>
          <p:cNvPr id="23" name="TextBox 23"/>
          <p:cNvSpPr txBox="1"/>
          <p:nvPr/>
        </p:nvSpPr>
        <p:spPr>
          <a:xfrm>
            <a:off x="6195060" y="2250916"/>
            <a:ext cx="9258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一つの作業を試す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186862" y="2178368"/>
            <a:ext cx="2528888" cy="247650"/>
          </a:xfrm>
          <a:prstGeom prst="rect">
            <a:avLst/>
          </a:prstGeom>
          <a:solidFill>
            <a:srgbClr val="FFFFFF"/>
          </a:solidFill>
          <a:ln w="13335">
            <a:solidFill>
              <a:srgbClr val="9B9B9B"/>
            </a:solidFill>
            <a:custDash>
              <a:ds d="357142" sp="214285"/>
            </a:custDash>
          </a:ln>
        </p:spPr>
      </p:sp>
      <p:sp>
        <p:nvSpPr>
          <p:cNvPr id="25" name="TextBox 25"/>
          <p:cNvSpPr txBox="1"/>
          <p:nvPr/>
        </p:nvSpPr>
        <p:spPr>
          <a:xfrm>
            <a:off x="10101500" y="2250916"/>
            <a:ext cx="6996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続け方を話す</a:t>
            </a:r>
          </a:p>
        </p:txBody>
      </p:sp>
      <p:sp>
        <p:nvSpPr>
          <p:cNvPr id="26" name="Line 26"/>
          <p:cNvSpPr/>
          <p:nvPr/>
        </p:nvSpPr>
        <p:spPr>
          <a:xfrm>
            <a:off x="381000" y="2946400"/>
            <a:ext cx="11334750" cy="9525"/>
          </a:xfrm>
          <a:custGeom>
            <a:avLst/>
            <a:gdLst/>
            <a:ahLst/>
            <a:cxnLst/>
            <a:rect l="l" t="t" r="r" b="b"/>
            <a:pathLst>
              <a:path w="11334750" h="9525">
                <a:moveTo>
                  <a:pt x="0" y="0"/>
                </a:moveTo>
                <a:lnTo>
                  <a:pt x="1133475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381000" y="2946082"/>
            <a:ext cx="11334750" cy="1288732"/>
          </a:xfrm>
          <a:prstGeom prst="rect">
            <a:avLst/>
          </a:prstGeom>
          <a:solidFill>
            <a:srgbClr val="F3F3F3">
              <a:alpha val="60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26244" y="3532584"/>
            <a:ext cx="343579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記録</a:t>
            </a:r>
          </a:p>
        </p:txBody>
      </p:sp>
      <p:sp>
        <p:nvSpPr>
          <p:cNvPr id="29" name="Rectangle 29"/>
          <p:cNvSpPr/>
          <p:nvPr/>
        </p:nvSpPr>
        <p:spPr>
          <a:xfrm>
            <a:off x="1600200" y="3467100"/>
            <a:ext cx="10115550" cy="247650"/>
          </a:xfrm>
          <a:prstGeom prst="rect">
            <a:avLst/>
          </a:prstGeom>
          <a:solidFill>
            <a:srgbClr val="FFFFFF"/>
          </a:solidFill>
          <a:ln w="13335">
            <a:solidFill>
              <a:srgbClr val="9B9B9B"/>
            </a:solidFill>
            <a:custDash>
              <a:ds d="357142" sp="214285"/>
            </a:custDash>
          </a:ln>
        </p:spPr>
      </p:sp>
      <p:sp>
        <p:nvSpPr>
          <p:cNvPr id="30" name="TextBox 30"/>
          <p:cNvSpPr txBox="1"/>
          <p:nvPr/>
        </p:nvSpPr>
        <p:spPr>
          <a:xfrm>
            <a:off x="6152299" y="3539966"/>
            <a:ext cx="10113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その日の一言を残す</a:t>
            </a:r>
          </a:p>
        </p:txBody>
      </p:sp>
      <p:sp>
        <p:nvSpPr>
          <p:cNvPr id="31" name="Line 31"/>
          <p:cNvSpPr/>
          <p:nvPr/>
        </p:nvSpPr>
        <p:spPr>
          <a:xfrm>
            <a:off x="381000" y="4235450"/>
            <a:ext cx="11334750" cy="9525"/>
          </a:xfrm>
          <a:custGeom>
            <a:avLst/>
            <a:gdLst/>
            <a:ahLst/>
            <a:cxnLst/>
            <a:rect l="l" t="t" r="r" b="b"/>
            <a:pathLst>
              <a:path w="11334750" h="9525">
                <a:moveTo>
                  <a:pt x="0" y="0"/>
                </a:moveTo>
                <a:lnTo>
                  <a:pt x="1133475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26244" y="4821634"/>
            <a:ext cx="343579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相談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129088" y="4755832"/>
            <a:ext cx="2528888" cy="247650"/>
          </a:xfrm>
          <a:prstGeom prst="rect">
            <a:avLst/>
          </a:prstGeom>
          <a:solidFill>
            <a:srgbClr val="FFFFFF"/>
          </a:solidFill>
          <a:ln w="13335">
            <a:solidFill>
              <a:srgbClr val="9B9B9B"/>
            </a:solidFill>
            <a:custDash>
              <a:ds d="357142" sp="214285"/>
            </a:custDash>
          </a:ln>
        </p:spPr>
      </p:sp>
      <p:sp>
        <p:nvSpPr>
          <p:cNvPr id="34" name="TextBox 34"/>
          <p:cNvSpPr txBox="1"/>
          <p:nvPr/>
        </p:nvSpPr>
        <p:spPr>
          <a:xfrm>
            <a:off x="4973377" y="4829016"/>
            <a:ext cx="8403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途中で相談する</a:t>
            </a:r>
          </a:p>
        </p:txBody>
      </p:sp>
      <p:sp>
        <p:nvSpPr>
          <p:cNvPr id="35" name="Rectangle 35"/>
          <p:cNvSpPr/>
          <p:nvPr/>
        </p:nvSpPr>
        <p:spPr>
          <a:xfrm>
            <a:off x="9186862" y="4755832"/>
            <a:ext cx="2528888" cy="247650"/>
          </a:xfrm>
          <a:prstGeom prst="rect">
            <a:avLst/>
          </a:prstGeom>
          <a:solidFill>
            <a:srgbClr val="FFFFFF"/>
          </a:solidFill>
          <a:ln w="13335">
            <a:solidFill>
              <a:srgbClr val="9B9B9B"/>
            </a:solidFill>
            <a:custDash>
              <a:ds d="357142" sp="214285"/>
            </a:custDash>
          </a:ln>
        </p:spPr>
      </p:sp>
      <p:sp>
        <p:nvSpPr>
          <p:cNvPr id="36" name="TextBox 36"/>
          <p:cNvSpPr txBox="1"/>
          <p:nvPr/>
        </p:nvSpPr>
        <p:spPr>
          <a:xfrm>
            <a:off x="10031152" y="4829016"/>
            <a:ext cx="8403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262626"/>
                </a:solidFill>
                <a:latin typeface="Manrope"/>
                <a:ea typeface="Zen Kaku Gothic New"/>
                <a:cs typeface="Manrope"/>
              </a:rPr>
              <a:t>四週を振り返る</a:t>
            </a:r>
          </a:p>
        </p:txBody>
      </p:sp>
      <p:sp>
        <p:nvSpPr>
          <p:cNvPr id="37" name="Line 37"/>
          <p:cNvSpPr/>
          <p:nvPr/>
        </p:nvSpPr>
        <p:spPr>
          <a:xfrm>
            <a:off x="381000" y="5524500"/>
            <a:ext cx="11334750" cy="9525"/>
          </a:xfrm>
          <a:custGeom>
            <a:avLst/>
            <a:gdLst/>
            <a:ahLst/>
            <a:cxnLst/>
            <a:rect l="l" t="t" r="r" b="b"/>
            <a:pathLst>
              <a:path w="11334750" h="9525">
                <a:moveTo>
                  <a:pt x="0" y="0"/>
                </a:moveTo>
                <a:lnTo>
                  <a:pt x="1133475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38" name="Line 38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370522" y="6664166"/>
            <a:ext cx="32976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E6E6E"/>
                </a:solidFill>
                <a:latin typeface="Manrope"/>
                <a:ea typeface="Zen Kaku Gothic New"/>
                <a:cs typeface="Manrope"/>
              </a:rPr>
              <a:t>出典：架空のワークショップ案。時間配分は例示で効果は未測定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475196" y="6664166"/>
            <a:ext cx="34628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E6E6E"/>
                </a:solidFill>
                <a:latin typeface="Manrope"/>
                <a:ea typeface="Zen Kaku Gothic New"/>
                <a:cs typeface="Manrope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