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架空の働き方ワークショップ案です。朝の20分は例示の配置で、効果を実証した方法ではありません。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3分で一つ選び、10分取り組み、5分でメモし、2分で次を残す案です。合計20分。仕事の条件に合わせて調整します。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前日に入口を用意し、朝は一つの作業に取り組み、最後に続きを残す三層の配置案です。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一週目に観察、二・三週目に一つ試し、四週目に続け方を話す例示計画。記録と相談を並行させ、負担があれば変更します。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56C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F5DC4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2452" y="570071"/>
            <a:ext cx="276185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MORNING / WORKSHOP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185" y="2599372"/>
            <a:ext cx="5763669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朝の20分を、組み直す。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2902" y="3408521"/>
            <a:ext cx="29851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ひとつ選ぶ。取り組む。次を残す。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400050" y="3790950"/>
            <a:ext cx="1104900" cy="38100"/>
          </a:xfrm>
          <a:prstGeom prst="rect">
            <a:avLst/>
          </a:prstGeom>
          <a:solidFill>
            <a:srgbClr val="F5DC49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8153400" y="2628900"/>
            <a:ext cx="9525" cy="2095500"/>
          </a:xfrm>
          <a:custGeom>
            <a:avLst/>
            <a:gdLst/>
            <a:ahLst/>
            <a:cxnLst/>
            <a:rect l="l" t="t" r="r" b="b"/>
            <a:pathLst>
              <a:path w="952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9525">
            <a:solidFill>
              <a:srgbClr val="F5DC4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481060" y="2689860"/>
            <a:ext cx="1120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この案で試すこと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1060" y="314706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99208" y="3138964"/>
            <a:ext cx="10218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時間を並べる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81060" y="354711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99208" y="3539014"/>
            <a:ext cx="89716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作業を置く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1060" y="394716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9208" y="3939064"/>
            <a:ext cx="11022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四週間で試す</a:t>
            </a:r>
          </a:p>
        </p:txBody>
      </p:sp>
      <p:sp>
        <p:nvSpPr>
          <p:cNvPr id="16" name="Line 16"/>
          <p:cNvSpPr/>
          <p:nvPr/>
        </p:nvSpPr>
        <p:spPr>
          <a:xfrm>
            <a:off x="381000" y="6172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F5DC49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5760" y="6366510"/>
            <a:ext cx="39485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架空のワークショップ案。実績・健康効果の主張なし。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10564" y="6366510"/>
            <a:ext cx="7156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99060"/>
            <a:ext cx="499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6E6E"/>
                </a:solidFill>
                <a:latin typeface="Zen Kaku Gothic New"/>
                <a:ea typeface="Microsoft YaHei"/>
                <a:cs typeface="Zen Kaku Gothic New"/>
              </a:rPr>
              <a:t>E-03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156C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00465" y="99060"/>
            <a:ext cx="23257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MORNING / WORKSHOP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44805" y="435292"/>
            <a:ext cx="524733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朝は一つ選んで、次を残す。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476500"/>
            <a:ext cx="1905000" cy="952500"/>
          </a:xfrm>
          <a:prstGeom prst="rect">
            <a:avLst/>
          </a:prstGeom>
          <a:solidFill>
            <a:srgbClr val="F1EACF"/>
          </a:solidFill>
          <a:ln w="14288">
            <a:solidFill>
              <a:srgbClr val="9B9B9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48144" y="2689860"/>
            <a:ext cx="7327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03 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0214" y="2975610"/>
            <a:ext cx="68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一つ選ぶ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143250" y="2895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1B1D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57550" y="2476500"/>
            <a:ext cx="1905000" cy="952500"/>
          </a:xfrm>
          <a:prstGeom prst="rect">
            <a:avLst/>
          </a:prstGeom>
          <a:solidFill>
            <a:srgbClr val="F1EACF"/>
          </a:solidFill>
          <a:ln w="14288">
            <a:solidFill>
              <a:srgbClr val="9B9B9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855732" y="2689860"/>
            <a:ext cx="7086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10 min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65764" y="2975610"/>
            <a:ext cx="68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取り組む</a:t>
            </a:r>
          </a:p>
        </p:txBody>
      </p:sp>
      <p:sp>
        <p:nvSpPr>
          <p:cNvPr id="17" name="Line 17"/>
          <p:cNvSpPr/>
          <p:nvPr/>
        </p:nvSpPr>
        <p:spPr>
          <a:xfrm>
            <a:off x="516255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5638800" y="2895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1B1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53100" y="2476500"/>
            <a:ext cx="1905000" cy="952500"/>
          </a:xfrm>
          <a:prstGeom prst="rect">
            <a:avLst/>
          </a:prstGeom>
          <a:solidFill>
            <a:srgbClr val="F1EACF"/>
          </a:solidFill>
          <a:ln w="14288">
            <a:solidFill>
              <a:srgbClr val="9B9B9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339244" y="2689860"/>
            <a:ext cx="7327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05 min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41569" y="2975610"/>
            <a:ext cx="528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メモする</a:t>
            </a:r>
          </a:p>
        </p:txBody>
      </p:sp>
      <p:sp>
        <p:nvSpPr>
          <p:cNvPr id="22" name="Line 22"/>
          <p:cNvSpPr/>
          <p:nvPr/>
        </p:nvSpPr>
        <p:spPr>
          <a:xfrm>
            <a:off x="76581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8134350" y="2895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151B1D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248650" y="2476500"/>
            <a:ext cx="1905000" cy="952500"/>
          </a:xfrm>
          <a:prstGeom prst="rect">
            <a:avLst/>
          </a:prstGeom>
          <a:solidFill>
            <a:srgbClr val="151B1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834794" y="2689860"/>
            <a:ext cx="7327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4C4C4"/>
                </a:solidFill>
                <a:latin typeface="Zen Kaku Gothic New"/>
                <a:ea typeface="Microsoft YaHei"/>
                <a:cs typeface="Zen Kaku Gothic New"/>
              </a:rPr>
              <a:t>02 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56864" y="2975610"/>
            <a:ext cx="68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Zen Kaku Gothic New"/>
                <a:ea typeface="Microsoft YaHei"/>
                <a:cs typeface="Zen Kaku Gothic New"/>
              </a:rPr>
              <a:t>次を残す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4852" y="4160996"/>
            <a:ext cx="4690967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5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20分の、サンプル行程。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0092" y="4814411"/>
            <a:ext cx="672637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6E6E6E"/>
                </a:solidFill>
                <a:latin typeface="Zen Kaku Gothic New"/>
                <a:ea typeface="Microsoft YaHei"/>
                <a:cs typeface="Zen Kaku Gothic New"/>
              </a:rPr>
              <a:t>時間配分は目安。仕事内容に合わせて、長さと順番を変える。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5524500"/>
            <a:ext cx="10191750" cy="9525"/>
          </a:xfrm>
          <a:custGeom>
            <a:avLst/>
            <a:gdLst/>
            <a:ahLst/>
            <a:cxnLst/>
            <a:rect l="l" t="t" r="r" b="b"/>
            <a:pathLst>
              <a:path w="10191750" h="9525">
                <a:moveTo>
                  <a:pt x="0" y="0"/>
                </a:moveTo>
                <a:lnTo>
                  <a:pt x="10191750" y="0"/>
                </a:lnTo>
              </a:path>
            </a:pathLst>
          </a:custGeom>
          <a:noFill/>
          <a:ln w="14288">
            <a:solidFill>
              <a:srgbClr val="151B1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3902" y="5789771"/>
            <a:ext cx="303463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E6E6E"/>
                </a:solidFill>
                <a:latin typeface="Zen Kaku Gothic New"/>
                <a:ea typeface="Microsoft YaHei"/>
                <a:cs typeface="Zen Kaku Gothic New"/>
              </a:rPr>
              <a:t>改善の実績を示す図ではありません。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65760" y="6623685"/>
            <a:ext cx="2862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6E6E"/>
                </a:solidFill>
                <a:latin typeface="Zen Kaku Gothic New"/>
                <a:ea typeface="Microsoft YaHei"/>
                <a:cs typeface="Zen Kaku Gothic New"/>
              </a:rPr>
              <a:t>来源：架空企画 / 試行のための提案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22558" y="6623685"/>
            <a:ext cx="5036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E6E6E"/>
                </a:solidFill>
                <a:latin typeface="Manrope"/>
                <a:ea typeface="Microsoft YaHei"/>
                <a:cs typeface="Manrope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DC4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99060"/>
            <a:ext cx="499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156C5"/>
                </a:solidFill>
                <a:latin typeface="Zen Kaku Gothic New"/>
                <a:ea typeface="Microsoft YaHei"/>
                <a:cs typeface="Zen Kaku Gothic New"/>
              </a:rPr>
              <a:t>E-04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156C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00465" y="99060"/>
            <a:ext cx="23257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MORNING / WORKSHOP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44805" y="435292"/>
            <a:ext cx="700091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作業を始める前に、入口を用意する。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286000" y="1333500"/>
            <a:ext cx="7620000" cy="1047750"/>
          </a:xfrm>
          <a:prstGeom prst="rect">
            <a:avLst/>
          </a:prstGeom>
          <a:solidFill>
            <a:srgbClr val="151B1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887694" y="1565910"/>
            <a:ext cx="4166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前日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6688" y="1841182"/>
            <a:ext cx="30986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手をつける場所を、一つ決める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0" y="2381250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038850" y="28098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151B1D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286000" y="2924175"/>
            <a:ext cx="7620000" cy="1047750"/>
          </a:xfrm>
          <a:prstGeom prst="rect">
            <a:avLst/>
          </a:prstGeom>
          <a:solidFill>
            <a:srgbClr val="3156C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84227" y="3156585"/>
            <a:ext cx="2235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3257" y="3431858"/>
            <a:ext cx="24254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DC49"/>
                </a:solidFill>
                <a:latin typeface="Zen Kaku Gothic New"/>
                <a:ea typeface="Microsoft YaHei"/>
                <a:cs typeface="Zen Kaku Gothic New"/>
              </a:rPr>
              <a:t>その一つから、始めてみる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0" y="39719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6038850" y="44005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5715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2286000" y="4514850"/>
            <a:ext cx="7620000" cy="1047750"/>
          </a:xfrm>
          <a:prstGeom prst="rect">
            <a:avLst/>
          </a:prstGeom>
          <a:solidFill>
            <a:srgbClr val="F1EAC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887694" y="4747260"/>
            <a:ext cx="4166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156C5"/>
                </a:solidFill>
                <a:latin typeface="Zen Kaku Gothic New"/>
                <a:ea typeface="Microsoft YaHei"/>
                <a:cs typeface="Zen Kaku Gothic New"/>
              </a:rPr>
              <a:t>最後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72907" y="5022532"/>
            <a:ext cx="2646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1B1D"/>
                </a:solidFill>
                <a:latin typeface="Zen Kaku Gothic New"/>
                <a:ea typeface="Microsoft YaHei"/>
                <a:cs typeface="Zen Kaku Gothic New"/>
              </a:rPr>
              <a:t>続きがわかる一言を、残す</a:t>
            </a:r>
          </a:p>
        </p:txBody>
      </p:sp>
      <p:sp>
        <p:nvSpPr>
          <p:cNvPr id="22" name="Line 2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151B1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65760" y="6623685"/>
            <a:ext cx="2862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156C5"/>
                </a:solidFill>
                <a:latin typeface="Zen Kaku Gothic New"/>
                <a:ea typeface="Microsoft YaHei"/>
                <a:cs typeface="Zen Kaku Gothic New"/>
              </a:rPr>
              <a:t>来源：架空企画 / 試行のための提案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22558" y="6623685"/>
            <a:ext cx="5036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3156C5"/>
                </a:solidFill>
                <a:latin typeface="Manrope"/>
                <a:ea typeface="Microsoft YaHei"/>
                <a:cs typeface="Manrope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54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99060"/>
            <a:ext cx="4998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A-90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156C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500465" y="99060"/>
            <a:ext cx="23257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MORNING / WORKSHOP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44805" y="435292"/>
            <a:ext cx="573338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四週間で、続け方を確かめる。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9" name="Line 9"/>
          <p:cNvSpPr/>
          <p:nvPr/>
        </p:nvSpPr>
        <p:spPr>
          <a:xfrm>
            <a:off x="1600200" y="2133600"/>
            <a:ext cx="9525" cy="3390900"/>
          </a:xfrm>
          <a:custGeom>
            <a:avLst/>
            <a:gdLst/>
            <a:ahLst/>
            <a:cxnLst/>
            <a:rect l="l" t="t" r="r" b="b"/>
            <a:pathLst>
              <a:path w="9525" h="3390900">
                <a:moveTo>
                  <a:pt x="0" y="0"/>
                </a:moveTo>
                <a:lnTo>
                  <a:pt x="0" y="3390900"/>
                </a:lnTo>
              </a:path>
            </a:pathLst>
          </a:custGeom>
          <a:noFill/>
          <a:ln w="7620">
            <a:solidFill>
              <a:srgbClr val="A8B4D5"/>
            </a:solidFill>
            <a:custDash>
              <a:ds d="250000" sp="375000"/>
            </a:custDash>
          </a:ln>
        </p:spPr>
      </p:sp>
      <p:sp>
        <p:nvSpPr>
          <p:cNvPr id="10" name="TextBox 10"/>
          <p:cNvSpPr txBox="1"/>
          <p:nvPr/>
        </p:nvSpPr>
        <p:spPr>
          <a:xfrm>
            <a:off x="1429750" y="1794510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0週</a:t>
            </a:r>
          </a:p>
        </p:txBody>
      </p:sp>
      <p:sp>
        <p:nvSpPr>
          <p:cNvPr id="11" name="Line 11"/>
          <p:cNvSpPr/>
          <p:nvPr/>
        </p:nvSpPr>
        <p:spPr>
          <a:xfrm>
            <a:off x="4152900" y="2133600"/>
            <a:ext cx="9525" cy="3390900"/>
          </a:xfrm>
          <a:custGeom>
            <a:avLst/>
            <a:gdLst/>
            <a:ahLst/>
            <a:cxnLst/>
            <a:rect l="l" t="t" r="r" b="b"/>
            <a:pathLst>
              <a:path w="9525" h="3390900">
                <a:moveTo>
                  <a:pt x="0" y="0"/>
                </a:moveTo>
                <a:lnTo>
                  <a:pt x="0" y="3390900"/>
                </a:lnTo>
              </a:path>
            </a:pathLst>
          </a:custGeom>
          <a:noFill/>
          <a:ln w="7620">
            <a:solidFill>
              <a:srgbClr val="A8B4D5"/>
            </a:solidFill>
            <a:custDash>
              <a:ds d="250000" sp="375000"/>
            </a:custDash>
          </a:ln>
        </p:spPr>
      </p:sp>
      <p:sp>
        <p:nvSpPr>
          <p:cNvPr id="12" name="TextBox 12"/>
          <p:cNvSpPr txBox="1"/>
          <p:nvPr/>
        </p:nvSpPr>
        <p:spPr>
          <a:xfrm>
            <a:off x="3993807" y="1794510"/>
            <a:ext cx="3181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1週</a:t>
            </a:r>
          </a:p>
        </p:txBody>
      </p:sp>
      <p:sp>
        <p:nvSpPr>
          <p:cNvPr id="13" name="Line 13"/>
          <p:cNvSpPr/>
          <p:nvPr/>
        </p:nvSpPr>
        <p:spPr>
          <a:xfrm>
            <a:off x="6705600" y="2133600"/>
            <a:ext cx="9525" cy="3390900"/>
          </a:xfrm>
          <a:custGeom>
            <a:avLst/>
            <a:gdLst/>
            <a:ahLst/>
            <a:cxnLst/>
            <a:rect l="l" t="t" r="r" b="b"/>
            <a:pathLst>
              <a:path w="9525" h="3390900">
                <a:moveTo>
                  <a:pt x="0" y="0"/>
                </a:moveTo>
                <a:lnTo>
                  <a:pt x="0" y="3390900"/>
                </a:lnTo>
              </a:path>
            </a:pathLst>
          </a:custGeom>
          <a:noFill/>
          <a:ln w="7620">
            <a:solidFill>
              <a:srgbClr val="A8B4D5"/>
            </a:solidFill>
            <a:custDash>
              <a:ds d="250000" sp="375000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6535150" y="1794510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2週</a:t>
            </a:r>
          </a:p>
        </p:txBody>
      </p:sp>
      <p:sp>
        <p:nvSpPr>
          <p:cNvPr id="15" name="Line 15"/>
          <p:cNvSpPr/>
          <p:nvPr/>
        </p:nvSpPr>
        <p:spPr>
          <a:xfrm>
            <a:off x="9258300" y="2133600"/>
            <a:ext cx="9525" cy="3390900"/>
          </a:xfrm>
          <a:custGeom>
            <a:avLst/>
            <a:gdLst/>
            <a:ahLst/>
            <a:cxnLst/>
            <a:rect l="l" t="t" r="r" b="b"/>
            <a:pathLst>
              <a:path w="9525" h="3390900">
                <a:moveTo>
                  <a:pt x="0" y="0"/>
                </a:moveTo>
                <a:lnTo>
                  <a:pt x="0" y="3390900"/>
                </a:lnTo>
              </a:path>
            </a:pathLst>
          </a:custGeom>
          <a:noFill/>
          <a:ln w="7620">
            <a:solidFill>
              <a:srgbClr val="A8B4D5"/>
            </a:solidFill>
            <a:custDash>
              <a:ds d="250000" sp="375000"/>
            </a:custDash>
          </a:ln>
        </p:spPr>
      </p:sp>
      <p:sp>
        <p:nvSpPr>
          <p:cNvPr id="16" name="TextBox 16"/>
          <p:cNvSpPr txBox="1"/>
          <p:nvPr/>
        </p:nvSpPr>
        <p:spPr>
          <a:xfrm>
            <a:off x="9087850" y="1794510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3週</a:t>
            </a:r>
          </a:p>
        </p:txBody>
      </p:sp>
      <p:sp>
        <p:nvSpPr>
          <p:cNvPr id="17" name="Line 17"/>
          <p:cNvSpPr/>
          <p:nvPr/>
        </p:nvSpPr>
        <p:spPr>
          <a:xfrm>
            <a:off x="11811000" y="2133600"/>
            <a:ext cx="9525" cy="3390900"/>
          </a:xfrm>
          <a:custGeom>
            <a:avLst/>
            <a:gdLst/>
            <a:ahLst/>
            <a:cxnLst/>
            <a:rect l="l" t="t" r="r" b="b"/>
            <a:pathLst>
              <a:path w="9525" h="3390900">
                <a:moveTo>
                  <a:pt x="0" y="0"/>
                </a:moveTo>
                <a:lnTo>
                  <a:pt x="0" y="3390900"/>
                </a:lnTo>
              </a:path>
            </a:pathLst>
          </a:custGeom>
          <a:noFill/>
          <a:ln w="7620">
            <a:solidFill>
              <a:srgbClr val="A8B4D5"/>
            </a:solidFill>
            <a:custDash>
              <a:ds d="250000" sp="375000"/>
            </a:custDash>
          </a:ln>
        </p:spPr>
      </p:sp>
      <p:sp>
        <p:nvSpPr>
          <p:cNvPr id="18" name="TextBox 18"/>
          <p:cNvSpPr txBox="1"/>
          <p:nvPr/>
        </p:nvSpPr>
        <p:spPr>
          <a:xfrm>
            <a:off x="11485339" y="1794510"/>
            <a:ext cx="3409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5DC49"/>
                </a:solidFill>
                <a:latin typeface="Manrope"/>
                <a:ea typeface="Microsoft YaHei"/>
                <a:cs typeface="Manrope"/>
              </a:rPr>
              <a:t>4週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2910" y="2612072"/>
            <a:ext cx="4397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取組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600200" y="2574608"/>
            <a:ext cx="25527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21" name="TextBox 21"/>
          <p:cNvSpPr txBox="1"/>
          <p:nvPr/>
        </p:nvSpPr>
        <p:spPr>
          <a:xfrm>
            <a:off x="2656660" y="2607310"/>
            <a:ext cx="4397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観察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152900" y="2574608"/>
            <a:ext cx="51054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23" name="TextBox 23"/>
          <p:cNvSpPr txBox="1"/>
          <p:nvPr/>
        </p:nvSpPr>
        <p:spPr>
          <a:xfrm>
            <a:off x="6361314" y="2607310"/>
            <a:ext cx="68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一つ試す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58300" y="2574608"/>
            <a:ext cx="25527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25" name="TextBox 25"/>
          <p:cNvSpPr txBox="1"/>
          <p:nvPr/>
        </p:nvSpPr>
        <p:spPr>
          <a:xfrm>
            <a:off x="10252562" y="2607310"/>
            <a:ext cx="564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続け方</a:t>
            </a:r>
          </a:p>
        </p:txBody>
      </p:sp>
      <p:sp>
        <p:nvSpPr>
          <p:cNvPr id="26" name="Line 26"/>
          <p:cNvSpPr/>
          <p:nvPr/>
        </p:nvSpPr>
        <p:spPr>
          <a:xfrm>
            <a:off x="381000" y="32639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381000" y="3264218"/>
            <a:ext cx="11430000" cy="1130618"/>
          </a:xfrm>
          <a:prstGeom prst="rect">
            <a:avLst/>
          </a:prstGeom>
          <a:solidFill>
            <a:srgbClr val="243454">
              <a:alpha val="6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22910" y="3742372"/>
            <a:ext cx="4397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記録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600200" y="3705225"/>
            <a:ext cx="102108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30" name="TextBox 30"/>
          <p:cNvSpPr txBox="1"/>
          <p:nvPr/>
        </p:nvSpPr>
        <p:spPr>
          <a:xfrm>
            <a:off x="5970071" y="3737610"/>
            <a:ext cx="14710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その日の一言を残す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" y="4394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22910" y="4872673"/>
            <a:ext cx="4397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相談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152900" y="4835842"/>
            <a:ext cx="25527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4942512" y="4867910"/>
            <a:ext cx="9734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途中の相談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258300" y="4835842"/>
            <a:ext cx="2552700" cy="247650"/>
          </a:xfrm>
          <a:prstGeom prst="rect">
            <a:avLst/>
          </a:prstGeom>
          <a:solidFill>
            <a:srgbClr val="1A2546"/>
          </a:solidFill>
          <a:ln w="13335">
            <a:solidFill>
              <a:srgbClr val="F5DC49"/>
            </a:solidFill>
            <a:custDash>
              <a:ds d="357142" sp="214285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0190364" y="4867910"/>
            <a:ext cx="688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振り返り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5524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54330" y="5726430"/>
            <a:ext cx="56711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試して合わなければ、時間や作業を変える。</a:t>
            </a:r>
          </a:p>
        </p:txBody>
      </p:sp>
      <p:sp>
        <p:nvSpPr>
          <p:cNvPr id="39" name="Line 3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A8B4D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60" y="6623685"/>
            <a:ext cx="28621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3F0E3"/>
                </a:solidFill>
                <a:latin typeface="Zen Kaku Gothic New"/>
                <a:ea typeface="Microsoft YaHei"/>
                <a:cs typeface="Zen Kaku Gothic New"/>
              </a:rPr>
              <a:t>来源：架空企画 / 試行のための提案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22558" y="6623685"/>
            <a:ext cx="5036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F3F0E3"/>
                </a:solidFill>
                <a:latin typeface="Manrope"/>
                <a:ea typeface="Microsoft YaHei"/>
                <a:cs typeface="Manrope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