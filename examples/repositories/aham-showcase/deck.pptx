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架空の働き方ワークショップ案です。朝の20分は例示の配置で、効果を実証した方法ではありません。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3分で一つ選び、10分取り組み、5分でメモし、2分で次を残す案です。合計20分。仕事の条件に合わせて調整します。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前日に作業の入口を一つ決め、朝はその作業を進め、終了時に続きを一言残す流れの案です。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一週目に観察、二・三週目に一つ試し、四週目に続け方を話す例示計画。記録と相談を並行させ、負担があれば変更します。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381000" y="571500"/>
            <a:ext cx="114300" cy="1143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2452" y="570071"/>
            <a:ext cx="765262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朝作業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37185" y="2599372"/>
            <a:ext cx="5302202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朝の作業ワークショップ案</a:t>
            </a:r>
          </a:p>
        </p:txBody>
      </p:sp>
      <p:sp>
        <p:nvSpPr>
          <p:cNvPr id="6" name="Rectangle 6"/>
          <p:cNvSpPr/>
          <p:nvPr/>
        </p:nvSpPr>
        <p:spPr>
          <a:xfrm>
            <a:off x="400050" y="3790950"/>
            <a:ext cx="1104900" cy="381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8153400" y="2628900"/>
            <a:ext cx="9525" cy="2095500"/>
          </a:xfrm>
          <a:custGeom>
            <a:avLst/>
            <a:gdLst/>
            <a:ahLst/>
            <a:cxnLst/>
            <a:rect l="l" t="t" r="r" b="b"/>
            <a:pathLst>
              <a:path w="9525" h="2095500">
                <a:moveTo>
                  <a:pt x="0" y="0"/>
                </a:moveTo>
                <a:lnTo>
                  <a:pt x="0" y="20955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8483918" y="2714149"/>
            <a:ext cx="3384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目次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481060" y="3147060"/>
            <a:ext cx="2424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99208" y="3138964"/>
            <a:ext cx="85291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時間配分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81060" y="354711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02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99208" y="3539014"/>
            <a:ext cx="97760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作業の入口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81060" y="394716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9208" y="3939064"/>
            <a:ext cx="15930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四週間の試行計画</a:t>
            </a:r>
          </a:p>
        </p:txBody>
      </p:sp>
      <p:sp>
        <p:nvSpPr>
          <p:cNvPr id="15" name="Line 15"/>
          <p:cNvSpPr/>
          <p:nvPr/>
        </p:nvSpPr>
        <p:spPr>
          <a:xfrm>
            <a:off x="381000" y="61722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68618" y="6390799"/>
            <a:ext cx="390336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架空のワークショップ案。時間配分は例示で、効果は測定していない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075801" y="6390799"/>
            <a:ext cx="7475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Manrope"/>
                <a:ea typeface="Zen Kaku Gothic New"/>
                <a:cs typeface="Manrope"/>
              </a:rPr>
              <a:t>試行前の案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55188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時間配分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39107" y="131445"/>
            <a:ext cx="48332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朝作業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591155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サンプル行程は選択から記録までを分ける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1809750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10" name="TextBox 10"/>
          <p:cNvSpPr txBox="1"/>
          <p:nvPr/>
        </p:nvSpPr>
        <p:spPr>
          <a:xfrm>
            <a:off x="1735833" y="1299210"/>
            <a:ext cx="14783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0</a:t>
            </a:r>
          </a:p>
        </p:txBody>
      </p:sp>
      <p:sp>
        <p:nvSpPr>
          <p:cNvPr id="11" name="Line 11"/>
          <p:cNvSpPr/>
          <p:nvPr/>
        </p:nvSpPr>
        <p:spPr>
          <a:xfrm>
            <a:off x="3172778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12" name="TextBox 12"/>
          <p:cNvSpPr txBox="1"/>
          <p:nvPr/>
        </p:nvSpPr>
        <p:spPr>
          <a:xfrm>
            <a:off x="3098860" y="1299210"/>
            <a:ext cx="14783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3</a:t>
            </a:r>
          </a:p>
        </p:txBody>
      </p:sp>
      <p:sp>
        <p:nvSpPr>
          <p:cNvPr id="13" name="Line 13"/>
          <p:cNvSpPr/>
          <p:nvPr/>
        </p:nvSpPr>
        <p:spPr>
          <a:xfrm>
            <a:off x="4535805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14" name="TextBox 14"/>
          <p:cNvSpPr txBox="1"/>
          <p:nvPr/>
        </p:nvSpPr>
        <p:spPr>
          <a:xfrm>
            <a:off x="4461888" y="1299210"/>
            <a:ext cx="14783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6</a:t>
            </a:r>
          </a:p>
        </p:txBody>
      </p:sp>
      <p:sp>
        <p:nvSpPr>
          <p:cNvPr id="15" name="Line 15"/>
          <p:cNvSpPr/>
          <p:nvPr/>
        </p:nvSpPr>
        <p:spPr>
          <a:xfrm>
            <a:off x="5898832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16" name="TextBox 16"/>
          <p:cNvSpPr txBox="1"/>
          <p:nvPr/>
        </p:nvSpPr>
        <p:spPr>
          <a:xfrm>
            <a:off x="5824915" y="1299210"/>
            <a:ext cx="14783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9</a:t>
            </a:r>
          </a:p>
        </p:txBody>
      </p:sp>
      <p:sp>
        <p:nvSpPr>
          <p:cNvPr id="17" name="Line 17"/>
          <p:cNvSpPr/>
          <p:nvPr/>
        </p:nvSpPr>
        <p:spPr>
          <a:xfrm>
            <a:off x="7261860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18" name="TextBox 18"/>
          <p:cNvSpPr txBox="1"/>
          <p:nvPr/>
        </p:nvSpPr>
        <p:spPr>
          <a:xfrm>
            <a:off x="7140623" y="1299210"/>
            <a:ext cx="2424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12</a:t>
            </a:r>
          </a:p>
        </p:txBody>
      </p:sp>
      <p:sp>
        <p:nvSpPr>
          <p:cNvPr id="19" name="Line 19"/>
          <p:cNvSpPr/>
          <p:nvPr/>
        </p:nvSpPr>
        <p:spPr>
          <a:xfrm>
            <a:off x="8624888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20" name="TextBox 20"/>
          <p:cNvSpPr txBox="1"/>
          <p:nvPr/>
        </p:nvSpPr>
        <p:spPr>
          <a:xfrm>
            <a:off x="8503650" y="1299210"/>
            <a:ext cx="2424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15</a:t>
            </a:r>
          </a:p>
        </p:txBody>
      </p:sp>
      <p:sp>
        <p:nvSpPr>
          <p:cNvPr id="21" name="Line 21"/>
          <p:cNvSpPr/>
          <p:nvPr/>
        </p:nvSpPr>
        <p:spPr>
          <a:xfrm>
            <a:off x="9987915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22" name="TextBox 22"/>
          <p:cNvSpPr txBox="1"/>
          <p:nvPr/>
        </p:nvSpPr>
        <p:spPr>
          <a:xfrm>
            <a:off x="9866678" y="1299210"/>
            <a:ext cx="2424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18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6303" y="1875472"/>
            <a:ext cx="8443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作業を選ぶ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809750" y="1862138"/>
            <a:ext cx="1363028" cy="209550"/>
          </a:xfrm>
          <a:prstGeom prst="rect">
            <a:avLst/>
          </a:prstGeom>
          <a:solidFill>
            <a:srgbClr val="9B9B9B"/>
          </a:solidFill>
          <a:ln w="9525">
            <a:solidFill>
              <a:srgbClr val="6E6E6E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3214688" y="1875472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3分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5882" y="2799398"/>
            <a:ext cx="11548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作業に取り組む</a:t>
            </a:r>
          </a:p>
        </p:txBody>
      </p:sp>
      <p:sp>
        <p:nvSpPr>
          <p:cNvPr id="27" name="Rectangle 27"/>
          <p:cNvSpPr/>
          <p:nvPr/>
        </p:nvSpPr>
        <p:spPr>
          <a:xfrm>
            <a:off x="3172778" y="2786062"/>
            <a:ext cx="4543425" cy="209550"/>
          </a:xfrm>
          <a:prstGeom prst="rect">
            <a:avLst/>
          </a:prstGeom>
          <a:solidFill>
            <a:srgbClr val="336EE8"/>
          </a:solidFill>
          <a:ln w="9525">
            <a:solidFill>
              <a:srgbClr val="6E6E6E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7758112" y="2799398"/>
            <a:ext cx="4355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10分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1594" y="3723322"/>
            <a:ext cx="107909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進み具合をメモ</a:t>
            </a:r>
          </a:p>
        </p:txBody>
      </p:sp>
      <p:sp>
        <p:nvSpPr>
          <p:cNvPr id="30" name="Rectangle 30"/>
          <p:cNvSpPr/>
          <p:nvPr/>
        </p:nvSpPr>
        <p:spPr>
          <a:xfrm>
            <a:off x="7716202" y="3709988"/>
            <a:ext cx="2271712" cy="209550"/>
          </a:xfrm>
          <a:prstGeom prst="rect">
            <a:avLst/>
          </a:prstGeom>
          <a:solidFill>
            <a:srgbClr val="9B9B9B"/>
          </a:solidFill>
          <a:ln w="9525">
            <a:solidFill>
              <a:srgbClr val="6E6E6E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0029825" y="3723322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5分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55882" y="4647248"/>
            <a:ext cx="11548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次の手順を書く</a:t>
            </a:r>
          </a:p>
        </p:txBody>
      </p:sp>
      <p:sp>
        <p:nvSpPr>
          <p:cNvPr id="33" name="Rectangle 33"/>
          <p:cNvSpPr/>
          <p:nvPr/>
        </p:nvSpPr>
        <p:spPr>
          <a:xfrm>
            <a:off x="9987915" y="4633912"/>
            <a:ext cx="908685" cy="209550"/>
          </a:xfrm>
          <a:prstGeom prst="rect">
            <a:avLst/>
          </a:prstGeom>
          <a:solidFill>
            <a:srgbClr val="9B9B9B"/>
          </a:solidFill>
          <a:ln w="9525">
            <a:solidFill>
              <a:srgbClr val="6E6E6E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10938510" y="4647248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2分</a:t>
            </a:r>
          </a:p>
        </p:txBody>
      </p:sp>
      <p:sp>
        <p:nvSpPr>
          <p:cNvPr id="35" name="Line 35"/>
          <p:cNvSpPr/>
          <p:nvPr/>
        </p:nvSpPr>
        <p:spPr>
          <a:xfrm>
            <a:off x="10896600" y="146685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4762">
            <a:solidFill>
              <a:srgbClr val="E7E7E7"/>
            </a:solidFill>
            <a:prstDash val="sysDot"/>
          </a:ln>
        </p:spPr>
      </p:sp>
      <p:sp>
        <p:nvSpPr>
          <p:cNvPr id="36" name="TextBox 36"/>
          <p:cNvSpPr txBox="1"/>
          <p:nvPr/>
        </p:nvSpPr>
        <p:spPr>
          <a:xfrm>
            <a:off x="10764006" y="1299210"/>
            <a:ext cx="2651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20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19112" y="6126956"/>
            <a:ext cx="396443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合計20分（3＋10＋5＋2分）。時間配分は例示値</a:t>
            </a:r>
          </a:p>
        </p:txBody>
      </p:sp>
      <p:sp>
        <p:nvSpPr>
          <p:cNvPr id="38" name="Line 38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370522" y="6664166"/>
            <a:ext cx="329764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出典：架空のワークショップ案。時間配分は例示で効果は未測定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475196" y="6664166"/>
            <a:ext cx="3462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63256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作業の入口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39107" y="131445"/>
            <a:ext cx="48332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朝作業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639308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本案は前日に作業の入口を一つ決めておく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grpSp>
        <p:nvGrpSpPr>
          <p:cNvPr id="22" name="Group 22"/>
          <p:cNvGrpSpPr/>
          <p:nvPr/>
        </p:nvGrpSpPr>
        <p:grpSpPr>
          <a:xfrm>
            <a:off x="1400175" y="2476500"/>
            <a:ext cx="9391650" cy="952500"/>
            <a:chOff x="1400175" y="2476500"/>
            <a:chExt cx="9391650" cy="952500"/>
          </a:xfrm>
        </p:grpSpPr>
        <p:sp>
          <p:nvSpPr>
            <p:cNvPr id="9" name="Rectangle 9"/>
            <p:cNvSpPr/>
            <p:nvPr/>
          </p:nvSpPr>
          <p:spPr>
            <a:xfrm>
              <a:off x="1400175" y="2476500"/>
              <a:ext cx="1905000" cy="952500"/>
            </a:xfrm>
            <a:prstGeom prst="rect">
              <a:avLst/>
            </a:prstGeom>
            <a:solidFill>
              <a:srgbClr val="F3F3F3"/>
            </a:solidFill>
            <a:ln w="14288">
              <a:solidFill>
                <a:srgbClr val="9B9B9B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132785" y="2689860"/>
              <a:ext cx="43978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前日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5232" y="2959418"/>
              <a:ext cx="17948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作業を一つ決めておく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3305175" y="2952750"/>
              <a:ext cx="1724025" cy="9525"/>
            </a:xfrm>
            <a:custGeom>
              <a:avLst/>
              <a:gdLst/>
              <a:ahLst/>
              <a:cxnLst/>
              <a:rect l="l" t="t" r="r" b="b"/>
              <a:pathLst>
                <a:path w="1724025" h="9525">
                  <a:moveTo>
                    <a:pt x="0" y="0"/>
                  </a:moveTo>
                  <a:lnTo>
                    <a:pt x="1724025" y="0"/>
                  </a:lnTo>
                </a:path>
              </a:pathLst>
            </a:custGeom>
            <a:noFill/>
            <a:ln w="19050">
              <a:solidFill>
                <a:srgbClr val="9B9B9B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5029200" y="28956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143500" y="2476500"/>
              <a:ext cx="1905000" cy="952500"/>
            </a:xfrm>
            <a:prstGeom prst="rect">
              <a:avLst/>
            </a:prstGeom>
            <a:solidFill>
              <a:srgbClr val="F3F3F3"/>
            </a:solidFill>
            <a:ln w="14288">
              <a:solidFill>
                <a:srgbClr val="9B9B9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78435" y="2689860"/>
              <a:ext cx="23513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68530" y="2959418"/>
              <a:ext cx="16549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決めた作業を進める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7048500" y="2952750"/>
              <a:ext cx="1724025" cy="9525"/>
            </a:xfrm>
            <a:custGeom>
              <a:avLst/>
              <a:gdLst/>
              <a:ahLst/>
              <a:cxnLst/>
              <a:rect l="l" t="t" r="r" b="b"/>
              <a:pathLst>
                <a:path w="1724025" h="9525">
                  <a:moveTo>
                    <a:pt x="0" y="0"/>
                  </a:moveTo>
                  <a:lnTo>
                    <a:pt x="1724025" y="0"/>
                  </a:lnTo>
                </a:path>
              </a:pathLst>
            </a:custGeom>
            <a:noFill/>
            <a:ln w="19050">
              <a:solidFill>
                <a:srgbClr val="9B9B9B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8772525" y="28956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5715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8886825" y="2476500"/>
              <a:ext cx="1905000" cy="952500"/>
            </a:xfrm>
            <a:prstGeom prst="rect">
              <a:avLst/>
            </a:prstGeom>
            <a:solidFill>
              <a:srgbClr val="F3F3F3"/>
            </a:solidFill>
            <a:ln w="14288">
              <a:solidFill>
                <a:srgbClr val="9B9B9B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17109" y="2689860"/>
              <a:ext cx="6444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終了時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151799" y="2959418"/>
              <a:ext cx="137505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62626"/>
                  </a:solidFill>
                  <a:latin typeface="Manrope"/>
                  <a:ea typeface="Zen Kaku Gothic New"/>
                  <a:cs typeface="Manrope"/>
                </a:rPr>
                <a:t>続きを一言残す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52150" y="3910489"/>
            <a:ext cx="16010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必要な資料をそろえる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92372" y="4196239"/>
            <a:ext cx="15206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始める位置をメモする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95475" y="3910489"/>
            <a:ext cx="16010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決めた作業だけ始める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77375" y="4196239"/>
            <a:ext cx="16372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時間配分の案を試す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060922" y="3910489"/>
            <a:ext cx="15568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途中でも記録を残す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020700" y="4196239"/>
            <a:ext cx="163725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次の開始位置を書く</a:t>
            </a:r>
          </a:p>
        </p:txBody>
      </p:sp>
      <p:sp>
        <p:nvSpPr>
          <p:cNvPr id="29" name="Line 2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70522" y="6664166"/>
            <a:ext cx="329764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出典：架空のワークショップ案。時間配分は例示で効果は未測定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75196" y="6664166"/>
            <a:ext cx="3462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0307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四週間の試行計画</a:t>
            </a:r>
          </a:p>
        </p:txBody>
      </p:sp>
      <p:sp>
        <p:nvSpPr>
          <p:cNvPr id="4" name="Rectangle 4"/>
          <p:cNvSpPr/>
          <p:nvPr/>
        </p:nvSpPr>
        <p:spPr>
          <a:xfrm>
            <a:off x="1131570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339107" y="131445"/>
            <a:ext cx="48332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朝作業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709267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試行計画は取り組み・記録・相談を週ごとに並べる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1600200" y="1657350"/>
            <a:ext cx="9525" cy="3619500"/>
          </a:xfrm>
          <a:custGeom>
            <a:avLst/>
            <a:gdLst/>
            <a:ahLst/>
            <a:cxnLst/>
            <a:rect l="l" t="t" r="r" b="b"/>
            <a:pathLst>
              <a:path w="9525" h="3619500">
                <a:moveTo>
                  <a:pt x="0" y="0"/>
                </a:moveTo>
                <a:lnTo>
                  <a:pt x="0" y="3619500"/>
                </a:lnTo>
              </a:path>
            </a:pathLst>
          </a:custGeom>
          <a:noFill/>
          <a:ln w="7620">
            <a:solidFill>
              <a:srgbClr val="E7E7E7"/>
            </a:solidFill>
            <a:custDash>
              <a:ds d="250000" sp="375000"/>
            </a:custDash>
          </a:ln>
        </p:spPr>
      </p:sp>
      <p:sp>
        <p:nvSpPr>
          <p:cNvPr id="10" name="TextBox 10"/>
          <p:cNvSpPr txBox="1"/>
          <p:nvPr/>
        </p:nvSpPr>
        <p:spPr>
          <a:xfrm>
            <a:off x="1429750" y="1318260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0週</a:t>
            </a:r>
          </a:p>
        </p:txBody>
      </p:sp>
      <p:sp>
        <p:nvSpPr>
          <p:cNvPr id="11" name="Line 11"/>
          <p:cNvSpPr/>
          <p:nvPr/>
        </p:nvSpPr>
        <p:spPr>
          <a:xfrm>
            <a:off x="4105275" y="1657350"/>
            <a:ext cx="9525" cy="3619500"/>
          </a:xfrm>
          <a:custGeom>
            <a:avLst/>
            <a:gdLst/>
            <a:ahLst/>
            <a:cxnLst/>
            <a:rect l="l" t="t" r="r" b="b"/>
            <a:pathLst>
              <a:path w="9525" h="3619500">
                <a:moveTo>
                  <a:pt x="0" y="0"/>
                </a:moveTo>
                <a:lnTo>
                  <a:pt x="0" y="3619500"/>
                </a:lnTo>
              </a:path>
            </a:pathLst>
          </a:custGeom>
          <a:noFill/>
          <a:ln w="7620">
            <a:solidFill>
              <a:srgbClr val="E7E7E7"/>
            </a:solidFill>
            <a:custDash>
              <a:ds d="250000" sp="375000"/>
            </a:custDash>
          </a:ln>
        </p:spPr>
      </p:sp>
      <p:sp>
        <p:nvSpPr>
          <p:cNvPr id="12" name="TextBox 12"/>
          <p:cNvSpPr txBox="1"/>
          <p:nvPr/>
        </p:nvSpPr>
        <p:spPr>
          <a:xfrm>
            <a:off x="3946182" y="1318260"/>
            <a:ext cx="3181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1週</a:t>
            </a:r>
          </a:p>
        </p:txBody>
      </p:sp>
      <p:sp>
        <p:nvSpPr>
          <p:cNvPr id="13" name="Line 13"/>
          <p:cNvSpPr/>
          <p:nvPr/>
        </p:nvSpPr>
        <p:spPr>
          <a:xfrm>
            <a:off x="6610350" y="1657350"/>
            <a:ext cx="9525" cy="3619500"/>
          </a:xfrm>
          <a:custGeom>
            <a:avLst/>
            <a:gdLst/>
            <a:ahLst/>
            <a:cxnLst/>
            <a:rect l="l" t="t" r="r" b="b"/>
            <a:pathLst>
              <a:path w="9525" h="3619500">
                <a:moveTo>
                  <a:pt x="0" y="0"/>
                </a:moveTo>
                <a:lnTo>
                  <a:pt x="0" y="3619500"/>
                </a:lnTo>
              </a:path>
            </a:pathLst>
          </a:custGeom>
          <a:noFill/>
          <a:ln w="7620">
            <a:solidFill>
              <a:srgbClr val="E7E7E7"/>
            </a:solidFill>
            <a:custDash>
              <a:ds d="250000" sp="375000"/>
            </a:custDash>
          </a:ln>
        </p:spPr>
      </p:sp>
      <p:sp>
        <p:nvSpPr>
          <p:cNvPr id="14" name="TextBox 14"/>
          <p:cNvSpPr txBox="1"/>
          <p:nvPr/>
        </p:nvSpPr>
        <p:spPr>
          <a:xfrm>
            <a:off x="6439900" y="1318260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2週</a:t>
            </a:r>
          </a:p>
        </p:txBody>
      </p:sp>
      <p:sp>
        <p:nvSpPr>
          <p:cNvPr id="15" name="Line 15"/>
          <p:cNvSpPr/>
          <p:nvPr/>
        </p:nvSpPr>
        <p:spPr>
          <a:xfrm>
            <a:off x="9115425" y="1657350"/>
            <a:ext cx="9525" cy="3619500"/>
          </a:xfrm>
          <a:custGeom>
            <a:avLst/>
            <a:gdLst/>
            <a:ahLst/>
            <a:cxnLst/>
            <a:rect l="l" t="t" r="r" b="b"/>
            <a:pathLst>
              <a:path w="9525" h="3619500">
                <a:moveTo>
                  <a:pt x="0" y="0"/>
                </a:moveTo>
                <a:lnTo>
                  <a:pt x="0" y="3619500"/>
                </a:lnTo>
              </a:path>
            </a:pathLst>
          </a:custGeom>
          <a:noFill/>
          <a:ln w="7620">
            <a:solidFill>
              <a:srgbClr val="E7E7E7"/>
            </a:solidFill>
            <a:custDash>
              <a:ds d="250000" sp="375000"/>
            </a:custDash>
          </a:ln>
        </p:spPr>
      </p:sp>
      <p:sp>
        <p:nvSpPr>
          <p:cNvPr id="16" name="TextBox 16"/>
          <p:cNvSpPr txBox="1"/>
          <p:nvPr/>
        </p:nvSpPr>
        <p:spPr>
          <a:xfrm>
            <a:off x="8944975" y="1318260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3週</a:t>
            </a:r>
          </a:p>
        </p:txBody>
      </p:sp>
      <p:sp>
        <p:nvSpPr>
          <p:cNvPr id="17" name="Line 17"/>
          <p:cNvSpPr/>
          <p:nvPr/>
        </p:nvSpPr>
        <p:spPr>
          <a:xfrm>
            <a:off x="11620500" y="1657350"/>
            <a:ext cx="9525" cy="3619500"/>
          </a:xfrm>
          <a:custGeom>
            <a:avLst/>
            <a:gdLst/>
            <a:ahLst/>
            <a:cxnLst/>
            <a:rect l="l" t="t" r="r" b="b"/>
            <a:pathLst>
              <a:path w="9525" h="3619500">
                <a:moveTo>
                  <a:pt x="0" y="0"/>
                </a:moveTo>
                <a:lnTo>
                  <a:pt x="0" y="3619500"/>
                </a:lnTo>
              </a:path>
            </a:pathLst>
          </a:custGeom>
          <a:noFill/>
          <a:ln w="7620">
            <a:solidFill>
              <a:srgbClr val="E7E7E7"/>
            </a:solidFill>
            <a:custDash>
              <a:ds d="250000" sp="375000"/>
            </a:custDash>
          </a:ln>
        </p:spPr>
      </p:sp>
      <p:sp>
        <p:nvSpPr>
          <p:cNvPr id="18" name="TextBox 18"/>
          <p:cNvSpPr txBox="1"/>
          <p:nvPr/>
        </p:nvSpPr>
        <p:spPr>
          <a:xfrm>
            <a:off x="11450050" y="1318260"/>
            <a:ext cx="34090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4週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2910" y="2173922"/>
            <a:ext cx="6885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取り組み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600200" y="2136458"/>
            <a:ext cx="2505075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21" name="TextBox 21"/>
          <p:cNvSpPr txBox="1"/>
          <p:nvPr/>
        </p:nvSpPr>
        <p:spPr>
          <a:xfrm>
            <a:off x="2263572" y="2185352"/>
            <a:ext cx="1178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今の朝を観察する</a:t>
            </a:r>
          </a:p>
        </p:txBody>
      </p:sp>
      <p:sp>
        <p:nvSpPr>
          <p:cNvPr id="22" name="Rectangle 22"/>
          <p:cNvSpPr/>
          <p:nvPr/>
        </p:nvSpPr>
        <p:spPr>
          <a:xfrm>
            <a:off x="4105275" y="2136458"/>
            <a:ext cx="5010150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23" name="TextBox 23"/>
          <p:cNvSpPr txBox="1"/>
          <p:nvPr/>
        </p:nvSpPr>
        <p:spPr>
          <a:xfrm>
            <a:off x="6021185" y="2185352"/>
            <a:ext cx="1178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一つの作業を試す</a:t>
            </a:r>
          </a:p>
        </p:txBody>
      </p:sp>
      <p:sp>
        <p:nvSpPr>
          <p:cNvPr id="24" name="Rectangle 24"/>
          <p:cNvSpPr/>
          <p:nvPr/>
        </p:nvSpPr>
        <p:spPr>
          <a:xfrm>
            <a:off x="9115425" y="2136458"/>
            <a:ext cx="2505075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25" name="TextBox 25"/>
          <p:cNvSpPr txBox="1"/>
          <p:nvPr/>
        </p:nvSpPr>
        <p:spPr>
          <a:xfrm>
            <a:off x="9922755" y="2185352"/>
            <a:ext cx="8904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続け方を話す</a:t>
            </a:r>
          </a:p>
        </p:txBody>
      </p:sp>
      <p:sp>
        <p:nvSpPr>
          <p:cNvPr id="26" name="Line 26"/>
          <p:cNvSpPr/>
          <p:nvPr/>
        </p:nvSpPr>
        <p:spPr>
          <a:xfrm>
            <a:off x="381000" y="2863850"/>
            <a:ext cx="11239500" cy="9525"/>
          </a:xfrm>
          <a:custGeom>
            <a:avLst/>
            <a:gdLst/>
            <a:ahLst/>
            <a:cxnLst/>
            <a:rect l="l" t="t" r="r" b="b"/>
            <a:pathLst>
              <a:path w="11239500" h="952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7" name="Rectangle 27"/>
          <p:cNvSpPr/>
          <p:nvPr/>
        </p:nvSpPr>
        <p:spPr>
          <a:xfrm>
            <a:off x="381000" y="2864168"/>
            <a:ext cx="11239500" cy="1206818"/>
          </a:xfrm>
          <a:prstGeom prst="rect">
            <a:avLst/>
          </a:prstGeom>
          <a:solidFill>
            <a:srgbClr val="F3F3F3">
              <a:alpha val="60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422910" y="3380422"/>
            <a:ext cx="4397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記録</a:t>
            </a:r>
          </a:p>
        </p:txBody>
      </p:sp>
      <p:sp>
        <p:nvSpPr>
          <p:cNvPr id="29" name="Rectangle 29"/>
          <p:cNvSpPr/>
          <p:nvPr/>
        </p:nvSpPr>
        <p:spPr>
          <a:xfrm>
            <a:off x="1600200" y="3343275"/>
            <a:ext cx="10020300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30" name="TextBox 30"/>
          <p:cNvSpPr txBox="1"/>
          <p:nvPr/>
        </p:nvSpPr>
        <p:spPr>
          <a:xfrm>
            <a:off x="5966762" y="3391852"/>
            <a:ext cx="128717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その日の一言を残す</a:t>
            </a:r>
          </a:p>
        </p:txBody>
      </p:sp>
      <p:sp>
        <p:nvSpPr>
          <p:cNvPr id="31" name="Line 31"/>
          <p:cNvSpPr/>
          <p:nvPr/>
        </p:nvSpPr>
        <p:spPr>
          <a:xfrm>
            <a:off x="381000" y="4070350"/>
            <a:ext cx="11239500" cy="9525"/>
          </a:xfrm>
          <a:custGeom>
            <a:avLst/>
            <a:gdLst/>
            <a:ahLst/>
            <a:cxnLst/>
            <a:rect l="l" t="t" r="r" b="b"/>
            <a:pathLst>
              <a:path w="11239500" h="952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422910" y="4586922"/>
            <a:ext cx="4397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相談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105275" y="4550092"/>
            <a:ext cx="2505075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34" name="TextBox 34"/>
          <p:cNvSpPr txBox="1"/>
          <p:nvPr/>
        </p:nvSpPr>
        <p:spPr>
          <a:xfrm>
            <a:off x="4823070" y="4598352"/>
            <a:ext cx="10694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途中で相談する</a:t>
            </a:r>
          </a:p>
        </p:txBody>
      </p:sp>
      <p:sp>
        <p:nvSpPr>
          <p:cNvPr id="35" name="Rectangle 35"/>
          <p:cNvSpPr/>
          <p:nvPr/>
        </p:nvSpPr>
        <p:spPr>
          <a:xfrm>
            <a:off x="9115425" y="4550092"/>
            <a:ext cx="2505075" cy="247650"/>
          </a:xfrm>
          <a:prstGeom prst="rect">
            <a:avLst/>
          </a:prstGeom>
          <a:solidFill>
            <a:srgbClr val="FFFFFF"/>
          </a:solidFill>
          <a:ln w="13335">
            <a:solidFill>
              <a:srgbClr val="9B9B9B"/>
            </a:solidFill>
            <a:custDash>
              <a:ds d="357142" sp="214285"/>
            </a:custDash>
          </a:ln>
        </p:spPr>
      </p:sp>
      <p:sp>
        <p:nvSpPr>
          <p:cNvPr id="36" name="TextBox 36"/>
          <p:cNvSpPr txBox="1"/>
          <p:nvPr/>
        </p:nvSpPr>
        <p:spPr>
          <a:xfrm>
            <a:off x="9833220" y="4598352"/>
            <a:ext cx="10694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四週を振り返る</a:t>
            </a:r>
          </a:p>
        </p:txBody>
      </p:sp>
      <p:sp>
        <p:nvSpPr>
          <p:cNvPr id="37" name="Line 37"/>
          <p:cNvSpPr/>
          <p:nvPr/>
        </p:nvSpPr>
        <p:spPr>
          <a:xfrm>
            <a:off x="381000" y="5276850"/>
            <a:ext cx="11239500" cy="9525"/>
          </a:xfrm>
          <a:custGeom>
            <a:avLst/>
            <a:gdLst/>
            <a:ahLst/>
            <a:cxnLst/>
            <a:rect l="l" t="t" r="r" b="b"/>
            <a:pathLst>
              <a:path w="11239500" h="9525">
                <a:moveTo>
                  <a:pt x="0" y="0"/>
                </a:moveTo>
                <a:lnTo>
                  <a:pt x="112395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8" name="Rectangle 38"/>
          <p:cNvSpPr/>
          <p:nvPr/>
        </p:nvSpPr>
        <p:spPr>
          <a:xfrm>
            <a:off x="1600200" y="5353050"/>
            <a:ext cx="171450" cy="95250"/>
          </a:xfrm>
          <a:prstGeom prst="rect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1815465" y="5334952"/>
            <a:ext cx="7024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実施確定</a:t>
            </a:r>
          </a:p>
        </p:txBody>
      </p:sp>
      <p:sp>
        <p:nvSpPr>
          <p:cNvPr id="40" name="Rectangle 40"/>
          <p:cNvSpPr/>
          <p:nvPr/>
        </p:nvSpPr>
        <p:spPr>
          <a:xfrm>
            <a:off x="2371725" y="5353050"/>
            <a:ext cx="171450" cy="952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2586990" y="5334952"/>
            <a:ext cx="364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計画</a:t>
            </a:r>
          </a:p>
        </p:txBody>
      </p:sp>
      <p:sp>
        <p:nvSpPr>
          <p:cNvPr id="42" name="Rectangle 42"/>
          <p:cNvSpPr/>
          <p:nvPr/>
        </p:nvSpPr>
        <p:spPr>
          <a:xfrm>
            <a:off x="3143250" y="5353050"/>
            <a:ext cx="171450" cy="95250"/>
          </a:xfrm>
          <a:prstGeom prst="rect">
            <a:avLst/>
          </a:prstGeom>
          <a:solidFill>
            <a:srgbClr val="FFFFFF"/>
          </a:solidFill>
          <a:ln w="11430">
            <a:solidFill>
              <a:srgbClr val="9B9B9B"/>
            </a:solidFill>
            <a:custDash>
              <a:ds d="333333" sp="250000"/>
            </a:custDash>
          </a:ln>
        </p:spPr>
      </p:sp>
      <p:sp>
        <p:nvSpPr>
          <p:cNvPr id="43" name="TextBox 43"/>
          <p:cNvSpPr txBox="1"/>
          <p:nvPr/>
        </p:nvSpPr>
        <p:spPr>
          <a:xfrm>
            <a:off x="3358515" y="5334952"/>
            <a:ext cx="3645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262626"/>
                </a:solidFill>
                <a:latin typeface="Manrope"/>
                <a:ea typeface="Zen Kaku Gothic New"/>
                <a:cs typeface="Manrope"/>
              </a:rPr>
              <a:t>提案</a:t>
            </a:r>
          </a:p>
        </p:txBody>
      </p:sp>
      <p:sp>
        <p:nvSpPr>
          <p:cNvPr id="44" name="Line 44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370522" y="6664166"/>
            <a:ext cx="329764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出典：架空のワークショップ案。時間配分は例示で効果は未測定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475196" y="6664166"/>
            <a:ext cx="3462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E6E6E"/>
                </a:solidFill>
                <a:latin typeface="Manrope"/>
                <a:ea typeface="Zen Kaku Gothic New"/>
                <a:cs typeface="Manrope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