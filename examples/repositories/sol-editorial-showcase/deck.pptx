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91918"/>
                </a:solidFill>
                <a:latin typeface="Space Grotesk"/>
              </a:defRPr>
            </a:pPr>
            <a:r>
              <a:rPr>
                <a:ea typeface="Space Grotesk"/>
              </a:rPr>
              <a:t>YOHAKU  /  BRAND PROPOSAL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9144000" cy="21945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架空のブランド企画 / CONCEPT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28232"/>
            <a:ext cx="731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918"/>
                </a:solidFill>
                <a:latin typeface="Space Grotesk"/>
              </a:defRPr>
            </a:pPr>
            <a:r>
              <a:rPr>
                <a:ea typeface="Space Grotesk"/>
              </a:rPr>
              <a:t>01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F14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498079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余白を買う。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7040880" cy="8890"/>
          </a:xfrm>
          <a:prstGeom prst="rect">
            <a:avLst/>
          </a:prstGeom>
          <a:solidFill>
            <a:srgbClr val="1919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79392"/>
            <a:ext cx="6858000" cy="11887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91918"/>
                </a:solidFill>
                <a:latin typeface="Shippori Mincho"/>
              </a:defRPr>
            </a:pPr>
            <a:r>
              <a:rPr>
                <a:ea typeface="Shippori Mincho"/>
              </a:rPr>
              <a:t>日帰りワークラウンジの</a:t>
            </a:r>
            <a:br/>
            <a:r>
              <a:rPr>
                <a:ea typeface="Shippori Mincho"/>
              </a:rPr>
              <a:t>ブランド提案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33288"/>
            <a:ext cx="6766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企画名：YOHAKU / 架空の制作サンプル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143000"/>
            <a:ext cx="3017520" cy="40233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0400" b="1">
                <a:solidFill>
                  <a:srgbClr val="F4F0E6"/>
                </a:solidFill>
                <a:latin typeface="Zen Kaku Gothic New"/>
              </a:defRPr>
            </a:pPr>
            <a:r>
              <a:rPr>
                <a:ea typeface="Zen Kaku Gothic New"/>
              </a:rPr>
              <a:t>余</a:t>
            </a:r>
          </a:p>
          <a:p>
            <a:pPr algn="l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defRPr sz="10400" b="1">
                <a:solidFill>
                  <a:srgbClr val="F4F0E6"/>
                </a:solidFill>
                <a:latin typeface="Zen Kaku Gothic New"/>
              </a:defRPr>
            </a:pPr>
            <a:r>
              <a:rPr>
                <a:ea typeface="Zen Kaku Gothic New"/>
              </a:rPr>
              <a:t>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5632704"/>
            <a:ext cx="2743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4F0E6"/>
                </a:solidFill>
                <a:latin typeface="Space Grotesk"/>
              </a:defRPr>
            </a:pPr>
            <a:r>
              <a:rPr>
                <a:ea typeface="Space Grotesk"/>
              </a:rPr>
              <a:t>A DAY TO THINK.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4F0E6"/>
                </a:solidFill>
                <a:latin typeface="Space Grotesk"/>
              </a:defRPr>
            </a:pPr>
            <a:r>
              <a:rPr>
                <a:ea typeface="Space Grotesk"/>
              </a:rPr>
              <a:t>01  /  THE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9144000" cy="21945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4F0E6"/>
                </a:solidFill>
                <a:latin typeface="Zen Kaku Gothic New"/>
              </a:defRPr>
            </a:pPr>
            <a:r>
              <a:rPr>
                <a:ea typeface="Zen Kaku Gothic New"/>
              </a:rPr>
              <a:t>架空のブランド企画 / CONCEPT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28232"/>
            <a:ext cx="731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4F0E6"/>
                </a:solidFill>
                <a:latin typeface="Space Grotesk"/>
              </a:defRPr>
            </a:pPr>
            <a:r>
              <a:rPr>
                <a:ea typeface="Space Grotesk"/>
              </a:rP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18872" cy="3337560"/>
          </a:xfrm>
          <a:prstGeom prst="rect">
            <a:avLst/>
          </a:prstGeom>
          <a:solidFill>
            <a:srgbClr val="F14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25880"/>
            <a:ext cx="9875520" cy="3291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F4F0E6"/>
                </a:solidFill>
                <a:latin typeface="Shippori Mincho"/>
              </a:defRPr>
            </a:pPr>
            <a:r>
              <a:rPr>
                <a:ea typeface="Shippori Mincho"/>
              </a:rPr>
              <a:t>家でも、職場でもない。</a:t>
            </a:r>
            <a:br/>
            <a:r>
              <a:rPr>
                <a:ea typeface="Shippori Mincho"/>
              </a:rPr>
              <a:t>考えるために、</a:t>
            </a:r>
            <a:br/>
            <a:r>
              <a:rPr>
                <a:ea typeface="Shippori Mincho"/>
              </a:rPr>
              <a:t>少しだけ離れる。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983480"/>
            <a:ext cx="9875520" cy="8890"/>
          </a:xfrm>
          <a:prstGeom prst="rect">
            <a:avLst/>
          </a:prstGeom>
          <a:solidFill>
            <a:srgbClr val="F14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49240"/>
            <a:ext cx="95097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0E6"/>
                </a:solidFill>
                <a:latin typeface="Zen Kaku Gothic New"/>
              </a:defRPr>
            </a:pPr>
            <a:r>
              <a:rPr>
                <a:ea typeface="Zen Kaku Gothic New"/>
              </a:rPr>
              <a:t>移動は短く。頭の中には、広い余白を。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91918"/>
                </a:solidFill>
                <a:latin typeface="Space Grotesk"/>
              </a:defRPr>
            </a:pPr>
            <a:r>
              <a:rPr>
                <a:ea typeface="Space Grotesk"/>
              </a:rPr>
              <a:t>02  /  BRAND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9144000" cy="21945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架空のブランド企画 / CONCEPT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28232"/>
            <a:ext cx="731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918"/>
                </a:solidFill>
                <a:latin typeface="Space Grotesk"/>
              </a:defRPr>
            </a:pPr>
            <a:r>
              <a:rPr>
                <a:ea typeface="Space Grotesk"/>
              </a:rPr>
              <a:t>03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658368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14A24"/>
                </a:solidFill>
                <a:latin typeface="Space Grotesk"/>
              </a:defRPr>
            </a:pPr>
            <a:r>
              <a:rPr>
                <a:ea typeface="Space Grotesk"/>
              </a:rPr>
              <a:t>NAME &amp;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6949440" cy="21031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余白</a:t>
            </a:r>
            <a:br/>
            <a:r>
              <a:rPr>
                <a:ea typeface="Zen Kaku Gothic New"/>
              </a:rPr>
              <a:t>YOHAKU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0"/>
            <a:ext cx="644652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91918"/>
                </a:solidFill>
                <a:latin typeface="Shippori Mincho"/>
              </a:defRPr>
            </a:pPr>
            <a:r>
              <a:rPr>
                <a:ea typeface="Shippori Mincho"/>
              </a:rPr>
              <a:t>予定を詰める場所から、</a:t>
            </a:r>
            <a:br/>
            <a:r>
              <a:rPr>
                <a:ea typeface="Shippori Mincho"/>
              </a:rPr>
              <a:t>考えをほどく場所へ。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188720"/>
            <a:ext cx="3063240" cy="4434840"/>
          </a:xfrm>
          <a:prstGeom prst="rect">
            <a:avLst/>
          </a:prstGeom>
          <a:solidFill>
            <a:srgbClr val="F14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23960" y="1600200"/>
            <a:ext cx="2240280" cy="361188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34272" y="2103120"/>
            <a:ext cx="1920240" cy="21945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余</a:t>
            </a:r>
          </a:p>
          <a:p>
            <a:pPr algn="l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defRPr sz="58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2" y="4608576"/>
            <a:ext cx="18288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91918"/>
                </a:solidFill>
                <a:latin typeface="Space Grotesk"/>
              </a:defRPr>
            </a:pPr>
            <a:r>
              <a:rPr>
                <a:ea typeface="Space Grotesk"/>
              </a:rPr>
              <a:t>YOHAKU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760720"/>
            <a:ext cx="10515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日帰りワークラウンジ  /  静けさ・余裕・帰れる距離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91918"/>
                </a:solidFill>
                <a:latin typeface="Space Grotesk"/>
              </a:defRPr>
            </a:pPr>
            <a:r>
              <a:rPr>
                <a:ea typeface="Space Grotesk"/>
              </a:rPr>
              <a:t>03  /  A DAY AT YOHAKU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9144000" cy="21945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架空のブランド企画 / CONCEPT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28232"/>
            <a:ext cx="731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918"/>
                </a:solidFill>
                <a:latin typeface="Space Grotesk"/>
              </a:defRPr>
            </a:pPr>
            <a:r>
              <a:rPr>
                <a:ea typeface="Space Grotesk"/>
              </a:rPr>
              <a:t>04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一日を、ひとつのリズムに。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862072"/>
            <a:ext cx="10698480" cy="8890"/>
          </a:xfrm>
          <a:prstGeom prst="rect">
            <a:avLst/>
          </a:prstGeom>
          <a:solidFill>
            <a:srgbClr val="F14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706624"/>
            <a:ext cx="64008" cy="329184"/>
          </a:xfrm>
          <a:prstGeom prst="rect">
            <a:avLst/>
          </a:prstGeom>
          <a:solidFill>
            <a:srgbClr val="F14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2377440" cy="5943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14A24"/>
                </a:solidFill>
                <a:latin typeface="Space Grotesk"/>
              </a:defRPr>
            </a:pPr>
            <a:r>
              <a:rPr>
                <a:ea typeface="Space Grotesk"/>
              </a:rPr>
              <a:t>09:30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78224"/>
            <a:ext cx="246888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切り替える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73752"/>
            <a:ext cx="2423160" cy="1005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一杯のお茶から。</a:t>
            </a:r>
            <a:br/>
            <a:r>
              <a:rPr>
                <a:ea typeface="Zen Kaku Gothic New"/>
              </a:rPr>
              <a:t>今日の問いを置く。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706624"/>
            <a:ext cx="64008" cy="329184"/>
          </a:xfrm>
          <a:prstGeom prst="rect">
            <a:avLst/>
          </a:prstGeom>
          <a:solidFill>
            <a:srgbClr val="F14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246120"/>
            <a:ext cx="2377440" cy="5943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14A24"/>
                </a:solidFill>
                <a:latin typeface="Space Grotesk"/>
              </a:defRPr>
            </a:pPr>
            <a:r>
              <a:rPr>
                <a:ea typeface="Space Grotesk"/>
              </a:rPr>
              <a:t>10:00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078224"/>
            <a:ext cx="246888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深く潜る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873752"/>
            <a:ext cx="2423160" cy="1005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会話を控えた席で、</a:t>
            </a:r>
            <a:br/>
            <a:r>
              <a:rPr>
                <a:ea typeface="Zen Kaku Gothic New"/>
              </a:rPr>
              <a:t>ひとつに向き合う。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706624"/>
            <a:ext cx="64008" cy="329184"/>
          </a:xfrm>
          <a:prstGeom prst="rect">
            <a:avLst/>
          </a:prstGeom>
          <a:solidFill>
            <a:srgbClr val="F14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246120"/>
            <a:ext cx="2377440" cy="5943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14A24"/>
                </a:solidFill>
                <a:latin typeface="Space Grotesk"/>
              </a:defRPr>
            </a:pPr>
            <a:r>
              <a:rPr>
                <a:ea typeface="Space Grotesk"/>
              </a:rPr>
              <a:t>13:00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078224"/>
            <a:ext cx="246888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ほどく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873752"/>
            <a:ext cx="2423160" cy="1005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軽い食事と散歩。</a:t>
            </a:r>
            <a:br/>
            <a:r>
              <a:rPr>
                <a:ea typeface="Zen Kaku Gothic New"/>
              </a:rPr>
              <a:t>画面から目を離す。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706624"/>
            <a:ext cx="64008" cy="329184"/>
          </a:xfrm>
          <a:prstGeom prst="rect">
            <a:avLst/>
          </a:prstGeom>
          <a:solidFill>
            <a:srgbClr val="F14A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3246120"/>
            <a:ext cx="2377440" cy="5943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14A24"/>
                </a:solidFill>
                <a:latin typeface="Space Grotesk"/>
              </a:defRPr>
            </a:pPr>
            <a:r>
              <a:rPr>
                <a:ea typeface="Space Grotesk"/>
              </a:rPr>
              <a:t>16:30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078224"/>
            <a:ext cx="246888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持ち帰る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873752"/>
            <a:ext cx="2423160" cy="1005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考えを一枚にする。</a:t>
            </a:r>
            <a:br/>
            <a:r>
              <a:rPr>
                <a:ea typeface="Zen Kaku Gothic New"/>
              </a:rPr>
              <a:t>夕方には、いつもの街へ。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35040"/>
            <a:ext cx="106070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685F"/>
                </a:solidFill>
                <a:latin typeface="Zen Kaku Gothic New"/>
              </a:defRPr>
            </a:pPr>
            <a:r>
              <a:rPr>
                <a:ea typeface="Zen Kaku Gothic New"/>
              </a:rPr>
              <a:t>時刻・体験は企画上のモデル。営業条件や実績を示すものではありません。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91918"/>
                </a:solidFill>
                <a:latin typeface="Space Grotesk"/>
              </a:defRPr>
            </a:pPr>
            <a:r>
              <a:rPr>
                <a:ea typeface="Space Grotesk"/>
              </a:rPr>
              <a:t>04  /  EXPERIENCE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9144000" cy="21945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架空のブランド企画 / CONCEPT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28232"/>
            <a:ext cx="731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918"/>
                </a:solidFill>
                <a:latin typeface="Space Grotesk"/>
              </a:defRPr>
            </a:pPr>
            <a:r>
              <a:rPr>
                <a:ea typeface="Space Grotesk"/>
              </a:rPr>
              <a:t>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69848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売るのは席より、考えられる一日。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6126480" cy="2560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0800" b="1">
                <a:solidFill>
                  <a:srgbClr val="F14A24"/>
                </a:solidFill>
                <a:latin typeface="Zen Kaku Gothic New"/>
              </a:defRPr>
            </a:pPr>
            <a:r>
              <a:rPr>
                <a:ea typeface="Zen Kaku Gothic New"/>
              </a:rPr>
              <a:t>一日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525780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91918"/>
                </a:solidFill>
                <a:latin typeface="Shippori Mincho"/>
              </a:defRPr>
            </a:pPr>
            <a:r>
              <a:rPr>
                <a:ea typeface="Shippori Mincho"/>
              </a:rPr>
              <a:t>場所と時間を、</a:t>
            </a:r>
            <a:br/>
            <a:r>
              <a:rPr>
                <a:ea typeface="Shippori Mincho"/>
              </a:rPr>
              <a:t>ひとつの体験として届ける。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13432"/>
            <a:ext cx="45720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14A24"/>
                </a:solidFill>
                <a:latin typeface="Space Grotesk"/>
              </a:defRPr>
            </a:pPr>
            <a:r>
              <a:rPr>
                <a:ea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313432"/>
            <a:ext cx="41148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静けさを選べる席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264408"/>
            <a:ext cx="4754880" cy="8890"/>
          </a:xfrm>
          <a:prstGeom prst="rect">
            <a:avLst/>
          </a:prstGeom>
          <a:solidFill>
            <a:srgbClr val="1919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547872"/>
            <a:ext cx="45720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14A24"/>
                </a:solidFill>
                <a:latin typeface="Space Grotesk"/>
              </a:defRPr>
            </a:pPr>
            <a:r>
              <a:rPr>
                <a:ea typeface="Space Grotes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547872"/>
            <a:ext cx="41148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途中でほどける余裕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4498848"/>
            <a:ext cx="4754880" cy="8890"/>
          </a:xfrm>
          <a:prstGeom prst="rect">
            <a:avLst/>
          </a:prstGeom>
          <a:solidFill>
            <a:srgbClr val="1919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782312"/>
            <a:ext cx="45720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14A24"/>
                </a:solidFill>
                <a:latin typeface="Space Grotesk"/>
              </a:defRPr>
            </a:pPr>
            <a:r>
              <a:rPr>
                <a:ea typeface="Space Grotes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782312"/>
            <a:ext cx="41148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91918"/>
                </a:solidFill>
                <a:latin typeface="Zen Kaku Gothic New"/>
              </a:defRPr>
            </a:pPr>
            <a:r>
              <a:rPr>
                <a:ea typeface="Zen Kaku Gothic New"/>
              </a:rPr>
              <a:t>帰る前に整理する時間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5733288"/>
            <a:ext cx="4754880" cy="8890"/>
          </a:xfrm>
          <a:prstGeom prst="rect">
            <a:avLst/>
          </a:prstGeom>
          <a:solidFill>
            <a:srgbClr val="1919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4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4F0E6"/>
                </a:solidFill>
                <a:latin typeface="Space Grotesk"/>
              </a:defRPr>
            </a:pPr>
            <a:r>
              <a:rPr>
                <a:ea typeface="Space Grotesk"/>
              </a:rPr>
              <a:t>05  /  BRAND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9144000" cy="21945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4F0E6"/>
                </a:solidFill>
                <a:latin typeface="Zen Kaku Gothic New"/>
              </a:defRPr>
            </a:pPr>
            <a:r>
              <a:rPr>
                <a:ea typeface="Zen Kaku Gothic New"/>
              </a:rPr>
              <a:t>架空のブランド企画 / CONCEPT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28232"/>
            <a:ext cx="731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4F0E6"/>
                </a:solidFill>
                <a:latin typeface="Space Grotesk"/>
              </a:defRPr>
            </a:pPr>
            <a:r>
              <a:rPr>
                <a:ea typeface="Space Grotesk"/>
              </a:rPr>
              <a:t>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9784080" cy="3931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4F0E6"/>
                </a:solidFill>
                <a:latin typeface="Zen Kaku Gothic New"/>
              </a:defRPr>
            </a:pPr>
            <a:r>
              <a:rPr>
                <a:ea typeface="Zen Kaku Gothic New"/>
              </a:rPr>
              <a:t>今日は、</a:t>
            </a:r>
            <a:br/>
            <a:r>
              <a:rPr>
                <a:ea typeface="Zen Kaku Gothic New"/>
              </a:rPr>
              <a:t>遠くまで</a:t>
            </a:r>
            <a:br/>
            <a:r>
              <a:rPr>
                <a:ea typeface="Zen Kaku Gothic New"/>
              </a:rPr>
              <a:t>考えよう。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49240"/>
            <a:ext cx="10607040" cy="889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7955279" cy="53035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0E6"/>
                </a:solidFill>
                <a:latin typeface="Shippori Mincho"/>
              </a:defRPr>
            </a:pPr>
            <a:r>
              <a:rPr>
                <a:ea typeface="Shippori Mincho"/>
              </a:rPr>
              <a:t>体は、日帰り。考えは、少し先へ。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577840"/>
            <a:ext cx="2103120" cy="5943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4F0E6"/>
                </a:solidFill>
                <a:latin typeface="Space Grotesk"/>
              </a:defRPr>
            </a:pPr>
            <a:r>
              <a:rPr>
                <a:ea typeface="Space Grotesk"/>
              </a:rPr>
              <a:t>YOHAKU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