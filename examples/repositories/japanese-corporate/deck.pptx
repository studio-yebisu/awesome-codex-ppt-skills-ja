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slide1.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22ea82e0823249e8" Type="http://schemas.openxmlformats.org/officeDocument/2006/relationships/extended-properties" Target="docProps/app.xml"/><Relationship Id="R67bf38adaf17436c" Type="http://schemas.openxmlformats.org/package/2006/relationships/metadata/core-properties" Target="docProps/core.xml"/><Relationship Id="Rb60b7b4c923e4ec2"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ab78575d63e0411c"/>
  </p:sldMasterIdLst>
  <p:notesMasterIdLst>
    <p:notesMasterId xmlns:r="http://schemas.openxmlformats.org/officeDocument/2006/relationships" r:id="R8626ecf1133f457d"/>
  </p:notesMasterIdLst>
  <p:sldIdLst>
    <p:sldId xmlns:r="http://schemas.openxmlformats.org/officeDocument/2006/relationships" id="256" r:id="R8c51160cfc374565"/>
    <p:sldId xmlns:r="http://schemas.openxmlformats.org/officeDocument/2006/relationships" id="257" r:id="Re82984a468c648f8"/>
    <p:sldId xmlns:r="http://schemas.openxmlformats.org/officeDocument/2006/relationships" id="266" r:id="Rb42ab2b702a94b3b"/>
    <p:sldId xmlns:r="http://schemas.openxmlformats.org/officeDocument/2006/relationships" id="264" r:id="R58223999bf9949d1"/>
    <p:sldId xmlns:r="http://schemas.openxmlformats.org/officeDocument/2006/relationships" id="263" r:id="Rc956495f49dd4651"/>
    <p:sldId xmlns:r="http://schemas.openxmlformats.org/officeDocument/2006/relationships" id="269" r:id="R6b81009cab8345a3"/>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31dd5bcadc0b49e5" Type="http://schemas.openxmlformats.org/officeDocument/2006/relationships/tableStyles" Target="tableStyles.xml"/><Relationship Id="R58223999bf9949d1" Type="http://schemas.openxmlformats.org/officeDocument/2006/relationships/slide" Target="slides/slide9.xml"/><Relationship Id="R6b81009cab8345a3" Type="http://schemas.openxmlformats.org/officeDocument/2006/relationships/slide" Target="slides/slide14.xml"/><Relationship Id="R8626ecf1133f457d" Type="http://schemas.openxmlformats.org/officeDocument/2006/relationships/notesMaster" Target="notesMasters/notesMaster1.xml"/><Relationship Id="R8c51160cfc374565" Type="http://schemas.openxmlformats.org/officeDocument/2006/relationships/slide" Target="slides/slide1.xml"/><Relationship Id="Rab78575d63e0411c" Type="http://schemas.openxmlformats.org/officeDocument/2006/relationships/slideMaster" Target="slideMasters/slideMaster1.xml"/><Relationship Id="Rb42ab2b702a94b3b" Type="http://schemas.openxmlformats.org/officeDocument/2006/relationships/slide" Target="slides/slide11.xml"/><Relationship Id="Rb478b0b7acc04659" Type="http://schemas.openxmlformats.org/officeDocument/2006/relationships/theme" Target="theme/theme1.xml"/><Relationship Id="Rc4d2fc77c2484f4b" Type="http://schemas.openxmlformats.org/officeDocument/2006/relationships/presProps" Target="presProps.xml"/><Relationship Id="Rc956495f49dd4651" Type="http://schemas.openxmlformats.org/officeDocument/2006/relationships/slide" Target="slides/slide8.xml"/><Relationship Id="Re82984a468c648f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f2df1301d6164ee7"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5a847af16c7e4f96" Type="http://schemas.openxmlformats.org/officeDocument/2006/relationships/slide" Target="../slides/slide1.xml"/><Relationship Id="Ra5404ce8f0d04b2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56a0d1b14f2e476f" Type="http://schemas.openxmlformats.org/officeDocument/2006/relationships/slide" Target="../slides/slide2.xml"/><Relationship Id="Re3eac9d0858d4bc0"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0c73c4044d834a22" Type="http://schemas.openxmlformats.org/officeDocument/2006/relationships/slide" Target="../slides/slide8.xml"/><Relationship Id="Rd1b134c0689f4a84"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2e9d71ababba4356" Type="http://schemas.openxmlformats.org/officeDocument/2006/relationships/notesMaster" Target="../notesMasters/notesMaster1.xml"/><Relationship Id="R95368ee4acba4890"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5a18eefc26f04fe3" Type="http://schemas.openxmlformats.org/officeDocument/2006/relationships/slide" Target="../slides/slide11.xml"/><Relationship Id="R73fab106c491496b"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31d1c071c0d746cf" Type="http://schemas.openxmlformats.org/officeDocument/2006/relationships/slide" Target="../slides/slide14.xml"/><Relationship Id="R558a903aab3b4b73"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架空のEC月次報告。今回の判断は商品説明修正と粗利分析への着手。広告増額は別判断である。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売上は20%増えた一方、粗利率は2ポイント低下し返品率は2ポイント上昇。粗利額は380万円から432万円へ52万円増えた。率と額を分けて読む。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上の四つの帯は段階名。実際の受け渡しは担当をまたぐ線で示す。商品・販売が対象一覧を顧客対応へ渡し、顧客対応は返品理由を分類する。分類表を受けた事業責任者は、理由分類が完了したかを判断する。不足なら再分類へ戻す。完了なら修正対象を商品・販売へ渡す。改稿記録を顧客対応が照合し、新たな返品記録を商品・販売へ渡す。効果と商品別粗利がそろってから事業責任者が広告増額を判断する。分類率100%は10月9日の目標で実績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返品理由を顧客対応が分類し、商品担当が説明を修正する。説明と実物の差は仮説で、分類・修正記録・返品率を照合して判断する。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増収200万円のうち自然検索90万円で45%、メール50万円で25%。合わせて70%。売上寄与は利益改善の証拠ではない。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提案・要確認・継続審議を色と文字で区別する。担当と期限を確認し、次回は分類表・改稿記録・粗利差分を持ち寄る。着手や承認の実績は示していない。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39694f70321c4f1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8e9c6cd989840c3" Type="http://schemas.openxmlformats.org/officeDocument/2006/relationships/theme" Target="theme/theme2.xml"/><Relationship Id="R35fe349179644f54"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fe349179644f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e9f1e2cba6640e7" Type="http://schemas.openxmlformats.org/officeDocument/2006/relationships/notesSlide" Target="../notesSlides/notesSlide1.xml"/><Relationship Id="R35269fd24ae0475f"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92702b1237c44f0f" Type="http://schemas.openxmlformats.org/officeDocument/2006/relationships/slideLayout" Target="../slideLayouts/slideLayout1.xml"/><Relationship Id="Ra518415fcf104c78"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9e47884778214246" Type="http://schemas.openxmlformats.org/officeDocument/2006/relationships/notesSlide" Target="../notesSlides/notesSlide8.xml"/><Relationship Id="Re8f87355de174d62"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3ed6ff34d28a41c5" Type="http://schemas.openxmlformats.org/officeDocument/2006/relationships/notesSlide" Target="../notesSlides/notesSlide9.xml"/><Relationship Id="Rdcd9339a1a2f4793"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6f3bb697438e49bc" Type="http://schemas.openxmlformats.org/officeDocument/2006/relationships/slideLayout" Target="../slideLayouts/slideLayout1.xml"/><Relationship Id="Rc9e2628f7c9e4259" Type="http://schemas.openxmlformats.org/officeDocument/2006/relationships/notesSlide" Target="../notesSlides/notesSlide11.xml"/><Relationship Id="Rd542aa6f939d4beb" Type="http://schemas.openxmlformats.org/officeDocument/2006/relationships/chart" Target="charts/chart1.xml"/></Relationships>
</file>

<file path=ppt/slides/_rels/slide14.xml.rels><?xml version='1.0' encoding='UTF-8' standalone='yes'?>
<Relationships xmlns="http://schemas.openxmlformats.org/package/2006/relationships"><Relationship Id="R105c2451c93c4ff6" Type="http://schemas.openxmlformats.org/officeDocument/2006/relationships/slideLayout" Target="../slideLayouts/slideLayout1.xml"/><Relationship Id="R382dd2f734c64f0a" Type="http://schemas.openxmlformats.org/officeDocument/2006/relationships/notesSlide" Target="../notesSlides/notesSlide14.xml"/></Relationships>
</file>

<file path=ppt/slides/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t>売上／万円</a:t>
            </a:r>
          </a:p>
        </c:rich>
      </c:tx>
      <c:txPr>
        <a:bodyPr xmlns:a="http://schemas.openxmlformats.org/drawingml/2006/main" anchorCtr="1"/>
        <a:lstStyle xmlns:a="http://schemas.openxmlformats.org/drawingml/2006/main"/>
        <a:p xmlns:a="http://schemas.openxmlformats.org/drawingml/2006/main">
          <a:pPr>
            <a:defRPr sz="1350" b="1">
              <a:solidFill>
                <a:srgbClr val="111111"/>
              </a:solidFill>
            </a:defRPr>
          </a:pPr>
        </a:p>
      </c:txPr>
    </c:title>
    <c:plotArea>
      <c:barChart>
        <c:barDir val="col"/>
        <c:grouping val="clustered"/>
        <c:varyColors val="0"/>
        <c:ser>
          <c:idx val="0"/>
          <c:order val="0"/>
          <c:tx>
            <c:strRef>
              <c:f>Sheet1!$B$1</c:f>
              <c:strCache>
                <c:ptCount val="1"/>
                <c:pt idx="0">
                  <c:v>2025年9月</c:v>
                </c:pt>
              </c:strCache>
            </c:strRef>
          </c:tx>
          <c:spPr>
            <a:solidFill xmlns:a="http://schemas.openxmlformats.org/drawingml/2006/main">
              <a:srgbClr val="777777"/>
            </a:solidFill>
          </c:spPr>
          <c:cat>
            <c:strRef>
              <c:f>Sheet1!$A$2:$A$5</c:f>
              <c:strCache>
                <c:ptCount val="4"/>
                <c:pt idx="0">
                  <c:v>広告</c:v>
                </c:pt>
                <c:pt idx="1">
                  <c:v>自然検索</c:v>
                </c:pt>
                <c:pt idx="2">
                  <c:v>メール</c:v>
                </c:pt>
                <c:pt idx="3">
                  <c:v>リピート直訪</c:v>
                </c:pt>
              </c:strCache>
            </c:strRef>
          </c:cat>
          <c:val>
            <c:numRef>
              <c:f>Sheet1!$B$2:$B$5</c:f>
              <c:numCache>
                <c:formatCode>General</c:formatCode>
                <c:ptCount val="4"/>
                <c:pt idx="0">
                  <c:v>220</c:v>
                </c:pt>
                <c:pt idx="1">
                  <c:v>300</c:v>
                </c:pt>
                <c:pt idx="2">
                  <c:v>160</c:v>
                </c:pt>
                <c:pt idx="3">
                  <c:v>320</c:v>
                </c:pt>
              </c:numCache>
            </c:numRef>
          </c:val>
        </c:ser>
        <c:ser>
          <c:idx val="1"/>
          <c:order val="1"/>
          <c:tx>
            <c:strRef>
              <c:f>Sheet1!$C$1</c:f>
              <c:strCache>
                <c:ptCount val="1"/>
                <c:pt idx="0">
                  <c:v>2026年9月</c:v>
                </c:pt>
              </c:strCache>
            </c:strRef>
          </c:tx>
          <c:spPr>
            <a:solidFill xmlns:a="http://schemas.openxmlformats.org/drawingml/2006/main">
              <a:srgbClr val="2474B5"/>
            </a:solidFill>
          </c:spPr>
          <c:cat>
            <c:strRef>
              <c:f>Sheet1!$A$2:$A$5</c:f>
              <c:strCache>
                <c:ptCount val="4"/>
                <c:pt idx="0">
                  <c:v>広告</c:v>
                </c:pt>
                <c:pt idx="1">
                  <c:v>自然検索</c:v>
                </c:pt>
                <c:pt idx="2">
                  <c:v>メール</c:v>
                </c:pt>
                <c:pt idx="3">
                  <c:v>リピート直訪</c:v>
                </c:pt>
              </c:strCache>
            </c:strRef>
          </c:cat>
          <c:val>
            <c:numRef>
              <c:f>Sheet1!$C$2:$C$5</c:f>
              <c:numCache>
                <c:formatCode>General</c:formatCode>
                <c:ptCount val="4"/>
                <c:pt idx="0">
                  <c:v>240</c:v>
                </c:pt>
                <c:pt idx="1">
                  <c:v>390</c:v>
                </c:pt>
                <c:pt idx="2">
                  <c:v>210</c:v>
                </c:pt>
                <c:pt idx="3">
                  <c:v>360</c:v>
                </c:pt>
              </c:numCache>
            </c:numRef>
          </c:val>
        </c:ser>
        <c:dLbls>
          <c:txPr>
            <a:bodyPr xmlns:a="http://schemas.openxmlformats.org/drawingml/2006/main" anchorCtr="1"/>
            <a:lstStyle xmlns:a="http://schemas.openxmlformats.org/drawingml/2006/main"/>
            <a:p xmlns:a="http://schemas.openxmlformats.org/drawingml/2006/main">
              <a:pPr>
                <a:defRPr sz="975" b="1">
                  <a:solidFill>
                    <a:srgbClr val="111111"/>
                  </a:solidFill>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6A6A6"/>
            </a:solidFill>
            <a:prstDash val="solid"/>
          </a:ln>
        </c:spPr>
        <c:txPr>
          <a:bodyPr xmlns:a="http://schemas.openxmlformats.org/drawingml/2006/main" anchorCtr="1"/>
          <a:lstStyle xmlns:a="http://schemas.openxmlformats.org/drawingml/2006/main"/>
          <a:p xmlns:a="http://schemas.openxmlformats.org/drawingml/2006/main">
            <a:pPr>
              <a:defRPr sz="975">
                <a:solidFill>
                  <a:srgbClr val="111111"/>
                </a:solidFill>
              </a:defRPr>
            </a:pPr>
          </a:p>
        </c:txPr>
        <c:crossAx val="48672768"/>
        <c:lblAlgn val="ctr"/>
        <c:lblOffset val="100"/>
        <c:noMultiLvlLbl val="0"/>
      </c:catAx>
      <c:valAx>
        <c:axId val="48672768"/>
        <c:scaling>
          <c:orientation val="minMax"/>
          <c:max val="500.0"/>
          <c:min val="0.0"/>
        </c:scaling>
        <c:delete val="0"/>
        <c:axPos val="l"/>
        <c:majorGridlines>
          <c:spPr>
            <a:ln xmlns:a="http://schemas.openxmlformats.org/drawingml/2006/main" w="9525">
              <a:solidFill>
                <a:srgbClr val="E7E6E6"/>
              </a:solidFill>
              <a:prstDash val="solid"/>
            </a:ln>
          </c:spPr>
        </c:majorGridlines>
        <c:numFmt formatCode="General"/>
        <c:majorTickMark val="none"/>
        <c:minorTickMark val="none"/>
        <c:spPr>
          <a:ln xmlns:a="http://schemas.openxmlformats.org/drawingml/2006/main" w="9525">
            <a:solidFill>
              <a:srgbClr val="A6A6A6"/>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defRPr>
            </a:pPr>
          </a:p>
        </c:txPr>
        <c:crossAx val="48650112"/>
        <c:crossBetween val="between"/>
        <c:majorUnit val="100.0"/>
      </c:valAx>
      <c:spPr>
        <a:solidFill xmlns:a="http://schemas.openxmlformats.org/drawingml/2006/main">
          <a:srgbClr val="FFFFFF"/>
        </a:solidFill>
        <a:ln xmlns:a="http://schemas.openxmlformats.org/drawingml/2006/main" w="0">
          <a:solidFill>
            <a:srgbClr val="FFFFFF"/>
          </a:solidFill>
          <a:prstDash val="solid"/>
        </a:ln>
      </c:spPr>
    </c:plotArea>
    <c:legend>
      <c:legendPos val="b"/>
      <c:overlay val="0"/>
      <c:txPr xmlns:a="http://schemas.openxmlformats.org/drawingml/2006/main">
        <a:bodyPr/>
        <a:lstStyle/>
        <a:p>
          <a:pPr>
            <a:defRPr sz="1000"/>
          </a:pPr>
        </a:p>
      </c:txPr>
    </c:legend>
    <c:plotVisOnly val="1"/>
  </c:chart>
  <c:spPr>
    <a:solidFill xmlns:a="http://schemas.openxmlformats.org/drawingml/2006/main">
      <a:srgbClr val="FFFFFF"/>
    </a:solidFill>
    <a:ln xmlns:a="http://schemas.openxmlformats.org/drawingml/2006/main" w="9525">
      <a:solidFill>
        <a:srgbClr val="A6A6A6"/>
      </a:solidFill>
      <a:prstDash val="solid"/>
    </a:ln>
  </c:spPr>
  <c:externalData xmlns:ns0="http://schemas.openxmlformats.org/officeDocument/2006/relationships" ns0:id="rId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page-01-object-000">
            <a:extLst xmlns:a="http://schemas.openxmlformats.org/drawingml/2006/main">
              <a:ext uri="{FF2B5EF4-FFF2-40B4-BE49-F238E27FC236}">
                <a16:creationId xmlns:a16="http://schemas.microsoft.com/office/drawing/2014/main" id="{91677977-23F9-4405-86CD-259E87E4908E}"/>
              </a:ext>
            </a:extLst>
          </p:cNvPr>
          <p:cNvSpPr>
            <a:spLocks xmlns:a="http://schemas.openxmlformats.org/drawingml/2006/main" noGrp="1"/>
          </p:cNvSpPr>
          <p:nvPr/>
        </p:nvSpPr>
        <p:spPr>
          <a:xfrm xmlns:a="http://schemas.openxmlformats.org/drawingml/2006/main">
            <a:off x="0" y="0"/>
            <a:ext cx="12192000" cy="495300"/>
          </a:xfrm>
          <a:prstGeom xmlns:a="http://schemas.openxmlformats.org/drawingml/2006/main" prst="rect">
            <a:avLst/>
          </a:prstGeom>
          <a:solidFill xmlns:a="http://schemas.openxmlformats.org/drawingml/2006/main">
            <a:srgbClr val="0B5AA6"/>
          </a:solidFill>
          <a:ln xmlns:a="http://schemas.openxmlformats.org/drawingml/2006/main" w="0">
            <a:solidFill>
              <a:srgbClr val="0B5AA6"/>
            </a:solidFill>
            <a:prstDash val="solid"/>
          </a:ln>
        </p:spPr>
        <p:txBody xmlns:a="http://schemas.openxmlformats.org/drawingml/2006/main">
          <a:bodyPr/>
          <a:p/>
        </p:txBody>
      </p:sp>
      <p:sp>
        <p:nvSpPr>
          <p:cNvPr id="2" name="page-01-object-001">
            <a:extLst xmlns:a="http://schemas.openxmlformats.org/drawingml/2006/main">
              <a:ext uri="{FF2B5EF4-FFF2-40B4-BE49-F238E27FC236}">
                <a16:creationId xmlns:a16="http://schemas.microsoft.com/office/drawing/2014/main" id="{6DE9E53D-A6D3-43F1-8B78-5A5CF9FE76A8}"/>
              </a:ext>
            </a:extLst>
          </p:cNvPr>
          <p:cNvSpPr>
            <a:spLocks xmlns:a="http://schemas.openxmlformats.org/drawingml/2006/main" noGrp="1"/>
          </p:cNvSpPr>
          <p:nvPr/>
        </p:nvSpPr>
        <p:spPr>
          <a:xfrm xmlns:a="http://schemas.openxmlformats.org/drawingml/2006/main">
            <a:off x="228600" y="38100"/>
            <a:ext cx="885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i="0">
                <a:solidFill>
                  <a:srgbClr val="FFFFFF"/>
                </a:solidFill>
                <a:latin typeface="BIZ UDPゴシック"/>
                <a:ea typeface="BIZ UDPゴシック"/>
                <a:cs typeface="BIZ UDPゴシック"/>
              </a:defRPr>
            </a:pPr>
            <a:r>
              <a:rPr sz="2100" b="1" i="0" u="none">
                <a:solidFill>
                  <a:srgbClr val="FFFFFF"/>
                </a:solidFill>
                <a:latin typeface="BIZ UDPゴシック"/>
                <a:ea typeface="BIZ UDPゴシック"/>
                <a:cs typeface="BIZ UDPゴシック"/>
              </a:rPr>
              <a:t>EC事業 月次会議</a:t>
            </a:r>
          </a:p>
        </p:txBody>
      </p:sp>
      <p:sp>
        <p:nvSpPr>
          <p:cNvPr id="3" name="page-01-object-002">
            <a:extLst xmlns:a="http://schemas.openxmlformats.org/drawingml/2006/main">
              <a:ext uri="{FF2B5EF4-FFF2-40B4-BE49-F238E27FC236}">
                <a16:creationId xmlns:a16="http://schemas.microsoft.com/office/drawing/2014/main" id="{D31838F9-8956-4E9F-9882-044FC3D9F62C}"/>
              </a:ext>
            </a:extLst>
          </p:cNvPr>
          <p:cNvSpPr>
            <a:spLocks xmlns:a="http://schemas.openxmlformats.org/drawingml/2006/main" noGrp="1"/>
          </p:cNvSpPr>
          <p:nvPr/>
        </p:nvSpPr>
        <p:spPr>
          <a:xfrm xmlns:a="http://schemas.openxmlformats.org/drawingml/2006/main">
            <a:off x="9620250" y="76200"/>
            <a:ext cx="2266950" cy="323850"/>
          </a:xfrm>
          <a:prstGeom xmlns:a="http://schemas.openxmlformats.org/drawingml/2006/main" prst="rect">
            <a:avLst/>
          </a:prstGeom>
          <a:solidFill xmlns:a="http://schemas.openxmlformats.org/drawingml/2006/main">
            <a:srgbClr val="00A9E0"/>
          </a:solidFill>
          <a:ln xmlns:a="http://schemas.openxmlformats.org/drawingml/2006/main" w="0">
            <a:solidFill>
              <a:srgbClr val="00A9E0"/>
            </a:solidFill>
            <a:prstDash val="solid"/>
          </a:ln>
        </p:spPr>
        <p:txBody xmlns:a="http://schemas.openxmlformats.org/drawingml/2006/main">
          <a:bodyPr/>
          <a:p/>
        </p:txBody>
      </p:sp>
      <p:sp>
        <p:nvSpPr>
          <p:cNvPr id="4" name="page-01-object-003">
            <a:extLst xmlns:a="http://schemas.openxmlformats.org/drawingml/2006/main">
              <a:ext uri="{FF2B5EF4-FFF2-40B4-BE49-F238E27FC236}">
                <a16:creationId xmlns:a16="http://schemas.microsoft.com/office/drawing/2014/main" id="{5253808A-01B9-4FE3-9686-25EA253BC2D8}"/>
              </a:ext>
            </a:extLst>
          </p:cNvPr>
          <p:cNvSpPr>
            <a:spLocks xmlns:a="http://schemas.openxmlformats.org/drawingml/2006/main" noGrp="1"/>
          </p:cNvSpPr>
          <p:nvPr/>
        </p:nvSpPr>
        <p:spPr>
          <a:xfrm xmlns:a="http://schemas.openxmlformats.org/drawingml/2006/main">
            <a:off x="9620250" y="104775"/>
            <a:ext cx="22669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i="0">
                <a:solidFill>
                  <a:srgbClr val="FFFFFF"/>
                </a:solidFill>
                <a:latin typeface="BIZ UDPゴシック"/>
                <a:ea typeface="BIZ UDPゴシック"/>
                <a:cs typeface="BIZ UDPゴシック"/>
              </a:defRPr>
            </a:pPr>
            <a:r>
              <a:rPr sz="1125" b="1" i="0" u="none">
                <a:solidFill>
                  <a:srgbClr val="FFFFFF"/>
                </a:solidFill>
                <a:latin typeface="BIZ UDPゴシック"/>
                <a:ea typeface="BIZ UDPゴシック"/>
                <a:cs typeface="BIZ UDPゴシック"/>
              </a:rPr>
              <a:t>9月報告</a:t>
            </a:r>
          </a:p>
        </p:txBody>
      </p:sp>
      <p:sp>
        <p:nvSpPr>
          <p:cNvPr id="5" name="page-01-object-004">
            <a:extLst xmlns:a="http://schemas.openxmlformats.org/drawingml/2006/main">
              <a:ext uri="{FF2B5EF4-FFF2-40B4-BE49-F238E27FC236}">
                <a16:creationId xmlns:a16="http://schemas.microsoft.com/office/drawing/2014/main" id="{044A15D8-C4D6-4D03-BBAE-51D06B4C0F7E}"/>
              </a:ext>
            </a:extLst>
          </p:cNvPr>
          <p:cNvSpPr>
            <a:spLocks xmlns:a="http://schemas.openxmlformats.org/drawingml/2006/main" noGrp="1"/>
          </p:cNvSpPr>
          <p:nvPr/>
        </p:nvSpPr>
        <p:spPr>
          <a:xfrm xmlns:a="http://schemas.openxmlformats.org/drawingml/2006/main">
            <a:off x="0" y="6543675"/>
            <a:ext cx="5905500" cy="314325"/>
          </a:xfrm>
          <a:prstGeom xmlns:a="http://schemas.openxmlformats.org/drawingml/2006/main" prst="rect">
            <a:avLst/>
          </a:prstGeom>
          <a:solidFill xmlns:a="http://schemas.openxmlformats.org/drawingml/2006/main">
            <a:srgbClr val="0B5AA6"/>
          </a:solidFill>
          <a:ln xmlns:a="http://schemas.openxmlformats.org/drawingml/2006/main" w="0">
            <a:solidFill>
              <a:srgbClr val="0B5AA6"/>
            </a:solidFill>
            <a:prstDash val="solid"/>
          </a:ln>
        </p:spPr>
        <p:txBody xmlns:a="http://schemas.openxmlformats.org/drawingml/2006/main">
          <a:bodyPr/>
          <a:p/>
        </p:txBody>
      </p:sp>
      <p:sp>
        <p:nvSpPr>
          <p:cNvPr id="6" name="page-01-object-005">
            <a:extLst xmlns:a="http://schemas.openxmlformats.org/drawingml/2006/main">
              <a:ext uri="{FF2B5EF4-FFF2-40B4-BE49-F238E27FC236}">
                <a16:creationId xmlns:a16="http://schemas.microsoft.com/office/drawing/2014/main" id="{41A28C52-50FA-47D4-A32A-34C91F23F7E9}"/>
              </a:ext>
            </a:extLst>
          </p:cNvPr>
          <p:cNvSpPr>
            <a:spLocks xmlns:a="http://schemas.openxmlformats.org/drawingml/2006/main" noGrp="1"/>
          </p:cNvSpPr>
          <p:nvPr/>
        </p:nvSpPr>
        <p:spPr>
          <a:xfrm xmlns:a="http://schemas.openxmlformats.org/drawingml/2006/main">
            <a:off x="447675" y="6543675"/>
            <a:ext cx="76200" cy="3143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7" name="page-01-object-006">
            <a:extLst xmlns:a="http://schemas.openxmlformats.org/drawingml/2006/main">
              <a:ext uri="{FF2B5EF4-FFF2-40B4-BE49-F238E27FC236}">
                <a16:creationId xmlns:a16="http://schemas.microsoft.com/office/drawing/2014/main" id="{2F9B974E-2246-4390-8F26-A6CBBCBAC34F}"/>
              </a:ext>
            </a:extLst>
          </p:cNvPr>
          <p:cNvSpPr>
            <a:spLocks xmlns:a="http://schemas.openxmlformats.org/drawingml/2006/main" noGrp="1"/>
          </p:cNvSpPr>
          <p:nvPr/>
        </p:nvSpPr>
        <p:spPr>
          <a:xfrm xmlns:a="http://schemas.openxmlformats.org/drawingml/2006/main">
            <a:off x="619125" y="6543675"/>
            <a:ext cx="28575" cy="3143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8" name="page-01-object-007">
            <a:extLst xmlns:a="http://schemas.openxmlformats.org/drawingml/2006/main">
              <a:ext uri="{FF2B5EF4-FFF2-40B4-BE49-F238E27FC236}">
                <a16:creationId xmlns:a16="http://schemas.microsoft.com/office/drawing/2014/main" id="{1F5586BF-4D9C-40C0-BF01-FDCDF79A1E30}"/>
              </a:ext>
            </a:extLst>
          </p:cNvPr>
          <p:cNvSpPr>
            <a:spLocks xmlns:a="http://schemas.openxmlformats.org/drawingml/2006/main" noGrp="1"/>
          </p:cNvSpPr>
          <p:nvPr/>
        </p:nvSpPr>
        <p:spPr>
          <a:xfrm xmlns:a="http://schemas.openxmlformats.org/drawingml/2006/main">
            <a:off x="857250" y="6581775"/>
            <a:ext cx="461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75" b="0" i="0">
                <a:solidFill>
                  <a:srgbClr val="FFFFFF"/>
                </a:solidFill>
                <a:latin typeface="BIZ UDPゴシック"/>
                <a:ea typeface="BIZ UDPゴシック"/>
                <a:cs typeface="BIZ UDPゴシック"/>
              </a:defRPr>
            </a:pPr>
            <a:r>
              <a:rPr sz="975" b="0" i="0" u="none">
                <a:solidFill>
                  <a:srgbClr val="FFFFFF"/>
                </a:solidFill>
                <a:latin typeface="BIZ UDPゴシック"/>
                <a:ea typeface="BIZ UDPゴシック"/>
                <a:cs typeface="BIZ UDPゴシック"/>
              </a:rPr>
              <a:t>くらし便 EC事業部　架空の制作例</a:t>
            </a:r>
          </a:p>
        </p:txBody>
      </p:sp>
      <p:sp>
        <p:nvSpPr>
          <p:cNvPr id="9" name="page-01-object-008">
            <a:extLst xmlns:a="http://schemas.openxmlformats.org/drawingml/2006/main">
              <a:ext uri="{FF2B5EF4-FFF2-40B4-BE49-F238E27FC236}">
                <a16:creationId xmlns:a16="http://schemas.microsoft.com/office/drawing/2014/main" id="{17C07814-AFD6-4228-B710-212948D45AFB}"/>
              </a:ext>
            </a:extLst>
          </p:cNvPr>
          <p:cNvSpPr>
            <a:spLocks xmlns:a="http://schemas.openxmlformats.org/drawingml/2006/main" noGrp="1"/>
          </p:cNvSpPr>
          <p:nvPr/>
        </p:nvSpPr>
        <p:spPr>
          <a:xfrm xmlns:a="http://schemas.openxmlformats.org/drawingml/2006/main">
            <a:off x="11601450" y="657225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75" b="0" i="0">
                <a:solidFill>
                  <a:srgbClr val="666666"/>
                </a:solidFill>
                <a:latin typeface="BIZ UDPゴシック"/>
                <a:ea typeface="BIZ UDPゴシック"/>
                <a:cs typeface="BIZ UDPゴシック"/>
              </a:defRPr>
            </a:pPr>
            <a:r>
              <a:rPr sz="975" b="0" i="0" u="none">
                <a:solidFill>
                  <a:srgbClr val="666666"/>
                </a:solidFill>
                <a:latin typeface="BIZ UDPゴシック"/>
                <a:ea typeface="BIZ UDPゴシック"/>
                <a:cs typeface="BIZ UDPゴシック"/>
              </a:rPr>
              <a:t>1</a:t>
            </a:r>
          </a:p>
        </p:txBody>
      </p:sp>
      <p:sp>
        <p:nvSpPr>
          <p:cNvPr id="10" name="page-01-object-009">
            <a:extLst xmlns:a="http://schemas.openxmlformats.org/drawingml/2006/main">
              <a:ext uri="{FF2B5EF4-FFF2-40B4-BE49-F238E27FC236}">
                <a16:creationId xmlns:a16="http://schemas.microsoft.com/office/drawing/2014/main" id="{53926C99-7145-45C9-B09B-DDA96BB37FEC}"/>
              </a:ext>
            </a:extLst>
          </p:cNvPr>
          <p:cNvSpPr>
            <a:spLocks xmlns:a="http://schemas.openxmlformats.org/drawingml/2006/main" noGrp="1"/>
          </p:cNvSpPr>
          <p:nvPr/>
        </p:nvSpPr>
        <p:spPr>
          <a:xfrm xmlns:a="http://schemas.openxmlformats.org/drawingml/2006/main">
            <a:off x="857250" y="1000125"/>
            <a:ext cx="1047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150" b="1" i="0">
                <a:solidFill>
                  <a:srgbClr val="111111"/>
                </a:solidFill>
                <a:latin typeface="BIZ UDPゴシック"/>
                <a:ea typeface="BIZ UDPゴシック"/>
                <a:cs typeface="BIZ UDPゴシック"/>
              </a:defRPr>
            </a:pPr>
            <a:r>
              <a:rPr sz="3150" b="1" i="0" u="none">
                <a:solidFill>
                  <a:srgbClr val="111111"/>
                </a:solidFill>
                <a:latin typeface="BIZ UDPゴシック"/>
                <a:ea typeface="BIZ UDPゴシック"/>
                <a:cs typeface="BIZ UDPゴシック"/>
              </a:rPr>
              <a:t>くらし便 EC事業 9月報告</a:t>
            </a:r>
          </a:p>
        </p:txBody>
      </p:sp>
      <p:sp>
        <p:nvSpPr>
          <p:cNvPr id="11" name="page-01-object-010">
            <a:extLst xmlns:a="http://schemas.openxmlformats.org/drawingml/2006/main">
              <a:ext uri="{FF2B5EF4-FFF2-40B4-BE49-F238E27FC236}">
                <a16:creationId xmlns:a16="http://schemas.microsoft.com/office/drawing/2014/main" id="{3BCD023E-B2C7-4004-9083-D1BD7F8FAB21}"/>
              </a:ext>
            </a:extLst>
          </p:cNvPr>
          <p:cNvSpPr>
            <a:spLocks xmlns:a="http://schemas.openxmlformats.org/drawingml/2006/main" noGrp="1"/>
          </p:cNvSpPr>
          <p:nvPr/>
        </p:nvSpPr>
        <p:spPr>
          <a:xfrm xmlns:a="http://schemas.openxmlformats.org/drawingml/2006/main">
            <a:off x="1143000" y="17526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0B5AA6"/>
                </a:solidFill>
                <a:latin typeface="BIZ UDPゴシック"/>
                <a:ea typeface="BIZ UDPゴシック"/>
                <a:cs typeface="BIZ UDPゴシック"/>
              </a:defRPr>
            </a:pPr>
            <a:r>
              <a:rPr sz="1650" b="1" i="0" u="none">
                <a:solidFill>
                  <a:srgbClr val="0B5AA6"/>
                </a:solidFill>
                <a:latin typeface="BIZ UDPゴシック"/>
                <a:ea typeface="BIZ UDPゴシック"/>
                <a:cs typeface="BIZ UDPゴシック"/>
              </a:rPr>
              <a:t>商品説明の修正と粗利分析を先行する</a:t>
            </a:r>
          </a:p>
        </p:txBody>
      </p:sp>
      <p:sp>
        <p:nvSpPr>
          <p:cNvPr id="12" name="page-01-object-011">
            <a:extLst xmlns:a="http://schemas.openxmlformats.org/drawingml/2006/main">
              <a:ext uri="{FF2B5EF4-FFF2-40B4-BE49-F238E27FC236}">
                <a16:creationId xmlns:a16="http://schemas.microsoft.com/office/drawing/2014/main" id="{C2EEB1FF-74FF-4008-845C-48E1B8D59688}"/>
              </a:ext>
            </a:extLst>
          </p:cNvPr>
          <p:cNvSpPr>
            <a:spLocks xmlns:a="http://schemas.openxmlformats.org/drawingml/2006/main" noGrp="1"/>
          </p:cNvSpPr>
          <p:nvPr/>
        </p:nvSpPr>
        <p:spPr>
          <a:xfrm xmlns:a="http://schemas.openxmlformats.org/drawingml/2006/main">
            <a:off x="4000500" y="2209800"/>
            <a:ext cx="4191000" cy="19050"/>
          </a:xfrm>
          <a:prstGeom xmlns:a="http://schemas.openxmlformats.org/drawingml/2006/main" prst="rect">
            <a:avLst/>
          </a:prstGeom>
          <a:solidFill xmlns:a="http://schemas.openxmlformats.org/drawingml/2006/main">
            <a:srgbClr val="0B5AA6"/>
          </a:solidFill>
          <a:ln xmlns:a="http://schemas.openxmlformats.org/drawingml/2006/main" w="0">
            <a:solidFill>
              <a:srgbClr val="0B5AA6"/>
            </a:solidFill>
            <a:prstDash val="solid"/>
          </a:ln>
        </p:spPr>
        <p:txBody xmlns:a="http://schemas.openxmlformats.org/drawingml/2006/main">
          <a:bodyPr/>
          <a:p/>
        </p:txBody>
      </p:sp>
      <p:sp>
        <p:nvSpPr>
          <p:cNvPr id="13" name="page-01-object-012">
            <a:extLst xmlns:a="http://schemas.openxmlformats.org/drawingml/2006/main">
              <a:ext uri="{FF2B5EF4-FFF2-40B4-BE49-F238E27FC236}">
                <a16:creationId xmlns:a16="http://schemas.microsoft.com/office/drawing/2014/main" id="{35E5F375-4B5A-4E94-8E86-28ED9896291B}"/>
              </a:ext>
            </a:extLst>
          </p:cNvPr>
          <p:cNvSpPr>
            <a:spLocks xmlns:a="http://schemas.openxmlformats.org/drawingml/2006/main" noGrp="1"/>
          </p:cNvSpPr>
          <p:nvPr/>
        </p:nvSpPr>
        <p:spPr>
          <a:xfrm xmlns:a="http://schemas.openxmlformats.org/drawingml/2006/main">
            <a:off x="3143250" y="2362200"/>
            <a:ext cx="5905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350" b="0" i="0">
                <a:solidFill>
                  <a:srgbClr val="111111"/>
                </a:solidFill>
                <a:latin typeface="BIZ UDPゴシック"/>
                <a:ea typeface="BIZ UDPゴシック"/>
                <a:cs typeface="BIZ UDPゴシック"/>
              </a:defRPr>
            </a:pPr>
            <a:r>
              <a:rPr sz="1350" b="0" i="0" u="none">
                <a:solidFill>
                  <a:srgbClr val="111111"/>
                </a:solidFill>
                <a:latin typeface="BIZ UDPゴシック"/>
                <a:ea typeface="BIZ UDPゴシック"/>
                <a:cs typeface="BIZ UDPゴシック"/>
              </a:rPr>
              <a:t>2026年9月／前年同月比較</a:t>
            </a:r>
          </a:p>
          <a:p xmlns:a="http://schemas.openxmlformats.org/drawingml/2006/main">
            <a:pPr algn="ctr">
              <a:defRPr sz="1350" b="0" i="0">
                <a:solidFill>
                  <a:srgbClr val="111111"/>
                </a:solidFill>
                <a:latin typeface="BIZ UDPゴシック"/>
                <a:ea typeface="BIZ UDPゴシック"/>
                <a:cs typeface="BIZ UDPゴシック"/>
              </a:defRPr>
            </a:pPr>
            <a:r>
              <a:rPr sz="1350" b="0" i="0" u="none">
                <a:solidFill>
                  <a:srgbClr val="111111"/>
                </a:solidFill>
                <a:latin typeface="BIZ UDPゴシック"/>
                <a:ea typeface="BIZ UDPゴシック"/>
                <a:cs typeface="BIZ UDPゴシック"/>
              </a:rPr>
              <a:t>読者：事業責任者・販売・商品・顧客対応</a:t>
            </a:r>
          </a:p>
          <a:p xmlns:a="http://schemas.openxmlformats.org/drawingml/2006/main">
            <a:pPr algn="ctr">
              <a:defRPr sz="1350" b="0" i="0">
                <a:solidFill>
                  <a:srgbClr val="111111"/>
                </a:solidFill>
                <a:latin typeface="BIZ UDPゴシック"/>
                <a:ea typeface="BIZ UDPゴシック"/>
                <a:cs typeface="BIZ UDPゴシック"/>
              </a:defRPr>
            </a:pPr>
            <a:r>
              <a:rPr sz="1350" b="0" i="0" u="none">
                <a:solidFill>
                  <a:srgbClr val="111111"/>
                </a:solidFill>
                <a:latin typeface="BIZ UDPゴシック"/>
                <a:ea typeface="BIZ UDPゴシック"/>
                <a:cs typeface="BIZ UDPゴシック"/>
              </a:rPr>
              <a:t>組織・数値・担当者は架空</a:t>
            </a:r>
          </a:p>
        </p:txBody>
      </p:sp>
      <p:sp>
        <p:nvSpPr>
          <p:cNvPr id="14" name="page-01-object-013">
            <a:extLst xmlns:a="http://schemas.openxmlformats.org/drawingml/2006/main">
              <a:ext uri="{FF2B5EF4-FFF2-40B4-BE49-F238E27FC236}">
                <a16:creationId xmlns:a16="http://schemas.microsoft.com/office/drawing/2014/main" id="{852792C4-5D9C-4E99-B1CD-8811E7228EF3}"/>
              </a:ext>
            </a:extLst>
          </p:cNvPr>
          <p:cNvSpPr>
            <a:spLocks xmlns:a="http://schemas.openxmlformats.org/drawingml/2006/main" noGrp="1"/>
          </p:cNvSpPr>
          <p:nvPr/>
        </p:nvSpPr>
        <p:spPr>
          <a:xfrm xmlns:a="http://schemas.openxmlformats.org/drawingml/2006/main">
            <a:off x="1047750" y="3381375"/>
            <a:ext cx="10096500" cy="323850"/>
          </a:xfrm>
          <a:prstGeom xmlns:a="http://schemas.openxmlformats.org/drawingml/2006/main" prst="rect">
            <a:avLst/>
          </a:prstGeom>
          <a:solidFill xmlns:a="http://schemas.openxmlformats.org/drawingml/2006/main">
            <a:srgbClr val="0B5AA6"/>
          </a:solidFill>
          <a:ln xmlns:a="http://schemas.openxmlformats.org/drawingml/2006/main" w="0">
            <a:solidFill>
              <a:srgbClr val="0B5AA6"/>
            </a:solidFill>
            <a:prstDash val="solid"/>
          </a:ln>
        </p:spPr>
        <p:txBody xmlns:a="http://schemas.openxmlformats.org/drawingml/2006/main">
          <a:bodyPr/>
          <a:p/>
        </p:txBody>
      </p:sp>
      <p:sp>
        <p:nvSpPr>
          <p:cNvPr id="15" name="page-01-object-014">
            <a:extLst xmlns:a="http://schemas.openxmlformats.org/drawingml/2006/main">
              <a:ext uri="{FF2B5EF4-FFF2-40B4-BE49-F238E27FC236}">
                <a16:creationId xmlns:a16="http://schemas.microsoft.com/office/drawing/2014/main" id="{70DC7072-97AF-4A55-8426-0759C6DB2F46}"/>
              </a:ext>
            </a:extLst>
          </p:cNvPr>
          <p:cNvSpPr>
            <a:spLocks xmlns:a="http://schemas.openxmlformats.org/drawingml/2006/main" noGrp="1"/>
          </p:cNvSpPr>
          <p:nvPr/>
        </p:nvSpPr>
        <p:spPr>
          <a:xfrm xmlns:a="http://schemas.openxmlformats.org/drawingml/2006/main">
            <a:off x="1047750" y="3381375"/>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ctr">
              <a:defRPr sz="1275" b="1" i="0">
                <a:solidFill>
                  <a:srgbClr val="FFFFFF"/>
                </a:solidFill>
                <a:latin typeface="BIZ UDPゴシック"/>
                <a:ea typeface="BIZ UDPゴシック"/>
                <a:cs typeface="BIZ UDPゴシック"/>
              </a:defRPr>
            </a:pPr>
            <a:r>
              <a:rPr sz="1275" b="1" i="0" u="none">
                <a:solidFill>
                  <a:srgbClr val="FFFFFF"/>
                </a:solidFill>
                <a:latin typeface="BIZ UDPゴシック"/>
                <a:ea typeface="BIZ UDPゴシック"/>
                <a:cs typeface="BIZ UDPゴシック"/>
              </a:rPr>
              <a:t>本日の進行</a:t>
            </a:r>
          </a:p>
        </p:txBody>
      </p:sp>
      <p:sp>
        <p:nvSpPr>
          <p:cNvPr id="16" name="page-01-object-015">
            <a:extLst xmlns:a="http://schemas.openxmlformats.org/drawingml/2006/main">
              <a:ext uri="{FF2B5EF4-FFF2-40B4-BE49-F238E27FC236}">
                <a16:creationId xmlns:a16="http://schemas.microsoft.com/office/drawing/2014/main" id="{5AB039AD-7F02-4EF5-9BB9-6977B4BB449F}"/>
              </a:ext>
            </a:extLst>
          </p:cNvPr>
          <p:cNvSpPr>
            <a:spLocks xmlns:a="http://schemas.openxmlformats.org/drawingml/2006/main" noGrp="1"/>
          </p:cNvSpPr>
          <p:nvPr/>
        </p:nvSpPr>
        <p:spPr>
          <a:xfrm xmlns:a="http://schemas.openxmlformats.org/drawingml/2006/main">
            <a:off x="1047750" y="3705225"/>
            <a:ext cx="10096500" cy="476250"/>
          </a:xfrm>
          <a:prstGeom xmlns:a="http://schemas.openxmlformats.org/drawingml/2006/main" prst="rect">
            <a:avLst/>
          </a:prstGeom>
          <a:solidFill xmlns:a="http://schemas.openxmlformats.org/drawingml/2006/main">
            <a:srgbClr val="FFFFFF"/>
          </a:solidFill>
          <a:ln xmlns:a="http://schemas.openxmlformats.org/drawingml/2006/main" w="7620">
            <a:solidFill>
              <a:srgbClr val="A6A6A6"/>
            </a:solidFill>
            <a:prstDash val="solid"/>
          </a:ln>
        </p:spPr>
        <p:txBody xmlns:a="http://schemas.openxmlformats.org/drawingml/2006/main">
          <a:bodyPr/>
          <a:p/>
        </p:txBody>
      </p:sp>
      <p:sp>
        <p:nvSpPr>
          <p:cNvPr id="17" name="page-01-object-016">
            <a:extLst xmlns:a="http://schemas.openxmlformats.org/drawingml/2006/main">
              <a:ext uri="{FF2B5EF4-FFF2-40B4-BE49-F238E27FC236}">
                <a16:creationId xmlns:a16="http://schemas.microsoft.com/office/drawing/2014/main" id="{E73C8FB1-B9A8-4F9A-BB14-4111094AF5B2}"/>
              </a:ext>
            </a:extLst>
          </p:cNvPr>
          <p:cNvSpPr>
            <a:spLocks xmlns:a="http://schemas.openxmlformats.org/drawingml/2006/main" noGrp="1"/>
          </p:cNvSpPr>
          <p:nvPr/>
        </p:nvSpPr>
        <p:spPr>
          <a:xfrm xmlns:a="http://schemas.openxmlformats.org/drawingml/2006/main">
            <a:off x="1200150" y="37909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defRPr sz="1200" b="1" i="0">
                <a:solidFill>
                  <a:srgbClr val="111111"/>
                </a:solidFill>
                <a:latin typeface="BIZ UDPゴシック"/>
                <a:ea typeface="BIZ UDPゴシック"/>
                <a:cs typeface="BIZ UDPゴシック"/>
              </a:defRPr>
            </a:pPr>
            <a:r>
              <a:rPr sz="1200" b="1" i="0" u="none">
                <a:solidFill>
                  <a:srgbClr val="111111"/>
                </a:solidFill>
                <a:latin typeface="BIZ UDPゴシック"/>
                <a:ea typeface="BIZ UDPゴシック"/>
                <a:cs typeface="BIZ UDPゴシック"/>
              </a:rPr>
              <a:t>1分</a:t>
            </a:r>
          </a:p>
        </p:txBody>
      </p:sp>
      <p:sp>
        <p:nvSpPr>
          <p:cNvPr id="18" name="page-01-object-017">
            <a:extLst xmlns:a="http://schemas.openxmlformats.org/drawingml/2006/main">
              <a:ext uri="{FF2B5EF4-FFF2-40B4-BE49-F238E27FC236}">
                <a16:creationId xmlns:a16="http://schemas.microsoft.com/office/drawing/2014/main" id="{D2A03892-478A-450F-A14F-A3E62CCA1CBD}"/>
              </a:ext>
            </a:extLst>
          </p:cNvPr>
          <p:cNvSpPr>
            <a:spLocks xmlns:a="http://schemas.openxmlformats.org/drawingml/2006/main" noGrp="1"/>
          </p:cNvSpPr>
          <p:nvPr/>
        </p:nvSpPr>
        <p:spPr>
          <a:xfrm xmlns:a="http://schemas.openxmlformats.org/drawingml/2006/main">
            <a:off x="3143250" y="37909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defRPr sz="1275" b="0" i="0">
                <a:solidFill>
                  <a:srgbClr val="111111"/>
                </a:solidFill>
                <a:latin typeface="BIZ UDPゴシック"/>
                <a:ea typeface="BIZ UDPゴシック"/>
                <a:cs typeface="BIZ UDPゴシック"/>
              </a:defRPr>
            </a:pPr>
            <a:r>
              <a:rPr sz="1275" b="0" i="0" u="none">
                <a:solidFill>
                  <a:srgbClr val="111111"/>
                </a:solidFill>
                <a:latin typeface="BIZ UDPゴシック"/>
                <a:ea typeface="BIZ UDPゴシック"/>
                <a:cs typeface="BIZ UDPゴシック"/>
              </a:rPr>
              <a:t>主要指標と判断の論点</a:t>
            </a:r>
          </a:p>
        </p:txBody>
      </p:sp>
      <p:sp>
        <p:nvSpPr>
          <p:cNvPr id="19" name="page-01-object-018">
            <a:extLst xmlns:a="http://schemas.openxmlformats.org/drawingml/2006/main">
              <a:ext uri="{FF2B5EF4-FFF2-40B4-BE49-F238E27FC236}">
                <a16:creationId xmlns:a16="http://schemas.microsoft.com/office/drawing/2014/main" id="{19D62CF1-5510-4E1E-9045-0F1DB9B4C34B}"/>
              </a:ext>
            </a:extLst>
          </p:cNvPr>
          <p:cNvSpPr>
            <a:spLocks xmlns:a="http://schemas.openxmlformats.org/drawingml/2006/main" noGrp="1"/>
          </p:cNvSpPr>
          <p:nvPr/>
        </p:nvSpPr>
        <p:spPr>
          <a:xfrm xmlns:a="http://schemas.openxmlformats.org/drawingml/2006/main">
            <a:off x="9144000" y="37909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r">
              <a:defRPr sz="1125" b="0" i="0">
                <a:solidFill>
                  <a:srgbClr val="666666"/>
                </a:solidFill>
                <a:latin typeface="BIZ UDPゴシック"/>
                <a:ea typeface="BIZ UDPゴシック"/>
                <a:cs typeface="BIZ UDPゴシック"/>
              </a:defRPr>
            </a:pPr>
            <a:r>
              <a:rPr sz="1125" b="0" i="0" u="none">
                <a:solidFill>
                  <a:srgbClr val="666666"/>
                </a:solidFill>
                <a:latin typeface="BIZ UDPゴシック"/>
                <a:ea typeface="BIZ UDPゴシック"/>
                <a:cs typeface="BIZ UDPゴシック"/>
              </a:rPr>
              <a:t>販売担当</a:t>
            </a:r>
          </a:p>
        </p:txBody>
      </p:sp>
      <p:sp>
        <p:nvSpPr>
          <p:cNvPr id="20" name="page-01-object-019">
            <a:extLst xmlns:a="http://schemas.openxmlformats.org/drawingml/2006/main">
              <a:ext uri="{FF2B5EF4-FFF2-40B4-BE49-F238E27FC236}">
                <a16:creationId xmlns:a16="http://schemas.microsoft.com/office/drawing/2014/main" id="{F4A92157-2FA6-46F8-AA53-2980AAEAEEFC}"/>
              </a:ext>
            </a:extLst>
          </p:cNvPr>
          <p:cNvSpPr>
            <a:spLocks xmlns:a="http://schemas.openxmlformats.org/drawingml/2006/main" noGrp="1"/>
          </p:cNvSpPr>
          <p:nvPr/>
        </p:nvSpPr>
        <p:spPr>
          <a:xfrm xmlns:a="http://schemas.openxmlformats.org/drawingml/2006/main">
            <a:off x="1047750" y="4210050"/>
            <a:ext cx="10096500" cy="476250"/>
          </a:xfrm>
          <a:prstGeom xmlns:a="http://schemas.openxmlformats.org/drawingml/2006/main" prst="rect">
            <a:avLst/>
          </a:prstGeom>
          <a:solidFill xmlns:a="http://schemas.openxmlformats.org/drawingml/2006/main">
            <a:srgbClr val="EEF5FA"/>
          </a:solidFill>
          <a:ln xmlns:a="http://schemas.openxmlformats.org/drawingml/2006/main" w="7620">
            <a:solidFill>
              <a:srgbClr val="A6A6A6"/>
            </a:solidFill>
            <a:prstDash val="solid"/>
          </a:ln>
        </p:spPr>
        <p:txBody xmlns:a="http://schemas.openxmlformats.org/drawingml/2006/main">
          <a:bodyPr/>
          <a:p/>
        </p:txBody>
      </p:sp>
      <p:sp>
        <p:nvSpPr>
          <p:cNvPr id="21" name="page-01-object-020">
            <a:extLst xmlns:a="http://schemas.openxmlformats.org/drawingml/2006/main">
              <a:ext uri="{FF2B5EF4-FFF2-40B4-BE49-F238E27FC236}">
                <a16:creationId xmlns:a16="http://schemas.microsoft.com/office/drawing/2014/main" id="{F225199B-7979-4439-A675-FC99784FBE59}"/>
              </a:ext>
            </a:extLst>
          </p:cNvPr>
          <p:cNvSpPr>
            <a:spLocks xmlns:a="http://schemas.openxmlformats.org/drawingml/2006/main" noGrp="1"/>
          </p:cNvSpPr>
          <p:nvPr/>
        </p:nvSpPr>
        <p:spPr>
          <a:xfrm xmlns:a="http://schemas.openxmlformats.org/drawingml/2006/main">
            <a:off x="1200150" y="42957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defRPr sz="1200" b="1" i="0">
                <a:solidFill>
                  <a:srgbClr val="111111"/>
                </a:solidFill>
                <a:latin typeface="BIZ UDPゴシック"/>
                <a:ea typeface="BIZ UDPゴシック"/>
                <a:cs typeface="BIZ UDPゴシック"/>
              </a:defRPr>
            </a:pPr>
            <a:r>
              <a:rPr sz="1200" b="1" i="0" u="none">
                <a:solidFill>
                  <a:srgbClr val="111111"/>
                </a:solidFill>
                <a:latin typeface="BIZ UDPゴシック"/>
                <a:ea typeface="BIZ UDPゴシック"/>
                <a:cs typeface="BIZ UDPゴシック"/>
              </a:rPr>
              <a:t>2分</a:t>
            </a:r>
          </a:p>
        </p:txBody>
      </p:sp>
      <p:sp>
        <p:nvSpPr>
          <p:cNvPr id="22" name="page-01-object-021">
            <a:extLst xmlns:a="http://schemas.openxmlformats.org/drawingml/2006/main">
              <a:ext uri="{FF2B5EF4-FFF2-40B4-BE49-F238E27FC236}">
                <a16:creationId xmlns:a16="http://schemas.microsoft.com/office/drawing/2014/main" id="{4133067C-D6DC-4D14-9D24-D662ED8B0149}"/>
              </a:ext>
            </a:extLst>
          </p:cNvPr>
          <p:cNvSpPr>
            <a:spLocks xmlns:a="http://schemas.openxmlformats.org/drawingml/2006/main" noGrp="1"/>
          </p:cNvSpPr>
          <p:nvPr/>
        </p:nvSpPr>
        <p:spPr>
          <a:xfrm xmlns:a="http://schemas.openxmlformats.org/drawingml/2006/main">
            <a:off x="3143250" y="4295775"/>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defRPr sz="1275" b="1" i="0">
                <a:solidFill>
                  <a:srgbClr val="111111"/>
                </a:solidFill>
                <a:latin typeface="BIZ UDPゴシック"/>
                <a:ea typeface="BIZ UDPゴシック"/>
                <a:cs typeface="BIZ UDPゴシック"/>
              </a:defRPr>
            </a:pPr>
            <a:r>
              <a:rPr sz="1275" b="1" i="0" u="none">
                <a:solidFill>
                  <a:srgbClr val="111111"/>
                </a:solidFill>
                <a:latin typeface="BIZ UDPゴシック"/>
                <a:ea typeface="BIZ UDPゴシック"/>
                <a:cs typeface="BIZ UDPゴシック"/>
              </a:rPr>
              <a:t>チャネル別の増収と利益</a:t>
            </a:r>
          </a:p>
        </p:txBody>
      </p:sp>
      <p:sp>
        <p:nvSpPr>
          <p:cNvPr id="23" name="page-01-object-022">
            <a:extLst xmlns:a="http://schemas.openxmlformats.org/drawingml/2006/main">
              <a:ext uri="{FF2B5EF4-FFF2-40B4-BE49-F238E27FC236}">
                <a16:creationId xmlns:a16="http://schemas.microsoft.com/office/drawing/2014/main" id="{60FB47DD-9AFD-409A-A769-996B2358CF91}"/>
              </a:ext>
            </a:extLst>
          </p:cNvPr>
          <p:cNvSpPr>
            <a:spLocks xmlns:a="http://schemas.openxmlformats.org/drawingml/2006/main" noGrp="1"/>
          </p:cNvSpPr>
          <p:nvPr/>
        </p:nvSpPr>
        <p:spPr>
          <a:xfrm xmlns:a="http://schemas.openxmlformats.org/drawingml/2006/main">
            <a:off x="9144000" y="42957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r">
              <a:defRPr sz="1125" b="0" i="0">
                <a:solidFill>
                  <a:srgbClr val="666666"/>
                </a:solidFill>
                <a:latin typeface="BIZ UDPゴシック"/>
                <a:ea typeface="BIZ UDPゴシック"/>
                <a:cs typeface="BIZ UDPゴシック"/>
              </a:defRPr>
            </a:pPr>
            <a:r>
              <a:rPr sz="1125" b="0" i="0" u="none">
                <a:solidFill>
                  <a:srgbClr val="666666"/>
                </a:solidFill>
                <a:latin typeface="BIZ UDPゴシック"/>
                <a:ea typeface="BIZ UDPゴシック"/>
                <a:cs typeface="BIZ UDPゴシック"/>
              </a:rPr>
              <a:t>販売担当</a:t>
            </a:r>
          </a:p>
        </p:txBody>
      </p:sp>
      <p:sp>
        <p:nvSpPr>
          <p:cNvPr id="24" name="page-01-object-023">
            <a:extLst xmlns:a="http://schemas.openxmlformats.org/drawingml/2006/main">
              <a:ext uri="{FF2B5EF4-FFF2-40B4-BE49-F238E27FC236}">
                <a16:creationId xmlns:a16="http://schemas.microsoft.com/office/drawing/2014/main" id="{5B766640-0A38-42ED-90EB-1976F30A0E7D}"/>
              </a:ext>
            </a:extLst>
          </p:cNvPr>
          <p:cNvSpPr>
            <a:spLocks xmlns:a="http://schemas.openxmlformats.org/drawingml/2006/main" noGrp="1"/>
          </p:cNvSpPr>
          <p:nvPr/>
        </p:nvSpPr>
        <p:spPr>
          <a:xfrm xmlns:a="http://schemas.openxmlformats.org/drawingml/2006/main">
            <a:off x="1047750" y="4714875"/>
            <a:ext cx="10096500" cy="476250"/>
          </a:xfrm>
          <a:prstGeom xmlns:a="http://schemas.openxmlformats.org/drawingml/2006/main" prst="rect">
            <a:avLst/>
          </a:prstGeom>
          <a:solidFill xmlns:a="http://schemas.openxmlformats.org/drawingml/2006/main">
            <a:srgbClr val="FFFFFF"/>
          </a:solidFill>
          <a:ln xmlns:a="http://schemas.openxmlformats.org/drawingml/2006/main" w="7620">
            <a:solidFill>
              <a:srgbClr val="A6A6A6"/>
            </a:solidFill>
            <a:prstDash val="solid"/>
          </a:ln>
        </p:spPr>
        <p:txBody xmlns:a="http://schemas.openxmlformats.org/drawingml/2006/main">
          <a:bodyPr/>
          <a:p/>
        </p:txBody>
      </p:sp>
      <p:sp>
        <p:nvSpPr>
          <p:cNvPr id="25" name="page-01-object-024">
            <a:extLst xmlns:a="http://schemas.openxmlformats.org/drawingml/2006/main">
              <a:ext uri="{FF2B5EF4-FFF2-40B4-BE49-F238E27FC236}">
                <a16:creationId xmlns:a16="http://schemas.microsoft.com/office/drawing/2014/main" id="{7BD9A419-1865-4099-92F6-A4D9104112F0}"/>
              </a:ext>
            </a:extLst>
          </p:cNvPr>
          <p:cNvSpPr>
            <a:spLocks xmlns:a="http://schemas.openxmlformats.org/drawingml/2006/main" noGrp="1"/>
          </p:cNvSpPr>
          <p:nvPr/>
        </p:nvSpPr>
        <p:spPr>
          <a:xfrm xmlns:a="http://schemas.openxmlformats.org/drawingml/2006/main">
            <a:off x="1200150" y="48006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defRPr sz="1200" b="1" i="0">
                <a:solidFill>
                  <a:srgbClr val="111111"/>
                </a:solidFill>
                <a:latin typeface="BIZ UDPゴシック"/>
                <a:ea typeface="BIZ UDPゴシック"/>
                <a:cs typeface="BIZ UDPゴシック"/>
              </a:defRPr>
            </a:pPr>
            <a:r>
              <a:rPr sz="1200" b="1" i="0" u="none">
                <a:solidFill>
                  <a:srgbClr val="111111"/>
                </a:solidFill>
                <a:latin typeface="BIZ UDPゴシック"/>
                <a:ea typeface="BIZ UDPゴシック"/>
                <a:cs typeface="BIZ UDPゴシック"/>
              </a:rPr>
              <a:t>2分</a:t>
            </a:r>
          </a:p>
        </p:txBody>
      </p:sp>
      <p:sp>
        <p:nvSpPr>
          <p:cNvPr id="26" name="page-01-object-025">
            <a:extLst xmlns:a="http://schemas.openxmlformats.org/drawingml/2006/main">
              <a:ext uri="{FF2B5EF4-FFF2-40B4-BE49-F238E27FC236}">
                <a16:creationId xmlns:a16="http://schemas.microsoft.com/office/drawing/2014/main" id="{53D2422A-8541-439B-AB43-E240B8BC3D10}"/>
              </a:ext>
            </a:extLst>
          </p:cNvPr>
          <p:cNvSpPr>
            <a:spLocks xmlns:a="http://schemas.openxmlformats.org/drawingml/2006/main" noGrp="1"/>
          </p:cNvSpPr>
          <p:nvPr/>
        </p:nvSpPr>
        <p:spPr>
          <a:xfrm xmlns:a="http://schemas.openxmlformats.org/drawingml/2006/main">
            <a:off x="3143250" y="48006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defRPr sz="1275" b="0" i="0">
                <a:solidFill>
                  <a:srgbClr val="111111"/>
                </a:solidFill>
                <a:latin typeface="BIZ UDPゴシック"/>
                <a:ea typeface="BIZ UDPゴシック"/>
                <a:cs typeface="BIZ UDPゴシック"/>
              </a:defRPr>
            </a:pPr>
            <a:r>
              <a:rPr sz="1275" b="0" i="0" u="none">
                <a:solidFill>
                  <a:srgbClr val="111111"/>
                </a:solidFill>
                <a:latin typeface="BIZ UDPゴシック"/>
                <a:ea typeface="BIZ UDPゴシック"/>
                <a:cs typeface="BIZ UDPゴシック"/>
              </a:rPr>
              <a:t>商品説明修正の進め方</a:t>
            </a:r>
          </a:p>
        </p:txBody>
      </p:sp>
      <p:sp>
        <p:nvSpPr>
          <p:cNvPr id="27" name="page-01-object-026">
            <a:extLst xmlns:a="http://schemas.openxmlformats.org/drawingml/2006/main">
              <a:ext uri="{FF2B5EF4-FFF2-40B4-BE49-F238E27FC236}">
                <a16:creationId xmlns:a16="http://schemas.microsoft.com/office/drawing/2014/main" id="{9217F34B-4F92-4DAC-82C1-5167017D8370}"/>
              </a:ext>
            </a:extLst>
          </p:cNvPr>
          <p:cNvSpPr>
            <a:spLocks xmlns:a="http://schemas.openxmlformats.org/drawingml/2006/main" noGrp="1"/>
          </p:cNvSpPr>
          <p:nvPr/>
        </p:nvSpPr>
        <p:spPr>
          <a:xfrm xmlns:a="http://schemas.openxmlformats.org/drawingml/2006/main">
            <a:off x="9144000" y="48006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r">
              <a:defRPr sz="1125" b="0" i="0">
                <a:solidFill>
                  <a:srgbClr val="666666"/>
                </a:solidFill>
                <a:latin typeface="BIZ UDPゴシック"/>
                <a:ea typeface="BIZ UDPゴシック"/>
                <a:cs typeface="BIZ UDPゴシック"/>
              </a:defRPr>
            </a:pPr>
            <a:r>
              <a:rPr sz="1125" b="0" i="0" u="none">
                <a:solidFill>
                  <a:srgbClr val="666666"/>
                </a:solidFill>
                <a:latin typeface="BIZ UDPゴシック"/>
                <a:ea typeface="BIZ UDPゴシック"/>
                <a:cs typeface="BIZ UDPゴシック"/>
              </a:rPr>
              <a:t>商品担当</a:t>
            </a:r>
          </a:p>
        </p:txBody>
      </p:sp>
      <p:sp>
        <p:nvSpPr>
          <p:cNvPr id="28" name="page-01-object-027">
            <a:extLst xmlns:a="http://schemas.openxmlformats.org/drawingml/2006/main">
              <a:ext uri="{FF2B5EF4-FFF2-40B4-BE49-F238E27FC236}">
                <a16:creationId xmlns:a16="http://schemas.microsoft.com/office/drawing/2014/main" id="{E393F370-EE03-42A3-8E1C-749534E5E051}"/>
              </a:ext>
            </a:extLst>
          </p:cNvPr>
          <p:cNvSpPr>
            <a:spLocks xmlns:a="http://schemas.openxmlformats.org/drawingml/2006/main" noGrp="1"/>
          </p:cNvSpPr>
          <p:nvPr/>
        </p:nvSpPr>
        <p:spPr>
          <a:xfrm xmlns:a="http://schemas.openxmlformats.org/drawingml/2006/main">
            <a:off x="1047750" y="5219700"/>
            <a:ext cx="10096500" cy="476250"/>
          </a:xfrm>
          <a:prstGeom xmlns:a="http://schemas.openxmlformats.org/drawingml/2006/main" prst="rect">
            <a:avLst/>
          </a:prstGeom>
          <a:solidFill xmlns:a="http://schemas.openxmlformats.org/drawingml/2006/main">
            <a:srgbClr val="EEF5FA"/>
          </a:solidFill>
          <a:ln xmlns:a="http://schemas.openxmlformats.org/drawingml/2006/main" w="7620">
            <a:solidFill>
              <a:srgbClr val="A6A6A6"/>
            </a:solidFill>
            <a:prstDash val="solid"/>
          </a:ln>
        </p:spPr>
        <p:txBody xmlns:a="http://schemas.openxmlformats.org/drawingml/2006/main">
          <a:bodyPr/>
          <a:p/>
        </p:txBody>
      </p:sp>
      <p:sp>
        <p:nvSpPr>
          <p:cNvPr id="29" name="page-01-object-028">
            <a:extLst xmlns:a="http://schemas.openxmlformats.org/drawingml/2006/main">
              <a:ext uri="{FF2B5EF4-FFF2-40B4-BE49-F238E27FC236}">
                <a16:creationId xmlns:a16="http://schemas.microsoft.com/office/drawing/2014/main" id="{099347EF-4418-48E5-8597-B3AAF611A9EA}"/>
              </a:ext>
            </a:extLst>
          </p:cNvPr>
          <p:cNvSpPr>
            <a:spLocks xmlns:a="http://schemas.openxmlformats.org/drawingml/2006/main" noGrp="1"/>
          </p:cNvSpPr>
          <p:nvPr/>
        </p:nvSpPr>
        <p:spPr>
          <a:xfrm xmlns:a="http://schemas.openxmlformats.org/drawingml/2006/main">
            <a:off x="1200150" y="530542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defRPr sz="1200" b="1" i="0">
                <a:solidFill>
                  <a:srgbClr val="111111"/>
                </a:solidFill>
                <a:latin typeface="BIZ UDPゴシック"/>
                <a:ea typeface="BIZ UDPゴシック"/>
                <a:cs typeface="BIZ UDPゴシック"/>
              </a:defRPr>
            </a:pPr>
            <a:r>
              <a:rPr sz="1200" b="1" i="0" u="none">
                <a:solidFill>
                  <a:srgbClr val="111111"/>
                </a:solidFill>
                <a:latin typeface="BIZ UDPゴシック"/>
                <a:ea typeface="BIZ UDPゴシック"/>
                <a:cs typeface="BIZ UDPゴシック"/>
              </a:rPr>
              <a:t>2分</a:t>
            </a:r>
          </a:p>
        </p:txBody>
      </p:sp>
      <p:sp>
        <p:nvSpPr>
          <p:cNvPr id="30" name="page-01-object-029">
            <a:extLst xmlns:a="http://schemas.openxmlformats.org/drawingml/2006/main">
              <a:ext uri="{FF2B5EF4-FFF2-40B4-BE49-F238E27FC236}">
                <a16:creationId xmlns:a16="http://schemas.microsoft.com/office/drawing/2014/main" id="{74FC1922-782A-42E0-BC08-F55469C2ECBF}"/>
              </a:ext>
            </a:extLst>
          </p:cNvPr>
          <p:cNvSpPr>
            <a:spLocks xmlns:a="http://schemas.openxmlformats.org/drawingml/2006/main" noGrp="1"/>
          </p:cNvSpPr>
          <p:nvPr/>
        </p:nvSpPr>
        <p:spPr>
          <a:xfrm xmlns:a="http://schemas.openxmlformats.org/drawingml/2006/main">
            <a:off x="3143250" y="5305425"/>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defRPr sz="1275" b="0" i="0">
                <a:solidFill>
                  <a:srgbClr val="111111"/>
                </a:solidFill>
                <a:latin typeface="BIZ UDPゴシック"/>
                <a:ea typeface="BIZ UDPゴシック"/>
                <a:cs typeface="BIZ UDPゴシック"/>
              </a:defRPr>
            </a:pPr>
            <a:r>
              <a:rPr sz="1275" b="0" i="0" u="none">
                <a:solidFill>
                  <a:srgbClr val="111111"/>
                </a:solidFill>
                <a:latin typeface="BIZ UDPゴシック"/>
                <a:ea typeface="BIZ UDPゴシック"/>
                <a:cs typeface="BIZ UDPゴシック"/>
              </a:rPr>
              <a:t>着手する施策と次回の確認</a:t>
            </a:r>
          </a:p>
        </p:txBody>
      </p:sp>
      <p:sp>
        <p:nvSpPr>
          <p:cNvPr id="31" name="page-01-object-030">
            <a:extLst xmlns:a="http://schemas.openxmlformats.org/drawingml/2006/main">
              <a:ext uri="{FF2B5EF4-FFF2-40B4-BE49-F238E27FC236}">
                <a16:creationId xmlns:a16="http://schemas.microsoft.com/office/drawing/2014/main" id="{653AEEF6-F3E6-41B2-87D2-5A19D31460AD}"/>
              </a:ext>
            </a:extLst>
          </p:cNvPr>
          <p:cNvSpPr>
            <a:spLocks xmlns:a="http://schemas.openxmlformats.org/drawingml/2006/main" noGrp="1"/>
          </p:cNvSpPr>
          <p:nvPr/>
        </p:nvSpPr>
        <p:spPr>
          <a:xfrm xmlns:a="http://schemas.openxmlformats.org/drawingml/2006/main">
            <a:off x="9144000" y="530542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r">
              <a:defRPr sz="1125" b="0" i="0">
                <a:solidFill>
                  <a:srgbClr val="666666"/>
                </a:solidFill>
                <a:latin typeface="BIZ UDPゴシック"/>
                <a:ea typeface="BIZ UDPゴシック"/>
                <a:cs typeface="BIZ UDPゴシック"/>
              </a:defRPr>
            </a:pPr>
            <a:r>
              <a:rPr sz="1125" b="0" i="0" u="none">
                <a:solidFill>
                  <a:srgbClr val="666666"/>
                </a:solidFill>
                <a:latin typeface="BIZ UDPゴシック"/>
                <a:ea typeface="BIZ UDPゴシック"/>
                <a:cs typeface="BIZ UDPゴシック"/>
              </a:rPr>
              <a:t>参加者</a:t>
            </a:r>
          </a:p>
        </p:txBody>
      </p:sp>
      <p:sp>
        <p:nvSpPr>
          <p:cNvPr id="32" name="page-01-object-031">
            <a:extLst xmlns:a="http://schemas.openxmlformats.org/drawingml/2006/main">
              <a:ext uri="{FF2B5EF4-FFF2-40B4-BE49-F238E27FC236}">
                <a16:creationId xmlns:a16="http://schemas.microsoft.com/office/drawing/2014/main" id="{2198EA45-ECAB-4A65-98E4-73BE57746982}"/>
              </a:ext>
            </a:extLst>
          </p:cNvPr>
          <p:cNvSpPr>
            <a:spLocks xmlns:a="http://schemas.openxmlformats.org/drawingml/2006/main" noGrp="1"/>
          </p:cNvSpPr>
          <p:nvPr/>
        </p:nvSpPr>
        <p:spPr>
          <a:xfrm xmlns:a="http://schemas.openxmlformats.org/drawingml/2006/main">
            <a:off x="304800" y="6305550"/>
            <a:ext cx="1100137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75" b="0" i="0">
                <a:solidFill>
                  <a:srgbClr val="666666"/>
                </a:solidFill>
                <a:latin typeface="BIZ UDPゴシック"/>
                <a:ea typeface="BIZ UDPゴシック"/>
                <a:cs typeface="BIZ UDPゴシック"/>
              </a:defRPr>
            </a:pPr>
            <a:r>
              <a:rPr sz="675" b="0" i="0" u="none">
                <a:solidFill>
                  <a:srgbClr val="666666"/>
                </a:solidFill>
                <a:latin typeface="BIZ UDPゴシック"/>
                <a:ea typeface="BIZ UDPゴシック"/>
                <a:cs typeface="BIZ UDPゴシック"/>
              </a:rPr>
              <a:t>注：実在の組織・業績ではなく、制作手順を比較するためのサンプル。</a:t>
            </a:r>
          </a:p>
        </p:txBody>
      </p:sp>
    </p:spTree>
    <p:extLst>
      <p:ext uri="{BB962C8B-B14F-4D97-AF65-F5344CB8AC3E}">
        <p14:creationId xmlns:p14="http://schemas.microsoft.com/office/powerpoint/2010/main" val="4279855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page-02-object-000">
            <a:extLst xmlns:a="http://schemas.openxmlformats.org/drawingml/2006/main">
              <a:ext uri="{FF2B5EF4-FFF2-40B4-BE49-F238E27FC236}">
                <a16:creationId xmlns:a16="http://schemas.microsoft.com/office/drawing/2014/main" id="{08B1E4B4-C3D8-40E6-A0C8-91786004769E}"/>
              </a:ext>
            </a:extLst>
          </p:cNvPr>
          <p:cNvSpPr>
            <a:spLocks xmlns:a="http://schemas.openxmlformats.org/drawingml/2006/main" noGrp="1"/>
          </p:cNvSpPr>
          <p:nvPr/>
        </p:nvSpPr>
        <p:spPr>
          <a:xfrm xmlns:a="http://schemas.openxmlformats.org/drawingml/2006/main">
            <a:off x="0" y="0"/>
            <a:ext cx="12192000" cy="495300"/>
          </a:xfrm>
          <a:prstGeom xmlns:a="http://schemas.openxmlformats.org/drawingml/2006/main" prst="rect">
            <a:avLst/>
          </a:prstGeom>
          <a:solidFill xmlns:a="http://schemas.openxmlformats.org/drawingml/2006/main">
            <a:srgbClr val="0B5AA6"/>
          </a:solidFill>
          <a:ln xmlns:a="http://schemas.openxmlformats.org/drawingml/2006/main" w="0">
            <a:solidFill>
              <a:srgbClr val="0B5AA6"/>
            </a:solidFill>
            <a:prstDash val="solid"/>
          </a:ln>
        </p:spPr>
        <p:txBody xmlns:a="http://schemas.openxmlformats.org/drawingml/2006/main">
          <a:bodyPr/>
          <a:p/>
        </p:txBody>
      </p:sp>
      <p:sp>
        <p:nvSpPr>
          <p:cNvPr id="2" name="page-02-object-001">
            <a:extLst xmlns:a="http://schemas.openxmlformats.org/drawingml/2006/main">
              <a:ext uri="{FF2B5EF4-FFF2-40B4-BE49-F238E27FC236}">
                <a16:creationId xmlns:a16="http://schemas.microsoft.com/office/drawing/2014/main" id="{C3B84A76-EE44-4DE4-B62C-E3E6939E2B76}"/>
              </a:ext>
            </a:extLst>
          </p:cNvPr>
          <p:cNvSpPr>
            <a:spLocks xmlns:a="http://schemas.openxmlformats.org/drawingml/2006/main" noGrp="1"/>
          </p:cNvSpPr>
          <p:nvPr/>
        </p:nvSpPr>
        <p:spPr>
          <a:xfrm xmlns:a="http://schemas.openxmlformats.org/drawingml/2006/main">
            <a:off x="228600" y="38100"/>
            <a:ext cx="885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i="0">
                <a:solidFill>
                  <a:srgbClr val="FFFFFF"/>
                </a:solidFill>
                <a:latin typeface="BIZ UDPゴシック"/>
                <a:ea typeface="BIZ UDPゴシック"/>
                <a:cs typeface="BIZ UDPゴシック"/>
              </a:defRPr>
            </a:pPr>
            <a:r>
              <a:rPr sz="2100" b="1" i="0" u="none">
                <a:solidFill>
                  <a:srgbClr val="FFFFFF"/>
                </a:solidFill>
                <a:latin typeface="BIZ UDPゴシック"/>
                <a:ea typeface="BIZ UDPゴシック"/>
                <a:cs typeface="BIZ UDPゴシック"/>
              </a:rPr>
              <a:t>論点整理・問題提起</a:t>
            </a:r>
          </a:p>
        </p:txBody>
      </p:sp>
      <p:sp>
        <p:nvSpPr>
          <p:cNvPr id="3" name="page-02-object-002">
            <a:extLst xmlns:a="http://schemas.openxmlformats.org/drawingml/2006/main">
              <a:ext uri="{FF2B5EF4-FFF2-40B4-BE49-F238E27FC236}">
                <a16:creationId xmlns:a16="http://schemas.microsoft.com/office/drawing/2014/main" id="{EBC912F9-EA9B-41D3-BDE6-20FEA72AD80F}"/>
              </a:ext>
            </a:extLst>
          </p:cNvPr>
          <p:cNvSpPr>
            <a:spLocks xmlns:a="http://schemas.openxmlformats.org/drawingml/2006/main" noGrp="1"/>
          </p:cNvSpPr>
          <p:nvPr/>
        </p:nvSpPr>
        <p:spPr>
          <a:xfrm xmlns:a="http://schemas.openxmlformats.org/drawingml/2006/main">
            <a:off x="9620250" y="76200"/>
            <a:ext cx="2266950" cy="323850"/>
          </a:xfrm>
          <a:prstGeom xmlns:a="http://schemas.openxmlformats.org/drawingml/2006/main" prst="rect">
            <a:avLst/>
          </a:prstGeom>
          <a:solidFill xmlns:a="http://schemas.openxmlformats.org/drawingml/2006/main">
            <a:srgbClr val="00A9E0"/>
          </a:solidFill>
          <a:ln xmlns:a="http://schemas.openxmlformats.org/drawingml/2006/main" w="0">
            <a:solidFill>
              <a:srgbClr val="00A9E0"/>
            </a:solidFill>
            <a:prstDash val="solid"/>
          </a:ln>
        </p:spPr>
        <p:txBody xmlns:a="http://schemas.openxmlformats.org/drawingml/2006/main">
          <a:bodyPr/>
          <a:p/>
        </p:txBody>
      </p:sp>
      <p:sp>
        <p:nvSpPr>
          <p:cNvPr id="4" name="page-02-object-003">
            <a:extLst xmlns:a="http://schemas.openxmlformats.org/drawingml/2006/main">
              <a:ext uri="{FF2B5EF4-FFF2-40B4-BE49-F238E27FC236}">
                <a16:creationId xmlns:a16="http://schemas.microsoft.com/office/drawing/2014/main" id="{C01DDFDE-F293-47A0-8E4A-CFB062B8CF6B}"/>
              </a:ext>
            </a:extLst>
          </p:cNvPr>
          <p:cNvSpPr>
            <a:spLocks xmlns:a="http://schemas.openxmlformats.org/drawingml/2006/main" noGrp="1"/>
          </p:cNvSpPr>
          <p:nvPr/>
        </p:nvSpPr>
        <p:spPr>
          <a:xfrm xmlns:a="http://schemas.openxmlformats.org/drawingml/2006/main">
            <a:off x="9620250" y="104775"/>
            <a:ext cx="22669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i="0">
                <a:solidFill>
                  <a:srgbClr val="FFFFFF"/>
                </a:solidFill>
                <a:latin typeface="BIZ UDPゴシック"/>
                <a:ea typeface="BIZ UDPゴシック"/>
                <a:cs typeface="BIZ UDPゴシック"/>
              </a:defRPr>
            </a:pPr>
            <a:r>
              <a:rPr sz="1125" b="1" i="0" u="none">
                <a:solidFill>
                  <a:srgbClr val="FFFFFF"/>
                </a:solidFill>
                <a:latin typeface="BIZ UDPゴシック"/>
                <a:ea typeface="BIZ UDPゴシック"/>
                <a:cs typeface="BIZ UDPゴシック"/>
              </a:rPr>
              <a:t>主要指標</a:t>
            </a:r>
          </a:p>
        </p:txBody>
      </p:sp>
      <p:sp>
        <p:nvSpPr>
          <p:cNvPr id="5" name="page-02-object-004">
            <a:extLst xmlns:a="http://schemas.openxmlformats.org/drawingml/2006/main">
              <a:ext uri="{FF2B5EF4-FFF2-40B4-BE49-F238E27FC236}">
                <a16:creationId xmlns:a16="http://schemas.microsoft.com/office/drawing/2014/main" id="{5F988F9E-0734-49F1-9DE8-646992C1CF6F}"/>
              </a:ext>
            </a:extLst>
          </p:cNvPr>
          <p:cNvSpPr>
            <a:spLocks xmlns:a="http://schemas.openxmlformats.org/drawingml/2006/main" noGrp="1"/>
          </p:cNvSpPr>
          <p:nvPr/>
        </p:nvSpPr>
        <p:spPr>
          <a:xfrm xmlns:a="http://schemas.openxmlformats.org/drawingml/2006/main">
            <a:off x="0" y="6543675"/>
            <a:ext cx="5905500" cy="314325"/>
          </a:xfrm>
          <a:prstGeom xmlns:a="http://schemas.openxmlformats.org/drawingml/2006/main" prst="rect">
            <a:avLst/>
          </a:prstGeom>
          <a:solidFill xmlns:a="http://schemas.openxmlformats.org/drawingml/2006/main">
            <a:srgbClr val="0B5AA6"/>
          </a:solidFill>
          <a:ln xmlns:a="http://schemas.openxmlformats.org/drawingml/2006/main" w="0">
            <a:solidFill>
              <a:srgbClr val="0B5AA6"/>
            </a:solidFill>
            <a:prstDash val="solid"/>
          </a:ln>
        </p:spPr>
        <p:txBody xmlns:a="http://schemas.openxmlformats.org/drawingml/2006/main">
          <a:bodyPr/>
          <a:p/>
        </p:txBody>
      </p:sp>
      <p:sp>
        <p:nvSpPr>
          <p:cNvPr id="6" name="page-02-object-005">
            <a:extLst xmlns:a="http://schemas.openxmlformats.org/drawingml/2006/main">
              <a:ext uri="{FF2B5EF4-FFF2-40B4-BE49-F238E27FC236}">
                <a16:creationId xmlns:a16="http://schemas.microsoft.com/office/drawing/2014/main" id="{2590595F-54A1-4EB8-8E81-C1392731F5B0}"/>
              </a:ext>
            </a:extLst>
          </p:cNvPr>
          <p:cNvSpPr>
            <a:spLocks xmlns:a="http://schemas.openxmlformats.org/drawingml/2006/main" noGrp="1"/>
          </p:cNvSpPr>
          <p:nvPr/>
        </p:nvSpPr>
        <p:spPr>
          <a:xfrm xmlns:a="http://schemas.openxmlformats.org/drawingml/2006/main">
            <a:off x="447675" y="6543675"/>
            <a:ext cx="76200" cy="3143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7" name="page-02-object-006">
            <a:extLst xmlns:a="http://schemas.openxmlformats.org/drawingml/2006/main">
              <a:ext uri="{FF2B5EF4-FFF2-40B4-BE49-F238E27FC236}">
                <a16:creationId xmlns:a16="http://schemas.microsoft.com/office/drawing/2014/main" id="{EAD9E472-5D23-40ED-B2AA-798D0A5C4874}"/>
              </a:ext>
            </a:extLst>
          </p:cNvPr>
          <p:cNvSpPr>
            <a:spLocks xmlns:a="http://schemas.openxmlformats.org/drawingml/2006/main" noGrp="1"/>
          </p:cNvSpPr>
          <p:nvPr/>
        </p:nvSpPr>
        <p:spPr>
          <a:xfrm xmlns:a="http://schemas.openxmlformats.org/drawingml/2006/main">
            <a:off x="619125" y="6543675"/>
            <a:ext cx="28575" cy="3143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8" name="page-02-object-007">
            <a:extLst xmlns:a="http://schemas.openxmlformats.org/drawingml/2006/main">
              <a:ext uri="{FF2B5EF4-FFF2-40B4-BE49-F238E27FC236}">
                <a16:creationId xmlns:a16="http://schemas.microsoft.com/office/drawing/2014/main" id="{2BE83016-E9FA-4AB1-82AB-42DD4585C5FB}"/>
              </a:ext>
            </a:extLst>
          </p:cNvPr>
          <p:cNvSpPr>
            <a:spLocks xmlns:a="http://schemas.openxmlformats.org/drawingml/2006/main" noGrp="1"/>
          </p:cNvSpPr>
          <p:nvPr/>
        </p:nvSpPr>
        <p:spPr>
          <a:xfrm xmlns:a="http://schemas.openxmlformats.org/drawingml/2006/main">
            <a:off x="857250" y="6581775"/>
            <a:ext cx="461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75" b="0" i="0">
                <a:solidFill>
                  <a:srgbClr val="FFFFFF"/>
                </a:solidFill>
                <a:latin typeface="BIZ UDPゴシック"/>
                <a:ea typeface="BIZ UDPゴシック"/>
                <a:cs typeface="BIZ UDPゴシック"/>
              </a:defRPr>
            </a:pPr>
            <a:r>
              <a:rPr sz="975" b="0" i="0" u="none">
                <a:solidFill>
                  <a:srgbClr val="FFFFFF"/>
                </a:solidFill>
                <a:latin typeface="BIZ UDPゴシック"/>
                <a:ea typeface="BIZ UDPゴシック"/>
                <a:cs typeface="BIZ UDPゴシック"/>
              </a:rPr>
              <a:t>くらし便 EC事業部　架空の制作例</a:t>
            </a:r>
          </a:p>
        </p:txBody>
      </p:sp>
      <p:sp>
        <p:nvSpPr>
          <p:cNvPr id="9" name="page-02-object-008">
            <a:extLst xmlns:a="http://schemas.openxmlformats.org/drawingml/2006/main">
              <a:ext uri="{FF2B5EF4-FFF2-40B4-BE49-F238E27FC236}">
                <a16:creationId xmlns:a16="http://schemas.microsoft.com/office/drawing/2014/main" id="{6339A66C-A847-4885-BE1D-068A33D21C16}"/>
              </a:ext>
            </a:extLst>
          </p:cNvPr>
          <p:cNvSpPr>
            <a:spLocks xmlns:a="http://schemas.openxmlformats.org/drawingml/2006/main" noGrp="1"/>
          </p:cNvSpPr>
          <p:nvPr/>
        </p:nvSpPr>
        <p:spPr>
          <a:xfrm xmlns:a="http://schemas.openxmlformats.org/drawingml/2006/main">
            <a:off x="11601450" y="657225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75" b="0" i="0">
                <a:solidFill>
                  <a:srgbClr val="666666"/>
                </a:solidFill>
                <a:latin typeface="BIZ UDPゴシック"/>
                <a:ea typeface="BIZ UDPゴシック"/>
                <a:cs typeface="BIZ UDPゴシック"/>
              </a:defRPr>
            </a:pPr>
            <a:r>
              <a:rPr sz="975" b="0" i="0" u="none">
                <a:solidFill>
                  <a:srgbClr val="666666"/>
                </a:solidFill>
                <a:latin typeface="BIZ UDPゴシック"/>
                <a:ea typeface="BIZ UDPゴシック"/>
                <a:cs typeface="BIZ UDPゴシック"/>
              </a:rPr>
              <a:t>2</a:t>
            </a:r>
          </a:p>
        </p:txBody>
      </p:sp>
      <p:sp>
        <p:nvSpPr>
          <p:cNvPr id="10" name="page-02-object-009">
            <a:extLst xmlns:a="http://schemas.openxmlformats.org/drawingml/2006/main">
              <a:ext uri="{FF2B5EF4-FFF2-40B4-BE49-F238E27FC236}">
                <a16:creationId xmlns:a16="http://schemas.microsoft.com/office/drawing/2014/main" id="{8E84A52F-F79D-47BA-897D-C2B43B9DCD86}"/>
              </a:ext>
            </a:extLst>
          </p:cNvPr>
          <p:cNvSpPr>
            <a:spLocks xmlns:a="http://schemas.openxmlformats.org/drawingml/2006/main" noGrp="1"/>
          </p:cNvSpPr>
          <p:nvPr/>
        </p:nvSpPr>
        <p:spPr>
          <a:xfrm xmlns:a="http://schemas.openxmlformats.org/drawingml/2006/main">
            <a:off x="523875" y="685800"/>
            <a:ext cx="11144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i="0" u="sng">
                <a:solidFill>
                  <a:srgbClr val="2F2FFF"/>
                </a:solidFill>
                <a:latin typeface="BIZ UDPゴシック"/>
                <a:ea typeface="BIZ UDPゴシック"/>
                <a:cs typeface="BIZ UDPゴシック"/>
              </a:defRPr>
            </a:pPr>
            <a:r>
              <a:rPr sz="2325" b="1" i="0" u="none">
                <a:solidFill>
                  <a:srgbClr val="111111"/>
                </a:solidFill>
                <a:latin typeface="BIZ UDPゴシック"/>
                <a:ea typeface="BIZ UDPゴシック"/>
                <a:cs typeface="BIZ UDPゴシック"/>
              </a:rPr>
              <a:t>売上増と利益・返品の変化を分けて確認</a:t>
            </a:r>
          </a:p>
        </p:txBody>
      </p:sp>
      <p:sp>
        <p:nvSpPr>
          <p:cNvPr id="11" name="page-02-object-010">
            <a:extLst xmlns:a="http://schemas.openxmlformats.org/drawingml/2006/main">
              <a:ext uri="{FF2B5EF4-FFF2-40B4-BE49-F238E27FC236}">
                <a16:creationId xmlns:a16="http://schemas.microsoft.com/office/drawing/2014/main" id="{1730FD34-D0D6-4E41-B08A-B017D4B8E9C7}"/>
              </a:ext>
            </a:extLst>
          </p:cNvPr>
          <p:cNvSpPr>
            <a:spLocks xmlns:a="http://schemas.openxmlformats.org/drawingml/2006/main" noGrp="1"/>
          </p:cNvSpPr>
          <p:nvPr/>
        </p:nvSpPr>
        <p:spPr>
          <a:xfrm xmlns:a="http://schemas.openxmlformats.org/drawingml/2006/main">
            <a:off x="523951" y="1325880"/>
            <a:ext cx="11620500"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1" i="0">
                <a:solidFill>
                  <a:srgbClr val="111111"/>
                </a:solidFill>
                <a:latin typeface="BIZ UDPゴシック"/>
                <a:ea typeface="BIZ UDPゴシック"/>
                <a:cs typeface="BIZ UDPゴシック"/>
              </a:defRPr>
            </a:pPr>
            <a:r>
              <a:rPr sz="2100" b="1" i="0" u="none">
                <a:solidFill>
                  <a:srgbClr val="111111"/>
                </a:solidFill>
                <a:latin typeface="BIZ UDPゴシック"/>
                <a:ea typeface="BIZ UDPゴシック"/>
                <a:cs typeface="BIZ UDPゴシック"/>
              </a:rPr>
              <a:t>売上20%増。粗利率は低下し、返品率は上昇</a:t>
            </a:r>
          </a:p>
        </p:txBody>
      </p:sp>
      <p:sp>
        <p:nvSpPr>
          <p:cNvPr id="12" name="page-02-object-011">
            <a:extLst xmlns:a="http://schemas.openxmlformats.org/drawingml/2006/main">
              <a:ext uri="{FF2B5EF4-FFF2-40B4-BE49-F238E27FC236}">
                <a16:creationId xmlns:a16="http://schemas.microsoft.com/office/drawing/2014/main" id="{5374B3A9-8CC7-4820-BB3E-7FA3FD75BD45}"/>
              </a:ext>
            </a:extLst>
          </p:cNvPr>
          <p:cNvSpPr>
            <a:spLocks xmlns:a="http://schemas.openxmlformats.org/drawingml/2006/main" noGrp="1"/>
          </p:cNvSpPr>
          <p:nvPr/>
        </p:nvSpPr>
        <p:spPr>
          <a:xfrm xmlns:a="http://schemas.openxmlformats.org/drawingml/2006/main">
            <a:off x="514350" y="3803904"/>
            <a:ext cx="11144250" cy="365760"/>
          </a:xfrm>
          <a:prstGeom xmlns:a="http://schemas.openxmlformats.org/drawingml/2006/main" prst="rect">
            <a:avLst/>
          </a:prstGeom>
          <a:solidFill xmlns:a="http://schemas.openxmlformats.org/drawingml/2006/main">
            <a:srgbClr val="FFFFFF"/>
          </a:solidFill>
          <a:ln xmlns:a="http://schemas.openxmlformats.org/drawingml/2006/main" w="9525">
            <a:solidFill>
              <a:srgbClr val="A6A6A6"/>
            </a:solidFill>
            <a:prstDash val="dash"/>
          </a:ln>
        </p:spPr>
        <p:txBody>
          <a:bodyPr xmlns:a="http://schemas.openxmlformats.org/drawingml/2006/main" wrap="square" lIns="114300" tIns="85725" rIns="114300" bIns="76200" anchor="t">
            <a:noAutofit/>
          </a:bodyPr>
          <a:lstStyle xmlns:a="http://schemas.openxmlformats.org/drawingml/2006/main"/>
          <a:p xmlns:a="http://schemas.openxmlformats.org/drawingml/2006/main">
            <a:pPr algn="l">
              <a:defRPr sz="1350" b="0" i="1">
                <a:solidFill>
                  <a:srgbClr val="111111"/>
                </a:solidFill>
                <a:latin typeface="BIZ UDPゴシック"/>
                <a:ea typeface="BIZ UDPゴシック"/>
                <a:cs typeface="BIZ UDPゴシック"/>
              </a:defRPr>
            </a:pPr>
            <a:r>
              <a:rPr sz="1200" b="0" i="0" u="none">
                <a:solidFill>
                  <a:srgbClr val="111111"/>
                </a:solidFill>
                <a:latin typeface="BIZ UDPゴシック"/>
                <a:ea typeface="BIZ UDPゴシック"/>
                <a:cs typeface="BIZ UDPゴシック"/>
              </a:rPr>
              <a:t>比較：2026年9月と2025年9月。率の差はポイント、売上の変化は増加率で表示</a:t>
            </a:r>
          </a:p>
        </p:txBody>
      </p:sp>
      <p:sp>
        <p:nvSpPr>
          <p:cNvPr id="13" name="page-02-object-012">
            <a:extLst xmlns:a="http://schemas.openxmlformats.org/drawingml/2006/main">
              <a:ext uri="{FF2B5EF4-FFF2-40B4-BE49-F238E27FC236}">
                <a16:creationId xmlns:a16="http://schemas.microsoft.com/office/drawing/2014/main" id="{88BFF62D-6951-4D37-BAEA-BE4FB4F63BAD}"/>
              </a:ext>
            </a:extLst>
          </p:cNvPr>
          <p:cNvSpPr>
            <a:spLocks xmlns:a="http://schemas.openxmlformats.org/drawingml/2006/main" noGrp="1"/>
          </p:cNvSpPr>
          <p:nvPr/>
        </p:nvSpPr>
        <p:spPr>
          <a:xfrm xmlns:a="http://schemas.openxmlformats.org/drawingml/2006/main">
            <a:off x="523875" y="4379976"/>
            <a:ext cx="11144250" cy="1152144"/>
          </a:xfrm>
          <a:prstGeom xmlns:a="http://schemas.openxmlformats.org/drawingml/2006/main" prst="rect">
            <a:avLst/>
          </a:prstGeom>
          <a:solidFill xmlns:a="http://schemas.openxmlformats.org/drawingml/2006/main">
            <a:srgbClr val="F2F2F2"/>
          </a:solidFill>
          <a:ln xmlns:a="http://schemas.openxmlformats.org/drawingml/2006/main" w="7620">
            <a:solidFill>
              <a:srgbClr val="E7E6E6"/>
            </a:solidFill>
            <a:prstDash val="solid"/>
          </a:ln>
        </p:spPr>
        <p:txBody xmlns:a="http://schemas.openxmlformats.org/drawingml/2006/main">
          <a:bodyPr/>
          <a:p/>
        </p:txBody>
      </p:sp>
      <p:sp>
        <p:nvSpPr>
          <p:cNvPr id="14" name="page-02-object-013">
            <a:extLst xmlns:a="http://schemas.openxmlformats.org/drawingml/2006/main">
              <a:ext uri="{FF2B5EF4-FFF2-40B4-BE49-F238E27FC236}">
                <a16:creationId xmlns:a16="http://schemas.microsoft.com/office/drawing/2014/main" id="{140465C6-ED21-4ED3-BD75-8E6AB91627A0}"/>
              </a:ext>
            </a:extLst>
          </p:cNvPr>
          <p:cNvSpPr>
            <a:spLocks xmlns:a="http://schemas.openxmlformats.org/drawingml/2006/main" noGrp="1"/>
          </p:cNvSpPr>
          <p:nvPr/>
        </p:nvSpPr>
        <p:spPr>
          <a:xfrm xmlns:a="http://schemas.openxmlformats.org/drawingml/2006/main">
            <a:off x="685800" y="4498848"/>
            <a:ext cx="10789920" cy="3108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650" b="1" i="0">
                <a:solidFill>
                  <a:srgbClr val="111111"/>
                </a:solidFill>
                <a:latin typeface="BIZ UDPゴシック"/>
                <a:ea typeface="BIZ UDPゴシック"/>
                <a:cs typeface="BIZ UDPゴシック"/>
              </a:defRPr>
            </a:pPr>
            <a:r>
              <a:rPr sz="1700" b="1" i="0" u="none">
                <a:solidFill>
                  <a:srgbClr val="111111"/>
                </a:solidFill>
                <a:latin typeface="BIZ UDPゴシック"/>
                <a:ea typeface="BIZ UDPゴシック"/>
                <a:cs typeface="BIZ UDPゴシック"/>
              </a:rPr>
              <a:t>粗利額は52万円増加。率低下の要因は未確認</a:t>
            </a:r>
          </a:p>
        </p:txBody>
      </p:sp>
      <p:sp>
        <p:nvSpPr>
          <p:cNvPr id="15" name="page-02-object-014">
            <a:extLst xmlns:a="http://schemas.openxmlformats.org/drawingml/2006/main">
              <a:ext uri="{FF2B5EF4-FFF2-40B4-BE49-F238E27FC236}">
                <a16:creationId xmlns:a16="http://schemas.microsoft.com/office/drawing/2014/main" id="{EE18E051-8CE3-4EDE-BF14-57E7868ED526}"/>
              </a:ext>
            </a:extLst>
          </p:cNvPr>
          <p:cNvSpPr>
            <a:spLocks xmlns:a="http://schemas.openxmlformats.org/drawingml/2006/main" noGrp="1"/>
          </p:cNvSpPr>
          <p:nvPr/>
        </p:nvSpPr>
        <p:spPr>
          <a:xfrm xmlns:a="http://schemas.openxmlformats.org/drawingml/2006/main">
            <a:off x="723900" y="4910328"/>
            <a:ext cx="10620375" cy="5120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275" b="0" i="0">
                <a:solidFill>
                  <a:srgbClr val="111111"/>
                </a:solidFill>
                <a:latin typeface="BIZ UDPゴシック"/>
                <a:ea typeface="BIZ UDPゴシック"/>
                <a:cs typeface="BIZ UDPゴシック"/>
              </a:defRPr>
            </a:pPr>
            <a:r>
              <a:rPr sz="1400" b="0" i="0" u="none">
                <a:solidFill>
                  <a:srgbClr val="111111"/>
                </a:solidFill>
                <a:latin typeface="BIZ UDPゴシック"/>
                <a:ea typeface="BIZ UDPゴシック"/>
                <a:cs typeface="BIZ UDPゴシック"/>
              </a:rPr>
              <a:t>前年：1,000万円 × 38% ＝ 380万円</a:t>
            </a:r>
          </a:p>
          <a:p xmlns:a="http://schemas.openxmlformats.org/drawingml/2006/main">
            <a:pPr algn="l">
              <a:defRPr sz="1275" b="0" i="0">
                <a:solidFill>
                  <a:srgbClr val="111111"/>
                </a:solidFill>
                <a:latin typeface="BIZ UDPゴシック"/>
                <a:ea typeface="BIZ UDPゴシック"/>
                <a:cs typeface="BIZ UDPゴシック"/>
              </a:defRPr>
            </a:pPr>
            <a:r>
              <a:rPr sz="1400" b="0" i="0" u="none">
                <a:solidFill>
                  <a:srgbClr val="111111"/>
                </a:solidFill>
                <a:latin typeface="BIZ UDPゴシック"/>
                <a:ea typeface="BIZ UDPゴシック"/>
                <a:cs typeface="BIZ UDPゴシック"/>
              </a:rPr>
              <a:t>当月：1,200万円 × 36% ＝ 432万円</a:t>
            </a:r>
          </a:p>
        </p:txBody>
      </p:sp>
      <p:sp>
        <p:nvSpPr>
          <p:cNvPr id="16" name="page-02-object-015">
            <a:extLst xmlns:a="http://schemas.openxmlformats.org/drawingml/2006/main">
              <a:ext uri="{FF2B5EF4-FFF2-40B4-BE49-F238E27FC236}">
                <a16:creationId xmlns:a16="http://schemas.microsoft.com/office/drawing/2014/main" id="{AA098160-C692-497F-990E-BF3A0C1F8570}"/>
              </a:ext>
            </a:extLst>
          </p:cNvPr>
          <p:cNvSpPr>
            <a:spLocks xmlns:a="http://schemas.openxmlformats.org/drawingml/2006/main" noGrp="1"/>
          </p:cNvSpPr>
          <p:nvPr/>
        </p:nvSpPr>
        <p:spPr>
          <a:xfrm xmlns:a="http://schemas.openxmlformats.org/drawingml/2006/main">
            <a:off x="285750" y="5743575"/>
            <a:ext cx="11601450" cy="381000"/>
          </a:xfrm>
          <a:prstGeom xmlns:a="http://schemas.openxmlformats.org/drawingml/2006/main" prst="rect">
            <a:avLst/>
          </a:prstGeom>
          <a:solidFill xmlns:a="http://schemas.openxmlformats.org/drawingml/2006/main">
            <a:srgbClr val="DDEBF7"/>
          </a:solidFill>
          <a:ln xmlns:a="http://schemas.openxmlformats.org/drawingml/2006/main" w="11430">
            <a:solidFill>
              <a:srgbClr val="2474B5"/>
            </a:solidFill>
            <a:prstDash val="solid"/>
          </a:ln>
        </p:spPr>
        <p:txBody xmlns:a="http://schemas.openxmlformats.org/drawingml/2006/main">
          <a:bodyPr/>
          <a:p/>
        </p:txBody>
      </p:sp>
      <p:sp>
        <p:nvSpPr>
          <p:cNvPr id="17" name="page-02-object-016">
            <a:extLst xmlns:a="http://schemas.openxmlformats.org/drawingml/2006/main">
              <a:ext uri="{FF2B5EF4-FFF2-40B4-BE49-F238E27FC236}">
                <a16:creationId xmlns:a16="http://schemas.microsoft.com/office/drawing/2014/main" id="{C79F894D-2DE4-4DA1-98E1-E2DA21426ADC}"/>
              </a:ext>
            </a:extLst>
          </p:cNvPr>
          <p:cNvSpPr>
            <a:spLocks xmlns:a="http://schemas.openxmlformats.org/drawingml/2006/main" noGrp="1"/>
          </p:cNvSpPr>
          <p:nvPr/>
        </p:nvSpPr>
        <p:spPr>
          <a:xfrm xmlns:a="http://schemas.openxmlformats.org/drawingml/2006/main">
            <a:off x="285750" y="5743575"/>
            <a:ext cx="1047750" cy="381000"/>
          </a:xfrm>
          <a:prstGeom xmlns:a="http://schemas.openxmlformats.org/drawingml/2006/main" prst="rect">
            <a:avLst/>
          </a:prstGeom>
          <a:solidFill xmlns:a="http://schemas.openxmlformats.org/drawingml/2006/main">
            <a:srgbClr val="0B5AA6"/>
          </a:solidFill>
          <a:ln xmlns:a="http://schemas.openxmlformats.org/drawingml/2006/main" w="0">
            <a:solidFill>
              <a:srgbClr val="0B5AA6"/>
            </a:solidFill>
            <a:prstDash val="solid"/>
          </a:ln>
        </p:spPr>
        <p:txBody xmlns:a="http://schemas.openxmlformats.org/drawingml/2006/main">
          <a:bodyPr/>
          <a:p/>
        </p:txBody>
      </p:sp>
      <p:sp>
        <p:nvSpPr>
          <p:cNvPr id="18" name="page-02-object-017">
            <a:extLst xmlns:a="http://schemas.openxmlformats.org/drawingml/2006/main">
              <a:ext uri="{FF2B5EF4-FFF2-40B4-BE49-F238E27FC236}">
                <a16:creationId xmlns:a16="http://schemas.microsoft.com/office/drawing/2014/main" id="{DC976C29-A7AF-45F2-A939-4A8BE50729F6}"/>
              </a:ext>
            </a:extLst>
          </p:cNvPr>
          <p:cNvSpPr>
            <a:spLocks xmlns:a="http://schemas.openxmlformats.org/drawingml/2006/main" noGrp="1"/>
          </p:cNvSpPr>
          <p:nvPr/>
        </p:nvSpPr>
        <p:spPr>
          <a:xfrm xmlns:a="http://schemas.openxmlformats.org/drawingml/2006/main">
            <a:off x="285750" y="5791200"/>
            <a:ext cx="1047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i="0">
                <a:solidFill>
                  <a:srgbClr val="FFFFFF"/>
                </a:solidFill>
                <a:latin typeface="BIZ UDPゴシック"/>
                <a:ea typeface="BIZ UDPゴシック"/>
                <a:cs typeface="BIZ UDPゴシック"/>
              </a:defRPr>
            </a:pPr>
            <a:r>
              <a:rPr sz="1200" b="1" i="0" u="none">
                <a:solidFill>
                  <a:srgbClr val="FFFFFF"/>
                </a:solidFill>
                <a:latin typeface="BIZ UDPゴシック"/>
                <a:ea typeface="BIZ UDPゴシック"/>
                <a:cs typeface="BIZ UDPゴシック"/>
              </a:rPr>
              <a:t>要旨</a:t>
            </a:r>
          </a:p>
        </p:txBody>
      </p:sp>
      <p:sp>
        <p:nvSpPr>
          <p:cNvPr id="19" name="page-02-object-018">
            <a:extLst xmlns:a="http://schemas.openxmlformats.org/drawingml/2006/main">
              <a:ext uri="{FF2B5EF4-FFF2-40B4-BE49-F238E27FC236}">
                <a16:creationId xmlns:a16="http://schemas.microsoft.com/office/drawing/2014/main" id="{7B9C59F4-0F3C-4E87-8EF6-7C412C9D0C4E}"/>
              </a:ext>
            </a:extLst>
          </p:cNvPr>
          <p:cNvSpPr>
            <a:spLocks xmlns:a="http://schemas.openxmlformats.org/drawingml/2006/main" noGrp="1"/>
          </p:cNvSpPr>
          <p:nvPr/>
        </p:nvSpPr>
        <p:spPr>
          <a:xfrm xmlns:a="http://schemas.openxmlformats.org/drawingml/2006/main">
            <a:off x="1447800" y="5800725"/>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i="0">
                <a:solidFill>
                  <a:srgbClr val="111111"/>
                </a:solidFill>
                <a:latin typeface="BIZ UDPゴシック"/>
                <a:ea typeface="BIZ UDPゴシック"/>
                <a:cs typeface="BIZ UDPゴシック"/>
              </a:defRPr>
            </a:pPr>
            <a:r>
              <a:rPr sz="1275" b="1" i="0" u="none">
                <a:solidFill>
                  <a:srgbClr val="111111"/>
                </a:solidFill>
                <a:latin typeface="BIZ UDPゴシック"/>
                <a:ea typeface="BIZ UDPゴシック"/>
                <a:cs typeface="BIZ UDPゴシック"/>
              </a:rPr>
              <a:t>商品説明の修正と粗利分析を先行し、広告増額は次回の確認後に判断する</a:t>
            </a:r>
          </a:p>
        </p:txBody>
      </p:sp>
      <p:sp>
        <p:nvSpPr>
          <p:cNvPr id="20" name="page-02-object-019">
            <a:extLst xmlns:a="http://schemas.openxmlformats.org/drawingml/2006/main">
              <a:ext uri="{FF2B5EF4-FFF2-40B4-BE49-F238E27FC236}">
                <a16:creationId xmlns:a16="http://schemas.microsoft.com/office/drawing/2014/main" id="{E53BF51B-39A5-4532-B288-43543D840B47}"/>
              </a:ext>
            </a:extLst>
          </p:cNvPr>
          <p:cNvSpPr>
            <a:spLocks xmlns:a="http://schemas.openxmlformats.org/drawingml/2006/main" noGrp="1"/>
          </p:cNvSpPr>
          <p:nvPr/>
        </p:nvSpPr>
        <p:spPr>
          <a:xfrm xmlns:a="http://schemas.openxmlformats.org/drawingml/2006/main">
            <a:off x="304800" y="6305550"/>
            <a:ext cx="1100137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75" b="0" i="0">
                <a:solidFill>
                  <a:srgbClr val="666666"/>
                </a:solidFill>
                <a:latin typeface="BIZ UDPゴシック"/>
                <a:ea typeface="BIZ UDPゴシック"/>
                <a:cs typeface="BIZ UDPゴシック"/>
              </a:defRPr>
            </a:pPr>
            <a:r>
              <a:rPr sz="675" b="0" i="0" u="none">
                <a:solidFill>
                  <a:srgbClr val="666666"/>
                </a:solidFill>
                <a:latin typeface="BIZ UDPゴシック"/>
                <a:ea typeface="BIZ UDPゴシック"/>
                <a:cs typeface="BIZ UDPゴシック"/>
              </a:rPr>
              <a:t>出所：架空データ「くらし便 2026年9月・前年同月比較」</a:t>
            </a:r>
          </a:p>
        </p:txBody>
      </p:sp>
      <p:graphicFrame xmlns:a="http://schemas.openxmlformats.org/drawingml/2006/main">
        <p:nvGraphicFramePr>
          <p:cNvPr id="22" name="page-02-native-metric-table"/>
          <p:cNvGraphicFramePr>
            <a:graphicFrameLocks noGrp="1"/>
          </p:cNvGraphicFramePr>
          <p:nvPr/>
        </p:nvGraphicFramePr>
        <p:xfrm>
          <a:off x="523951" y="1847088"/>
          <a:ext cx="11144707" cy="1847088"/>
        </p:xfrm>
        <a:graphic>
          <a:graphicData uri="http://schemas.openxmlformats.org/drawingml/2006/table">
            <a:tbl>
              <a:tblPr firstRow="1" bandRow="1">
                <a:tableStyleId>{5C22544A-7EE6-4342-B048-85BDC9FD1C3A}</a:tableStyleId>
              </a:tblPr>
              <a:tblGrid>
                <a:gridCol w="3383280"/>
                <a:gridCol w="2606040"/>
                <a:gridCol w="2606040"/>
                <a:gridCol w="2549347"/>
              </a:tblGrid>
              <a:tr h="461772">
                <a:tc>
                  <a:txBody>
                    <a:bodyPr/>
                    <a:lstStyle/>
                    <a:p>
                      <a:r>
                        <a:rPr sz="1600" b="1">
                          <a:solidFill>
                            <a:srgbClr val="FFFFFF"/>
                          </a:solidFill>
                          <a:latin typeface="BIZ UDPゴシック"/>
                        </a:rPr>
                        <a:t>指標</a:t>
                      </a:r>
                    </a:p>
                  </a:txBody>
                  <a:tcPr marL="118872" marR="91440" marT="64008" marB="45720">
                    <a:solidFill>
                      <a:srgbClr val="2474B5"/>
                    </a:solidFill>
                  </a:tcPr>
                </a:tc>
                <a:tc>
                  <a:txBody>
                    <a:bodyPr/>
                    <a:lstStyle/>
                    <a:p>
                      <a:r>
                        <a:rPr sz="1600" b="1">
                          <a:solidFill>
                            <a:srgbClr val="FFFFFF"/>
                          </a:solidFill>
                          <a:latin typeface="BIZ UDPゴシック"/>
                        </a:rPr>
                        <a:t>2025年9月</a:t>
                      </a:r>
                    </a:p>
                  </a:txBody>
                  <a:tcPr marL="118872" marR="91440" marT="64008" marB="45720">
                    <a:solidFill>
                      <a:srgbClr val="2474B5"/>
                    </a:solidFill>
                  </a:tcPr>
                </a:tc>
                <a:tc>
                  <a:txBody>
                    <a:bodyPr/>
                    <a:lstStyle/>
                    <a:p>
                      <a:r>
                        <a:rPr sz="1600" b="1">
                          <a:solidFill>
                            <a:srgbClr val="FFFFFF"/>
                          </a:solidFill>
                          <a:latin typeface="BIZ UDPゴシック"/>
                        </a:rPr>
                        <a:t>2026年9月</a:t>
                      </a:r>
                    </a:p>
                  </a:txBody>
                  <a:tcPr marL="118872" marR="91440" marT="64008" marB="45720">
                    <a:solidFill>
                      <a:srgbClr val="2474B5"/>
                    </a:solidFill>
                  </a:tcPr>
                </a:tc>
                <a:tc>
                  <a:txBody>
                    <a:bodyPr/>
                    <a:lstStyle/>
                    <a:p>
                      <a:r>
                        <a:rPr sz="1600" b="1">
                          <a:solidFill>
                            <a:srgbClr val="FFFFFF"/>
                          </a:solidFill>
                          <a:latin typeface="BIZ UDPゴシック"/>
                        </a:rPr>
                        <a:t>変化</a:t>
                      </a:r>
                    </a:p>
                  </a:txBody>
                  <a:tcPr marL="118872" marR="91440" marT="64008" marB="45720">
                    <a:solidFill>
                      <a:srgbClr val="2474B5"/>
                    </a:solidFill>
                  </a:tcPr>
                </a:tc>
              </a:tr>
              <a:tr h="461772">
                <a:tc>
                  <a:txBody>
                    <a:bodyPr/>
                    <a:lstStyle/>
                    <a:p>
                      <a:r>
                        <a:rPr sz="1700" b="0">
                          <a:solidFill>
                            <a:srgbClr val="111111"/>
                          </a:solidFill>
                          <a:latin typeface="BIZ UDPゴシック"/>
                        </a:rPr>
                        <a:t>売上</a:t>
                      </a:r>
                    </a:p>
                  </a:txBody>
                  <a:tcPr marL="118872" marR="91440" marT="64008" marB="45720">
                    <a:solidFill>
                      <a:srgbClr val="FFFFFF"/>
                    </a:solidFill>
                  </a:tcPr>
                </a:tc>
                <a:tc>
                  <a:txBody>
                    <a:bodyPr/>
                    <a:lstStyle/>
                    <a:p>
                      <a:r>
                        <a:rPr sz="1700" b="0">
                          <a:solidFill>
                            <a:srgbClr val="111111"/>
                          </a:solidFill>
                          <a:latin typeface="BIZ UDPゴシック"/>
                        </a:rPr>
                        <a:t>1,000万円</a:t>
                      </a:r>
                    </a:p>
                  </a:txBody>
                  <a:tcPr marL="118872" marR="91440" marT="64008" marB="45720">
                    <a:solidFill>
                      <a:srgbClr val="FFFFFF"/>
                    </a:solidFill>
                  </a:tcPr>
                </a:tc>
                <a:tc>
                  <a:txBody>
                    <a:bodyPr/>
                    <a:lstStyle/>
                    <a:p>
                      <a:r>
                        <a:rPr sz="1700" b="0">
                          <a:solidFill>
                            <a:srgbClr val="111111"/>
                          </a:solidFill>
                          <a:latin typeface="BIZ UDPゴシック"/>
                        </a:rPr>
                        <a:t>1,200万円</a:t>
                      </a:r>
                    </a:p>
                  </a:txBody>
                  <a:tcPr marL="118872" marR="91440" marT="64008" marB="45720">
                    <a:solidFill>
                      <a:srgbClr val="FFFFFF"/>
                    </a:solidFill>
                  </a:tcPr>
                </a:tc>
                <a:tc>
                  <a:txBody>
                    <a:bodyPr/>
                    <a:lstStyle/>
                    <a:p>
                      <a:r>
                        <a:rPr sz="1700" b="0">
                          <a:solidFill>
                            <a:srgbClr val="111111"/>
                          </a:solidFill>
                          <a:latin typeface="BIZ UDPゴシック"/>
                        </a:rPr>
                        <a:t>20%増</a:t>
                      </a:r>
                    </a:p>
                  </a:txBody>
                  <a:tcPr marL="118872" marR="91440" marT="64008" marB="45720">
                    <a:solidFill>
                      <a:srgbClr val="FFFFFF"/>
                    </a:solidFill>
                  </a:tcPr>
                </a:tc>
              </a:tr>
              <a:tr h="461772">
                <a:tc>
                  <a:txBody>
                    <a:bodyPr/>
                    <a:lstStyle/>
                    <a:p>
                      <a:r>
                        <a:rPr sz="1700" b="0">
                          <a:solidFill>
                            <a:srgbClr val="111111"/>
                          </a:solidFill>
                          <a:latin typeface="BIZ UDPゴシック"/>
                        </a:rPr>
                        <a:t>粗利率</a:t>
                      </a:r>
                    </a:p>
                  </a:txBody>
                  <a:tcPr marL="118872" marR="91440" marT="64008" marB="45720">
                    <a:solidFill>
                      <a:srgbClr val="EEF4F9"/>
                    </a:solidFill>
                  </a:tcPr>
                </a:tc>
                <a:tc>
                  <a:txBody>
                    <a:bodyPr/>
                    <a:lstStyle/>
                    <a:p>
                      <a:r>
                        <a:rPr sz="1700" b="0">
                          <a:solidFill>
                            <a:srgbClr val="111111"/>
                          </a:solidFill>
                          <a:latin typeface="BIZ UDPゴシック"/>
                        </a:rPr>
                        <a:t>38%</a:t>
                      </a:r>
                    </a:p>
                  </a:txBody>
                  <a:tcPr marL="118872" marR="91440" marT="64008" marB="45720">
                    <a:solidFill>
                      <a:srgbClr val="EEF4F9"/>
                    </a:solidFill>
                  </a:tcPr>
                </a:tc>
                <a:tc>
                  <a:txBody>
                    <a:bodyPr/>
                    <a:lstStyle/>
                    <a:p>
                      <a:r>
                        <a:rPr sz="1700" b="0">
                          <a:solidFill>
                            <a:srgbClr val="111111"/>
                          </a:solidFill>
                          <a:latin typeface="BIZ UDPゴシック"/>
                        </a:rPr>
                        <a:t>36%</a:t>
                      </a:r>
                    </a:p>
                  </a:txBody>
                  <a:tcPr marL="118872" marR="91440" marT="64008" marB="45720">
                    <a:solidFill>
                      <a:srgbClr val="EEF4F9"/>
                    </a:solidFill>
                  </a:tcPr>
                </a:tc>
                <a:tc>
                  <a:txBody>
                    <a:bodyPr/>
                    <a:lstStyle/>
                    <a:p>
                      <a:r>
                        <a:rPr sz="1700" b="0">
                          <a:solidFill>
                            <a:srgbClr val="C00000"/>
                          </a:solidFill>
                          <a:latin typeface="BIZ UDPゴシック"/>
                        </a:rPr>
                        <a:t>2ポイント低下</a:t>
                      </a:r>
                    </a:p>
                  </a:txBody>
                  <a:tcPr marL="118872" marR="91440" marT="64008" marB="45720">
                    <a:solidFill>
                      <a:srgbClr val="EEF4F9"/>
                    </a:solidFill>
                  </a:tcPr>
                </a:tc>
              </a:tr>
              <a:tr h="461772">
                <a:tc>
                  <a:txBody>
                    <a:bodyPr/>
                    <a:lstStyle/>
                    <a:p>
                      <a:r>
                        <a:rPr sz="1700" b="0">
                          <a:solidFill>
                            <a:srgbClr val="111111"/>
                          </a:solidFill>
                          <a:latin typeface="BIZ UDPゴシック"/>
                        </a:rPr>
                        <a:t>返品率</a:t>
                      </a:r>
                    </a:p>
                  </a:txBody>
                  <a:tcPr marL="118872" marR="91440" marT="64008" marB="45720">
                    <a:solidFill>
                      <a:srgbClr val="FFFFFF"/>
                    </a:solidFill>
                  </a:tcPr>
                </a:tc>
                <a:tc>
                  <a:txBody>
                    <a:bodyPr/>
                    <a:lstStyle/>
                    <a:p>
                      <a:r>
                        <a:rPr sz="1700" b="0">
                          <a:solidFill>
                            <a:srgbClr val="111111"/>
                          </a:solidFill>
                          <a:latin typeface="BIZ UDPゴシック"/>
                        </a:rPr>
                        <a:t>4%</a:t>
                      </a:r>
                    </a:p>
                  </a:txBody>
                  <a:tcPr marL="118872" marR="91440" marT="64008" marB="45720">
                    <a:solidFill>
                      <a:srgbClr val="FFFFFF"/>
                    </a:solidFill>
                  </a:tcPr>
                </a:tc>
                <a:tc>
                  <a:txBody>
                    <a:bodyPr/>
                    <a:lstStyle/>
                    <a:p>
                      <a:r>
                        <a:rPr sz="1700" b="0">
                          <a:solidFill>
                            <a:srgbClr val="111111"/>
                          </a:solidFill>
                          <a:latin typeface="BIZ UDPゴシック"/>
                        </a:rPr>
                        <a:t>6%</a:t>
                      </a:r>
                    </a:p>
                  </a:txBody>
                  <a:tcPr marL="118872" marR="91440" marT="64008" marB="45720">
                    <a:solidFill>
                      <a:srgbClr val="FFFFFF"/>
                    </a:solidFill>
                  </a:tcPr>
                </a:tc>
                <a:tc>
                  <a:txBody>
                    <a:bodyPr/>
                    <a:lstStyle/>
                    <a:p>
                      <a:r>
                        <a:rPr sz="1700" b="0">
                          <a:solidFill>
                            <a:srgbClr val="C00000"/>
                          </a:solidFill>
                          <a:latin typeface="BIZ UDPゴシック"/>
                        </a:rPr>
                        <a:t>2ポイント上昇</a:t>
                      </a:r>
                    </a:p>
                  </a:txBody>
                  <a:tcPr marL="118872" marR="91440" marT="64008" marB="45720">
                    <a:solidFill>
                      <a:srgbClr val="FFFFFF"/>
                    </a:solidFill>
                  </a:tcPr>
                </a:tc>
              </a:tr>
            </a:tbl>
          </a:graphicData>
        </a:graphic>
      </p:graphicFrame>
    </p:spTree>
    <p:extLst>
      <p:ext uri="{BB962C8B-B14F-4D97-AF65-F5344CB8AC3E}">
        <p14:creationId xmlns:p14="http://schemas.microsoft.com/office/powerpoint/2010/main" val="140186489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 name="page-05-object-000">
            <a:extLst xmlns:a="http://schemas.openxmlformats.org/drawingml/2006/main">
              <a:ext uri="{FF2B5EF4-FFF2-40B4-BE49-F238E27FC236}">
                <a16:creationId xmlns:a16="http://schemas.microsoft.com/office/drawing/2014/main" id="{F94B9678-3C54-491D-ABD7-C12BF0FDF1C3}"/>
              </a:ext>
            </a:extLst>
          </p:cNvPr>
          <p:cNvSpPr>
            <a:spLocks xmlns:a="http://schemas.openxmlformats.org/drawingml/2006/main" noGrp="1"/>
          </p:cNvSpPr>
          <p:nvPr/>
        </p:nvSpPr>
        <p:spPr>
          <a:xfrm xmlns:a="http://schemas.openxmlformats.org/drawingml/2006/main">
            <a:off x="0" y="0"/>
            <a:ext cx="12192000" cy="495300"/>
          </a:xfrm>
          <a:prstGeom xmlns:a="http://schemas.openxmlformats.org/drawingml/2006/main" prst="rect">
            <a:avLst/>
          </a:prstGeom>
          <a:solidFill xmlns:a="http://schemas.openxmlformats.org/drawingml/2006/main">
            <a:srgbClr val="0B5AA6"/>
          </a:solidFill>
          <a:ln xmlns:a="http://schemas.openxmlformats.org/drawingml/2006/main" w="0">
            <a:solidFill>
              <a:srgbClr val="0B5AA6"/>
            </a:solidFill>
            <a:prstDash val="solid"/>
          </a:ln>
        </p:spPr>
        <p:txBody xmlns:a="http://schemas.openxmlformats.org/drawingml/2006/main">
          <a:bodyPr/>
          <a:p/>
        </p:txBody>
      </p:sp>
      <p:sp>
        <p:nvSpPr>
          <p:cNvPr id="2" name="page-05-object-001">
            <a:extLst xmlns:a="http://schemas.openxmlformats.org/drawingml/2006/main">
              <a:ext uri="{FF2B5EF4-FFF2-40B4-BE49-F238E27FC236}">
                <a16:creationId xmlns:a16="http://schemas.microsoft.com/office/drawing/2014/main" id="{D05BD237-8579-4285-9B6A-28F0504B6C32}"/>
              </a:ext>
            </a:extLst>
          </p:cNvPr>
          <p:cNvSpPr>
            <a:spLocks xmlns:a="http://schemas.openxmlformats.org/drawingml/2006/main" noGrp="1"/>
          </p:cNvSpPr>
          <p:nvPr/>
        </p:nvSpPr>
        <p:spPr>
          <a:xfrm xmlns:a="http://schemas.openxmlformats.org/drawingml/2006/main">
            <a:off x="228600" y="38100"/>
            <a:ext cx="885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i="0">
                <a:solidFill>
                  <a:srgbClr val="FFFFFF"/>
                </a:solidFill>
                <a:latin typeface="BIZ UDPゴシック"/>
                <a:ea typeface="BIZ UDPゴシック"/>
                <a:cs typeface="BIZ UDPゴシック"/>
              </a:defRPr>
            </a:pPr>
            <a:r>
              <a:rPr sz="2100" b="1" i="0" u="none">
                <a:solidFill>
                  <a:srgbClr val="FFFFFF"/>
                </a:solidFill>
                <a:latin typeface="BIZ UDPゴシック"/>
                <a:ea typeface="BIZ UDPゴシック"/>
                <a:cs typeface="BIZ UDPゴシック"/>
              </a:rPr>
              <a:t>業務プロセス・役割分担</a:t>
            </a:r>
          </a:p>
        </p:txBody>
      </p:sp>
      <p:sp>
        <p:nvSpPr>
          <p:cNvPr id="3" name="page-05-object-002">
            <a:extLst xmlns:a="http://schemas.openxmlformats.org/drawingml/2006/main">
              <a:ext uri="{FF2B5EF4-FFF2-40B4-BE49-F238E27FC236}">
                <a16:creationId xmlns:a16="http://schemas.microsoft.com/office/drawing/2014/main" id="{78F24543-0C29-471B-9E4D-04FDBCCA0E65}"/>
              </a:ext>
            </a:extLst>
          </p:cNvPr>
          <p:cNvSpPr>
            <a:spLocks xmlns:a="http://schemas.openxmlformats.org/drawingml/2006/main" noGrp="1"/>
          </p:cNvSpPr>
          <p:nvPr/>
        </p:nvSpPr>
        <p:spPr>
          <a:xfrm xmlns:a="http://schemas.openxmlformats.org/drawingml/2006/main">
            <a:off x="9620250" y="76200"/>
            <a:ext cx="2266950" cy="323850"/>
          </a:xfrm>
          <a:prstGeom xmlns:a="http://schemas.openxmlformats.org/drawingml/2006/main" prst="rect">
            <a:avLst/>
          </a:prstGeom>
          <a:solidFill xmlns:a="http://schemas.openxmlformats.org/drawingml/2006/main">
            <a:srgbClr val="00A9E0"/>
          </a:solidFill>
          <a:ln xmlns:a="http://schemas.openxmlformats.org/drawingml/2006/main" w="0">
            <a:solidFill>
              <a:srgbClr val="00A9E0"/>
            </a:solidFill>
            <a:prstDash val="solid"/>
          </a:ln>
        </p:spPr>
        <p:txBody xmlns:a="http://schemas.openxmlformats.org/drawingml/2006/main">
          <a:bodyPr/>
          <a:p/>
        </p:txBody>
      </p:sp>
      <p:sp>
        <p:nvSpPr>
          <p:cNvPr id="4" name="page-05-object-003">
            <a:extLst xmlns:a="http://schemas.openxmlformats.org/drawingml/2006/main">
              <a:ext uri="{FF2B5EF4-FFF2-40B4-BE49-F238E27FC236}">
                <a16:creationId xmlns:a16="http://schemas.microsoft.com/office/drawing/2014/main" id="{141539DE-1A4B-441A-97A5-0D5FEF764A7B}"/>
              </a:ext>
            </a:extLst>
          </p:cNvPr>
          <p:cNvSpPr>
            <a:spLocks xmlns:a="http://schemas.openxmlformats.org/drawingml/2006/main" noGrp="1"/>
          </p:cNvSpPr>
          <p:nvPr/>
        </p:nvSpPr>
        <p:spPr>
          <a:xfrm xmlns:a="http://schemas.openxmlformats.org/drawingml/2006/main">
            <a:off x="9620250" y="104775"/>
            <a:ext cx="22669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i="0">
                <a:solidFill>
                  <a:srgbClr val="FFFFFF"/>
                </a:solidFill>
                <a:latin typeface="BIZ UDPゴシック"/>
                <a:ea typeface="BIZ UDPゴシック"/>
                <a:cs typeface="BIZ UDPゴシック"/>
              </a:defRPr>
            </a:pPr>
            <a:r>
              <a:rPr sz="1125" b="1" i="0" u="none">
                <a:solidFill>
                  <a:srgbClr val="FFFFFF"/>
                </a:solidFill>
                <a:latin typeface="BIZ UDPゴシック"/>
                <a:ea typeface="BIZ UDPゴシック"/>
                <a:cs typeface="BIZ UDPゴシック"/>
              </a:rPr>
              <a:t>受け渡しの設計案</a:t>
            </a:r>
          </a:p>
        </p:txBody>
      </p:sp>
      <p:sp>
        <p:nvSpPr>
          <p:cNvPr id="5" name="page-05-object-004">
            <a:extLst xmlns:a="http://schemas.openxmlformats.org/drawingml/2006/main">
              <a:ext uri="{FF2B5EF4-FFF2-40B4-BE49-F238E27FC236}">
                <a16:creationId xmlns:a16="http://schemas.microsoft.com/office/drawing/2014/main" id="{B94A229F-5AB2-4C26-BFF9-94EE33E40C47}"/>
              </a:ext>
            </a:extLst>
          </p:cNvPr>
          <p:cNvSpPr>
            <a:spLocks xmlns:a="http://schemas.openxmlformats.org/drawingml/2006/main" noGrp="1"/>
          </p:cNvSpPr>
          <p:nvPr/>
        </p:nvSpPr>
        <p:spPr>
          <a:xfrm xmlns:a="http://schemas.openxmlformats.org/drawingml/2006/main">
            <a:off x="0" y="6543675"/>
            <a:ext cx="5905500" cy="314325"/>
          </a:xfrm>
          <a:prstGeom xmlns:a="http://schemas.openxmlformats.org/drawingml/2006/main" prst="rect">
            <a:avLst/>
          </a:prstGeom>
          <a:solidFill xmlns:a="http://schemas.openxmlformats.org/drawingml/2006/main">
            <a:srgbClr val="0B5AA6"/>
          </a:solidFill>
          <a:ln xmlns:a="http://schemas.openxmlformats.org/drawingml/2006/main" w="0">
            <a:solidFill>
              <a:srgbClr val="0B5AA6"/>
            </a:solidFill>
            <a:prstDash val="solid"/>
          </a:ln>
        </p:spPr>
        <p:txBody xmlns:a="http://schemas.openxmlformats.org/drawingml/2006/main">
          <a:bodyPr/>
          <a:p/>
        </p:txBody>
      </p:sp>
      <p:sp>
        <p:nvSpPr>
          <p:cNvPr id="6" name="page-05-object-005">
            <a:extLst xmlns:a="http://schemas.openxmlformats.org/drawingml/2006/main">
              <a:ext uri="{FF2B5EF4-FFF2-40B4-BE49-F238E27FC236}">
                <a16:creationId xmlns:a16="http://schemas.microsoft.com/office/drawing/2014/main" id="{4946777E-AF05-4126-9428-DA98D90D2F7B}"/>
              </a:ext>
            </a:extLst>
          </p:cNvPr>
          <p:cNvSpPr>
            <a:spLocks xmlns:a="http://schemas.openxmlformats.org/drawingml/2006/main" noGrp="1"/>
          </p:cNvSpPr>
          <p:nvPr/>
        </p:nvSpPr>
        <p:spPr>
          <a:xfrm xmlns:a="http://schemas.openxmlformats.org/drawingml/2006/main">
            <a:off x="447675" y="6543675"/>
            <a:ext cx="76200" cy="3143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7" name="page-05-object-006">
            <a:extLst xmlns:a="http://schemas.openxmlformats.org/drawingml/2006/main">
              <a:ext uri="{FF2B5EF4-FFF2-40B4-BE49-F238E27FC236}">
                <a16:creationId xmlns:a16="http://schemas.microsoft.com/office/drawing/2014/main" id="{6C2C766C-A842-4B0E-AD75-75E49F0C1A9E}"/>
              </a:ext>
            </a:extLst>
          </p:cNvPr>
          <p:cNvSpPr>
            <a:spLocks xmlns:a="http://schemas.openxmlformats.org/drawingml/2006/main" noGrp="1"/>
          </p:cNvSpPr>
          <p:nvPr/>
        </p:nvSpPr>
        <p:spPr>
          <a:xfrm xmlns:a="http://schemas.openxmlformats.org/drawingml/2006/main">
            <a:off x="619125" y="6543675"/>
            <a:ext cx="28575" cy="3143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8" name="page-05-object-007">
            <a:extLst xmlns:a="http://schemas.openxmlformats.org/drawingml/2006/main">
              <a:ext uri="{FF2B5EF4-FFF2-40B4-BE49-F238E27FC236}">
                <a16:creationId xmlns:a16="http://schemas.microsoft.com/office/drawing/2014/main" id="{CA3A4B40-52DC-4962-A24E-E46F7FE78D9E}"/>
              </a:ext>
            </a:extLst>
          </p:cNvPr>
          <p:cNvSpPr>
            <a:spLocks xmlns:a="http://schemas.openxmlformats.org/drawingml/2006/main" noGrp="1"/>
          </p:cNvSpPr>
          <p:nvPr/>
        </p:nvSpPr>
        <p:spPr>
          <a:xfrm xmlns:a="http://schemas.openxmlformats.org/drawingml/2006/main">
            <a:off x="857250" y="6581775"/>
            <a:ext cx="461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75" b="0" i="0">
                <a:solidFill>
                  <a:srgbClr val="FFFFFF"/>
                </a:solidFill>
                <a:latin typeface="BIZ UDPゴシック"/>
                <a:ea typeface="BIZ UDPゴシック"/>
                <a:cs typeface="BIZ UDPゴシック"/>
              </a:defRPr>
            </a:pPr>
            <a:r>
              <a:rPr sz="975" b="0" i="0" u="none">
                <a:solidFill>
                  <a:srgbClr val="FFFFFF"/>
                </a:solidFill>
                <a:latin typeface="BIZ UDPゴシック"/>
                <a:ea typeface="BIZ UDPゴシック"/>
                <a:cs typeface="BIZ UDPゴシック"/>
              </a:rPr>
              <a:t>くらし便 EC事業部　架空の制作例</a:t>
            </a:r>
          </a:p>
        </p:txBody>
      </p:sp>
      <p:sp>
        <p:nvSpPr>
          <p:cNvPr id="9" name="page-05-object-008">
            <a:extLst xmlns:a="http://schemas.openxmlformats.org/drawingml/2006/main">
              <a:ext uri="{FF2B5EF4-FFF2-40B4-BE49-F238E27FC236}">
                <a16:creationId xmlns:a16="http://schemas.microsoft.com/office/drawing/2014/main" id="{62AC2485-2E1A-4D15-B332-97257EF8B037}"/>
              </a:ext>
            </a:extLst>
          </p:cNvPr>
          <p:cNvSpPr>
            <a:spLocks xmlns:a="http://schemas.openxmlformats.org/drawingml/2006/main" noGrp="1"/>
          </p:cNvSpPr>
          <p:nvPr/>
        </p:nvSpPr>
        <p:spPr>
          <a:xfrm xmlns:a="http://schemas.openxmlformats.org/drawingml/2006/main">
            <a:off x="11601450" y="657225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75" b="0" i="0">
                <a:solidFill>
                  <a:srgbClr val="666666"/>
                </a:solidFill>
                <a:latin typeface="BIZ UDPゴシック"/>
                <a:ea typeface="BIZ UDPゴシック"/>
                <a:cs typeface="BIZ UDPゴシック"/>
              </a:defRPr>
            </a:pPr>
            <a:r>
              <a:rPr sz="975" b="0" i="0" u="none">
                <a:solidFill>
                  <a:srgbClr val="666666"/>
                </a:solidFill>
                <a:latin typeface="BIZ UDPゴシック"/>
                <a:ea typeface="BIZ UDPゴシック"/>
                <a:cs typeface="BIZ UDPゴシック"/>
              </a:rPr>
              <a:t>5</a:t>
            </a:r>
          </a:p>
        </p:txBody>
      </p:sp>
      <p:sp>
        <p:nvSpPr>
          <p:cNvPr id="10" name="page-05-object-009">
            <a:extLst xmlns:a="http://schemas.openxmlformats.org/drawingml/2006/main">
              <a:ext uri="{FF2B5EF4-FFF2-40B4-BE49-F238E27FC236}">
                <a16:creationId xmlns:a16="http://schemas.microsoft.com/office/drawing/2014/main" id="{42EA272E-FEB5-42B9-A6C9-BCB2983E3A18}"/>
              </a:ext>
            </a:extLst>
          </p:cNvPr>
          <p:cNvSpPr>
            <a:spLocks xmlns:a="http://schemas.openxmlformats.org/drawingml/2006/main" noGrp="1"/>
          </p:cNvSpPr>
          <p:nvPr/>
        </p:nvSpPr>
        <p:spPr>
          <a:xfrm xmlns:a="http://schemas.openxmlformats.org/drawingml/2006/main">
            <a:off x="285750" y="600075"/>
            <a:ext cx="11572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i="0">
                <a:solidFill>
                  <a:srgbClr val="111111"/>
                </a:solidFill>
                <a:latin typeface="BIZ UDPゴシック"/>
                <a:ea typeface="BIZ UDPゴシック"/>
                <a:cs typeface="BIZ UDPゴシック"/>
              </a:defRPr>
            </a:pPr>
            <a:r>
              <a:rPr sz="2100" b="1" i="0" u="none">
                <a:solidFill>
                  <a:srgbClr val="111111"/>
                </a:solidFill>
                <a:latin typeface="BIZ UDPゴシック"/>
                <a:ea typeface="BIZ UDPゴシック"/>
                <a:cs typeface="BIZ UDPゴシック"/>
              </a:rPr>
              <a:t>販売・商品・顧客対応で確認結果を引き継ぐ</a:t>
            </a:r>
          </a:p>
        </p:txBody>
      </p:sp>
      <p:cxnSp xmlns:a="http://schemas.openxmlformats.org/drawingml/2006/main">
        <p:nvCxnSpPr>
          <p:cNvPr id="83" name="page-05-handoff-effect-margin-1"/>
          <p:cNvCxnSpPr/>
          <p:nvPr/>
        </p:nvCxnSpPr>
        <p:spPr>
          <a:xfrm flipV="1">
            <a:off x="10652760" y="2569464"/>
            <a:ext cx="0" cy="356616"/>
          </a:xfrm>
          <a:prstGeom prst="line">
            <a:avLst/>
          </a:prstGeom>
          <a:ln w="19050">
            <a:solidFill>
              <a:srgbClr val="2474B5"/>
            </a:solidFill>
            <a:tailEnd type="triangle"/>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1" name="page-05-handoff-new-return-record-1"/>
          <p:cNvCxnSpPr/>
          <p:nvPr/>
        </p:nvCxnSpPr>
        <p:spPr>
          <a:xfrm flipV="1">
            <a:off x="10652760" y="3712463"/>
            <a:ext cx="0" cy="356617"/>
          </a:xfrm>
          <a:prstGeom prst="line">
            <a:avLst/>
          </a:prstGeom>
          <a:ln w="19050">
            <a:solidFill>
              <a:srgbClr val="2474B5"/>
            </a:solidFill>
            <a:tailEnd type="triangle"/>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9" name="page-05-handoff-check-result-1"/>
          <p:cNvCxnSpPr/>
          <p:nvPr/>
        </p:nvCxnSpPr>
        <p:spPr>
          <a:xfrm>
            <a:off x="9052560" y="4462272"/>
            <a:ext cx="640080" cy="0"/>
          </a:xfrm>
          <a:prstGeom prst="line">
            <a:avLst/>
          </a:prstGeom>
          <a:ln w="19050">
            <a:solidFill>
              <a:srgbClr val="2474B5"/>
            </a:solidFill>
            <a:tailEnd type="triangle"/>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7" name="page-05-handoff-rewrite-record-1"/>
          <p:cNvCxnSpPr/>
          <p:nvPr/>
        </p:nvCxnSpPr>
        <p:spPr>
          <a:xfrm>
            <a:off x="8092440" y="3712463"/>
            <a:ext cx="0" cy="356617"/>
          </a:xfrm>
          <a:prstGeom prst="line">
            <a:avLst/>
          </a:prstGeom>
          <a:ln w="19050">
            <a:solidFill>
              <a:srgbClr val="2474B5"/>
            </a:solidFill>
            <a:tailEnd type="triangle"/>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5" name="page-05-handoff-no-3"/>
          <p:cNvCxnSpPr/>
          <p:nvPr/>
        </p:nvCxnSpPr>
        <p:spPr>
          <a:xfrm>
            <a:off x="4251960" y="4251960"/>
            <a:ext cx="320040" cy="0"/>
          </a:xfrm>
          <a:prstGeom prst="line">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4" name="page-05-handoff-no-2"/>
          <p:cNvCxnSpPr/>
          <p:nvPr/>
        </p:nvCxnSpPr>
        <p:spPr>
          <a:xfrm>
            <a:off x="4251960" y="2176272"/>
            <a:ext cx="0" cy="2075688"/>
          </a:xfrm>
          <a:prstGeom prst="line">
            <a:avLst/>
          </a:prstGeom>
          <a:ln w="19050">
            <a:solidFill>
              <a:srgbClr val="C0000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3" name="page-05-handoff-no-1"/>
          <p:cNvCxnSpPr/>
          <p:nvPr/>
        </p:nvCxnSpPr>
        <p:spPr>
          <a:xfrm flipH="1">
            <a:off x="4251960" y="2176272"/>
            <a:ext cx="457200" cy="0"/>
          </a:xfrm>
          <a:prstGeom prst="line">
            <a:avLst/>
          </a:prstGeom>
          <a:ln w="19050">
            <a:solidFill>
              <a:srgbClr val="C0000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1" name="page-05-handoff-yes-2"/>
          <p:cNvCxnSpPr/>
          <p:nvPr/>
        </p:nvCxnSpPr>
        <p:spPr>
          <a:xfrm>
            <a:off x="8092440" y="2176272"/>
            <a:ext cx="0" cy="749808"/>
          </a:xfrm>
          <a:prstGeom prst="line">
            <a:avLst/>
          </a:prstGeom>
          <a:ln w="19050">
            <a:solidFill>
              <a:srgbClr val="2474B5"/>
            </a:solidFill>
            <a:tailEnd type="triangle"/>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0" name="page-05-handoff-yes-1"/>
          <p:cNvCxnSpPr/>
          <p:nvPr/>
        </p:nvCxnSpPr>
        <p:spPr>
          <a:xfrm>
            <a:off x="6355080" y="2176272"/>
            <a:ext cx="1737360" cy="0"/>
          </a:xfrm>
          <a:prstGeom prst="line">
            <a:avLst/>
          </a:prstGeom>
          <a:ln w="19050">
            <a:solidFill>
              <a:srgbClr val="2474B5"/>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8" name="page-05-handoff-classification-1"/>
          <p:cNvCxnSpPr/>
          <p:nvPr/>
        </p:nvCxnSpPr>
        <p:spPr>
          <a:xfrm flipV="1">
            <a:off x="5532120" y="2569464"/>
            <a:ext cx="0" cy="1499616"/>
          </a:xfrm>
          <a:prstGeom prst="line">
            <a:avLst/>
          </a:prstGeom>
          <a:ln w="19050">
            <a:solidFill>
              <a:srgbClr val="2474B5"/>
            </a:solidFill>
            <a:tailEnd type="triangle"/>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6" name="page-05-handoff-return-list-1"/>
          <p:cNvCxnSpPr/>
          <p:nvPr/>
        </p:nvCxnSpPr>
        <p:spPr>
          <a:xfrm>
            <a:off x="3931920" y="4462272"/>
            <a:ext cx="640080" cy="0"/>
          </a:xfrm>
          <a:prstGeom prst="line">
            <a:avLst/>
          </a:prstGeom>
          <a:ln w="19050">
            <a:solidFill>
              <a:srgbClr val="2474B5"/>
            </a:solidFill>
            <a:tailEnd type="triangle"/>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4" name="page-05-handoff-target-list-1"/>
          <p:cNvCxnSpPr/>
          <p:nvPr/>
        </p:nvCxnSpPr>
        <p:spPr>
          <a:xfrm>
            <a:off x="2971800" y="3712463"/>
            <a:ext cx="0" cy="356617"/>
          </a:xfrm>
          <a:prstGeom prst="line">
            <a:avLst/>
          </a:prstGeom>
          <a:ln w="19050">
            <a:solidFill>
              <a:srgbClr val="2474B5"/>
            </a:solidFill>
            <a:tailEnd type="triangle"/>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2" name="page-05-handoff-scope-1"/>
          <p:cNvCxnSpPr/>
          <p:nvPr/>
        </p:nvCxnSpPr>
        <p:spPr>
          <a:xfrm>
            <a:off x="2971800" y="2569464"/>
            <a:ext cx="0" cy="356616"/>
          </a:xfrm>
          <a:prstGeom prst="line">
            <a:avLst/>
          </a:prstGeom>
          <a:ln w="19050">
            <a:solidFill>
              <a:srgbClr val="2474B5"/>
            </a:solidFill>
            <a:tailEnd type="triangle"/>
          </a:ln>
        </p:spPr>
        <p:style>
          <a:lnRef idx="2">
            <a:schemeClr val="accent1"/>
          </a:lnRef>
          <a:fillRef idx="0">
            <a:schemeClr val="accent1"/>
          </a:fillRef>
          <a:effectRef idx="1">
            <a:schemeClr val="accent1"/>
          </a:effectRef>
          <a:fontRef idx="minor">
            <a:schemeClr val="tx1"/>
          </a:fontRef>
        </p:style>
      </p:cxnSp>
      <p:sp>
        <p:nvSpPr>
          <p:cNvPr id="11" name="page-05-object-010">
            <a:extLst xmlns:a="http://schemas.openxmlformats.org/drawingml/2006/main">
              <a:ext uri="{FF2B5EF4-FFF2-40B4-BE49-F238E27FC236}">
                <a16:creationId xmlns:a16="http://schemas.microsoft.com/office/drawing/2014/main" id="{18B79179-3535-47AD-8DC5-859A2918C831}"/>
              </a:ext>
            </a:extLst>
          </p:cNvPr>
          <p:cNvSpPr>
            <a:spLocks xmlns:a="http://schemas.openxmlformats.org/drawingml/2006/main" noGrp="1"/>
          </p:cNvSpPr>
          <p:nvPr/>
        </p:nvSpPr>
        <p:spPr>
          <a:xfrm xmlns:a="http://schemas.openxmlformats.org/drawingml/2006/main">
            <a:off x="304800" y="990600"/>
            <a:ext cx="11525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2474B5"/>
                </a:solidFill>
                <a:latin typeface="BIZ UDPゴシック"/>
                <a:ea typeface="BIZ UDPゴシック"/>
                <a:cs typeface="BIZ UDPゴシック"/>
              </a:defRPr>
            </a:pPr>
            <a:r>
              <a:rPr sz="1125" b="1" i="0" u="none">
                <a:solidFill>
                  <a:srgbClr val="2474B5"/>
                </a:solidFill>
                <a:latin typeface="BIZ UDPゴシック"/>
                <a:ea typeface="BIZ UDPゴシック"/>
                <a:cs typeface="BIZ UDPゴシック"/>
              </a:rPr>
              <a:t>承認前の作業案。青線は記録の受け渡し、赤線は分類不足時の戻り</a:t>
            </a:r>
          </a:p>
        </p:txBody>
      </p:sp>
      <p:sp>
        <p:nvSpPr>
          <p:cNvPr id="12" name="page-05-object-011">
            <a:extLst xmlns:a="http://schemas.openxmlformats.org/drawingml/2006/main">
              <a:ext uri="{FF2B5EF4-FFF2-40B4-BE49-F238E27FC236}">
                <a16:creationId xmlns:a16="http://schemas.microsoft.com/office/drawing/2014/main" id="{624A5455-0F7C-4F86-8937-0F676685A7E8}"/>
              </a:ext>
            </a:extLst>
          </p:cNvPr>
          <p:cNvSpPr>
            <a:spLocks xmlns:a="http://schemas.openxmlformats.org/drawingml/2006/main" noGrp="1"/>
          </p:cNvSpPr>
          <p:nvPr/>
        </p:nvSpPr>
        <p:spPr>
          <a:xfrm xmlns:a="http://schemas.openxmlformats.org/drawingml/2006/main">
            <a:off x="2000250" y="1323975"/>
            <a:ext cx="2381250" cy="361950"/>
          </a:xfrm>
          <a:prstGeom xmlns:a="http://schemas.openxmlformats.org/drawingml/2006/main" prst="rect">
            <a:avLst/>
          </a:prstGeom>
          <a:solidFill xmlns:a="http://schemas.openxmlformats.org/drawingml/2006/main">
            <a:srgbClr val="2474B5"/>
          </a:solidFill>
          <a:ln xmlns:a="http://schemas.openxmlformats.org/drawingml/2006/main" w="0">
            <a:solidFill>
              <a:srgbClr val="2474B5"/>
            </a:solidFill>
            <a:prstDash val="solid"/>
          </a:ln>
        </p:spPr>
        <p:txBody xmlns:a="http://schemas.openxmlformats.org/drawingml/2006/main">
          <a:bodyPr/>
          <a:p/>
        </p:txBody>
      </p:sp>
      <p:sp>
        <p:nvSpPr>
          <p:cNvPr id="13" name="page-05-object-012">
            <a:extLst xmlns:a="http://schemas.openxmlformats.org/drawingml/2006/main">
              <a:ext uri="{FF2B5EF4-FFF2-40B4-BE49-F238E27FC236}">
                <a16:creationId xmlns:a16="http://schemas.microsoft.com/office/drawing/2014/main" id="{BFF955BB-8DC4-4F4C-A10D-7CC19A87CED6}"/>
              </a:ext>
            </a:extLst>
          </p:cNvPr>
          <p:cNvSpPr>
            <a:spLocks xmlns:a="http://schemas.openxmlformats.org/drawingml/2006/main" noGrp="1"/>
          </p:cNvSpPr>
          <p:nvPr/>
        </p:nvSpPr>
        <p:spPr>
          <a:xfrm xmlns:a="http://schemas.openxmlformats.org/drawingml/2006/main">
            <a:off x="2000250" y="1323975"/>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ctr">
              <a:defRPr sz="1200" b="1" i="0">
                <a:solidFill>
                  <a:srgbClr val="FFFFFF"/>
                </a:solidFill>
                <a:latin typeface="BIZ UDPゴシック"/>
                <a:ea typeface="BIZ UDPゴシック"/>
                <a:cs typeface="BIZ UDPゴシック"/>
              </a:defRPr>
            </a:pPr>
            <a:r>
              <a:rPr sz="1200" b="1" i="0" u="none">
                <a:solidFill>
                  <a:srgbClr val="FFFFFF"/>
                </a:solidFill>
                <a:latin typeface="BIZ UDPゴシック"/>
                <a:ea typeface="BIZ UDPゴシック"/>
                <a:cs typeface="BIZ UDPゴシック"/>
              </a:rPr>
              <a:t>① 対象を決める</a:t>
            </a:r>
          </a:p>
        </p:txBody>
      </p:sp>
      <p:sp>
        <p:nvSpPr>
          <p:cNvPr id="14" name="page-05-object-013">
            <a:extLst xmlns:a="http://schemas.openxmlformats.org/drawingml/2006/main">
              <a:ext uri="{FF2B5EF4-FFF2-40B4-BE49-F238E27FC236}">
                <a16:creationId xmlns:a16="http://schemas.microsoft.com/office/drawing/2014/main" id="{702961E0-3237-4AF0-9912-08A2E321AE82}"/>
              </a:ext>
            </a:extLst>
          </p:cNvPr>
          <p:cNvSpPr>
            <a:spLocks xmlns:a="http://schemas.openxmlformats.org/drawingml/2006/main" noGrp="1"/>
          </p:cNvSpPr>
          <p:nvPr/>
        </p:nvSpPr>
        <p:spPr>
          <a:xfrm xmlns:a="http://schemas.openxmlformats.org/drawingml/2006/main">
            <a:off x="4457700" y="1323975"/>
            <a:ext cx="2381250" cy="361950"/>
          </a:xfrm>
          <a:prstGeom xmlns:a="http://schemas.openxmlformats.org/drawingml/2006/main" prst="rect">
            <a:avLst/>
          </a:prstGeom>
          <a:solidFill xmlns:a="http://schemas.openxmlformats.org/drawingml/2006/main">
            <a:srgbClr val="2474B5"/>
          </a:solidFill>
          <a:ln xmlns:a="http://schemas.openxmlformats.org/drawingml/2006/main" w="0">
            <a:solidFill>
              <a:srgbClr val="2474B5"/>
            </a:solidFill>
            <a:prstDash val="solid"/>
          </a:ln>
        </p:spPr>
        <p:txBody xmlns:a="http://schemas.openxmlformats.org/drawingml/2006/main">
          <a:bodyPr/>
          <a:p/>
        </p:txBody>
      </p:sp>
      <p:sp>
        <p:nvSpPr>
          <p:cNvPr id="15" name="page-05-object-014">
            <a:extLst xmlns:a="http://schemas.openxmlformats.org/drawingml/2006/main">
              <a:ext uri="{FF2B5EF4-FFF2-40B4-BE49-F238E27FC236}">
                <a16:creationId xmlns:a16="http://schemas.microsoft.com/office/drawing/2014/main" id="{04E8E178-BD4A-4AF7-B0C1-7CDC4F5BBBC6}"/>
              </a:ext>
            </a:extLst>
          </p:cNvPr>
          <p:cNvSpPr>
            <a:spLocks xmlns:a="http://schemas.openxmlformats.org/drawingml/2006/main" noGrp="1"/>
          </p:cNvSpPr>
          <p:nvPr/>
        </p:nvSpPr>
        <p:spPr>
          <a:xfrm xmlns:a="http://schemas.openxmlformats.org/drawingml/2006/main">
            <a:off x="4457700" y="1323975"/>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ctr">
              <a:defRPr sz="1200" b="1" i="0">
                <a:solidFill>
                  <a:srgbClr val="FFFFFF"/>
                </a:solidFill>
                <a:latin typeface="BIZ UDPゴシック"/>
                <a:ea typeface="BIZ UDPゴシック"/>
                <a:cs typeface="BIZ UDPゴシック"/>
              </a:defRPr>
            </a:pPr>
            <a:r>
              <a:rPr sz="1200" b="1" i="0" u="none">
                <a:solidFill>
                  <a:srgbClr val="FFFFFF"/>
                </a:solidFill>
                <a:latin typeface="BIZ UDPゴシック"/>
                <a:ea typeface="BIZ UDPゴシック"/>
                <a:cs typeface="BIZ UDPゴシック"/>
              </a:rPr>
              <a:t>② 理由分類と確認</a:t>
            </a:r>
          </a:p>
        </p:txBody>
      </p:sp>
      <p:sp>
        <p:nvSpPr>
          <p:cNvPr id="16" name="page-05-object-015">
            <a:extLst xmlns:a="http://schemas.openxmlformats.org/drawingml/2006/main">
              <a:ext uri="{FF2B5EF4-FFF2-40B4-BE49-F238E27FC236}">
                <a16:creationId xmlns:a16="http://schemas.microsoft.com/office/drawing/2014/main" id="{A1E3D155-A27E-4B7B-8993-557D2A122923}"/>
              </a:ext>
            </a:extLst>
          </p:cNvPr>
          <p:cNvSpPr>
            <a:spLocks xmlns:a="http://schemas.openxmlformats.org/drawingml/2006/main" noGrp="1"/>
          </p:cNvSpPr>
          <p:nvPr/>
        </p:nvSpPr>
        <p:spPr>
          <a:xfrm xmlns:a="http://schemas.openxmlformats.org/drawingml/2006/main">
            <a:off x="6915150" y="1323975"/>
            <a:ext cx="2381250" cy="361950"/>
          </a:xfrm>
          <a:prstGeom xmlns:a="http://schemas.openxmlformats.org/drawingml/2006/main" prst="rect">
            <a:avLst/>
          </a:prstGeom>
          <a:solidFill xmlns:a="http://schemas.openxmlformats.org/drawingml/2006/main">
            <a:srgbClr val="2474B5"/>
          </a:solidFill>
          <a:ln xmlns:a="http://schemas.openxmlformats.org/drawingml/2006/main" w="0">
            <a:solidFill>
              <a:srgbClr val="2474B5"/>
            </a:solidFill>
            <a:prstDash val="solid"/>
          </a:ln>
        </p:spPr>
        <p:txBody xmlns:a="http://schemas.openxmlformats.org/drawingml/2006/main">
          <a:bodyPr/>
          <a:p/>
        </p:txBody>
      </p:sp>
      <p:sp>
        <p:nvSpPr>
          <p:cNvPr id="17" name="page-05-object-016">
            <a:extLst xmlns:a="http://schemas.openxmlformats.org/drawingml/2006/main">
              <a:ext uri="{FF2B5EF4-FFF2-40B4-BE49-F238E27FC236}">
                <a16:creationId xmlns:a16="http://schemas.microsoft.com/office/drawing/2014/main" id="{4A8D8FA5-7D89-43DA-8317-10A3182BEFFC}"/>
              </a:ext>
            </a:extLst>
          </p:cNvPr>
          <p:cNvSpPr>
            <a:spLocks xmlns:a="http://schemas.openxmlformats.org/drawingml/2006/main" noGrp="1"/>
          </p:cNvSpPr>
          <p:nvPr/>
        </p:nvSpPr>
        <p:spPr>
          <a:xfrm xmlns:a="http://schemas.openxmlformats.org/drawingml/2006/main">
            <a:off x="6915150" y="1323975"/>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ctr">
              <a:defRPr sz="1200" b="1" i="0">
                <a:solidFill>
                  <a:srgbClr val="FFFFFF"/>
                </a:solidFill>
                <a:latin typeface="BIZ UDPゴシック"/>
                <a:ea typeface="BIZ UDPゴシック"/>
                <a:cs typeface="BIZ UDPゴシック"/>
              </a:defRPr>
            </a:pPr>
            <a:r>
              <a:rPr sz="1200" b="1" i="0" u="none">
                <a:solidFill>
                  <a:srgbClr val="FFFFFF"/>
                </a:solidFill>
                <a:latin typeface="BIZ UDPゴシック"/>
                <a:ea typeface="BIZ UDPゴシック"/>
                <a:cs typeface="BIZ UDPゴシック"/>
              </a:rPr>
              <a:t>③ 説明を直す</a:t>
            </a:r>
          </a:p>
        </p:txBody>
      </p:sp>
      <p:sp>
        <p:nvSpPr>
          <p:cNvPr id="18" name="page-05-object-017">
            <a:extLst xmlns:a="http://schemas.openxmlformats.org/drawingml/2006/main">
              <a:ext uri="{FF2B5EF4-FFF2-40B4-BE49-F238E27FC236}">
                <a16:creationId xmlns:a16="http://schemas.microsoft.com/office/drawing/2014/main" id="{77693231-72B1-46F0-ABEC-F86AFC14C06E}"/>
              </a:ext>
            </a:extLst>
          </p:cNvPr>
          <p:cNvSpPr>
            <a:spLocks xmlns:a="http://schemas.openxmlformats.org/drawingml/2006/main" noGrp="1"/>
          </p:cNvSpPr>
          <p:nvPr/>
        </p:nvSpPr>
        <p:spPr>
          <a:xfrm xmlns:a="http://schemas.openxmlformats.org/drawingml/2006/main">
            <a:off x="9372600" y="1323975"/>
            <a:ext cx="2381250" cy="361950"/>
          </a:xfrm>
          <a:prstGeom xmlns:a="http://schemas.openxmlformats.org/drawingml/2006/main" prst="rect">
            <a:avLst/>
          </a:prstGeom>
          <a:solidFill xmlns:a="http://schemas.openxmlformats.org/drawingml/2006/main">
            <a:srgbClr val="75B843"/>
          </a:solidFill>
          <a:ln xmlns:a="http://schemas.openxmlformats.org/drawingml/2006/main" w="0">
            <a:solidFill>
              <a:srgbClr val="75B843"/>
            </a:solidFill>
            <a:prstDash val="solid"/>
          </a:ln>
        </p:spPr>
        <p:txBody xmlns:a="http://schemas.openxmlformats.org/drawingml/2006/main">
          <a:bodyPr/>
          <a:p/>
        </p:txBody>
      </p:sp>
      <p:sp>
        <p:nvSpPr>
          <p:cNvPr id="19" name="page-05-object-018">
            <a:extLst xmlns:a="http://schemas.openxmlformats.org/drawingml/2006/main">
              <a:ext uri="{FF2B5EF4-FFF2-40B4-BE49-F238E27FC236}">
                <a16:creationId xmlns:a16="http://schemas.microsoft.com/office/drawing/2014/main" id="{0085610C-78B7-4205-A857-150771DB3767}"/>
              </a:ext>
            </a:extLst>
          </p:cNvPr>
          <p:cNvSpPr>
            <a:spLocks xmlns:a="http://schemas.openxmlformats.org/drawingml/2006/main" noGrp="1"/>
          </p:cNvSpPr>
          <p:nvPr/>
        </p:nvSpPr>
        <p:spPr>
          <a:xfrm xmlns:a="http://schemas.openxmlformats.org/drawingml/2006/main">
            <a:off x="9372600" y="1323975"/>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ctr">
              <a:defRPr sz="1200" b="1" i="0">
                <a:solidFill>
                  <a:srgbClr val="FFFFFF"/>
                </a:solidFill>
                <a:latin typeface="BIZ UDPゴシック"/>
                <a:ea typeface="BIZ UDPゴシック"/>
                <a:cs typeface="BIZ UDPゴシック"/>
              </a:defRPr>
            </a:pPr>
            <a:r>
              <a:rPr sz="1200" b="1" i="0" u="none">
                <a:solidFill>
                  <a:srgbClr val="FFFFFF"/>
                </a:solidFill>
                <a:latin typeface="BIZ UDPゴシック"/>
                <a:ea typeface="BIZ UDPゴシック"/>
                <a:cs typeface="BIZ UDPゴシック"/>
              </a:rPr>
              <a:t>④ 効果・粗利と判断</a:t>
            </a:r>
          </a:p>
        </p:txBody>
      </p:sp>
      <p:sp>
        <p:nvSpPr>
          <p:cNvPr id="20" name="page-05-object-019">
            <a:extLst xmlns:a="http://schemas.openxmlformats.org/drawingml/2006/main">
              <a:ext uri="{FF2B5EF4-FFF2-40B4-BE49-F238E27FC236}">
                <a16:creationId xmlns:a16="http://schemas.microsoft.com/office/drawing/2014/main" id="{840F62F0-0AFE-404F-AA1E-FDA9327E0F3E}"/>
              </a:ext>
            </a:extLst>
          </p:cNvPr>
          <p:cNvSpPr>
            <a:spLocks xmlns:a="http://schemas.openxmlformats.org/drawingml/2006/main" noGrp="1"/>
          </p:cNvSpPr>
          <p:nvPr/>
        </p:nvSpPr>
        <p:spPr>
          <a:xfrm xmlns:a="http://schemas.openxmlformats.org/drawingml/2006/main">
            <a:off x="285750" y="1783080"/>
            <a:ext cx="1571625" cy="786384"/>
          </a:xfrm>
          <a:prstGeom xmlns:a="http://schemas.openxmlformats.org/drawingml/2006/main" prst="rect">
            <a:avLst/>
          </a:prstGeom>
          <a:solidFill xmlns:a="http://schemas.openxmlformats.org/drawingml/2006/main">
            <a:srgbClr val="DDEBF7"/>
          </a:solidFill>
          <a:ln xmlns:a="http://schemas.openxmlformats.org/drawingml/2006/main" w="9525">
            <a:solidFill>
              <a:srgbClr val="A6A6A6"/>
            </a:solidFill>
            <a:prstDash val="solid"/>
          </a:ln>
        </p:spPr>
        <p:txBody xmlns:a="http://schemas.openxmlformats.org/drawingml/2006/main">
          <a:bodyPr/>
          <a:p/>
        </p:txBody>
      </p:sp>
      <p:sp>
        <p:nvSpPr>
          <p:cNvPr id="21" name="page-05-object-020">
            <a:extLst xmlns:a="http://schemas.openxmlformats.org/drawingml/2006/main">
              <a:ext uri="{FF2B5EF4-FFF2-40B4-BE49-F238E27FC236}">
                <a16:creationId xmlns:a16="http://schemas.microsoft.com/office/drawing/2014/main" id="{611B560C-0E37-4008-BA10-4CAF587FF37D}"/>
              </a:ext>
            </a:extLst>
          </p:cNvPr>
          <p:cNvSpPr>
            <a:spLocks xmlns:a="http://schemas.openxmlformats.org/drawingml/2006/main" noGrp="1"/>
          </p:cNvSpPr>
          <p:nvPr/>
        </p:nvSpPr>
        <p:spPr>
          <a:xfrm xmlns:a="http://schemas.openxmlformats.org/drawingml/2006/main">
            <a:off x="371475" y="1993392"/>
            <a:ext cx="1400175" cy="365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200" b="1" i="0">
                <a:solidFill>
                  <a:srgbClr val="111111"/>
                </a:solidFill>
                <a:latin typeface="BIZ UDPゴシック"/>
                <a:ea typeface="BIZ UDPゴシック"/>
                <a:cs typeface="BIZ UDPゴシック"/>
              </a:defRPr>
            </a:pPr>
            <a:r>
              <a:rPr sz="1200" b="1" i="0" u="none">
                <a:solidFill>
                  <a:srgbClr val="111111"/>
                </a:solidFill>
                <a:latin typeface="BIZ UDPゴシック"/>
                <a:ea typeface="BIZ UDPゴシック"/>
                <a:cs typeface="BIZ UDPゴシック"/>
              </a:rPr>
              <a:t>事業責任者</a:t>
            </a:r>
          </a:p>
        </p:txBody>
      </p:sp>
      <p:sp>
        <p:nvSpPr>
          <p:cNvPr id="22" name="page-05-object-021">
            <a:extLst xmlns:a="http://schemas.openxmlformats.org/drawingml/2006/main">
              <a:ext uri="{FF2B5EF4-FFF2-40B4-BE49-F238E27FC236}">
                <a16:creationId xmlns:a16="http://schemas.microsoft.com/office/drawing/2014/main" id="{3940E513-26C0-4E3B-B933-A89FAEE5778C}"/>
              </a:ext>
            </a:extLst>
          </p:cNvPr>
          <p:cNvSpPr>
            <a:spLocks xmlns:a="http://schemas.openxmlformats.org/drawingml/2006/main" noGrp="1"/>
          </p:cNvSpPr>
          <p:nvPr/>
        </p:nvSpPr>
        <p:spPr>
          <a:xfrm xmlns:a="http://schemas.openxmlformats.org/drawingml/2006/main">
            <a:off x="2011680" y="1783080"/>
            <a:ext cx="1920240" cy="786384"/>
          </a:xfrm>
          <a:prstGeom xmlns:a="http://schemas.openxmlformats.org/drawingml/2006/main" prst="rect">
            <a:avLst/>
          </a:prstGeom>
          <a:solidFill xmlns:a="http://schemas.openxmlformats.org/drawingml/2006/main">
            <a:srgbClr val="FFFFFF"/>
          </a:solidFill>
          <a:ln xmlns:a="http://schemas.openxmlformats.org/drawingml/2006/main" w="6668">
            <a:solidFill>
              <a:srgbClr val="A6A6A6"/>
            </a:solidFill>
            <a:prstDash val="solid"/>
          </a:ln>
        </p:spPr>
        <p:txBody xmlns:a="http://schemas.openxmlformats.org/drawingml/2006/main">
          <a:bodyPr/>
          <a:p/>
        </p:txBody>
      </p:sp>
      <p:sp>
        <p:nvSpPr>
          <p:cNvPr id="23" name="page-05-object-022">
            <a:extLst xmlns:a="http://schemas.openxmlformats.org/drawingml/2006/main">
              <a:ext uri="{FF2B5EF4-FFF2-40B4-BE49-F238E27FC236}">
                <a16:creationId xmlns:a16="http://schemas.microsoft.com/office/drawing/2014/main" id="{AB1C1AFC-6EEA-41FF-90A7-D8FA376F9E76}"/>
              </a:ext>
            </a:extLst>
          </p:cNvPr>
          <p:cNvSpPr>
            <a:spLocks xmlns:a="http://schemas.openxmlformats.org/drawingml/2006/main" noGrp="1"/>
          </p:cNvSpPr>
          <p:nvPr/>
        </p:nvSpPr>
        <p:spPr>
          <a:xfrm xmlns:a="http://schemas.openxmlformats.org/drawingml/2006/main">
            <a:off x="2011680" y="1783080"/>
            <a:ext cx="1920240" cy="7863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4864" tIns="36576" rIns="54864" bIns="36576" anchor="ctr">
            <a:noAutofit/>
          </a:bodyPr>
          <a:lstStyle xmlns:a="http://schemas.openxmlformats.org/drawingml/2006/main"/>
          <a:p xmlns:a="http://schemas.openxmlformats.org/drawingml/2006/main">
            <a:pPr algn="ctr">
              <a:defRPr sz="975" b="0" i="0">
                <a:solidFill>
                  <a:srgbClr val="111111"/>
                </a:solidFill>
                <a:latin typeface="BIZ UDPゴシック"/>
                <a:ea typeface="BIZ UDPゴシック"/>
                <a:cs typeface="BIZ UDPゴシック"/>
              </a:defRPr>
            </a:pPr>
            <a:r>
              <a:rPr sz="1250" b="0" i="0" u="none">
                <a:solidFill>
                  <a:srgbClr val="111111"/>
                </a:solidFill>
                <a:latin typeface="BIZ UDPゴシック"/>
                <a:ea typeface="BIZ UDPゴシック"/>
                <a:cs typeface="BIZ UDPゴシック"/>
              </a:rPr>
              <a:t>対象範囲を確認</a:t>
            </a:r>
          </a:p>
          <a:p xmlns:a="http://schemas.openxmlformats.org/drawingml/2006/main">
            <a:pPr algn="ctr">
              <a:defRPr sz="975" b="0" i="0">
                <a:solidFill>
                  <a:srgbClr val="111111"/>
                </a:solidFill>
                <a:latin typeface="BIZ UDPゴシック"/>
                <a:ea typeface="BIZ UDPゴシック"/>
                <a:cs typeface="BIZ UDPゴシック"/>
              </a:defRPr>
            </a:pPr>
            <a:r>
              <a:rPr sz="1250" b="0" i="0" u="none">
                <a:solidFill>
                  <a:srgbClr val="111111"/>
                </a:solidFill>
                <a:latin typeface="BIZ UDPゴシック"/>
                <a:ea typeface="BIZ UDPゴシック"/>
                <a:cs typeface="BIZ UDPゴシック"/>
              </a:rPr>
              <a:t>入力：9月実績</a:t>
            </a:r>
          </a:p>
        </p:txBody>
      </p:sp>
      <p:sp>
        <p:nvSpPr>
          <p:cNvPr id="28" name="page-05-object-027">
            <a:extLst xmlns:a="http://schemas.openxmlformats.org/drawingml/2006/main">
              <a:ext uri="{FF2B5EF4-FFF2-40B4-BE49-F238E27FC236}">
                <a16:creationId xmlns:a16="http://schemas.microsoft.com/office/drawing/2014/main" id="{5CA0CE9B-8459-41F9-9B8D-6AFFE879DA3B}"/>
              </a:ext>
            </a:extLst>
          </p:cNvPr>
          <p:cNvSpPr>
            <a:spLocks xmlns:a="http://schemas.openxmlformats.org/drawingml/2006/main" noGrp="1"/>
          </p:cNvSpPr>
          <p:nvPr/>
        </p:nvSpPr>
        <p:spPr>
          <a:xfrm xmlns:a="http://schemas.openxmlformats.org/drawingml/2006/main">
            <a:off x="9692640" y="1783080"/>
            <a:ext cx="1920240" cy="786384"/>
          </a:xfrm>
          <a:prstGeom xmlns:a="http://schemas.openxmlformats.org/drawingml/2006/main" prst="rect">
            <a:avLst/>
          </a:prstGeom>
          <a:solidFill xmlns:a="http://schemas.openxmlformats.org/drawingml/2006/main">
            <a:srgbClr val="FFFFFF"/>
          </a:solidFill>
          <a:ln xmlns:a="http://schemas.openxmlformats.org/drawingml/2006/main" w="6668">
            <a:solidFill>
              <a:srgbClr val="A6A6A6"/>
            </a:solidFill>
            <a:prstDash val="solid"/>
          </a:ln>
        </p:spPr>
        <p:txBody xmlns:a="http://schemas.openxmlformats.org/drawingml/2006/main">
          <a:bodyPr/>
          <a:p/>
        </p:txBody>
      </p:sp>
      <p:sp>
        <p:nvSpPr>
          <p:cNvPr id="29" name="page-05-object-028">
            <a:extLst xmlns:a="http://schemas.openxmlformats.org/drawingml/2006/main">
              <a:ext uri="{FF2B5EF4-FFF2-40B4-BE49-F238E27FC236}">
                <a16:creationId xmlns:a16="http://schemas.microsoft.com/office/drawing/2014/main" id="{62C491F1-30ED-41B6-AE25-E9ACC80B70A0}"/>
              </a:ext>
            </a:extLst>
          </p:cNvPr>
          <p:cNvSpPr>
            <a:spLocks xmlns:a="http://schemas.openxmlformats.org/drawingml/2006/main" noGrp="1"/>
          </p:cNvSpPr>
          <p:nvPr/>
        </p:nvSpPr>
        <p:spPr>
          <a:xfrm xmlns:a="http://schemas.openxmlformats.org/drawingml/2006/main">
            <a:off x="9692640" y="1783080"/>
            <a:ext cx="1920240" cy="7863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4864" tIns="36576" rIns="54864" bIns="36576" anchor="ctr">
            <a:noAutofit/>
          </a:bodyPr>
          <a:lstStyle xmlns:a="http://schemas.openxmlformats.org/drawingml/2006/main"/>
          <a:p xmlns:a="http://schemas.openxmlformats.org/drawingml/2006/main">
            <a:pPr algn="ctr">
              <a:defRPr sz="975" b="0" i="0">
                <a:solidFill>
                  <a:srgbClr val="111111"/>
                </a:solidFill>
                <a:latin typeface="BIZ UDPゴシック"/>
                <a:ea typeface="BIZ UDPゴシック"/>
                <a:cs typeface="BIZ UDPゴシック"/>
              </a:defRPr>
            </a:pPr>
            <a:r>
              <a:rPr sz="1250" b="0" i="0" u="none">
                <a:solidFill>
                  <a:srgbClr val="111111"/>
                </a:solidFill>
                <a:latin typeface="BIZ UDPゴシック"/>
                <a:ea typeface="BIZ UDPゴシック"/>
                <a:cs typeface="BIZ UDPゴシック"/>
              </a:rPr>
              <a:t>広告増額を判断</a:t>
            </a:r>
          </a:p>
          <a:p xmlns:a="http://schemas.openxmlformats.org/drawingml/2006/main">
            <a:pPr algn="ctr">
              <a:defRPr sz="975" b="0" i="0">
                <a:solidFill>
                  <a:srgbClr val="111111"/>
                </a:solidFill>
                <a:latin typeface="BIZ UDPゴシック"/>
                <a:ea typeface="BIZ UDPゴシック"/>
                <a:cs typeface="BIZ UDPゴシック"/>
              </a:defRPr>
            </a:pPr>
            <a:r>
              <a:rPr sz="1250" b="0" i="0" u="none">
                <a:solidFill>
                  <a:srgbClr val="111111"/>
                </a:solidFill>
                <a:latin typeface="BIZ UDPゴシック"/>
                <a:ea typeface="BIZ UDPゴシック"/>
                <a:cs typeface="BIZ UDPゴシック"/>
              </a:rPr>
              <a:t>入力：効果・粗利</a:t>
            </a:r>
          </a:p>
          <a:p xmlns:a="http://schemas.openxmlformats.org/drawingml/2006/main">
            <a:pPr algn="ctr">
              <a:defRPr sz="975" b="0" i="0">
                <a:solidFill>
                  <a:srgbClr val="111111"/>
                </a:solidFill>
                <a:latin typeface="BIZ UDPゴシック"/>
                <a:ea typeface="BIZ UDPゴシック"/>
                <a:cs typeface="BIZ UDPゴシック"/>
              </a:defRPr>
            </a:pPr>
            <a:r>
              <a:rPr sz="1250" b="0" i="0" u="none">
                <a:solidFill>
                  <a:srgbClr val="111111"/>
                </a:solidFill>
                <a:latin typeface="BIZ UDPゴシック"/>
                <a:ea typeface="BIZ UDPゴシック"/>
                <a:cs typeface="BIZ UDPゴシック"/>
              </a:rPr>
              <a:t>次回会議で判断</a:t>
            </a:r>
          </a:p>
        </p:txBody>
      </p:sp>
      <p:sp>
        <p:nvSpPr>
          <p:cNvPr id="30" name="page-05-object-029">
            <a:extLst xmlns:a="http://schemas.openxmlformats.org/drawingml/2006/main">
              <a:ext uri="{FF2B5EF4-FFF2-40B4-BE49-F238E27FC236}">
                <a16:creationId xmlns:a16="http://schemas.microsoft.com/office/drawing/2014/main" id="{8D420495-7550-457C-ABC2-36D73076EDCC}"/>
              </a:ext>
            </a:extLst>
          </p:cNvPr>
          <p:cNvSpPr>
            <a:spLocks xmlns:a="http://schemas.openxmlformats.org/drawingml/2006/main" noGrp="1"/>
          </p:cNvSpPr>
          <p:nvPr/>
        </p:nvSpPr>
        <p:spPr>
          <a:xfrm xmlns:a="http://schemas.openxmlformats.org/drawingml/2006/main">
            <a:off x="285750" y="2926080"/>
            <a:ext cx="1571625" cy="786384"/>
          </a:xfrm>
          <a:prstGeom xmlns:a="http://schemas.openxmlformats.org/drawingml/2006/main" prst="rect">
            <a:avLst/>
          </a:prstGeom>
          <a:solidFill xmlns:a="http://schemas.openxmlformats.org/drawingml/2006/main">
            <a:srgbClr val="E2F0D9"/>
          </a:solidFill>
          <a:ln xmlns:a="http://schemas.openxmlformats.org/drawingml/2006/main" w="9525">
            <a:solidFill>
              <a:srgbClr val="A6A6A6"/>
            </a:solidFill>
            <a:prstDash val="solid"/>
          </a:ln>
        </p:spPr>
        <p:txBody xmlns:a="http://schemas.openxmlformats.org/drawingml/2006/main">
          <a:bodyPr/>
          <a:p/>
        </p:txBody>
      </p:sp>
      <p:sp>
        <p:nvSpPr>
          <p:cNvPr id="31" name="page-05-object-030">
            <a:extLst xmlns:a="http://schemas.openxmlformats.org/drawingml/2006/main">
              <a:ext uri="{FF2B5EF4-FFF2-40B4-BE49-F238E27FC236}">
                <a16:creationId xmlns:a16="http://schemas.microsoft.com/office/drawing/2014/main" id="{9D81E4B1-D051-4A30-B293-251972519277}"/>
              </a:ext>
            </a:extLst>
          </p:cNvPr>
          <p:cNvSpPr>
            <a:spLocks xmlns:a="http://schemas.openxmlformats.org/drawingml/2006/main" noGrp="1"/>
          </p:cNvSpPr>
          <p:nvPr/>
        </p:nvSpPr>
        <p:spPr>
          <a:xfrm xmlns:a="http://schemas.openxmlformats.org/drawingml/2006/main">
            <a:off x="371475" y="3136392"/>
            <a:ext cx="1400175" cy="365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200" b="1" i="0">
                <a:solidFill>
                  <a:srgbClr val="111111"/>
                </a:solidFill>
                <a:latin typeface="BIZ UDPゴシック"/>
                <a:ea typeface="BIZ UDPゴシック"/>
                <a:cs typeface="BIZ UDPゴシック"/>
              </a:defRPr>
            </a:pPr>
            <a:r>
              <a:rPr sz="1200" b="1" i="0" u="none">
                <a:solidFill>
                  <a:srgbClr val="111111"/>
                </a:solidFill>
                <a:latin typeface="BIZ UDPゴシック"/>
                <a:ea typeface="BIZ UDPゴシック"/>
                <a:cs typeface="BIZ UDPゴシック"/>
              </a:rPr>
              <a:t>商品・販売</a:t>
            </a:r>
          </a:p>
        </p:txBody>
      </p:sp>
      <p:sp>
        <p:nvSpPr>
          <p:cNvPr id="32" name="page-05-object-031">
            <a:extLst xmlns:a="http://schemas.openxmlformats.org/drawingml/2006/main">
              <a:ext uri="{FF2B5EF4-FFF2-40B4-BE49-F238E27FC236}">
                <a16:creationId xmlns:a16="http://schemas.microsoft.com/office/drawing/2014/main" id="{200AB9D5-DA31-46B6-9957-D23CD4FAF97D}"/>
              </a:ext>
            </a:extLst>
          </p:cNvPr>
          <p:cNvSpPr>
            <a:spLocks xmlns:a="http://schemas.openxmlformats.org/drawingml/2006/main" noGrp="1"/>
          </p:cNvSpPr>
          <p:nvPr/>
        </p:nvSpPr>
        <p:spPr>
          <a:xfrm xmlns:a="http://schemas.openxmlformats.org/drawingml/2006/main">
            <a:off x="2011680" y="2926080"/>
            <a:ext cx="1920240" cy="786384"/>
          </a:xfrm>
          <a:prstGeom xmlns:a="http://schemas.openxmlformats.org/drawingml/2006/main" prst="rect">
            <a:avLst/>
          </a:prstGeom>
          <a:solidFill xmlns:a="http://schemas.openxmlformats.org/drawingml/2006/main">
            <a:srgbClr val="F2F2F2"/>
          </a:solidFill>
          <a:ln xmlns:a="http://schemas.openxmlformats.org/drawingml/2006/main" w="6668">
            <a:solidFill>
              <a:srgbClr val="A6A6A6"/>
            </a:solidFill>
            <a:prstDash val="solid"/>
          </a:ln>
        </p:spPr>
        <p:txBody xmlns:a="http://schemas.openxmlformats.org/drawingml/2006/main">
          <a:bodyPr/>
          <a:p/>
        </p:txBody>
      </p:sp>
      <p:sp>
        <p:nvSpPr>
          <p:cNvPr id="33" name="page-05-object-032">
            <a:extLst xmlns:a="http://schemas.openxmlformats.org/drawingml/2006/main">
              <a:ext uri="{FF2B5EF4-FFF2-40B4-BE49-F238E27FC236}">
                <a16:creationId xmlns:a16="http://schemas.microsoft.com/office/drawing/2014/main" id="{2A338EE4-E3B8-40A8-94F6-B40F35FC587C}"/>
              </a:ext>
            </a:extLst>
          </p:cNvPr>
          <p:cNvSpPr>
            <a:spLocks xmlns:a="http://schemas.openxmlformats.org/drawingml/2006/main" noGrp="1"/>
          </p:cNvSpPr>
          <p:nvPr/>
        </p:nvSpPr>
        <p:spPr>
          <a:xfrm xmlns:a="http://schemas.openxmlformats.org/drawingml/2006/main">
            <a:off x="2011680" y="2926080"/>
            <a:ext cx="1920240" cy="7863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4864" tIns="36576" rIns="54864" bIns="36576" anchor="ctr">
            <a:noAutofit/>
          </a:bodyPr>
          <a:lstStyle xmlns:a="http://schemas.openxmlformats.org/drawingml/2006/main"/>
          <a:p xmlns:a="http://schemas.openxmlformats.org/drawingml/2006/main">
            <a:pPr algn="ctr">
              <a:defRPr sz="975" b="1" i="0">
                <a:solidFill>
                  <a:srgbClr val="111111"/>
                </a:solidFill>
                <a:latin typeface="BIZ UDPゴシック"/>
                <a:ea typeface="BIZ UDPゴシック"/>
                <a:cs typeface="BIZ UDPゴシック"/>
              </a:defRPr>
            </a:pPr>
            <a:r>
              <a:rPr sz="1250" b="0" i="0" u="none">
                <a:solidFill>
                  <a:srgbClr val="111111"/>
                </a:solidFill>
                <a:latin typeface="BIZ UDPゴシック"/>
                <a:ea typeface="BIZ UDPゴシック"/>
                <a:cs typeface="BIZ UDPゴシック"/>
              </a:rPr>
              <a:t>上位20商品を抽出</a:t>
            </a:r>
          </a:p>
          <a:p xmlns:a="http://schemas.openxmlformats.org/drawingml/2006/main">
            <a:pPr algn="ctr">
              <a:defRPr sz="975" b="1" i="0">
                <a:solidFill>
                  <a:srgbClr val="111111"/>
                </a:solidFill>
                <a:latin typeface="BIZ UDPゴシック"/>
                <a:ea typeface="BIZ UDPゴシック"/>
                <a:cs typeface="BIZ UDPゴシック"/>
              </a:defRPr>
            </a:pPr>
            <a:r>
              <a:rPr sz="1250" b="0" i="0" u="none">
                <a:solidFill>
                  <a:srgbClr val="111111"/>
                </a:solidFill>
                <a:latin typeface="BIZ UDPゴシック"/>
                <a:ea typeface="BIZ UDPゴシック"/>
                <a:cs typeface="BIZ UDPゴシック"/>
              </a:rPr>
              <a:t>出力：対象一覧</a:t>
            </a:r>
          </a:p>
        </p:txBody>
      </p:sp>
      <p:sp>
        <p:nvSpPr>
          <p:cNvPr id="36" name="page-05-object-035">
            <a:extLst xmlns:a="http://schemas.openxmlformats.org/drawingml/2006/main">
              <a:ext uri="{FF2B5EF4-FFF2-40B4-BE49-F238E27FC236}">
                <a16:creationId xmlns:a16="http://schemas.microsoft.com/office/drawing/2014/main" id="{586DA120-027A-4104-BA43-5CFC7E1AC95F}"/>
              </a:ext>
            </a:extLst>
          </p:cNvPr>
          <p:cNvSpPr>
            <a:spLocks xmlns:a="http://schemas.openxmlformats.org/drawingml/2006/main" noGrp="1"/>
          </p:cNvSpPr>
          <p:nvPr/>
        </p:nvSpPr>
        <p:spPr>
          <a:xfrm xmlns:a="http://schemas.openxmlformats.org/drawingml/2006/main">
            <a:off x="7132320" y="2926080"/>
            <a:ext cx="1920240" cy="786384"/>
          </a:xfrm>
          <a:prstGeom xmlns:a="http://schemas.openxmlformats.org/drawingml/2006/main" prst="rect">
            <a:avLst/>
          </a:prstGeom>
          <a:solidFill xmlns:a="http://schemas.openxmlformats.org/drawingml/2006/main">
            <a:srgbClr val="F2F2F2"/>
          </a:solidFill>
          <a:ln xmlns:a="http://schemas.openxmlformats.org/drawingml/2006/main" w="6668">
            <a:solidFill>
              <a:srgbClr val="A6A6A6"/>
            </a:solidFill>
            <a:prstDash val="solid"/>
          </a:ln>
        </p:spPr>
        <p:txBody xmlns:a="http://schemas.openxmlformats.org/drawingml/2006/main">
          <a:bodyPr/>
          <a:p/>
        </p:txBody>
      </p:sp>
      <p:sp>
        <p:nvSpPr>
          <p:cNvPr id="37" name="page-05-object-036">
            <a:extLst xmlns:a="http://schemas.openxmlformats.org/drawingml/2006/main">
              <a:ext uri="{FF2B5EF4-FFF2-40B4-BE49-F238E27FC236}">
                <a16:creationId xmlns:a16="http://schemas.microsoft.com/office/drawing/2014/main" id="{328B9E73-C4B1-4097-AE36-518174EAEF3D}"/>
              </a:ext>
            </a:extLst>
          </p:cNvPr>
          <p:cNvSpPr>
            <a:spLocks xmlns:a="http://schemas.openxmlformats.org/drawingml/2006/main" noGrp="1"/>
          </p:cNvSpPr>
          <p:nvPr/>
        </p:nvSpPr>
        <p:spPr>
          <a:xfrm xmlns:a="http://schemas.openxmlformats.org/drawingml/2006/main">
            <a:off x="7132320" y="2926080"/>
            <a:ext cx="1920240" cy="7863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4864" tIns="36576" rIns="54864" bIns="36576" anchor="ctr">
            <a:noAutofit/>
          </a:bodyPr>
          <a:lstStyle xmlns:a="http://schemas.openxmlformats.org/drawingml/2006/main"/>
          <a:p xmlns:a="http://schemas.openxmlformats.org/drawingml/2006/main">
            <a:pPr algn="ctr">
              <a:defRPr sz="975" b="1" i="0">
                <a:solidFill>
                  <a:srgbClr val="111111"/>
                </a:solidFill>
                <a:latin typeface="BIZ UDPゴシック"/>
                <a:ea typeface="BIZ UDPゴシック"/>
                <a:cs typeface="BIZ UDPゴシック"/>
              </a:defRPr>
            </a:pPr>
            <a:r>
              <a:rPr sz="1250" b="0" i="0" u="none">
                <a:solidFill>
                  <a:srgbClr val="111111"/>
                </a:solidFill>
                <a:latin typeface="BIZ UDPゴシック"/>
                <a:ea typeface="BIZ UDPゴシック"/>
                <a:cs typeface="BIZ UDPゴシック"/>
              </a:rPr>
              <a:t>返品上位5商品を改稿</a:t>
            </a:r>
          </a:p>
          <a:p xmlns:a="http://schemas.openxmlformats.org/drawingml/2006/main">
            <a:pPr algn="ctr">
              <a:defRPr sz="975" b="1" i="0">
                <a:solidFill>
                  <a:srgbClr val="111111"/>
                </a:solidFill>
                <a:latin typeface="BIZ UDPゴシック"/>
                <a:ea typeface="BIZ UDPゴシック"/>
                <a:cs typeface="BIZ UDPゴシック"/>
              </a:defRPr>
            </a:pPr>
            <a:r>
              <a:rPr sz="1250" b="0" i="0" u="none">
                <a:solidFill>
                  <a:srgbClr val="111111"/>
                </a:solidFill>
                <a:latin typeface="BIZ UDPゴシック"/>
                <a:ea typeface="BIZ UDPゴシック"/>
                <a:cs typeface="BIZ UDPゴシック"/>
              </a:rPr>
              <a:t>出力：修正記録</a:t>
            </a:r>
          </a:p>
          <a:p xmlns:a="http://schemas.openxmlformats.org/drawingml/2006/main">
            <a:pPr algn="ctr">
              <a:defRPr sz="975" b="1" i="0">
                <a:solidFill>
                  <a:srgbClr val="111111"/>
                </a:solidFill>
                <a:latin typeface="BIZ UDPゴシック"/>
                <a:ea typeface="BIZ UDPゴシック"/>
                <a:cs typeface="BIZ UDPゴシック"/>
              </a:defRPr>
            </a:pPr>
            <a:r>
              <a:rPr sz="1250" b="0" i="0" u="none">
                <a:solidFill>
                  <a:srgbClr val="111111"/>
                </a:solidFill>
                <a:latin typeface="BIZ UDPゴシック"/>
                <a:ea typeface="BIZ UDPゴシック"/>
                <a:cs typeface="BIZ UDPゴシック"/>
              </a:rPr>
              <a:t>10/16の目標</a:t>
            </a:r>
          </a:p>
        </p:txBody>
      </p:sp>
      <p:sp>
        <p:nvSpPr>
          <p:cNvPr id="38" name="page-05-object-037">
            <a:extLst xmlns:a="http://schemas.openxmlformats.org/drawingml/2006/main">
              <a:ext uri="{FF2B5EF4-FFF2-40B4-BE49-F238E27FC236}">
                <a16:creationId xmlns:a16="http://schemas.microsoft.com/office/drawing/2014/main" id="{D635B3D2-974D-4610-9B9A-00BF599A326F}"/>
              </a:ext>
            </a:extLst>
          </p:cNvPr>
          <p:cNvSpPr>
            <a:spLocks xmlns:a="http://schemas.openxmlformats.org/drawingml/2006/main" noGrp="1"/>
          </p:cNvSpPr>
          <p:nvPr/>
        </p:nvSpPr>
        <p:spPr>
          <a:xfrm xmlns:a="http://schemas.openxmlformats.org/drawingml/2006/main">
            <a:off x="9692640" y="2926080"/>
            <a:ext cx="1920240" cy="786384"/>
          </a:xfrm>
          <a:prstGeom xmlns:a="http://schemas.openxmlformats.org/drawingml/2006/main" prst="rect">
            <a:avLst/>
          </a:prstGeom>
          <a:solidFill xmlns:a="http://schemas.openxmlformats.org/drawingml/2006/main">
            <a:srgbClr val="F2F2F2"/>
          </a:solidFill>
          <a:ln xmlns:a="http://schemas.openxmlformats.org/drawingml/2006/main" w="6668">
            <a:solidFill>
              <a:srgbClr val="A6A6A6"/>
            </a:solidFill>
            <a:prstDash val="solid"/>
          </a:ln>
        </p:spPr>
        <p:txBody xmlns:a="http://schemas.openxmlformats.org/drawingml/2006/main">
          <a:bodyPr/>
          <a:p/>
        </p:txBody>
      </p:sp>
      <p:sp>
        <p:nvSpPr>
          <p:cNvPr id="39" name="page-05-object-038">
            <a:extLst xmlns:a="http://schemas.openxmlformats.org/drawingml/2006/main">
              <a:ext uri="{FF2B5EF4-FFF2-40B4-BE49-F238E27FC236}">
                <a16:creationId xmlns:a16="http://schemas.microsoft.com/office/drawing/2014/main" id="{F1A32E1A-B658-4C81-BEA0-13219CECA7E2}"/>
              </a:ext>
            </a:extLst>
          </p:cNvPr>
          <p:cNvSpPr>
            <a:spLocks xmlns:a="http://schemas.openxmlformats.org/drawingml/2006/main" noGrp="1"/>
          </p:cNvSpPr>
          <p:nvPr/>
        </p:nvSpPr>
        <p:spPr>
          <a:xfrm xmlns:a="http://schemas.openxmlformats.org/drawingml/2006/main">
            <a:off x="9692640" y="2926080"/>
            <a:ext cx="1920240" cy="7863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4864" tIns="36576" rIns="54864" bIns="36576" anchor="ctr">
            <a:noAutofit/>
          </a:bodyPr>
          <a:lstStyle xmlns:a="http://schemas.openxmlformats.org/drawingml/2006/main"/>
          <a:p xmlns:a="http://schemas.openxmlformats.org/drawingml/2006/main">
            <a:pPr algn="ctr">
              <a:defRPr sz="975" b="1" i="0">
                <a:solidFill>
                  <a:srgbClr val="111111"/>
                </a:solidFill>
                <a:latin typeface="BIZ UDPゴシック"/>
                <a:ea typeface="BIZ UDPゴシック"/>
                <a:cs typeface="BIZ UDPゴシック"/>
              </a:defRPr>
            </a:pPr>
            <a:r>
              <a:rPr sz="1250" b="0" i="0" u="none">
                <a:solidFill>
                  <a:srgbClr val="111111"/>
                </a:solidFill>
                <a:latin typeface="BIZ UDPゴシック"/>
                <a:ea typeface="BIZ UDPゴシック"/>
                <a:cs typeface="BIZ UDPゴシック"/>
              </a:rPr>
              <a:t>返品率を週次比較</a:t>
            </a:r>
          </a:p>
          <a:p xmlns:a="http://schemas.openxmlformats.org/drawingml/2006/main">
            <a:pPr algn="ctr">
              <a:defRPr sz="975" b="1" i="0">
                <a:solidFill>
                  <a:srgbClr val="111111"/>
                </a:solidFill>
                <a:latin typeface="BIZ UDPゴシック"/>
                <a:ea typeface="BIZ UDPゴシック"/>
                <a:cs typeface="BIZ UDPゴシック"/>
              </a:defRPr>
            </a:pPr>
            <a:r>
              <a:rPr sz="1250" b="0" i="0" u="none">
                <a:solidFill>
                  <a:srgbClr val="111111"/>
                </a:solidFill>
                <a:latin typeface="BIZ UDPゴシック"/>
                <a:ea typeface="BIZ UDPゴシック"/>
                <a:cs typeface="BIZ UDPゴシック"/>
              </a:rPr>
              <a:t>商品別粗利を分析</a:t>
            </a:r>
          </a:p>
          <a:p xmlns:a="http://schemas.openxmlformats.org/drawingml/2006/main">
            <a:pPr algn="ctr">
              <a:defRPr sz="975" b="1" i="0">
                <a:solidFill>
                  <a:srgbClr val="111111"/>
                </a:solidFill>
                <a:latin typeface="BIZ UDPゴシック"/>
                <a:ea typeface="BIZ UDPゴシック"/>
                <a:cs typeface="BIZ UDPゴシック"/>
              </a:defRPr>
            </a:pPr>
            <a:r>
              <a:rPr sz="1250" b="0" i="0" u="none">
                <a:solidFill>
                  <a:srgbClr val="111111"/>
                </a:solidFill>
                <a:latin typeface="BIZ UDPゴシック"/>
                <a:ea typeface="BIZ UDPゴシック"/>
                <a:cs typeface="BIZ UDPゴシック"/>
              </a:rPr>
              <a:t>出力：効果・粗利</a:t>
            </a:r>
          </a:p>
        </p:txBody>
      </p:sp>
      <p:sp>
        <p:nvSpPr>
          <p:cNvPr id="40" name="page-05-object-039">
            <a:extLst xmlns:a="http://schemas.openxmlformats.org/drawingml/2006/main">
              <a:ext uri="{FF2B5EF4-FFF2-40B4-BE49-F238E27FC236}">
                <a16:creationId xmlns:a16="http://schemas.microsoft.com/office/drawing/2014/main" id="{0E49CCA1-861A-4AFB-8B61-EA724A5A521A}"/>
              </a:ext>
            </a:extLst>
          </p:cNvPr>
          <p:cNvSpPr>
            <a:spLocks xmlns:a="http://schemas.openxmlformats.org/drawingml/2006/main" noGrp="1"/>
          </p:cNvSpPr>
          <p:nvPr/>
        </p:nvSpPr>
        <p:spPr>
          <a:xfrm xmlns:a="http://schemas.openxmlformats.org/drawingml/2006/main">
            <a:off x="285750" y="4069080"/>
            <a:ext cx="1571625" cy="786384"/>
          </a:xfrm>
          <a:prstGeom xmlns:a="http://schemas.openxmlformats.org/drawingml/2006/main" prst="rect">
            <a:avLst/>
          </a:prstGeom>
          <a:solidFill xmlns:a="http://schemas.openxmlformats.org/drawingml/2006/main">
            <a:srgbClr val="FFF2CC"/>
          </a:solidFill>
          <a:ln xmlns:a="http://schemas.openxmlformats.org/drawingml/2006/main" w="9525">
            <a:solidFill>
              <a:srgbClr val="A6A6A6"/>
            </a:solidFill>
            <a:prstDash val="solid"/>
          </a:ln>
        </p:spPr>
        <p:txBody xmlns:a="http://schemas.openxmlformats.org/drawingml/2006/main">
          <a:bodyPr/>
          <a:p/>
        </p:txBody>
      </p:sp>
      <p:sp>
        <p:nvSpPr>
          <p:cNvPr id="41" name="page-05-object-040">
            <a:extLst xmlns:a="http://schemas.openxmlformats.org/drawingml/2006/main">
              <a:ext uri="{FF2B5EF4-FFF2-40B4-BE49-F238E27FC236}">
                <a16:creationId xmlns:a16="http://schemas.microsoft.com/office/drawing/2014/main" id="{FF81B98C-B7D6-41FB-BBBB-DA2E4365286E}"/>
              </a:ext>
            </a:extLst>
          </p:cNvPr>
          <p:cNvSpPr>
            <a:spLocks xmlns:a="http://schemas.openxmlformats.org/drawingml/2006/main" noGrp="1"/>
          </p:cNvSpPr>
          <p:nvPr/>
        </p:nvSpPr>
        <p:spPr>
          <a:xfrm xmlns:a="http://schemas.openxmlformats.org/drawingml/2006/main">
            <a:off x="371475" y="4279392"/>
            <a:ext cx="1400175" cy="365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200" b="1" i="0">
                <a:solidFill>
                  <a:srgbClr val="111111"/>
                </a:solidFill>
                <a:latin typeface="BIZ UDPゴシック"/>
                <a:ea typeface="BIZ UDPゴシック"/>
                <a:cs typeface="BIZ UDPゴシック"/>
              </a:defRPr>
            </a:pPr>
            <a:r>
              <a:rPr sz="1200" b="1" i="0" u="none">
                <a:solidFill>
                  <a:srgbClr val="111111"/>
                </a:solidFill>
                <a:latin typeface="BIZ UDPゴシック"/>
                <a:ea typeface="BIZ UDPゴシック"/>
                <a:cs typeface="BIZ UDPゴシック"/>
              </a:rPr>
              <a:t>顧客対応</a:t>
            </a:r>
          </a:p>
        </p:txBody>
      </p:sp>
      <p:sp>
        <p:nvSpPr>
          <p:cNvPr id="42" name="page-05-object-041">
            <a:extLst xmlns:a="http://schemas.openxmlformats.org/drawingml/2006/main">
              <a:ext uri="{FF2B5EF4-FFF2-40B4-BE49-F238E27FC236}">
                <a16:creationId xmlns:a16="http://schemas.microsoft.com/office/drawing/2014/main" id="{317E712A-F594-4153-943F-144AF0FDACB3}"/>
              </a:ext>
            </a:extLst>
          </p:cNvPr>
          <p:cNvSpPr>
            <a:spLocks xmlns:a="http://schemas.openxmlformats.org/drawingml/2006/main" noGrp="1"/>
          </p:cNvSpPr>
          <p:nvPr/>
        </p:nvSpPr>
        <p:spPr>
          <a:xfrm xmlns:a="http://schemas.openxmlformats.org/drawingml/2006/main">
            <a:off x="2011680" y="4069080"/>
            <a:ext cx="1920240" cy="786384"/>
          </a:xfrm>
          <a:prstGeom xmlns:a="http://schemas.openxmlformats.org/drawingml/2006/main" prst="rect">
            <a:avLst/>
          </a:prstGeom>
          <a:solidFill xmlns:a="http://schemas.openxmlformats.org/drawingml/2006/main">
            <a:srgbClr val="FFFFFF"/>
          </a:solidFill>
          <a:ln xmlns:a="http://schemas.openxmlformats.org/drawingml/2006/main" w="6668">
            <a:solidFill>
              <a:srgbClr val="A6A6A6"/>
            </a:solidFill>
            <a:prstDash val="solid"/>
          </a:ln>
        </p:spPr>
        <p:txBody xmlns:a="http://schemas.openxmlformats.org/drawingml/2006/main">
          <a:bodyPr/>
          <a:p/>
        </p:txBody>
      </p:sp>
      <p:sp>
        <p:nvSpPr>
          <p:cNvPr id="43" name="page-05-object-042">
            <a:extLst xmlns:a="http://schemas.openxmlformats.org/drawingml/2006/main">
              <a:ext uri="{FF2B5EF4-FFF2-40B4-BE49-F238E27FC236}">
                <a16:creationId xmlns:a16="http://schemas.microsoft.com/office/drawing/2014/main" id="{27B2C152-BE75-4757-9886-AC3A04B3FF9E}"/>
              </a:ext>
            </a:extLst>
          </p:cNvPr>
          <p:cNvSpPr>
            <a:spLocks xmlns:a="http://schemas.openxmlformats.org/drawingml/2006/main" noGrp="1"/>
          </p:cNvSpPr>
          <p:nvPr/>
        </p:nvSpPr>
        <p:spPr>
          <a:xfrm xmlns:a="http://schemas.openxmlformats.org/drawingml/2006/main">
            <a:off x="2011680" y="4069080"/>
            <a:ext cx="1920240" cy="7863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4864" tIns="36576" rIns="54864" bIns="36576" anchor="ctr">
            <a:noAutofit/>
          </a:bodyPr>
          <a:lstStyle xmlns:a="http://schemas.openxmlformats.org/drawingml/2006/main"/>
          <a:p xmlns:a="http://schemas.openxmlformats.org/drawingml/2006/main">
            <a:pPr algn="ctr">
              <a:defRPr sz="975" b="0" i="0">
                <a:solidFill>
                  <a:srgbClr val="111111"/>
                </a:solidFill>
                <a:latin typeface="BIZ UDPゴシック"/>
                <a:ea typeface="BIZ UDPゴシック"/>
                <a:cs typeface="BIZ UDPゴシック"/>
              </a:defRPr>
            </a:pPr>
            <a:r>
              <a:rPr sz="1250" b="0" i="0" u="none">
                <a:solidFill>
                  <a:srgbClr val="111111"/>
                </a:solidFill>
                <a:latin typeface="BIZ UDPゴシック"/>
                <a:ea typeface="BIZ UDPゴシック"/>
                <a:cs typeface="BIZ UDPゴシック"/>
              </a:rPr>
              <a:t>対象の返品を抽出</a:t>
            </a:r>
          </a:p>
          <a:p xmlns:a="http://schemas.openxmlformats.org/drawingml/2006/main">
            <a:pPr algn="ctr">
              <a:defRPr sz="975" b="0" i="0">
                <a:solidFill>
                  <a:srgbClr val="111111"/>
                </a:solidFill>
                <a:latin typeface="BIZ UDPゴシック"/>
                <a:ea typeface="BIZ UDPゴシック"/>
                <a:cs typeface="BIZ UDPゴシック"/>
              </a:defRPr>
            </a:pPr>
            <a:r>
              <a:rPr sz="1250" b="0" i="0" u="none">
                <a:solidFill>
                  <a:srgbClr val="111111"/>
                </a:solidFill>
                <a:latin typeface="BIZ UDPゴシック"/>
                <a:ea typeface="BIZ UDPゴシック"/>
                <a:cs typeface="BIZ UDPゴシック"/>
              </a:rPr>
              <a:t>出力：返品一覧</a:t>
            </a:r>
          </a:p>
        </p:txBody>
      </p:sp>
      <p:sp>
        <p:nvSpPr>
          <p:cNvPr id="44" name="page-05-object-043">
            <a:extLst xmlns:a="http://schemas.openxmlformats.org/drawingml/2006/main">
              <a:ext uri="{FF2B5EF4-FFF2-40B4-BE49-F238E27FC236}">
                <a16:creationId xmlns:a16="http://schemas.microsoft.com/office/drawing/2014/main" id="{3F45CCD4-433D-4905-881D-E8AD7BE16A90}"/>
              </a:ext>
            </a:extLst>
          </p:cNvPr>
          <p:cNvSpPr>
            <a:spLocks xmlns:a="http://schemas.openxmlformats.org/drawingml/2006/main" noGrp="1"/>
          </p:cNvSpPr>
          <p:nvPr/>
        </p:nvSpPr>
        <p:spPr>
          <a:xfrm xmlns:a="http://schemas.openxmlformats.org/drawingml/2006/main">
            <a:off x="4572000" y="4069080"/>
            <a:ext cx="1920240" cy="786384"/>
          </a:xfrm>
          <a:prstGeom xmlns:a="http://schemas.openxmlformats.org/drawingml/2006/main" prst="rect">
            <a:avLst/>
          </a:prstGeom>
          <a:solidFill xmlns:a="http://schemas.openxmlformats.org/drawingml/2006/main">
            <a:srgbClr val="FFFFFF"/>
          </a:solidFill>
          <a:ln xmlns:a="http://schemas.openxmlformats.org/drawingml/2006/main" w="6668">
            <a:solidFill>
              <a:srgbClr val="A6A6A6"/>
            </a:solidFill>
            <a:prstDash val="solid"/>
          </a:ln>
        </p:spPr>
        <p:txBody xmlns:a="http://schemas.openxmlformats.org/drawingml/2006/main">
          <a:bodyPr/>
          <a:p/>
        </p:txBody>
      </p:sp>
      <p:sp>
        <p:nvSpPr>
          <p:cNvPr id="45" name="page-05-object-044">
            <a:extLst xmlns:a="http://schemas.openxmlformats.org/drawingml/2006/main">
              <a:ext uri="{FF2B5EF4-FFF2-40B4-BE49-F238E27FC236}">
                <a16:creationId xmlns:a16="http://schemas.microsoft.com/office/drawing/2014/main" id="{3E7B9B6C-E745-4AF4-8245-C78318B70BAB}"/>
              </a:ext>
            </a:extLst>
          </p:cNvPr>
          <p:cNvSpPr>
            <a:spLocks xmlns:a="http://schemas.openxmlformats.org/drawingml/2006/main" noGrp="1"/>
          </p:cNvSpPr>
          <p:nvPr/>
        </p:nvSpPr>
        <p:spPr>
          <a:xfrm xmlns:a="http://schemas.openxmlformats.org/drawingml/2006/main">
            <a:off x="4572000" y="4069080"/>
            <a:ext cx="1920240" cy="7863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4864" tIns="36576" rIns="54864" bIns="36576" anchor="ctr">
            <a:noAutofit/>
          </a:bodyPr>
          <a:lstStyle xmlns:a="http://schemas.openxmlformats.org/drawingml/2006/main"/>
          <a:p xmlns:a="http://schemas.openxmlformats.org/drawingml/2006/main">
            <a:pPr algn="ctr">
              <a:defRPr sz="975" b="0" i="0">
                <a:solidFill>
                  <a:srgbClr val="111111"/>
                </a:solidFill>
                <a:latin typeface="BIZ UDPゴシック"/>
                <a:ea typeface="BIZ UDPゴシック"/>
                <a:cs typeface="BIZ UDPゴシック"/>
              </a:defRPr>
            </a:pPr>
            <a:r>
              <a:rPr sz="1250" b="0" i="0" u="none">
                <a:solidFill>
                  <a:srgbClr val="111111"/>
                </a:solidFill>
                <a:latin typeface="BIZ UDPゴシック"/>
                <a:ea typeface="BIZ UDPゴシック"/>
                <a:cs typeface="BIZ UDPゴシック"/>
              </a:rPr>
              <a:t>返品理由を分類</a:t>
            </a:r>
          </a:p>
          <a:p xmlns:a="http://schemas.openxmlformats.org/drawingml/2006/main">
            <a:pPr algn="ctr">
              <a:defRPr sz="975" b="0" i="0">
                <a:solidFill>
                  <a:srgbClr val="111111"/>
                </a:solidFill>
                <a:latin typeface="BIZ UDPゴシック"/>
                <a:ea typeface="BIZ UDPゴシック"/>
                <a:cs typeface="BIZ UDPゴシック"/>
              </a:defRPr>
            </a:pPr>
            <a:r>
              <a:rPr sz="1250" b="0" i="0" u="none">
                <a:solidFill>
                  <a:srgbClr val="111111"/>
                </a:solidFill>
                <a:latin typeface="BIZ UDPゴシック"/>
                <a:ea typeface="BIZ UDPゴシック"/>
                <a:cs typeface="BIZ UDPゴシック"/>
              </a:rPr>
              <a:t>10/09の目標</a:t>
            </a:r>
          </a:p>
          <a:p xmlns:a="http://schemas.openxmlformats.org/drawingml/2006/main">
            <a:pPr algn="ctr">
              <a:defRPr sz="975" b="0" i="0">
                <a:solidFill>
                  <a:srgbClr val="111111"/>
                </a:solidFill>
                <a:latin typeface="BIZ UDPゴシック"/>
                <a:ea typeface="BIZ UDPゴシック"/>
                <a:cs typeface="BIZ UDPゴシック"/>
              </a:defRPr>
            </a:pPr>
            <a:r>
              <a:rPr sz="1250" b="0" i="0" u="none">
                <a:solidFill>
                  <a:srgbClr val="111111"/>
                </a:solidFill>
                <a:latin typeface="BIZ UDPゴシック"/>
                <a:ea typeface="BIZ UDPゴシック"/>
                <a:cs typeface="BIZ UDPゴシック"/>
              </a:rPr>
              <a:t>分類率100%</a:t>
            </a:r>
          </a:p>
        </p:txBody>
      </p:sp>
      <p:sp>
        <p:nvSpPr>
          <p:cNvPr id="46" name="page-05-object-045">
            <a:extLst xmlns:a="http://schemas.openxmlformats.org/drawingml/2006/main">
              <a:ext uri="{FF2B5EF4-FFF2-40B4-BE49-F238E27FC236}">
                <a16:creationId xmlns:a16="http://schemas.microsoft.com/office/drawing/2014/main" id="{C5E9AA23-E05F-4EEA-B9E5-B88E884F1CF1}"/>
              </a:ext>
            </a:extLst>
          </p:cNvPr>
          <p:cNvSpPr>
            <a:spLocks xmlns:a="http://schemas.openxmlformats.org/drawingml/2006/main" noGrp="1"/>
          </p:cNvSpPr>
          <p:nvPr/>
        </p:nvSpPr>
        <p:spPr>
          <a:xfrm xmlns:a="http://schemas.openxmlformats.org/drawingml/2006/main">
            <a:off x="7132320" y="4069080"/>
            <a:ext cx="1920240" cy="786384"/>
          </a:xfrm>
          <a:prstGeom xmlns:a="http://schemas.openxmlformats.org/drawingml/2006/main" prst="rect">
            <a:avLst/>
          </a:prstGeom>
          <a:solidFill xmlns:a="http://schemas.openxmlformats.org/drawingml/2006/main">
            <a:srgbClr val="FFFFFF"/>
          </a:solidFill>
          <a:ln xmlns:a="http://schemas.openxmlformats.org/drawingml/2006/main" w="6668">
            <a:solidFill>
              <a:srgbClr val="A6A6A6"/>
            </a:solidFill>
            <a:prstDash val="solid"/>
          </a:ln>
        </p:spPr>
        <p:txBody xmlns:a="http://schemas.openxmlformats.org/drawingml/2006/main">
          <a:bodyPr/>
          <a:p/>
        </p:txBody>
      </p:sp>
      <p:sp>
        <p:nvSpPr>
          <p:cNvPr id="47" name="page-05-object-046">
            <a:extLst xmlns:a="http://schemas.openxmlformats.org/drawingml/2006/main">
              <a:ext uri="{FF2B5EF4-FFF2-40B4-BE49-F238E27FC236}">
                <a16:creationId xmlns:a16="http://schemas.microsoft.com/office/drawing/2014/main" id="{FAA5B7D4-92B1-4C7C-A740-F7B5B98A5D15}"/>
              </a:ext>
            </a:extLst>
          </p:cNvPr>
          <p:cNvSpPr>
            <a:spLocks xmlns:a="http://schemas.openxmlformats.org/drawingml/2006/main" noGrp="1"/>
          </p:cNvSpPr>
          <p:nvPr/>
        </p:nvSpPr>
        <p:spPr>
          <a:xfrm xmlns:a="http://schemas.openxmlformats.org/drawingml/2006/main">
            <a:off x="7132320" y="4069080"/>
            <a:ext cx="1920240" cy="7863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4864" tIns="36576" rIns="54864" bIns="36576" anchor="ctr">
            <a:noAutofit/>
          </a:bodyPr>
          <a:lstStyle xmlns:a="http://schemas.openxmlformats.org/drawingml/2006/main"/>
          <a:p xmlns:a="http://schemas.openxmlformats.org/drawingml/2006/main">
            <a:pPr algn="ctr">
              <a:defRPr sz="975" b="0" i="0">
                <a:solidFill>
                  <a:srgbClr val="111111"/>
                </a:solidFill>
                <a:latin typeface="BIZ UDPゴシック"/>
                <a:ea typeface="BIZ UDPゴシック"/>
                <a:cs typeface="BIZ UDPゴシック"/>
              </a:defRPr>
            </a:pPr>
            <a:r>
              <a:rPr sz="1250" b="0" i="0" u="none">
                <a:solidFill>
                  <a:srgbClr val="111111"/>
                </a:solidFill>
                <a:latin typeface="BIZ UDPゴシック"/>
                <a:ea typeface="BIZ UDPゴシック"/>
                <a:cs typeface="BIZ UDPゴシック"/>
              </a:rPr>
              <a:t>説明と理由を照合</a:t>
            </a:r>
          </a:p>
          <a:p xmlns:a="http://schemas.openxmlformats.org/drawingml/2006/main">
            <a:pPr algn="ctr">
              <a:defRPr sz="975" b="0" i="0">
                <a:solidFill>
                  <a:srgbClr val="111111"/>
                </a:solidFill>
                <a:latin typeface="BIZ UDPゴシック"/>
                <a:ea typeface="BIZ UDPゴシック"/>
                <a:cs typeface="BIZ UDPゴシック"/>
              </a:defRPr>
            </a:pPr>
            <a:r>
              <a:rPr sz="1250" b="0" i="0" u="none">
                <a:solidFill>
                  <a:srgbClr val="111111"/>
                </a:solidFill>
                <a:latin typeface="BIZ UDPゴシック"/>
                <a:ea typeface="BIZ UDPゴシック"/>
                <a:cs typeface="BIZ UDPゴシック"/>
              </a:rPr>
              <a:t>入力：修正記録</a:t>
            </a:r>
          </a:p>
        </p:txBody>
      </p:sp>
      <p:sp>
        <p:nvSpPr>
          <p:cNvPr id="48" name="page-05-object-047">
            <a:extLst xmlns:a="http://schemas.openxmlformats.org/drawingml/2006/main">
              <a:ext uri="{FF2B5EF4-FFF2-40B4-BE49-F238E27FC236}">
                <a16:creationId xmlns:a16="http://schemas.microsoft.com/office/drawing/2014/main" id="{8E7937D5-559B-4854-AEB4-645B1CC905C5}"/>
              </a:ext>
            </a:extLst>
          </p:cNvPr>
          <p:cNvSpPr>
            <a:spLocks xmlns:a="http://schemas.openxmlformats.org/drawingml/2006/main" noGrp="1"/>
          </p:cNvSpPr>
          <p:nvPr/>
        </p:nvSpPr>
        <p:spPr>
          <a:xfrm xmlns:a="http://schemas.openxmlformats.org/drawingml/2006/main">
            <a:off x="9692640" y="4069080"/>
            <a:ext cx="1920240" cy="786384"/>
          </a:xfrm>
          <a:prstGeom xmlns:a="http://schemas.openxmlformats.org/drawingml/2006/main" prst="rect">
            <a:avLst/>
          </a:prstGeom>
          <a:solidFill xmlns:a="http://schemas.openxmlformats.org/drawingml/2006/main">
            <a:srgbClr val="FFFFFF"/>
          </a:solidFill>
          <a:ln xmlns:a="http://schemas.openxmlformats.org/drawingml/2006/main" w="6668">
            <a:solidFill>
              <a:srgbClr val="A6A6A6"/>
            </a:solidFill>
            <a:prstDash val="solid"/>
          </a:ln>
        </p:spPr>
        <p:txBody xmlns:a="http://schemas.openxmlformats.org/drawingml/2006/main">
          <a:bodyPr/>
          <a:p/>
        </p:txBody>
      </p:sp>
      <p:sp>
        <p:nvSpPr>
          <p:cNvPr id="49" name="page-05-object-048">
            <a:extLst xmlns:a="http://schemas.openxmlformats.org/drawingml/2006/main">
              <a:ext uri="{FF2B5EF4-FFF2-40B4-BE49-F238E27FC236}">
                <a16:creationId xmlns:a16="http://schemas.microsoft.com/office/drawing/2014/main" id="{3662AAE5-C290-4C03-9128-DE0B88DB34C8}"/>
              </a:ext>
            </a:extLst>
          </p:cNvPr>
          <p:cNvSpPr>
            <a:spLocks xmlns:a="http://schemas.openxmlformats.org/drawingml/2006/main" noGrp="1"/>
          </p:cNvSpPr>
          <p:nvPr/>
        </p:nvSpPr>
        <p:spPr>
          <a:xfrm xmlns:a="http://schemas.openxmlformats.org/drawingml/2006/main">
            <a:off x="9692640" y="4069080"/>
            <a:ext cx="1920240" cy="7863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4864" tIns="36576" rIns="54864" bIns="36576" anchor="ctr">
            <a:noAutofit/>
          </a:bodyPr>
          <a:lstStyle xmlns:a="http://schemas.openxmlformats.org/drawingml/2006/main"/>
          <a:p xmlns:a="http://schemas.openxmlformats.org/drawingml/2006/main">
            <a:pPr algn="ctr">
              <a:defRPr sz="975" b="0" i="0">
                <a:solidFill>
                  <a:srgbClr val="111111"/>
                </a:solidFill>
                <a:latin typeface="BIZ UDPゴシック"/>
                <a:ea typeface="BIZ UDPゴシック"/>
                <a:cs typeface="BIZ UDPゴシック"/>
              </a:defRPr>
            </a:pPr>
            <a:r>
              <a:rPr sz="1250" b="0" i="0" u="none">
                <a:solidFill>
                  <a:srgbClr val="111111"/>
                </a:solidFill>
                <a:latin typeface="BIZ UDPゴシック"/>
                <a:ea typeface="BIZ UDPゴシック"/>
                <a:cs typeface="BIZ UDPゴシック"/>
              </a:rPr>
              <a:t>新たな返品を記録</a:t>
            </a:r>
          </a:p>
          <a:p xmlns:a="http://schemas.openxmlformats.org/drawingml/2006/main">
            <a:pPr algn="ctr">
              <a:defRPr sz="975" b="0" i="0">
                <a:solidFill>
                  <a:srgbClr val="111111"/>
                </a:solidFill>
                <a:latin typeface="BIZ UDPゴシック"/>
                <a:ea typeface="BIZ UDPゴシック"/>
                <a:cs typeface="BIZ UDPゴシック"/>
              </a:defRPr>
            </a:pPr>
            <a:r>
              <a:rPr sz="1250" b="0" i="0" u="none">
                <a:solidFill>
                  <a:srgbClr val="111111"/>
                </a:solidFill>
                <a:latin typeface="BIZ UDPゴシック"/>
                <a:ea typeface="BIZ UDPゴシック"/>
                <a:cs typeface="BIZ UDPゴシック"/>
              </a:rPr>
              <a:t>出力：理由の推移</a:t>
            </a:r>
          </a:p>
        </p:txBody>
      </p:sp>
      <p:sp>
        <p:nvSpPr>
          <p:cNvPr id="50" name="page-05-decision-classification-complete">
            <a:extLst xmlns:a="http://schemas.openxmlformats.org/drawingml/2006/main">
              <a:ext uri="{FF2B5EF4-FFF2-40B4-BE49-F238E27FC236}">
                <a16:creationId xmlns:a16="http://schemas.microsoft.com/office/drawing/2014/main" id="{41923259-6499-43B0-8D5E-37848B15CC92}"/>
              </a:ext>
            </a:extLst>
          </p:cNvPr>
          <p:cNvSpPr>
            <a:spLocks xmlns:a="http://schemas.openxmlformats.org/drawingml/2006/main" noGrp="1"/>
          </p:cNvSpPr>
          <p:nvPr/>
        </p:nvSpPr>
        <p:spPr>
          <a:xfrm xmlns:a="http://schemas.openxmlformats.org/drawingml/2006/main">
            <a:off x="4709160" y="1783080"/>
            <a:ext cx="1645920" cy="786384"/>
          </a:xfrm>
          <a:prstGeom xmlns:a="http://schemas.openxmlformats.org/drawingml/2006/main" prst="diamond">
            <a:avLst/>
          </a:prstGeom>
          <a:solidFill xmlns:a="http://schemas.openxmlformats.org/drawingml/2006/main">
            <a:srgbClr val="FFD966"/>
          </a:solidFill>
          <a:ln xmlns:a="http://schemas.openxmlformats.org/drawingml/2006/main" w="13335">
            <a:solidFill>
              <a:srgbClr val="ED7D31"/>
            </a:solidFill>
            <a:prstDash val="solid"/>
          </a:ln>
        </p:spPr>
        <p:txBody xmlns:a="http://schemas.openxmlformats.org/drawingml/2006/main">
          <a:bodyPr/>
          <a:p/>
        </p:txBody>
      </p:sp>
      <p:sp>
        <p:nvSpPr>
          <p:cNvPr id="51" name="page-05-object-050">
            <a:extLst xmlns:a="http://schemas.openxmlformats.org/drawingml/2006/main">
              <a:ext uri="{FF2B5EF4-FFF2-40B4-BE49-F238E27FC236}">
                <a16:creationId xmlns:a16="http://schemas.microsoft.com/office/drawing/2014/main" id="{4D49744C-6094-4E88-ACBD-8404DFD08433}"/>
              </a:ext>
            </a:extLst>
          </p:cNvPr>
          <p:cNvSpPr>
            <a:spLocks xmlns:a="http://schemas.openxmlformats.org/drawingml/2006/main" noGrp="1"/>
          </p:cNvSpPr>
          <p:nvPr/>
        </p:nvSpPr>
        <p:spPr>
          <a:xfrm xmlns:a="http://schemas.openxmlformats.org/drawingml/2006/main">
            <a:off x="4928616" y="2048256"/>
            <a:ext cx="1207008" cy="2560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975" b="1" i="0">
                <a:solidFill>
                  <a:srgbClr val="111111"/>
                </a:solidFill>
                <a:latin typeface="BIZ UDPゴシック"/>
                <a:ea typeface="BIZ UDPゴシック"/>
                <a:cs typeface="BIZ UDPゴシック"/>
              </a:defRPr>
            </a:pPr>
            <a:r>
              <a:rPr sz="1300" b="1" i="0" u="none">
                <a:solidFill>
                  <a:srgbClr val="111111"/>
                </a:solidFill>
                <a:latin typeface="BIZ UDPゴシック"/>
                <a:ea typeface="BIZ UDPゴシック"/>
                <a:cs typeface="BIZ UDPゴシック"/>
              </a:rPr>
              <a:t>分類完了？</a:t>
            </a:r>
          </a:p>
        </p:txBody>
      </p:sp>
      <p:sp>
        <p:nvSpPr>
          <p:cNvPr id="52" name="page-05-object-051">
            <a:extLst xmlns:a="http://schemas.openxmlformats.org/drawingml/2006/main">
              <a:ext uri="{FF2B5EF4-FFF2-40B4-BE49-F238E27FC236}">
                <a16:creationId xmlns:a16="http://schemas.microsoft.com/office/drawing/2014/main" id="{81486E44-F248-43CD-8619-C9FC36CD67D7}"/>
              </a:ext>
            </a:extLst>
          </p:cNvPr>
          <p:cNvSpPr>
            <a:spLocks xmlns:a="http://schemas.openxmlformats.org/drawingml/2006/main" noGrp="1"/>
          </p:cNvSpPr>
          <p:nvPr/>
        </p:nvSpPr>
        <p:spPr>
          <a:xfrm xmlns:a="http://schemas.openxmlformats.org/drawingml/2006/main">
            <a:off x="2011680" y="5193792"/>
            <a:ext cx="5394960" cy="329184"/>
          </a:xfrm>
          <a:prstGeom xmlns:a="http://schemas.openxmlformats.org/drawingml/2006/main" prst="rect">
            <a:avLst/>
          </a:prstGeom>
          <a:solidFill xmlns:a="http://schemas.openxmlformats.org/drawingml/2006/main">
            <a:srgbClr val="DDEBF7"/>
          </a:solidFill>
          <a:ln xmlns:a="http://schemas.openxmlformats.org/drawingml/2006/main" w="11430">
            <a:solidFill>
              <a:srgbClr val="2474B5"/>
            </a:solidFill>
            <a:prstDash val="solid"/>
          </a:ln>
        </p:spPr>
        <p:txBody xmlns:a="http://schemas.openxmlformats.org/drawingml/2006/main">
          <a:bodyPr/>
          <a:p/>
        </p:txBody>
      </p:sp>
      <p:sp>
        <p:nvSpPr>
          <p:cNvPr id="53" name="page-05-object-052">
            <a:extLst xmlns:a="http://schemas.openxmlformats.org/drawingml/2006/main">
              <a:ext uri="{FF2B5EF4-FFF2-40B4-BE49-F238E27FC236}">
                <a16:creationId xmlns:a16="http://schemas.microsoft.com/office/drawing/2014/main" id="{885257D8-D058-47C2-B595-B1A67B192307}"/>
              </a:ext>
            </a:extLst>
          </p:cNvPr>
          <p:cNvSpPr>
            <a:spLocks xmlns:a="http://schemas.openxmlformats.org/drawingml/2006/main" noGrp="1"/>
          </p:cNvSpPr>
          <p:nvPr/>
        </p:nvSpPr>
        <p:spPr>
          <a:xfrm xmlns:a="http://schemas.openxmlformats.org/drawingml/2006/main">
            <a:off x="2011680" y="5193792"/>
            <a:ext cx="5394960" cy="3291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rIns="38100" bIns="0" anchor="t">
            <a:noAutofit/>
          </a:bodyPr>
          <a:lstStyle xmlns:a="http://schemas.openxmlformats.org/drawingml/2006/main"/>
          <a:p xmlns:a="http://schemas.openxmlformats.org/drawingml/2006/main">
            <a:pPr algn="ctr">
              <a:defRPr sz="1050" b="1" i="0">
                <a:solidFill>
                  <a:srgbClr val="092B4C"/>
                </a:solidFill>
                <a:latin typeface="BIZ UDPゴシック"/>
                <a:ea typeface="BIZ UDPゴシック"/>
                <a:cs typeface="BIZ UDPゴシック"/>
              </a:defRPr>
            </a:pPr>
            <a:r>
              <a:rPr sz="1150" b="1" i="0" u="none">
                <a:solidFill>
                  <a:srgbClr val="092B4C"/>
                </a:solidFill>
                <a:latin typeface="BIZ UDPゴシック"/>
                <a:ea typeface="BIZ UDPゴシック"/>
                <a:cs typeface="BIZ UDPゴシック"/>
              </a:rPr>
              <a:t>記録：対象一覧・理由分類・改稿・商品別粗利</a:t>
            </a:r>
          </a:p>
        </p:txBody>
      </p:sp>
      <p:sp>
        <p:nvSpPr>
          <p:cNvPr id="54" name="page-05-object-053">
            <a:extLst xmlns:a="http://schemas.openxmlformats.org/drawingml/2006/main">
              <a:ext uri="{FF2B5EF4-FFF2-40B4-BE49-F238E27FC236}">
                <a16:creationId xmlns:a16="http://schemas.microsoft.com/office/drawing/2014/main" id="{4836421A-A537-47E4-A553-CF240F34D78E}"/>
              </a:ext>
            </a:extLst>
          </p:cNvPr>
          <p:cNvSpPr>
            <a:spLocks xmlns:a="http://schemas.openxmlformats.org/drawingml/2006/main" noGrp="1"/>
          </p:cNvSpPr>
          <p:nvPr/>
        </p:nvSpPr>
        <p:spPr>
          <a:xfrm xmlns:a="http://schemas.openxmlformats.org/drawingml/2006/main">
            <a:off x="7589520" y="5193792"/>
            <a:ext cx="4242816" cy="329184"/>
          </a:xfrm>
          <a:prstGeom xmlns:a="http://schemas.openxmlformats.org/drawingml/2006/main" prst="rect">
            <a:avLst/>
          </a:prstGeom>
          <a:solidFill xmlns:a="http://schemas.openxmlformats.org/drawingml/2006/main">
            <a:srgbClr val="FCE4D6"/>
          </a:solidFill>
          <a:ln xmlns:a="http://schemas.openxmlformats.org/drawingml/2006/main" w="11430">
            <a:solidFill>
              <a:srgbClr val="C00000"/>
            </a:solidFill>
            <a:prstDash val="solid"/>
          </a:ln>
        </p:spPr>
        <p:txBody xmlns:a="http://schemas.openxmlformats.org/drawingml/2006/main">
          <a:bodyPr/>
          <a:p/>
        </p:txBody>
      </p:sp>
      <p:sp>
        <p:nvSpPr>
          <p:cNvPr id="55" name="page-05-object-054">
            <a:extLst xmlns:a="http://schemas.openxmlformats.org/drawingml/2006/main">
              <a:ext uri="{FF2B5EF4-FFF2-40B4-BE49-F238E27FC236}">
                <a16:creationId xmlns:a16="http://schemas.microsoft.com/office/drawing/2014/main" id="{BBDD20A0-E44E-4424-85E9-C92062716CA4}"/>
              </a:ext>
            </a:extLst>
          </p:cNvPr>
          <p:cNvSpPr>
            <a:spLocks xmlns:a="http://schemas.openxmlformats.org/drawingml/2006/main" noGrp="1"/>
          </p:cNvSpPr>
          <p:nvPr/>
        </p:nvSpPr>
        <p:spPr>
          <a:xfrm xmlns:a="http://schemas.openxmlformats.org/drawingml/2006/main">
            <a:off x="7589520" y="5193792"/>
            <a:ext cx="4242816" cy="3291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rIns="38100" bIns="0" anchor="t">
            <a:noAutofit/>
          </a:bodyPr>
          <a:lstStyle xmlns:a="http://schemas.openxmlformats.org/drawingml/2006/main"/>
          <a:p xmlns:a="http://schemas.openxmlformats.org/drawingml/2006/main">
            <a:pPr algn="ctr">
              <a:defRPr sz="1050" b="1" i="0">
                <a:solidFill>
                  <a:srgbClr val="C00000"/>
                </a:solidFill>
                <a:latin typeface="BIZ UDPゴシック"/>
                <a:ea typeface="BIZ UDPゴシック"/>
                <a:cs typeface="BIZ UDPゴシック"/>
              </a:defRPr>
            </a:pPr>
            <a:r>
              <a:rPr sz="1150" b="1" i="0" u="none">
                <a:solidFill>
                  <a:srgbClr val="C00000"/>
                </a:solidFill>
                <a:latin typeface="BIZ UDPゴシック"/>
                <a:ea typeface="BIZ UDPゴシック"/>
                <a:cs typeface="BIZ UDPゴシック"/>
              </a:rPr>
              <a:t>要確認：説明との差、値引き・商品構成</a:t>
            </a:r>
          </a:p>
        </p:txBody>
      </p:sp>
      <p:sp>
        <p:nvSpPr>
          <p:cNvPr id="56" name="page-05-object-055">
            <a:extLst xmlns:a="http://schemas.openxmlformats.org/drawingml/2006/main">
              <a:ext uri="{FF2B5EF4-FFF2-40B4-BE49-F238E27FC236}">
                <a16:creationId xmlns:a16="http://schemas.microsoft.com/office/drawing/2014/main" id="{36EB3211-0BF4-4758-897F-13FFA4C13A8F}"/>
              </a:ext>
            </a:extLst>
          </p:cNvPr>
          <p:cNvSpPr>
            <a:spLocks xmlns:a="http://schemas.openxmlformats.org/drawingml/2006/main" noGrp="1"/>
          </p:cNvSpPr>
          <p:nvPr/>
        </p:nvSpPr>
        <p:spPr>
          <a:xfrm xmlns:a="http://schemas.openxmlformats.org/drawingml/2006/main">
            <a:off x="285750" y="5753100"/>
            <a:ext cx="11601450" cy="381000"/>
          </a:xfrm>
          <a:prstGeom xmlns:a="http://schemas.openxmlformats.org/drawingml/2006/main" prst="rect">
            <a:avLst/>
          </a:prstGeom>
          <a:solidFill xmlns:a="http://schemas.openxmlformats.org/drawingml/2006/main">
            <a:srgbClr val="DDEBF7"/>
          </a:solidFill>
          <a:ln xmlns:a="http://schemas.openxmlformats.org/drawingml/2006/main" w="11430">
            <a:solidFill>
              <a:srgbClr val="2474B5"/>
            </a:solidFill>
            <a:prstDash val="solid"/>
          </a:ln>
        </p:spPr>
        <p:txBody xmlns:a="http://schemas.openxmlformats.org/drawingml/2006/main">
          <a:bodyPr/>
          <a:p/>
        </p:txBody>
      </p:sp>
      <p:sp>
        <p:nvSpPr>
          <p:cNvPr id="57" name="page-05-object-056">
            <a:extLst xmlns:a="http://schemas.openxmlformats.org/drawingml/2006/main">
              <a:ext uri="{FF2B5EF4-FFF2-40B4-BE49-F238E27FC236}">
                <a16:creationId xmlns:a16="http://schemas.microsoft.com/office/drawing/2014/main" id="{883417A0-7873-46DB-8FA2-ED2058092E25}"/>
              </a:ext>
            </a:extLst>
          </p:cNvPr>
          <p:cNvSpPr>
            <a:spLocks xmlns:a="http://schemas.openxmlformats.org/drawingml/2006/main" noGrp="1"/>
          </p:cNvSpPr>
          <p:nvPr/>
        </p:nvSpPr>
        <p:spPr>
          <a:xfrm xmlns:a="http://schemas.openxmlformats.org/drawingml/2006/main">
            <a:off x="285750" y="5753100"/>
            <a:ext cx="1047750" cy="381000"/>
          </a:xfrm>
          <a:prstGeom xmlns:a="http://schemas.openxmlformats.org/drawingml/2006/main" prst="rect">
            <a:avLst/>
          </a:prstGeom>
          <a:solidFill xmlns:a="http://schemas.openxmlformats.org/drawingml/2006/main">
            <a:srgbClr val="0B5AA6"/>
          </a:solidFill>
          <a:ln xmlns:a="http://schemas.openxmlformats.org/drawingml/2006/main" w="0">
            <a:solidFill>
              <a:srgbClr val="0B5AA6"/>
            </a:solidFill>
            <a:prstDash val="solid"/>
          </a:ln>
        </p:spPr>
        <p:txBody xmlns:a="http://schemas.openxmlformats.org/drawingml/2006/main">
          <a:bodyPr/>
          <a:p/>
        </p:txBody>
      </p:sp>
      <p:sp>
        <p:nvSpPr>
          <p:cNvPr id="58" name="page-05-object-057">
            <a:extLst xmlns:a="http://schemas.openxmlformats.org/drawingml/2006/main">
              <a:ext uri="{FF2B5EF4-FFF2-40B4-BE49-F238E27FC236}">
                <a16:creationId xmlns:a16="http://schemas.microsoft.com/office/drawing/2014/main" id="{592C007A-A675-41A9-9CF4-AA3DEF45FE5B}"/>
              </a:ext>
            </a:extLst>
          </p:cNvPr>
          <p:cNvSpPr>
            <a:spLocks xmlns:a="http://schemas.openxmlformats.org/drawingml/2006/main" noGrp="1"/>
          </p:cNvSpPr>
          <p:nvPr/>
        </p:nvSpPr>
        <p:spPr>
          <a:xfrm xmlns:a="http://schemas.openxmlformats.org/drawingml/2006/main">
            <a:off x="285750" y="5800725"/>
            <a:ext cx="1047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i="0">
                <a:solidFill>
                  <a:srgbClr val="FFFFFF"/>
                </a:solidFill>
                <a:latin typeface="BIZ UDPゴシック"/>
                <a:ea typeface="BIZ UDPゴシック"/>
                <a:cs typeface="BIZ UDPゴシック"/>
              </a:defRPr>
            </a:pPr>
            <a:r>
              <a:rPr sz="1200" b="1" i="0" u="none">
                <a:solidFill>
                  <a:srgbClr val="FFFFFF"/>
                </a:solidFill>
                <a:latin typeface="BIZ UDPゴシック"/>
                <a:ea typeface="BIZ UDPゴシック"/>
                <a:cs typeface="BIZ UDPゴシック"/>
              </a:rPr>
              <a:t>改善</a:t>
            </a:r>
          </a:p>
        </p:txBody>
      </p:sp>
      <p:sp>
        <p:nvSpPr>
          <p:cNvPr id="59" name="page-05-object-058">
            <a:extLst xmlns:a="http://schemas.openxmlformats.org/drawingml/2006/main">
              <a:ext uri="{FF2B5EF4-FFF2-40B4-BE49-F238E27FC236}">
                <a16:creationId xmlns:a16="http://schemas.microsoft.com/office/drawing/2014/main" id="{A8217E09-479C-4FD5-B22F-FE318E979CFF}"/>
              </a:ext>
            </a:extLst>
          </p:cNvPr>
          <p:cNvSpPr>
            <a:spLocks xmlns:a="http://schemas.openxmlformats.org/drawingml/2006/main" noGrp="1"/>
          </p:cNvSpPr>
          <p:nvPr/>
        </p:nvSpPr>
        <p:spPr>
          <a:xfrm xmlns:a="http://schemas.openxmlformats.org/drawingml/2006/main">
            <a:off x="1447800" y="58102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i="0">
                <a:solidFill>
                  <a:srgbClr val="111111"/>
                </a:solidFill>
                <a:latin typeface="BIZ UDPゴシック"/>
                <a:ea typeface="BIZ UDPゴシック"/>
                <a:cs typeface="BIZ UDPゴシック"/>
              </a:defRPr>
            </a:pPr>
            <a:r>
              <a:rPr sz="1275" b="1" i="0" u="none">
                <a:solidFill>
                  <a:srgbClr val="111111"/>
                </a:solidFill>
                <a:latin typeface="BIZ UDPゴシック"/>
                <a:ea typeface="BIZ UDPゴシック"/>
                <a:cs typeface="BIZ UDPゴシック"/>
              </a:rPr>
              <a:t>分類表と改稿記録を渡し、効果・粗利の記録がそろってから責任者が判断する</a:t>
            </a:r>
          </a:p>
        </p:txBody>
      </p:sp>
      <p:sp>
        <p:nvSpPr>
          <p:cNvPr id="60" name="page-05-object-059">
            <a:extLst xmlns:a="http://schemas.openxmlformats.org/drawingml/2006/main">
              <a:ext uri="{FF2B5EF4-FFF2-40B4-BE49-F238E27FC236}">
                <a16:creationId xmlns:a16="http://schemas.microsoft.com/office/drawing/2014/main" id="{3D836042-B71A-48EA-A637-BF1804BE52B9}"/>
              </a:ext>
            </a:extLst>
          </p:cNvPr>
          <p:cNvSpPr>
            <a:spLocks xmlns:a="http://schemas.openxmlformats.org/drawingml/2006/main" noGrp="1"/>
          </p:cNvSpPr>
          <p:nvPr/>
        </p:nvSpPr>
        <p:spPr>
          <a:xfrm xmlns:a="http://schemas.openxmlformats.org/drawingml/2006/main">
            <a:off x="304800" y="6305550"/>
            <a:ext cx="1100137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75" b="0" i="0">
                <a:solidFill>
                  <a:srgbClr val="666666"/>
                </a:solidFill>
                <a:latin typeface="BIZ UDPゴシック"/>
                <a:ea typeface="BIZ UDPゴシック"/>
                <a:cs typeface="BIZ UDPゴシック"/>
              </a:defRPr>
            </a:pPr>
            <a:r>
              <a:rPr sz="675" b="0" i="0" u="none">
                <a:solidFill>
                  <a:srgbClr val="666666"/>
                </a:solidFill>
                <a:latin typeface="BIZ UDPゴシック"/>
                <a:ea typeface="BIZ UDPゴシック"/>
                <a:cs typeface="BIZ UDPゴシック"/>
              </a:rPr>
              <a:t>注：架空の業務設計案。既存のシステム構成や実際の組織を示すものではない。</a:t>
            </a:r>
          </a:p>
        </p:txBody>
      </p:sp>
      <p:sp xmlns:a="http://schemas.openxmlformats.org/drawingml/2006/main">
        <p:nvSpPr>
          <p:cNvPr id="63" name="page-05-handoff-label-scope"/>
          <p:cNvSpPr txBox="1"/>
          <p:nvPr/>
        </p:nvSpPr>
        <p:spPr>
          <a:xfrm>
            <a:off x="3108960" y="2670048"/>
            <a:ext cx="640080" cy="182880"/>
          </a:xfrm>
          <a:prstGeom prst="rect">
            <a:avLst/>
          </a:prstGeom>
          <a:noFill/>
        </p:spPr>
        <p:txBody>
          <a:bodyPr wrap="none" lIns="0" rIns="0" tIns="0" bIns="0">
            <a:spAutoFit/>
          </a:bodyPr>
          <a:lstStyle/>
          <a:p>
            <a:pPr algn="ctr"/>
            <a:r>
              <a:rPr sz="1100" b="0">
                <a:solidFill>
                  <a:srgbClr val="2474B5"/>
                </a:solidFill>
                <a:latin typeface="BIZ UDPゴシック"/>
              </a:rPr>
              <a:t>対象</a:t>
            </a:r>
          </a:p>
        </p:txBody>
      </p:sp>
      <p:sp xmlns:a="http://schemas.openxmlformats.org/drawingml/2006/main">
        <p:nvSpPr>
          <p:cNvPr id="65" name="page-05-handoff-label-target-list"/>
          <p:cNvSpPr txBox="1"/>
          <p:nvPr/>
        </p:nvSpPr>
        <p:spPr>
          <a:xfrm>
            <a:off x="3108960" y="3785615"/>
            <a:ext cx="640080" cy="182880"/>
          </a:xfrm>
          <a:prstGeom prst="rect">
            <a:avLst/>
          </a:prstGeom>
          <a:noFill/>
        </p:spPr>
        <p:txBody>
          <a:bodyPr wrap="none" lIns="0" rIns="0" tIns="0" bIns="0">
            <a:spAutoFit/>
          </a:bodyPr>
          <a:lstStyle/>
          <a:p>
            <a:pPr algn="ctr"/>
            <a:r>
              <a:rPr sz="1100" b="0">
                <a:solidFill>
                  <a:srgbClr val="2474B5"/>
                </a:solidFill>
                <a:latin typeface="BIZ UDPゴシック"/>
              </a:rPr>
              <a:t>対象一覧</a:t>
            </a:r>
          </a:p>
        </p:txBody>
      </p:sp>
      <p:sp xmlns:a="http://schemas.openxmlformats.org/drawingml/2006/main">
        <p:nvSpPr>
          <p:cNvPr id="67" name="page-05-handoff-label-return-list"/>
          <p:cNvSpPr txBox="1"/>
          <p:nvPr/>
        </p:nvSpPr>
        <p:spPr>
          <a:xfrm>
            <a:off x="3941063" y="4242816"/>
            <a:ext cx="621792" cy="182880"/>
          </a:xfrm>
          <a:prstGeom prst="rect">
            <a:avLst/>
          </a:prstGeom>
          <a:noFill/>
        </p:spPr>
        <p:txBody>
          <a:bodyPr wrap="none" lIns="0" rIns="0" tIns="0" bIns="0">
            <a:spAutoFit/>
          </a:bodyPr>
          <a:lstStyle/>
          <a:p>
            <a:pPr algn="ctr"/>
            <a:r>
              <a:rPr sz="1100" b="0">
                <a:solidFill>
                  <a:srgbClr val="2474B5"/>
                </a:solidFill>
                <a:latin typeface="BIZ UDPゴシック"/>
              </a:rPr>
              <a:t>返品一覧</a:t>
            </a:r>
          </a:p>
        </p:txBody>
      </p:sp>
      <p:sp xmlns:a="http://schemas.openxmlformats.org/drawingml/2006/main">
        <p:nvSpPr>
          <p:cNvPr id="69" name="page-05-handoff-label-classification"/>
          <p:cNvSpPr txBox="1"/>
          <p:nvPr/>
        </p:nvSpPr>
        <p:spPr>
          <a:xfrm>
            <a:off x="5660136" y="3154680"/>
            <a:ext cx="804672" cy="365760"/>
          </a:xfrm>
          <a:prstGeom prst="rect">
            <a:avLst/>
          </a:prstGeom>
          <a:noFill/>
        </p:spPr>
        <p:txBody>
          <a:bodyPr wrap="none" lIns="0" rIns="0" tIns="0" bIns="0">
            <a:spAutoFit/>
          </a:bodyPr>
          <a:lstStyle/>
          <a:p>
            <a:pPr algn="ctr"/>
            <a:r>
              <a:rPr sz="1100" b="0">
                <a:solidFill>
                  <a:srgbClr val="2474B5"/>
                </a:solidFill>
                <a:latin typeface="BIZ UDPゴシック"/>
              </a:rPr>
              <a:t>分類表を</a:t>
            </a:r>
          </a:p>
          <a:p>
            <a:pPr algn="ctr"/>
            <a:r>
              <a:rPr sz="1100" b="0">
                <a:solidFill>
                  <a:srgbClr val="2474B5"/>
                </a:solidFill>
                <a:latin typeface="BIZ UDPゴシック"/>
              </a:rPr>
              <a:t>引き継ぐ</a:t>
            </a:r>
          </a:p>
        </p:txBody>
      </p:sp>
      <p:sp xmlns:a="http://schemas.openxmlformats.org/drawingml/2006/main">
        <p:nvSpPr>
          <p:cNvPr id="72" name="page-05-handoff-label-yes"/>
          <p:cNvSpPr txBox="1"/>
          <p:nvPr/>
        </p:nvSpPr>
        <p:spPr>
          <a:xfrm>
            <a:off x="6492240" y="1901952"/>
            <a:ext cx="2194560" cy="182880"/>
          </a:xfrm>
          <a:prstGeom prst="rect">
            <a:avLst/>
          </a:prstGeom>
          <a:noFill/>
        </p:spPr>
        <p:txBody>
          <a:bodyPr wrap="none" lIns="0" rIns="0" tIns="0" bIns="0">
            <a:spAutoFit/>
          </a:bodyPr>
          <a:lstStyle/>
          <a:p>
            <a:pPr algn="ctr"/>
            <a:r>
              <a:rPr sz="1100" b="0">
                <a:solidFill>
                  <a:srgbClr val="2474B5"/>
                </a:solidFill>
                <a:latin typeface="BIZ UDPゴシック"/>
              </a:rPr>
              <a:t>はい：修正対象</a:t>
            </a:r>
          </a:p>
        </p:txBody>
      </p:sp>
      <p:sp xmlns:a="http://schemas.openxmlformats.org/drawingml/2006/main">
        <p:nvSpPr>
          <p:cNvPr id="76" name="page-05-handoff-label-no"/>
          <p:cNvSpPr txBox="1"/>
          <p:nvPr/>
        </p:nvSpPr>
        <p:spPr>
          <a:xfrm>
            <a:off x="3941063" y="1901952"/>
            <a:ext cx="749808" cy="182880"/>
          </a:xfrm>
          <a:prstGeom prst="rect">
            <a:avLst/>
          </a:prstGeom>
          <a:noFill/>
        </p:spPr>
        <p:txBody>
          <a:bodyPr wrap="none" lIns="0" rIns="0" tIns="0" bIns="0">
            <a:spAutoFit/>
          </a:bodyPr>
          <a:lstStyle/>
          <a:p>
            <a:pPr algn="ctr"/>
            <a:r>
              <a:rPr sz="1100" b="0">
                <a:solidFill>
                  <a:srgbClr val="C00000"/>
                </a:solidFill>
                <a:latin typeface="BIZ UDPゴシック"/>
              </a:rPr>
              <a:t>不足は戻す</a:t>
            </a:r>
          </a:p>
        </p:txBody>
      </p:sp>
      <p:sp xmlns:a="http://schemas.openxmlformats.org/drawingml/2006/main">
        <p:nvSpPr>
          <p:cNvPr id="78" name="page-05-handoff-label-rewrite-record"/>
          <p:cNvSpPr txBox="1"/>
          <p:nvPr/>
        </p:nvSpPr>
        <p:spPr>
          <a:xfrm>
            <a:off x="8229600" y="3785615"/>
            <a:ext cx="804672" cy="182880"/>
          </a:xfrm>
          <a:prstGeom prst="rect">
            <a:avLst/>
          </a:prstGeom>
          <a:noFill/>
        </p:spPr>
        <p:txBody>
          <a:bodyPr wrap="none" lIns="0" rIns="0" tIns="0" bIns="0">
            <a:spAutoFit/>
          </a:bodyPr>
          <a:lstStyle/>
          <a:p>
            <a:pPr algn="ctr"/>
            <a:r>
              <a:rPr sz="1100" b="0">
                <a:solidFill>
                  <a:srgbClr val="2474B5"/>
                </a:solidFill>
                <a:latin typeface="BIZ UDPゴシック"/>
              </a:rPr>
              <a:t>改稿記録</a:t>
            </a:r>
          </a:p>
        </p:txBody>
      </p:sp>
      <p:sp xmlns:a="http://schemas.openxmlformats.org/drawingml/2006/main">
        <p:nvSpPr>
          <p:cNvPr id="80" name="page-05-handoff-label-check-result"/>
          <p:cNvSpPr txBox="1"/>
          <p:nvPr/>
        </p:nvSpPr>
        <p:spPr>
          <a:xfrm>
            <a:off x="9061704" y="4242816"/>
            <a:ext cx="621792" cy="182880"/>
          </a:xfrm>
          <a:prstGeom prst="rect">
            <a:avLst/>
          </a:prstGeom>
          <a:noFill/>
        </p:spPr>
        <p:txBody>
          <a:bodyPr wrap="none" lIns="0" rIns="0" tIns="0" bIns="0">
            <a:spAutoFit/>
          </a:bodyPr>
          <a:lstStyle/>
          <a:p>
            <a:pPr algn="ctr"/>
            <a:r>
              <a:rPr sz="1100" b="0">
                <a:solidFill>
                  <a:srgbClr val="2474B5"/>
                </a:solidFill>
                <a:latin typeface="BIZ UDPゴシック"/>
              </a:rPr>
              <a:t>照合結果</a:t>
            </a:r>
          </a:p>
        </p:txBody>
      </p:sp>
      <p:sp xmlns:a="http://schemas.openxmlformats.org/drawingml/2006/main">
        <p:nvSpPr>
          <p:cNvPr id="82" name="page-05-handoff-label-new-return-record"/>
          <p:cNvSpPr txBox="1"/>
          <p:nvPr/>
        </p:nvSpPr>
        <p:spPr>
          <a:xfrm>
            <a:off x="10789920" y="3785615"/>
            <a:ext cx="804672" cy="182880"/>
          </a:xfrm>
          <a:prstGeom prst="rect">
            <a:avLst/>
          </a:prstGeom>
          <a:noFill/>
        </p:spPr>
        <p:txBody>
          <a:bodyPr wrap="none" lIns="0" rIns="0" tIns="0" bIns="0">
            <a:spAutoFit/>
          </a:bodyPr>
          <a:lstStyle/>
          <a:p>
            <a:pPr algn="ctr"/>
            <a:r>
              <a:rPr sz="1100" b="0">
                <a:solidFill>
                  <a:srgbClr val="2474B5"/>
                </a:solidFill>
                <a:latin typeface="BIZ UDPゴシック"/>
              </a:rPr>
              <a:t>返品記録</a:t>
            </a:r>
          </a:p>
        </p:txBody>
      </p:sp>
      <p:sp xmlns:a="http://schemas.openxmlformats.org/drawingml/2006/main">
        <p:nvSpPr>
          <p:cNvPr id="84" name="page-05-handoff-label-effect-margin"/>
          <p:cNvSpPr txBox="1"/>
          <p:nvPr/>
        </p:nvSpPr>
        <p:spPr>
          <a:xfrm>
            <a:off x="10780776" y="2679192"/>
            <a:ext cx="859536" cy="182880"/>
          </a:xfrm>
          <a:prstGeom prst="rect">
            <a:avLst/>
          </a:prstGeom>
          <a:noFill/>
        </p:spPr>
        <p:txBody>
          <a:bodyPr wrap="none" lIns="0" rIns="0" tIns="0" bIns="0">
            <a:spAutoFit/>
          </a:bodyPr>
          <a:lstStyle/>
          <a:p>
            <a:pPr algn="ctr"/>
            <a:r>
              <a:rPr sz="1100" b="0">
                <a:solidFill>
                  <a:srgbClr val="2474B5"/>
                </a:solidFill>
                <a:latin typeface="BIZ UDPゴシック"/>
              </a:rPr>
              <a:t>効果・粗利</a:t>
            </a:r>
          </a:p>
        </p:txBody>
      </p:sp>
    </p:spTree>
    <p:extLst>
      <p:ext uri="{BB962C8B-B14F-4D97-AF65-F5344CB8AC3E}">
        <p14:creationId xmlns:p14="http://schemas.microsoft.com/office/powerpoint/2010/main" val="159471102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page-04-object-000">
            <a:extLst xmlns:a="http://schemas.openxmlformats.org/drawingml/2006/main">
              <a:ext uri="{FF2B5EF4-FFF2-40B4-BE49-F238E27FC236}">
                <a16:creationId xmlns:a16="http://schemas.microsoft.com/office/drawing/2014/main" id="{A1601DD1-84C4-4786-9B44-ADEF76405DD3}"/>
              </a:ext>
            </a:extLst>
          </p:cNvPr>
          <p:cNvSpPr>
            <a:spLocks xmlns:a="http://schemas.openxmlformats.org/drawingml/2006/main" noGrp="1"/>
          </p:cNvSpPr>
          <p:nvPr/>
        </p:nvSpPr>
        <p:spPr>
          <a:xfrm xmlns:a="http://schemas.openxmlformats.org/drawingml/2006/main">
            <a:off x="0" y="0"/>
            <a:ext cx="12192000" cy="495300"/>
          </a:xfrm>
          <a:prstGeom xmlns:a="http://schemas.openxmlformats.org/drawingml/2006/main" prst="rect">
            <a:avLst/>
          </a:prstGeom>
          <a:solidFill xmlns:a="http://schemas.openxmlformats.org/drawingml/2006/main">
            <a:srgbClr val="0B5AA6"/>
          </a:solidFill>
          <a:ln xmlns:a="http://schemas.openxmlformats.org/drawingml/2006/main" w="0">
            <a:solidFill>
              <a:srgbClr val="0B5AA6"/>
            </a:solidFill>
            <a:prstDash val="solid"/>
          </a:ln>
        </p:spPr>
        <p:txBody xmlns:a="http://schemas.openxmlformats.org/drawingml/2006/main">
          <a:bodyPr/>
          <a:p/>
        </p:txBody>
      </p:sp>
      <p:sp>
        <p:nvSpPr>
          <p:cNvPr id="2" name="page-04-object-001">
            <a:extLst xmlns:a="http://schemas.openxmlformats.org/drawingml/2006/main">
              <a:ext uri="{FF2B5EF4-FFF2-40B4-BE49-F238E27FC236}">
                <a16:creationId xmlns:a16="http://schemas.microsoft.com/office/drawing/2014/main" id="{78E7DFCF-1FEC-421C-9C72-B259001E2CE3}"/>
              </a:ext>
            </a:extLst>
          </p:cNvPr>
          <p:cNvSpPr>
            <a:spLocks xmlns:a="http://schemas.openxmlformats.org/drawingml/2006/main" noGrp="1"/>
          </p:cNvSpPr>
          <p:nvPr/>
        </p:nvSpPr>
        <p:spPr>
          <a:xfrm xmlns:a="http://schemas.openxmlformats.org/drawingml/2006/main">
            <a:off x="228600" y="38100"/>
            <a:ext cx="885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i="0">
                <a:solidFill>
                  <a:srgbClr val="FFFFFF"/>
                </a:solidFill>
                <a:latin typeface="BIZ UDPゴシック"/>
                <a:ea typeface="BIZ UDPゴシック"/>
                <a:cs typeface="BIZ UDPゴシック"/>
              </a:defRPr>
            </a:pPr>
            <a:r>
              <a:rPr sz="2100" b="1" i="0" u="none">
                <a:solidFill>
                  <a:srgbClr val="FFFFFF"/>
                </a:solidFill>
                <a:latin typeface="BIZ UDPゴシック"/>
                <a:ea typeface="BIZ UDPゴシック"/>
                <a:cs typeface="BIZ UDPゴシック"/>
              </a:rPr>
              <a:t>返品理由から商品説明を見直す</a:t>
            </a:r>
          </a:p>
        </p:txBody>
      </p:sp>
      <p:sp>
        <p:nvSpPr>
          <p:cNvPr id="3" name="page-04-object-002">
            <a:extLst xmlns:a="http://schemas.openxmlformats.org/drawingml/2006/main">
              <a:ext uri="{FF2B5EF4-FFF2-40B4-BE49-F238E27FC236}">
                <a16:creationId xmlns:a16="http://schemas.microsoft.com/office/drawing/2014/main" id="{CCFF0B84-75CF-4712-9D5F-E5235A5B8634}"/>
              </a:ext>
            </a:extLst>
          </p:cNvPr>
          <p:cNvSpPr>
            <a:spLocks xmlns:a="http://schemas.openxmlformats.org/drawingml/2006/main" noGrp="1"/>
          </p:cNvSpPr>
          <p:nvPr/>
        </p:nvSpPr>
        <p:spPr>
          <a:xfrm xmlns:a="http://schemas.openxmlformats.org/drawingml/2006/main">
            <a:off x="9620250" y="76200"/>
            <a:ext cx="2266950" cy="323850"/>
          </a:xfrm>
          <a:prstGeom xmlns:a="http://schemas.openxmlformats.org/drawingml/2006/main" prst="rect">
            <a:avLst/>
          </a:prstGeom>
          <a:solidFill xmlns:a="http://schemas.openxmlformats.org/drawingml/2006/main">
            <a:srgbClr val="00A9E0"/>
          </a:solidFill>
          <a:ln xmlns:a="http://schemas.openxmlformats.org/drawingml/2006/main" w="0">
            <a:solidFill>
              <a:srgbClr val="00A9E0"/>
            </a:solidFill>
            <a:prstDash val="solid"/>
          </a:ln>
        </p:spPr>
        <p:txBody xmlns:a="http://schemas.openxmlformats.org/drawingml/2006/main">
          <a:bodyPr/>
          <a:p/>
        </p:txBody>
      </p:sp>
      <p:sp>
        <p:nvSpPr>
          <p:cNvPr id="4" name="page-04-object-003">
            <a:extLst xmlns:a="http://schemas.openxmlformats.org/drawingml/2006/main">
              <a:ext uri="{FF2B5EF4-FFF2-40B4-BE49-F238E27FC236}">
                <a16:creationId xmlns:a16="http://schemas.microsoft.com/office/drawing/2014/main" id="{E9934EFE-0C74-4EC2-B99B-6982A134EBBD}"/>
              </a:ext>
            </a:extLst>
          </p:cNvPr>
          <p:cNvSpPr>
            <a:spLocks xmlns:a="http://schemas.openxmlformats.org/drawingml/2006/main" noGrp="1"/>
          </p:cNvSpPr>
          <p:nvPr/>
        </p:nvSpPr>
        <p:spPr>
          <a:xfrm xmlns:a="http://schemas.openxmlformats.org/drawingml/2006/main">
            <a:off x="9620250" y="104775"/>
            <a:ext cx="22669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i="0">
                <a:solidFill>
                  <a:srgbClr val="FFFFFF"/>
                </a:solidFill>
                <a:latin typeface="BIZ UDPゴシック"/>
                <a:ea typeface="BIZ UDPゴシック"/>
                <a:cs typeface="BIZ UDPゴシック"/>
              </a:defRPr>
            </a:pPr>
            <a:r>
              <a:rPr sz="1125" b="1" i="0" u="none">
                <a:solidFill>
                  <a:srgbClr val="FFFFFF"/>
                </a:solidFill>
                <a:latin typeface="BIZ UDPゴシック"/>
                <a:ea typeface="BIZ UDPゴシック"/>
                <a:cs typeface="BIZ UDPゴシック"/>
              </a:rPr>
              <a:t>施策のつながり</a:t>
            </a:r>
          </a:p>
        </p:txBody>
      </p:sp>
      <p:sp>
        <p:nvSpPr>
          <p:cNvPr id="5" name="page-04-object-004">
            <a:extLst xmlns:a="http://schemas.openxmlformats.org/drawingml/2006/main">
              <a:ext uri="{FF2B5EF4-FFF2-40B4-BE49-F238E27FC236}">
                <a16:creationId xmlns:a16="http://schemas.microsoft.com/office/drawing/2014/main" id="{1A2AAF54-B970-49F5-A742-25B640945006}"/>
              </a:ext>
            </a:extLst>
          </p:cNvPr>
          <p:cNvSpPr>
            <a:spLocks xmlns:a="http://schemas.openxmlformats.org/drawingml/2006/main" noGrp="1"/>
          </p:cNvSpPr>
          <p:nvPr/>
        </p:nvSpPr>
        <p:spPr>
          <a:xfrm xmlns:a="http://schemas.openxmlformats.org/drawingml/2006/main">
            <a:off x="0" y="6543675"/>
            <a:ext cx="5905500" cy="314325"/>
          </a:xfrm>
          <a:prstGeom xmlns:a="http://schemas.openxmlformats.org/drawingml/2006/main" prst="rect">
            <a:avLst/>
          </a:prstGeom>
          <a:solidFill xmlns:a="http://schemas.openxmlformats.org/drawingml/2006/main">
            <a:srgbClr val="0B5AA6"/>
          </a:solidFill>
          <a:ln xmlns:a="http://schemas.openxmlformats.org/drawingml/2006/main" w="0">
            <a:solidFill>
              <a:srgbClr val="0B5AA6"/>
            </a:solidFill>
            <a:prstDash val="solid"/>
          </a:ln>
        </p:spPr>
        <p:txBody xmlns:a="http://schemas.openxmlformats.org/drawingml/2006/main">
          <a:bodyPr/>
          <a:p/>
        </p:txBody>
      </p:sp>
      <p:sp>
        <p:nvSpPr>
          <p:cNvPr id="6" name="page-04-object-005">
            <a:extLst xmlns:a="http://schemas.openxmlformats.org/drawingml/2006/main">
              <a:ext uri="{FF2B5EF4-FFF2-40B4-BE49-F238E27FC236}">
                <a16:creationId xmlns:a16="http://schemas.microsoft.com/office/drawing/2014/main" id="{B7BE5A35-E9DF-48E8-8067-253DFA6868EB}"/>
              </a:ext>
            </a:extLst>
          </p:cNvPr>
          <p:cNvSpPr>
            <a:spLocks xmlns:a="http://schemas.openxmlformats.org/drawingml/2006/main" noGrp="1"/>
          </p:cNvSpPr>
          <p:nvPr/>
        </p:nvSpPr>
        <p:spPr>
          <a:xfrm xmlns:a="http://schemas.openxmlformats.org/drawingml/2006/main">
            <a:off x="447675" y="6543675"/>
            <a:ext cx="76200" cy="3143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7" name="page-04-object-006">
            <a:extLst xmlns:a="http://schemas.openxmlformats.org/drawingml/2006/main">
              <a:ext uri="{FF2B5EF4-FFF2-40B4-BE49-F238E27FC236}">
                <a16:creationId xmlns:a16="http://schemas.microsoft.com/office/drawing/2014/main" id="{4801C97A-D665-42C0-B6F0-616BA7936200}"/>
              </a:ext>
            </a:extLst>
          </p:cNvPr>
          <p:cNvSpPr>
            <a:spLocks xmlns:a="http://schemas.openxmlformats.org/drawingml/2006/main" noGrp="1"/>
          </p:cNvSpPr>
          <p:nvPr/>
        </p:nvSpPr>
        <p:spPr>
          <a:xfrm xmlns:a="http://schemas.openxmlformats.org/drawingml/2006/main">
            <a:off x="619125" y="6543675"/>
            <a:ext cx="28575" cy="3143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8" name="page-04-object-007">
            <a:extLst xmlns:a="http://schemas.openxmlformats.org/drawingml/2006/main">
              <a:ext uri="{FF2B5EF4-FFF2-40B4-BE49-F238E27FC236}">
                <a16:creationId xmlns:a16="http://schemas.microsoft.com/office/drawing/2014/main" id="{F5BB010B-08F7-45EB-9DBA-379BF78980AC}"/>
              </a:ext>
            </a:extLst>
          </p:cNvPr>
          <p:cNvSpPr>
            <a:spLocks xmlns:a="http://schemas.openxmlformats.org/drawingml/2006/main" noGrp="1"/>
          </p:cNvSpPr>
          <p:nvPr/>
        </p:nvSpPr>
        <p:spPr>
          <a:xfrm xmlns:a="http://schemas.openxmlformats.org/drawingml/2006/main">
            <a:off x="857250" y="6581775"/>
            <a:ext cx="461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75" b="0" i="0">
                <a:solidFill>
                  <a:srgbClr val="FFFFFF"/>
                </a:solidFill>
                <a:latin typeface="BIZ UDPゴシック"/>
                <a:ea typeface="BIZ UDPゴシック"/>
                <a:cs typeface="BIZ UDPゴシック"/>
              </a:defRPr>
            </a:pPr>
            <a:r>
              <a:rPr sz="975" b="0" i="0" u="none">
                <a:solidFill>
                  <a:srgbClr val="FFFFFF"/>
                </a:solidFill>
                <a:latin typeface="BIZ UDPゴシック"/>
                <a:ea typeface="BIZ UDPゴシック"/>
                <a:cs typeface="BIZ UDPゴシック"/>
              </a:rPr>
              <a:t>くらし便 EC事業部　架空の制作例</a:t>
            </a:r>
          </a:p>
        </p:txBody>
      </p:sp>
      <p:sp>
        <p:nvSpPr>
          <p:cNvPr id="9" name="page-04-object-008">
            <a:extLst xmlns:a="http://schemas.openxmlformats.org/drawingml/2006/main">
              <a:ext uri="{FF2B5EF4-FFF2-40B4-BE49-F238E27FC236}">
                <a16:creationId xmlns:a16="http://schemas.microsoft.com/office/drawing/2014/main" id="{CCE2C95F-8BC9-491D-832F-AE7E014E8B96}"/>
              </a:ext>
            </a:extLst>
          </p:cNvPr>
          <p:cNvSpPr>
            <a:spLocks xmlns:a="http://schemas.openxmlformats.org/drawingml/2006/main" noGrp="1"/>
          </p:cNvSpPr>
          <p:nvPr/>
        </p:nvSpPr>
        <p:spPr>
          <a:xfrm xmlns:a="http://schemas.openxmlformats.org/drawingml/2006/main">
            <a:off x="11601450" y="657225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75" b="0" i="0">
                <a:solidFill>
                  <a:srgbClr val="666666"/>
                </a:solidFill>
                <a:latin typeface="BIZ UDPゴシック"/>
                <a:ea typeface="BIZ UDPゴシック"/>
                <a:cs typeface="BIZ UDPゴシック"/>
              </a:defRPr>
            </a:pPr>
            <a:r>
              <a:rPr sz="975" b="0" i="0" u="none">
                <a:solidFill>
                  <a:srgbClr val="666666"/>
                </a:solidFill>
                <a:latin typeface="BIZ UDPゴシック"/>
                <a:ea typeface="BIZ UDPゴシック"/>
                <a:cs typeface="BIZ UDPゴシック"/>
              </a:rPr>
              <a:t>4</a:t>
            </a:r>
          </a:p>
        </p:txBody>
      </p:sp>
      <p:sp>
        <p:nvSpPr>
          <p:cNvPr id="10" name="page-04-object-009">
            <a:extLst xmlns:a="http://schemas.openxmlformats.org/drawingml/2006/main">
              <a:ext uri="{FF2B5EF4-FFF2-40B4-BE49-F238E27FC236}">
                <a16:creationId xmlns:a16="http://schemas.microsoft.com/office/drawing/2014/main" id="{FCE7499B-C716-40D9-8741-544B70E18416}"/>
              </a:ext>
            </a:extLst>
          </p:cNvPr>
          <p:cNvSpPr>
            <a:spLocks xmlns:a="http://schemas.openxmlformats.org/drawingml/2006/main" noGrp="1"/>
          </p:cNvSpPr>
          <p:nvPr/>
        </p:nvSpPr>
        <p:spPr>
          <a:xfrm xmlns:a="http://schemas.openxmlformats.org/drawingml/2006/main">
            <a:off x="285750" y="600075"/>
            <a:ext cx="11572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i="0">
                <a:solidFill>
                  <a:srgbClr val="111111"/>
                </a:solidFill>
                <a:latin typeface="BIZ UDPゴシック"/>
                <a:ea typeface="BIZ UDPゴシック"/>
                <a:cs typeface="BIZ UDPゴシック"/>
              </a:defRPr>
            </a:pPr>
            <a:r>
              <a:rPr sz="2100" b="1" i="0" u="none">
                <a:solidFill>
                  <a:srgbClr val="111111"/>
                </a:solidFill>
                <a:latin typeface="BIZ UDPゴシック"/>
                <a:ea typeface="BIZ UDPゴシック"/>
                <a:cs typeface="BIZ UDPゴシック"/>
              </a:rPr>
              <a:t>返品理由の分類を、説明修正と効果確認につなぐ</a:t>
            </a:r>
          </a:p>
        </p:txBody>
      </p:sp>
      <p:sp>
        <p:nvSpPr>
          <p:cNvPr id="11" name="page-04-object-010">
            <a:extLst xmlns:a="http://schemas.openxmlformats.org/drawingml/2006/main">
              <a:ext uri="{FF2B5EF4-FFF2-40B4-BE49-F238E27FC236}">
                <a16:creationId xmlns:a16="http://schemas.microsoft.com/office/drawing/2014/main" id="{139053FB-F37D-4CBF-8273-673B57FC9311}"/>
              </a:ext>
            </a:extLst>
          </p:cNvPr>
          <p:cNvSpPr>
            <a:spLocks xmlns:a="http://schemas.openxmlformats.org/drawingml/2006/main" noGrp="1"/>
          </p:cNvSpPr>
          <p:nvPr/>
        </p:nvSpPr>
        <p:spPr>
          <a:xfrm xmlns:a="http://schemas.openxmlformats.org/drawingml/2006/main">
            <a:off x="304800" y="990600"/>
            <a:ext cx="11525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2474B5"/>
                </a:solidFill>
                <a:latin typeface="BIZ UDPゴシック"/>
                <a:ea typeface="BIZ UDPゴシック"/>
                <a:cs typeface="BIZ UDPゴシック"/>
              </a:defRPr>
            </a:pPr>
            <a:r>
              <a:rPr sz="1125" b="1" i="0" u="none">
                <a:solidFill>
                  <a:srgbClr val="2474B5"/>
                </a:solidFill>
                <a:latin typeface="BIZ UDPゴシック"/>
                <a:ea typeface="BIZ UDPゴシック"/>
                <a:cs typeface="BIZ UDPゴシック"/>
              </a:rPr>
              <a:t>商品説明と実物の差は仮説。返品理由の分類で確かめる</a:t>
            </a:r>
          </a:p>
        </p:txBody>
      </p:sp>
      <p:sp>
        <p:nvSpPr>
          <p:cNvPr id="12" name="page-04-object-011">
            <a:extLst xmlns:a="http://schemas.openxmlformats.org/drawingml/2006/main">
              <a:ext uri="{FF2B5EF4-FFF2-40B4-BE49-F238E27FC236}">
                <a16:creationId xmlns:a16="http://schemas.microsoft.com/office/drawing/2014/main" id="{55257325-2D48-45B4-8B32-F3A4DB74F9A0}"/>
              </a:ext>
            </a:extLst>
          </p:cNvPr>
          <p:cNvSpPr>
            <a:spLocks xmlns:a="http://schemas.openxmlformats.org/drawingml/2006/main" noGrp="1"/>
          </p:cNvSpPr>
          <p:nvPr/>
        </p:nvSpPr>
        <p:spPr>
          <a:xfrm xmlns:a="http://schemas.openxmlformats.org/drawingml/2006/main">
            <a:off x="3476625" y="3048000"/>
            <a:ext cx="1047750" cy="400050"/>
          </a:xfrm>
          <a:prstGeom xmlns:a="http://schemas.openxmlformats.org/drawingml/2006/main" prst="rightArrow">
            <a:avLst/>
          </a:prstGeom>
          <a:solidFill xmlns:a="http://schemas.openxmlformats.org/drawingml/2006/main">
            <a:srgbClr val="00A9E0"/>
          </a:solidFill>
          <a:ln xmlns:a="http://schemas.openxmlformats.org/drawingml/2006/main" w="0">
            <a:solidFill>
              <a:srgbClr val="00A9E0"/>
            </a:solidFill>
            <a:prstDash val="solid"/>
          </a:ln>
        </p:spPr>
        <p:txBody xmlns:a="http://schemas.openxmlformats.org/drawingml/2006/main">
          <a:bodyPr/>
          <a:p/>
        </p:txBody>
      </p:sp>
      <p:sp>
        <p:nvSpPr>
          <p:cNvPr id="13" name="page-04-object-012">
            <a:extLst xmlns:a="http://schemas.openxmlformats.org/drawingml/2006/main">
              <a:ext uri="{FF2B5EF4-FFF2-40B4-BE49-F238E27FC236}">
                <a16:creationId xmlns:a16="http://schemas.microsoft.com/office/drawing/2014/main" id="{07C3201A-E802-47B1-AC6B-8DFD7E6BD868}"/>
              </a:ext>
            </a:extLst>
          </p:cNvPr>
          <p:cNvSpPr>
            <a:spLocks xmlns:a="http://schemas.openxmlformats.org/drawingml/2006/main" noGrp="1"/>
          </p:cNvSpPr>
          <p:nvPr/>
        </p:nvSpPr>
        <p:spPr>
          <a:xfrm xmlns:a="http://schemas.openxmlformats.org/drawingml/2006/main">
            <a:off x="7667625" y="3048000"/>
            <a:ext cx="1047750" cy="400050"/>
          </a:xfrm>
          <a:prstGeom xmlns:a="http://schemas.openxmlformats.org/drawingml/2006/main" prst="rightArrow">
            <a:avLst/>
          </a:prstGeom>
          <a:solidFill xmlns:a="http://schemas.openxmlformats.org/drawingml/2006/main">
            <a:srgbClr val="00A9E0"/>
          </a:solidFill>
          <a:ln xmlns:a="http://schemas.openxmlformats.org/drawingml/2006/main" w="0">
            <a:solidFill>
              <a:srgbClr val="00A9E0"/>
            </a:solidFill>
            <a:prstDash val="solid"/>
          </a:ln>
        </p:spPr>
        <p:txBody xmlns:a="http://schemas.openxmlformats.org/drawingml/2006/main">
          <a:bodyPr/>
          <a:p/>
        </p:txBody>
      </p:sp>
      <p:sp>
        <p:nvSpPr>
          <p:cNvPr id="14" name="page-04-object-013">
            <a:extLst xmlns:a="http://schemas.openxmlformats.org/drawingml/2006/main">
              <a:ext uri="{FF2B5EF4-FFF2-40B4-BE49-F238E27FC236}">
                <a16:creationId xmlns:a16="http://schemas.microsoft.com/office/drawing/2014/main" id="{B09DD8E4-DCD1-4EC2-A22C-13A1B6B6F4CA}"/>
              </a:ext>
            </a:extLst>
          </p:cNvPr>
          <p:cNvSpPr>
            <a:spLocks xmlns:a="http://schemas.openxmlformats.org/drawingml/2006/main" noGrp="1"/>
          </p:cNvSpPr>
          <p:nvPr/>
        </p:nvSpPr>
        <p:spPr>
          <a:xfrm xmlns:a="http://schemas.openxmlformats.org/drawingml/2006/main">
            <a:off x="333375" y="1381125"/>
            <a:ext cx="3143250" cy="3257550"/>
          </a:xfrm>
          <a:prstGeom xmlns:a="http://schemas.openxmlformats.org/drawingml/2006/main" prst="rect">
            <a:avLst/>
          </a:prstGeom>
          <a:solidFill xmlns:a="http://schemas.openxmlformats.org/drawingml/2006/main">
            <a:srgbClr val="F2F2F2"/>
          </a:solidFill>
          <a:ln xmlns:a="http://schemas.openxmlformats.org/drawingml/2006/main" w="17145">
            <a:solidFill>
              <a:srgbClr val="0B5AA6"/>
            </a:solidFill>
            <a:prstDash val="solid"/>
          </a:ln>
        </p:spPr>
        <p:txBody xmlns:a="http://schemas.openxmlformats.org/drawingml/2006/main">
          <a:bodyPr/>
          <a:p/>
        </p:txBody>
      </p:sp>
      <p:sp>
        <p:nvSpPr>
          <p:cNvPr id="15" name="page-04-object-014">
            <a:extLst xmlns:a="http://schemas.openxmlformats.org/drawingml/2006/main">
              <a:ext uri="{FF2B5EF4-FFF2-40B4-BE49-F238E27FC236}">
                <a16:creationId xmlns:a16="http://schemas.microsoft.com/office/drawing/2014/main" id="{79B2F190-08F9-498C-85CC-90533D495578}"/>
              </a:ext>
            </a:extLst>
          </p:cNvPr>
          <p:cNvSpPr>
            <a:spLocks xmlns:a="http://schemas.openxmlformats.org/drawingml/2006/main" noGrp="1"/>
          </p:cNvSpPr>
          <p:nvPr/>
        </p:nvSpPr>
        <p:spPr>
          <a:xfrm xmlns:a="http://schemas.openxmlformats.org/drawingml/2006/main">
            <a:off x="333375" y="1381125"/>
            <a:ext cx="3143250" cy="428625"/>
          </a:xfrm>
          <a:prstGeom xmlns:a="http://schemas.openxmlformats.org/drawingml/2006/main" prst="rect">
            <a:avLst/>
          </a:prstGeom>
          <a:solidFill xmlns:a="http://schemas.openxmlformats.org/drawingml/2006/main">
            <a:srgbClr val="0B5AA6"/>
          </a:solidFill>
          <a:ln xmlns:a="http://schemas.openxmlformats.org/drawingml/2006/main" w="0">
            <a:solidFill>
              <a:srgbClr val="0B5AA6"/>
            </a:solidFill>
            <a:prstDash val="solid"/>
          </a:ln>
        </p:spPr>
        <p:txBody xmlns:a="http://schemas.openxmlformats.org/drawingml/2006/main">
          <a:bodyPr/>
          <a:p/>
        </p:txBody>
      </p:sp>
      <p:sp>
        <p:nvSpPr>
          <p:cNvPr id="16" name="page-04-object-015">
            <a:extLst xmlns:a="http://schemas.openxmlformats.org/drawingml/2006/main">
              <a:ext uri="{FF2B5EF4-FFF2-40B4-BE49-F238E27FC236}">
                <a16:creationId xmlns:a16="http://schemas.microsoft.com/office/drawing/2014/main" id="{46576EED-E868-4BE4-9BFA-1D4779C91B20}"/>
              </a:ext>
            </a:extLst>
          </p:cNvPr>
          <p:cNvSpPr>
            <a:spLocks xmlns:a="http://schemas.openxmlformats.org/drawingml/2006/main" noGrp="1"/>
          </p:cNvSpPr>
          <p:nvPr/>
        </p:nvSpPr>
        <p:spPr>
          <a:xfrm xmlns:a="http://schemas.openxmlformats.org/drawingml/2006/main">
            <a:off x="333375" y="138112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ctr">
              <a:defRPr sz="1500" b="1" i="0">
                <a:solidFill>
                  <a:srgbClr val="FFFFFF"/>
                </a:solidFill>
                <a:latin typeface="BIZ UDPゴシック"/>
                <a:ea typeface="BIZ UDPゴシック"/>
                <a:cs typeface="BIZ UDPゴシック"/>
              </a:defRPr>
            </a:pPr>
            <a:r>
              <a:rPr sz="1500" b="1" i="0" u="none">
                <a:solidFill>
                  <a:srgbClr val="FFFFFF"/>
                </a:solidFill>
                <a:latin typeface="BIZ UDPゴシック"/>
                <a:ea typeface="BIZ UDPゴシック"/>
                <a:cs typeface="BIZ UDPゴシック"/>
              </a:rPr>
              <a:t>現状</a:t>
            </a:r>
          </a:p>
        </p:txBody>
      </p:sp>
      <p:sp>
        <p:nvSpPr>
          <p:cNvPr id="17" name="page-04-object-016">
            <a:extLst xmlns:a="http://schemas.openxmlformats.org/drawingml/2006/main">
              <a:ext uri="{FF2B5EF4-FFF2-40B4-BE49-F238E27FC236}">
                <a16:creationId xmlns:a16="http://schemas.microsoft.com/office/drawing/2014/main" id="{FC375CF9-735B-46E2-BE69-3D11AEF08516}"/>
              </a:ext>
            </a:extLst>
          </p:cNvPr>
          <p:cNvSpPr>
            <a:spLocks xmlns:a="http://schemas.openxmlformats.org/drawingml/2006/main" noGrp="1"/>
          </p:cNvSpPr>
          <p:nvPr/>
        </p:nvSpPr>
        <p:spPr>
          <a:xfrm xmlns:a="http://schemas.openxmlformats.org/drawingml/2006/main">
            <a:off x="561975" y="2028825"/>
            <a:ext cx="26860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0B5AA6"/>
            </a:solidFill>
            <a:prstDash val="solid"/>
          </a:ln>
        </p:spPr>
        <p:txBody xmlns:a="http://schemas.openxmlformats.org/drawingml/2006/main">
          <a:bodyPr/>
          <a:p/>
        </p:txBody>
      </p:sp>
      <p:sp>
        <p:nvSpPr>
          <p:cNvPr id="18" name="page-04-object-017">
            <a:extLst xmlns:a="http://schemas.openxmlformats.org/drawingml/2006/main">
              <a:ext uri="{FF2B5EF4-FFF2-40B4-BE49-F238E27FC236}">
                <a16:creationId xmlns:a16="http://schemas.microsoft.com/office/drawing/2014/main" id="{45D51E72-FFB6-40EA-AF1B-0829860D5567}"/>
              </a:ext>
            </a:extLst>
          </p:cNvPr>
          <p:cNvSpPr>
            <a:spLocks xmlns:a="http://schemas.openxmlformats.org/drawingml/2006/main" noGrp="1"/>
          </p:cNvSpPr>
          <p:nvPr/>
        </p:nvSpPr>
        <p:spPr>
          <a:xfrm xmlns:a="http://schemas.openxmlformats.org/drawingml/2006/main">
            <a:off x="685800" y="2152650"/>
            <a:ext cx="2438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125" b="1" i="0">
                <a:solidFill>
                  <a:srgbClr val="111111"/>
                </a:solidFill>
                <a:latin typeface="BIZ UDPゴシック"/>
                <a:ea typeface="BIZ UDPゴシック"/>
                <a:cs typeface="BIZ UDPゴシック"/>
              </a:defRPr>
            </a:pPr>
            <a:r>
              <a:rPr sz="1125" b="1" i="0" u="none">
                <a:solidFill>
                  <a:srgbClr val="111111"/>
                </a:solidFill>
                <a:latin typeface="BIZ UDPゴシック"/>
                <a:ea typeface="BIZ UDPゴシック"/>
                <a:cs typeface="BIZ UDPゴシック"/>
              </a:rPr>
              <a:t>返品率が4%から6%へ上昇</a:t>
            </a:r>
          </a:p>
        </p:txBody>
      </p:sp>
      <p:sp>
        <p:nvSpPr>
          <p:cNvPr id="19" name="page-04-object-018">
            <a:extLst xmlns:a="http://schemas.openxmlformats.org/drawingml/2006/main">
              <a:ext uri="{FF2B5EF4-FFF2-40B4-BE49-F238E27FC236}">
                <a16:creationId xmlns:a16="http://schemas.microsoft.com/office/drawing/2014/main" id="{F7AEAC35-6ED7-40C8-AB0A-3052674A0A18}"/>
              </a:ext>
            </a:extLst>
          </p:cNvPr>
          <p:cNvSpPr>
            <a:spLocks xmlns:a="http://schemas.openxmlformats.org/drawingml/2006/main" noGrp="1"/>
          </p:cNvSpPr>
          <p:nvPr/>
        </p:nvSpPr>
        <p:spPr>
          <a:xfrm xmlns:a="http://schemas.openxmlformats.org/drawingml/2006/main">
            <a:off x="561975" y="2771775"/>
            <a:ext cx="26860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0B5AA6"/>
            </a:solidFill>
            <a:prstDash val="solid"/>
          </a:ln>
        </p:spPr>
        <p:txBody xmlns:a="http://schemas.openxmlformats.org/drawingml/2006/main">
          <a:bodyPr/>
          <a:p/>
        </p:txBody>
      </p:sp>
      <p:sp>
        <p:nvSpPr>
          <p:cNvPr id="20" name="page-04-object-019">
            <a:extLst xmlns:a="http://schemas.openxmlformats.org/drawingml/2006/main">
              <a:ext uri="{FF2B5EF4-FFF2-40B4-BE49-F238E27FC236}">
                <a16:creationId xmlns:a16="http://schemas.microsoft.com/office/drawing/2014/main" id="{94A8028F-A0F7-4FFB-94BD-87BE18FC8AD1}"/>
              </a:ext>
            </a:extLst>
          </p:cNvPr>
          <p:cNvSpPr>
            <a:spLocks xmlns:a="http://schemas.openxmlformats.org/drawingml/2006/main" noGrp="1"/>
          </p:cNvSpPr>
          <p:nvPr/>
        </p:nvSpPr>
        <p:spPr>
          <a:xfrm xmlns:a="http://schemas.openxmlformats.org/drawingml/2006/main">
            <a:off x="685800" y="2895600"/>
            <a:ext cx="2438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125" b="1" i="0">
                <a:solidFill>
                  <a:srgbClr val="111111"/>
                </a:solidFill>
                <a:latin typeface="BIZ UDPゴシック"/>
                <a:ea typeface="BIZ UDPゴシック"/>
                <a:cs typeface="BIZ UDPゴシック"/>
              </a:defRPr>
            </a:pPr>
            <a:r>
              <a:rPr sz="1125" b="1" i="0" u="none">
                <a:solidFill>
                  <a:srgbClr val="111111"/>
                </a:solidFill>
                <a:latin typeface="BIZ UDPゴシック"/>
                <a:ea typeface="BIZ UDPゴシック"/>
                <a:cs typeface="BIZ UDPゴシック"/>
              </a:rPr>
              <a:t>理由の内訳は未分類</a:t>
            </a:r>
          </a:p>
        </p:txBody>
      </p:sp>
      <p:sp>
        <p:nvSpPr>
          <p:cNvPr id="21" name="page-04-object-020">
            <a:extLst xmlns:a="http://schemas.openxmlformats.org/drawingml/2006/main">
              <a:ext uri="{FF2B5EF4-FFF2-40B4-BE49-F238E27FC236}">
                <a16:creationId xmlns:a16="http://schemas.microsoft.com/office/drawing/2014/main" id="{23B24CB1-B04C-4AF6-B626-E176369425C5}"/>
              </a:ext>
            </a:extLst>
          </p:cNvPr>
          <p:cNvSpPr>
            <a:spLocks xmlns:a="http://schemas.openxmlformats.org/drawingml/2006/main" noGrp="1"/>
          </p:cNvSpPr>
          <p:nvPr/>
        </p:nvSpPr>
        <p:spPr>
          <a:xfrm xmlns:a="http://schemas.openxmlformats.org/drawingml/2006/main">
            <a:off x="561975" y="3514725"/>
            <a:ext cx="26860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0B5AA6"/>
            </a:solidFill>
            <a:prstDash val="solid"/>
          </a:ln>
        </p:spPr>
        <p:txBody xmlns:a="http://schemas.openxmlformats.org/drawingml/2006/main">
          <a:bodyPr/>
          <a:p/>
        </p:txBody>
      </p:sp>
      <p:sp>
        <p:nvSpPr>
          <p:cNvPr id="22" name="page-04-object-021">
            <a:extLst xmlns:a="http://schemas.openxmlformats.org/drawingml/2006/main">
              <a:ext uri="{FF2B5EF4-FFF2-40B4-BE49-F238E27FC236}">
                <a16:creationId xmlns:a16="http://schemas.microsoft.com/office/drawing/2014/main" id="{2CFD6EBA-95F1-40B7-8709-BD6622D4C46B}"/>
              </a:ext>
            </a:extLst>
          </p:cNvPr>
          <p:cNvSpPr>
            <a:spLocks xmlns:a="http://schemas.openxmlformats.org/drawingml/2006/main" noGrp="1"/>
          </p:cNvSpPr>
          <p:nvPr/>
        </p:nvSpPr>
        <p:spPr>
          <a:xfrm xmlns:a="http://schemas.openxmlformats.org/drawingml/2006/main">
            <a:off x="685800" y="3638550"/>
            <a:ext cx="2438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125" b="1" i="0">
                <a:solidFill>
                  <a:srgbClr val="111111"/>
                </a:solidFill>
                <a:latin typeface="BIZ UDPゴシック"/>
                <a:ea typeface="BIZ UDPゴシック"/>
                <a:cs typeface="BIZ UDPゴシック"/>
              </a:defRPr>
            </a:pPr>
            <a:r>
              <a:rPr sz="1125" b="1" i="0" u="none">
                <a:solidFill>
                  <a:srgbClr val="111111"/>
                </a:solidFill>
                <a:latin typeface="BIZ UDPゴシック"/>
                <a:ea typeface="BIZ UDPゴシック"/>
                <a:cs typeface="BIZ UDPゴシック"/>
              </a:rPr>
              <a:t>説明と実物の差は未確認</a:t>
            </a:r>
          </a:p>
        </p:txBody>
      </p:sp>
      <p:sp>
        <p:nvSpPr>
          <p:cNvPr id="23" name="page-04-object-022">
            <a:extLst xmlns:a="http://schemas.openxmlformats.org/drawingml/2006/main">
              <a:ext uri="{FF2B5EF4-FFF2-40B4-BE49-F238E27FC236}">
                <a16:creationId xmlns:a16="http://schemas.microsoft.com/office/drawing/2014/main" id="{722BCA4D-6A8C-48EA-A5A5-46542628809A}"/>
              </a:ext>
            </a:extLst>
          </p:cNvPr>
          <p:cNvSpPr>
            <a:spLocks xmlns:a="http://schemas.openxmlformats.org/drawingml/2006/main" noGrp="1"/>
          </p:cNvSpPr>
          <p:nvPr/>
        </p:nvSpPr>
        <p:spPr>
          <a:xfrm xmlns:a="http://schemas.openxmlformats.org/drawingml/2006/main">
            <a:off x="4524375" y="1381125"/>
            <a:ext cx="3143250" cy="3257550"/>
          </a:xfrm>
          <a:prstGeom xmlns:a="http://schemas.openxmlformats.org/drawingml/2006/main" prst="rect">
            <a:avLst/>
          </a:prstGeom>
          <a:solidFill xmlns:a="http://schemas.openxmlformats.org/drawingml/2006/main">
            <a:srgbClr val="FFF2CC"/>
          </a:solidFill>
          <a:ln xmlns:a="http://schemas.openxmlformats.org/drawingml/2006/main" w="17145">
            <a:solidFill>
              <a:srgbClr val="ED7D31"/>
            </a:solidFill>
            <a:prstDash val="solid"/>
          </a:ln>
        </p:spPr>
        <p:txBody xmlns:a="http://schemas.openxmlformats.org/drawingml/2006/main">
          <a:bodyPr/>
          <a:p/>
        </p:txBody>
      </p:sp>
      <p:sp>
        <p:nvSpPr>
          <p:cNvPr id="24" name="page-04-object-023">
            <a:extLst xmlns:a="http://schemas.openxmlformats.org/drawingml/2006/main">
              <a:ext uri="{FF2B5EF4-FFF2-40B4-BE49-F238E27FC236}">
                <a16:creationId xmlns:a16="http://schemas.microsoft.com/office/drawing/2014/main" id="{173F6E23-D016-4D75-9F19-2E6ED603D52A}"/>
              </a:ext>
            </a:extLst>
          </p:cNvPr>
          <p:cNvSpPr>
            <a:spLocks xmlns:a="http://schemas.openxmlformats.org/drawingml/2006/main" noGrp="1"/>
          </p:cNvSpPr>
          <p:nvPr/>
        </p:nvSpPr>
        <p:spPr>
          <a:xfrm xmlns:a="http://schemas.openxmlformats.org/drawingml/2006/main">
            <a:off x="4524375" y="1381125"/>
            <a:ext cx="3143250" cy="428625"/>
          </a:xfrm>
          <a:prstGeom xmlns:a="http://schemas.openxmlformats.org/drawingml/2006/main" prst="rect">
            <a:avLst/>
          </a:prstGeom>
          <a:solidFill xmlns:a="http://schemas.openxmlformats.org/drawingml/2006/main">
            <a:srgbClr val="ED7D31"/>
          </a:solidFill>
          <a:ln xmlns:a="http://schemas.openxmlformats.org/drawingml/2006/main" w="0">
            <a:solidFill>
              <a:srgbClr val="ED7D31"/>
            </a:solidFill>
            <a:prstDash val="solid"/>
          </a:ln>
        </p:spPr>
        <p:txBody xmlns:a="http://schemas.openxmlformats.org/drawingml/2006/main">
          <a:bodyPr/>
          <a:p/>
        </p:txBody>
      </p:sp>
      <p:sp>
        <p:nvSpPr>
          <p:cNvPr id="25" name="page-04-object-024">
            <a:extLst xmlns:a="http://schemas.openxmlformats.org/drawingml/2006/main">
              <a:ext uri="{FF2B5EF4-FFF2-40B4-BE49-F238E27FC236}">
                <a16:creationId xmlns:a16="http://schemas.microsoft.com/office/drawing/2014/main" id="{0642ECA8-80DE-48D8-99F5-9197E957E34D}"/>
              </a:ext>
            </a:extLst>
          </p:cNvPr>
          <p:cNvSpPr>
            <a:spLocks xmlns:a="http://schemas.openxmlformats.org/drawingml/2006/main" noGrp="1"/>
          </p:cNvSpPr>
          <p:nvPr/>
        </p:nvSpPr>
        <p:spPr>
          <a:xfrm xmlns:a="http://schemas.openxmlformats.org/drawingml/2006/main">
            <a:off x="4524375" y="138112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ctr">
              <a:defRPr sz="1500" b="1" i="0">
                <a:solidFill>
                  <a:srgbClr val="FFFFFF"/>
                </a:solidFill>
                <a:latin typeface="BIZ UDPゴシック"/>
                <a:ea typeface="BIZ UDPゴシック"/>
                <a:cs typeface="BIZ UDPゴシック"/>
              </a:defRPr>
            </a:pPr>
            <a:r>
              <a:rPr sz="1500" b="1" i="0" u="none">
                <a:solidFill>
                  <a:srgbClr val="FFFFFF"/>
                </a:solidFill>
                <a:latin typeface="BIZ UDPゴシック"/>
                <a:ea typeface="BIZ UDPゴシック"/>
                <a:cs typeface="BIZ UDPゴシック"/>
              </a:rPr>
              <a:t>変革手段</a:t>
            </a:r>
          </a:p>
        </p:txBody>
      </p:sp>
      <p:sp>
        <p:nvSpPr>
          <p:cNvPr id="26" name="page-04-object-025">
            <a:extLst xmlns:a="http://schemas.openxmlformats.org/drawingml/2006/main">
              <a:ext uri="{FF2B5EF4-FFF2-40B4-BE49-F238E27FC236}">
                <a16:creationId xmlns:a16="http://schemas.microsoft.com/office/drawing/2014/main" id="{3E48EF5D-1812-4180-B364-1B80CF7C845A}"/>
              </a:ext>
            </a:extLst>
          </p:cNvPr>
          <p:cNvSpPr>
            <a:spLocks xmlns:a="http://schemas.openxmlformats.org/drawingml/2006/main" noGrp="1"/>
          </p:cNvSpPr>
          <p:nvPr/>
        </p:nvSpPr>
        <p:spPr>
          <a:xfrm xmlns:a="http://schemas.openxmlformats.org/drawingml/2006/main">
            <a:off x="4752975" y="2028825"/>
            <a:ext cx="26860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ED7D31"/>
            </a:solidFill>
            <a:prstDash val="solid"/>
          </a:ln>
        </p:spPr>
        <p:txBody xmlns:a="http://schemas.openxmlformats.org/drawingml/2006/main">
          <a:bodyPr/>
          <a:p/>
        </p:txBody>
      </p:sp>
      <p:sp>
        <p:nvSpPr>
          <p:cNvPr id="27" name="page-04-object-026">
            <a:extLst xmlns:a="http://schemas.openxmlformats.org/drawingml/2006/main">
              <a:ext uri="{FF2B5EF4-FFF2-40B4-BE49-F238E27FC236}">
                <a16:creationId xmlns:a16="http://schemas.microsoft.com/office/drawing/2014/main" id="{8E71720F-F275-4D24-855C-9109E9F58A3E}"/>
              </a:ext>
            </a:extLst>
          </p:cNvPr>
          <p:cNvSpPr>
            <a:spLocks xmlns:a="http://schemas.openxmlformats.org/drawingml/2006/main" noGrp="1"/>
          </p:cNvSpPr>
          <p:nvPr/>
        </p:nvSpPr>
        <p:spPr>
          <a:xfrm xmlns:a="http://schemas.openxmlformats.org/drawingml/2006/main">
            <a:off x="4876800" y="2152650"/>
            <a:ext cx="2438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125" b="1" i="0">
                <a:solidFill>
                  <a:srgbClr val="111111"/>
                </a:solidFill>
                <a:latin typeface="BIZ UDPゴシック"/>
                <a:ea typeface="BIZ UDPゴシック"/>
                <a:cs typeface="BIZ UDPゴシック"/>
              </a:defRPr>
            </a:pPr>
            <a:r>
              <a:rPr sz="1125" b="1" i="0" u="none">
                <a:solidFill>
                  <a:srgbClr val="111111"/>
                </a:solidFill>
                <a:latin typeface="BIZ UDPゴシック"/>
                <a:ea typeface="BIZ UDPゴシック"/>
                <a:cs typeface="BIZ UDPゴシック"/>
              </a:rPr>
              <a:t>顧客対応が返品理由を分類</a:t>
            </a:r>
          </a:p>
        </p:txBody>
      </p:sp>
      <p:sp>
        <p:nvSpPr>
          <p:cNvPr id="28" name="page-04-object-027">
            <a:extLst xmlns:a="http://schemas.openxmlformats.org/drawingml/2006/main">
              <a:ext uri="{FF2B5EF4-FFF2-40B4-BE49-F238E27FC236}">
                <a16:creationId xmlns:a16="http://schemas.microsoft.com/office/drawing/2014/main" id="{8A119E1E-A75F-4433-8BC5-12D143CCBFC7}"/>
              </a:ext>
            </a:extLst>
          </p:cNvPr>
          <p:cNvSpPr>
            <a:spLocks xmlns:a="http://schemas.openxmlformats.org/drawingml/2006/main" noGrp="1"/>
          </p:cNvSpPr>
          <p:nvPr/>
        </p:nvSpPr>
        <p:spPr>
          <a:xfrm xmlns:a="http://schemas.openxmlformats.org/drawingml/2006/main">
            <a:off x="4752975" y="2771775"/>
            <a:ext cx="26860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ED7D31"/>
            </a:solidFill>
            <a:prstDash val="solid"/>
          </a:ln>
        </p:spPr>
        <p:txBody xmlns:a="http://schemas.openxmlformats.org/drawingml/2006/main">
          <a:bodyPr/>
          <a:p/>
        </p:txBody>
      </p:sp>
      <p:sp>
        <p:nvSpPr>
          <p:cNvPr id="29" name="page-04-object-028">
            <a:extLst xmlns:a="http://schemas.openxmlformats.org/drawingml/2006/main">
              <a:ext uri="{FF2B5EF4-FFF2-40B4-BE49-F238E27FC236}">
                <a16:creationId xmlns:a16="http://schemas.microsoft.com/office/drawing/2014/main" id="{A3800963-58BD-4C60-B801-08E7E3632D43}"/>
              </a:ext>
            </a:extLst>
          </p:cNvPr>
          <p:cNvSpPr>
            <a:spLocks xmlns:a="http://schemas.openxmlformats.org/drawingml/2006/main" noGrp="1"/>
          </p:cNvSpPr>
          <p:nvPr/>
        </p:nvSpPr>
        <p:spPr>
          <a:xfrm xmlns:a="http://schemas.openxmlformats.org/drawingml/2006/main">
            <a:off x="4876800" y="2895600"/>
            <a:ext cx="2438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125" b="1" i="0">
                <a:solidFill>
                  <a:srgbClr val="111111"/>
                </a:solidFill>
                <a:latin typeface="BIZ UDPゴシック"/>
                <a:ea typeface="BIZ UDPゴシック"/>
                <a:cs typeface="BIZ UDPゴシック"/>
              </a:defRPr>
            </a:pPr>
            <a:r>
              <a:rPr sz="1125" b="1" i="0" u="none">
                <a:solidFill>
                  <a:srgbClr val="111111"/>
                </a:solidFill>
                <a:latin typeface="BIZ UDPゴシック"/>
                <a:ea typeface="BIZ UDPゴシック"/>
                <a:cs typeface="BIZ UDPゴシック"/>
              </a:rPr>
              <a:t>商品担当が上位5商品を改稿</a:t>
            </a:r>
          </a:p>
        </p:txBody>
      </p:sp>
      <p:sp>
        <p:nvSpPr>
          <p:cNvPr id="30" name="page-04-object-029">
            <a:extLst xmlns:a="http://schemas.openxmlformats.org/drawingml/2006/main">
              <a:ext uri="{FF2B5EF4-FFF2-40B4-BE49-F238E27FC236}">
                <a16:creationId xmlns:a16="http://schemas.microsoft.com/office/drawing/2014/main" id="{517F3619-C2DC-45CA-AB9B-B928082649A9}"/>
              </a:ext>
            </a:extLst>
          </p:cNvPr>
          <p:cNvSpPr>
            <a:spLocks xmlns:a="http://schemas.openxmlformats.org/drawingml/2006/main" noGrp="1"/>
          </p:cNvSpPr>
          <p:nvPr/>
        </p:nvSpPr>
        <p:spPr>
          <a:xfrm xmlns:a="http://schemas.openxmlformats.org/drawingml/2006/main">
            <a:off x="4752975" y="3514725"/>
            <a:ext cx="26860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ED7D31"/>
            </a:solidFill>
            <a:prstDash val="solid"/>
          </a:ln>
        </p:spPr>
        <p:txBody xmlns:a="http://schemas.openxmlformats.org/drawingml/2006/main">
          <a:bodyPr/>
          <a:p/>
        </p:txBody>
      </p:sp>
      <p:sp>
        <p:nvSpPr>
          <p:cNvPr id="31" name="page-04-object-030">
            <a:extLst xmlns:a="http://schemas.openxmlformats.org/drawingml/2006/main">
              <a:ext uri="{FF2B5EF4-FFF2-40B4-BE49-F238E27FC236}">
                <a16:creationId xmlns:a16="http://schemas.microsoft.com/office/drawing/2014/main" id="{C8DDAE7E-1E99-424D-B31E-AEA9D60BD345}"/>
              </a:ext>
            </a:extLst>
          </p:cNvPr>
          <p:cNvSpPr>
            <a:spLocks xmlns:a="http://schemas.openxmlformats.org/drawingml/2006/main" noGrp="1"/>
          </p:cNvSpPr>
          <p:nvPr/>
        </p:nvSpPr>
        <p:spPr>
          <a:xfrm xmlns:a="http://schemas.openxmlformats.org/drawingml/2006/main">
            <a:off x="4876800" y="3638550"/>
            <a:ext cx="2438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125" b="1" i="0">
                <a:solidFill>
                  <a:srgbClr val="111111"/>
                </a:solidFill>
                <a:latin typeface="BIZ UDPゴシック"/>
                <a:ea typeface="BIZ UDPゴシック"/>
                <a:cs typeface="BIZ UDPゴシック"/>
              </a:defRPr>
            </a:pPr>
            <a:r>
              <a:rPr sz="1125" b="1" i="0" u="none">
                <a:solidFill>
                  <a:srgbClr val="111111"/>
                </a:solidFill>
                <a:latin typeface="BIZ UDPゴシック"/>
                <a:ea typeface="BIZ UDPゴシック"/>
                <a:cs typeface="BIZ UDPゴシック"/>
              </a:rPr>
              <a:t>商品担当が返品率を週次比較</a:t>
            </a:r>
          </a:p>
        </p:txBody>
      </p:sp>
      <p:sp>
        <p:nvSpPr>
          <p:cNvPr id="32" name="page-04-object-031">
            <a:extLst xmlns:a="http://schemas.openxmlformats.org/drawingml/2006/main">
              <a:ext uri="{FF2B5EF4-FFF2-40B4-BE49-F238E27FC236}">
                <a16:creationId xmlns:a16="http://schemas.microsoft.com/office/drawing/2014/main" id="{A6E6B0B4-616E-4025-9A20-505D1AC7A41E}"/>
              </a:ext>
            </a:extLst>
          </p:cNvPr>
          <p:cNvSpPr>
            <a:spLocks xmlns:a="http://schemas.openxmlformats.org/drawingml/2006/main" noGrp="1"/>
          </p:cNvSpPr>
          <p:nvPr/>
        </p:nvSpPr>
        <p:spPr>
          <a:xfrm xmlns:a="http://schemas.openxmlformats.org/drawingml/2006/main">
            <a:off x="8715375" y="1381125"/>
            <a:ext cx="3143250" cy="3257550"/>
          </a:xfrm>
          <a:prstGeom xmlns:a="http://schemas.openxmlformats.org/drawingml/2006/main" prst="rect">
            <a:avLst/>
          </a:prstGeom>
          <a:solidFill xmlns:a="http://schemas.openxmlformats.org/drawingml/2006/main">
            <a:srgbClr val="E2F0D9"/>
          </a:solidFill>
          <a:ln xmlns:a="http://schemas.openxmlformats.org/drawingml/2006/main" w="17145">
            <a:solidFill>
              <a:srgbClr val="75B843"/>
            </a:solidFill>
            <a:prstDash val="solid"/>
          </a:ln>
        </p:spPr>
        <p:txBody xmlns:a="http://schemas.openxmlformats.org/drawingml/2006/main">
          <a:bodyPr/>
          <a:p/>
        </p:txBody>
      </p:sp>
      <p:sp>
        <p:nvSpPr>
          <p:cNvPr id="33" name="page-04-object-032">
            <a:extLst xmlns:a="http://schemas.openxmlformats.org/drawingml/2006/main">
              <a:ext uri="{FF2B5EF4-FFF2-40B4-BE49-F238E27FC236}">
                <a16:creationId xmlns:a16="http://schemas.microsoft.com/office/drawing/2014/main" id="{818BEDE0-012A-4820-91B7-3579A596C329}"/>
              </a:ext>
            </a:extLst>
          </p:cNvPr>
          <p:cNvSpPr>
            <a:spLocks xmlns:a="http://schemas.openxmlformats.org/drawingml/2006/main" noGrp="1"/>
          </p:cNvSpPr>
          <p:nvPr/>
        </p:nvSpPr>
        <p:spPr>
          <a:xfrm xmlns:a="http://schemas.openxmlformats.org/drawingml/2006/main">
            <a:off x="8715375" y="1381125"/>
            <a:ext cx="3143250" cy="428625"/>
          </a:xfrm>
          <a:prstGeom xmlns:a="http://schemas.openxmlformats.org/drawingml/2006/main" prst="rect">
            <a:avLst/>
          </a:prstGeom>
          <a:solidFill xmlns:a="http://schemas.openxmlformats.org/drawingml/2006/main">
            <a:srgbClr val="75B843"/>
          </a:solidFill>
          <a:ln xmlns:a="http://schemas.openxmlformats.org/drawingml/2006/main" w="0">
            <a:solidFill>
              <a:srgbClr val="75B843"/>
            </a:solidFill>
            <a:prstDash val="solid"/>
          </a:ln>
        </p:spPr>
        <p:txBody xmlns:a="http://schemas.openxmlformats.org/drawingml/2006/main">
          <a:bodyPr/>
          <a:p/>
        </p:txBody>
      </p:sp>
      <p:sp>
        <p:nvSpPr>
          <p:cNvPr id="34" name="page-04-object-033">
            <a:extLst xmlns:a="http://schemas.openxmlformats.org/drawingml/2006/main">
              <a:ext uri="{FF2B5EF4-FFF2-40B4-BE49-F238E27FC236}">
                <a16:creationId xmlns:a16="http://schemas.microsoft.com/office/drawing/2014/main" id="{DC7D76B5-E8E7-4ED5-B330-EC502B6D31C8}"/>
              </a:ext>
            </a:extLst>
          </p:cNvPr>
          <p:cNvSpPr>
            <a:spLocks xmlns:a="http://schemas.openxmlformats.org/drawingml/2006/main" noGrp="1"/>
          </p:cNvSpPr>
          <p:nvPr/>
        </p:nvSpPr>
        <p:spPr>
          <a:xfrm xmlns:a="http://schemas.openxmlformats.org/drawingml/2006/main">
            <a:off x="8715375" y="138112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ctr">
              <a:defRPr sz="1500" b="1" i="0">
                <a:solidFill>
                  <a:srgbClr val="FFFFFF"/>
                </a:solidFill>
                <a:latin typeface="BIZ UDPゴシック"/>
                <a:ea typeface="BIZ UDPゴシック"/>
                <a:cs typeface="BIZ UDPゴシック"/>
              </a:defRPr>
            </a:pPr>
            <a:r>
              <a:rPr sz="1500" b="1" i="0" u="none">
                <a:solidFill>
                  <a:srgbClr val="FFFFFF"/>
                </a:solidFill>
                <a:latin typeface="BIZ UDPゴシック"/>
                <a:ea typeface="BIZ UDPゴシック"/>
                <a:cs typeface="BIZ UDPゴシック"/>
              </a:rPr>
              <a:t>目指す姿</a:t>
            </a:r>
          </a:p>
        </p:txBody>
      </p:sp>
      <p:sp>
        <p:nvSpPr>
          <p:cNvPr id="35" name="page-04-object-034">
            <a:extLst xmlns:a="http://schemas.openxmlformats.org/drawingml/2006/main">
              <a:ext uri="{FF2B5EF4-FFF2-40B4-BE49-F238E27FC236}">
                <a16:creationId xmlns:a16="http://schemas.microsoft.com/office/drawing/2014/main" id="{2F7F0992-25D3-4A52-B131-6EC3C2FEB7D8}"/>
              </a:ext>
            </a:extLst>
          </p:cNvPr>
          <p:cNvSpPr>
            <a:spLocks xmlns:a="http://schemas.openxmlformats.org/drawingml/2006/main" noGrp="1"/>
          </p:cNvSpPr>
          <p:nvPr/>
        </p:nvSpPr>
        <p:spPr>
          <a:xfrm xmlns:a="http://schemas.openxmlformats.org/drawingml/2006/main">
            <a:off x="8943975" y="2028825"/>
            <a:ext cx="26860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75B843"/>
            </a:solidFill>
            <a:prstDash val="solid"/>
          </a:ln>
        </p:spPr>
        <p:txBody xmlns:a="http://schemas.openxmlformats.org/drawingml/2006/main">
          <a:bodyPr/>
          <a:p/>
        </p:txBody>
      </p:sp>
      <p:sp>
        <p:nvSpPr>
          <p:cNvPr id="36" name="page-04-object-035">
            <a:extLst xmlns:a="http://schemas.openxmlformats.org/drawingml/2006/main">
              <a:ext uri="{FF2B5EF4-FFF2-40B4-BE49-F238E27FC236}">
                <a16:creationId xmlns:a16="http://schemas.microsoft.com/office/drawing/2014/main" id="{8A1CF4BD-CDCC-40FC-8C96-A7CE5FB3DFEA}"/>
              </a:ext>
            </a:extLst>
          </p:cNvPr>
          <p:cNvSpPr>
            <a:spLocks xmlns:a="http://schemas.openxmlformats.org/drawingml/2006/main" noGrp="1"/>
          </p:cNvSpPr>
          <p:nvPr/>
        </p:nvSpPr>
        <p:spPr>
          <a:xfrm xmlns:a="http://schemas.openxmlformats.org/drawingml/2006/main">
            <a:off x="9067800" y="2152650"/>
            <a:ext cx="2438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125" b="1" i="0">
                <a:solidFill>
                  <a:srgbClr val="111111"/>
                </a:solidFill>
                <a:latin typeface="BIZ UDPゴシック"/>
                <a:ea typeface="BIZ UDPゴシック"/>
                <a:cs typeface="BIZ UDPゴシック"/>
              </a:defRPr>
            </a:pPr>
            <a:r>
              <a:rPr sz="1125" b="1" i="0" u="none">
                <a:solidFill>
                  <a:srgbClr val="111111"/>
                </a:solidFill>
                <a:latin typeface="BIZ UDPゴシック"/>
                <a:ea typeface="BIZ UDPゴシック"/>
                <a:cs typeface="BIZ UDPゴシック"/>
              </a:rPr>
              <a:t>返品理由を分類表で確認</a:t>
            </a:r>
          </a:p>
        </p:txBody>
      </p:sp>
      <p:sp>
        <p:nvSpPr>
          <p:cNvPr id="37" name="page-04-object-036">
            <a:extLst xmlns:a="http://schemas.openxmlformats.org/drawingml/2006/main">
              <a:ext uri="{FF2B5EF4-FFF2-40B4-BE49-F238E27FC236}">
                <a16:creationId xmlns:a16="http://schemas.microsoft.com/office/drawing/2014/main" id="{3A941E03-8454-4379-AF94-4EEBC556A980}"/>
              </a:ext>
            </a:extLst>
          </p:cNvPr>
          <p:cNvSpPr>
            <a:spLocks xmlns:a="http://schemas.openxmlformats.org/drawingml/2006/main" noGrp="1"/>
          </p:cNvSpPr>
          <p:nvPr/>
        </p:nvSpPr>
        <p:spPr>
          <a:xfrm xmlns:a="http://schemas.openxmlformats.org/drawingml/2006/main">
            <a:off x="8943975" y="2771775"/>
            <a:ext cx="26860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75B843"/>
            </a:solidFill>
            <a:prstDash val="solid"/>
          </a:ln>
        </p:spPr>
        <p:txBody xmlns:a="http://schemas.openxmlformats.org/drawingml/2006/main">
          <a:bodyPr/>
          <a:p/>
        </p:txBody>
      </p:sp>
      <p:sp>
        <p:nvSpPr>
          <p:cNvPr id="38" name="page-04-object-037">
            <a:extLst xmlns:a="http://schemas.openxmlformats.org/drawingml/2006/main">
              <a:ext uri="{FF2B5EF4-FFF2-40B4-BE49-F238E27FC236}">
                <a16:creationId xmlns:a16="http://schemas.microsoft.com/office/drawing/2014/main" id="{A84D0C0E-17B5-40A1-943E-DD2A338FFE6D}"/>
              </a:ext>
            </a:extLst>
          </p:cNvPr>
          <p:cNvSpPr>
            <a:spLocks xmlns:a="http://schemas.openxmlformats.org/drawingml/2006/main" noGrp="1"/>
          </p:cNvSpPr>
          <p:nvPr/>
        </p:nvSpPr>
        <p:spPr>
          <a:xfrm xmlns:a="http://schemas.openxmlformats.org/drawingml/2006/main">
            <a:off x="9067800" y="2895600"/>
            <a:ext cx="2438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125" b="1" i="0">
                <a:solidFill>
                  <a:srgbClr val="111111"/>
                </a:solidFill>
                <a:latin typeface="BIZ UDPゴシック"/>
                <a:ea typeface="BIZ UDPゴシック"/>
                <a:cs typeface="BIZ UDPゴシック"/>
              </a:defRPr>
            </a:pPr>
            <a:r>
              <a:rPr sz="1125" b="1" i="0" u="none">
                <a:solidFill>
                  <a:srgbClr val="111111"/>
                </a:solidFill>
                <a:latin typeface="BIZ UDPゴシック"/>
                <a:ea typeface="BIZ UDPゴシック"/>
                <a:cs typeface="BIZ UDPゴシック"/>
              </a:rPr>
              <a:t>説明の修正箇所を記録</a:t>
            </a:r>
          </a:p>
        </p:txBody>
      </p:sp>
      <p:sp>
        <p:nvSpPr>
          <p:cNvPr id="39" name="page-04-object-038">
            <a:extLst xmlns:a="http://schemas.openxmlformats.org/drawingml/2006/main">
              <a:ext uri="{FF2B5EF4-FFF2-40B4-BE49-F238E27FC236}">
                <a16:creationId xmlns:a16="http://schemas.microsoft.com/office/drawing/2014/main" id="{1DA16A4C-1CB9-4AD4-B4E5-9F85AB845D68}"/>
              </a:ext>
            </a:extLst>
          </p:cNvPr>
          <p:cNvSpPr>
            <a:spLocks xmlns:a="http://schemas.openxmlformats.org/drawingml/2006/main" noGrp="1"/>
          </p:cNvSpPr>
          <p:nvPr/>
        </p:nvSpPr>
        <p:spPr>
          <a:xfrm xmlns:a="http://schemas.openxmlformats.org/drawingml/2006/main">
            <a:off x="8943975" y="3514725"/>
            <a:ext cx="26860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75B843"/>
            </a:solidFill>
            <a:prstDash val="solid"/>
          </a:ln>
        </p:spPr>
        <p:txBody xmlns:a="http://schemas.openxmlformats.org/drawingml/2006/main">
          <a:bodyPr/>
          <a:p/>
        </p:txBody>
      </p:sp>
      <p:sp>
        <p:nvSpPr>
          <p:cNvPr id="40" name="page-04-object-039">
            <a:extLst xmlns:a="http://schemas.openxmlformats.org/drawingml/2006/main">
              <a:ext uri="{FF2B5EF4-FFF2-40B4-BE49-F238E27FC236}">
                <a16:creationId xmlns:a16="http://schemas.microsoft.com/office/drawing/2014/main" id="{C990E600-E00E-4742-ACBF-DDFA66CD9D5A}"/>
              </a:ext>
            </a:extLst>
          </p:cNvPr>
          <p:cNvSpPr>
            <a:spLocks xmlns:a="http://schemas.openxmlformats.org/drawingml/2006/main" noGrp="1"/>
          </p:cNvSpPr>
          <p:nvPr/>
        </p:nvSpPr>
        <p:spPr>
          <a:xfrm xmlns:a="http://schemas.openxmlformats.org/drawingml/2006/main">
            <a:off x="9067800" y="3638550"/>
            <a:ext cx="2438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125" b="1" i="0">
                <a:solidFill>
                  <a:srgbClr val="111111"/>
                </a:solidFill>
                <a:latin typeface="BIZ UDPゴシック"/>
                <a:ea typeface="BIZ UDPゴシック"/>
                <a:cs typeface="BIZ UDPゴシック"/>
              </a:defRPr>
            </a:pPr>
            <a:r>
              <a:rPr sz="1125" b="1" i="0" u="none">
                <a:solidFill>
                  <a:srgbClr val="111111"/>
                </a:solidFill>
                <a:latin typeface="BIZ UDPゴシック"/>
                <a:ea typeface="BIZ UDPゴシック"/>
                <a:cs typeface="BIZ UDPゴシック"/>
              </a:rPr>
              <a:t>実測で改善の有無を判断</a:t>
            </a:r>
          </a:p>
        </p:txBody>
      </p:sp>
      <p:sp>
        <p:nvSpPr>
          <p:cNvPr id="41" name="page-04-object-040">
            <a:extLst xmlns:a="http://schemas.openxmlformats.org/drawingml/2006/main">
              <a:ext uri="{FF2B5EF4-FFF2-40B4-BE49-F238E27FC236}">
                <a16:creationId xmlns:a16="http://schemas.microsoft.com/office/drawing/2014/main" id="{9BF50E28-32A8-4A28-9B45-DDBE9157D0DC}"/>
              </a:ext>
            </a:extLst>
          </p:cNvPr>
          <p:cNvSpPr>
            <a:spLocks xmlns:a="http://schemas.openxmlformats.org/drawingml/2006/main" noGrp="1"/>
          </p:cNvSpPr>
          <p:nvPr/>
        </p:nvSpPr>
        <p:spPr>
          <a:xfrm xmlns:a="http://schemas.openxmlformats.org/drawingml/2006/main">
            <a:off x="781050" y="4876800"/>
            <a:ext cx="10629900" cy="695325"/>
          </a:xfrm>
          <a:prstGeom xmlns:a="http://schemas.openxmlformats.org/drawingml/2006/main" prst="rect">
            <a:avLst/>
          </a:prstGeom>
          <a:solidFill xmlns:a="http://schemas.openxmlformats.org/drawingml/2006/main">
            <a:srgbClr val="DDEBF7"/>
          </a:solidFill>
          <a:ln xmlns:a="http://schemas.openxmlformats.org/drawingml/2006/main" w="13335">
            <a:solidFill>
              <a:srgbClr val="2474B5"/>
            </a:solidFill>
            <a:prstDash val="solid"/>
          </a:ln>
        </p:spPr>
        <p:txBody xmlns:a="http://schemas.openxmlformats.org/drawingml/2006/main">
          <a:bodyPr/>
          <a:p/>
        </p:txBody>
      </p:sp>
      <p:sp>
        <p:nvSpPr>
          <p:cNvPr id="42" name="page-04-object-041">
            <a:extLst xmlns:a="http://schemas.openxmlformats.org/drawingml/2006/main">
              <a:ext uri="{FF2B5EF4-FFF2-40B4-BE49-F238E27FC236}">
                <a16:creationId xmlns:a16="http://schemas.microsoft.com/office/drawing/2014/main" id="{52AAFAE0-7EDD-4502-8970-E53A2AA719F9}"/>
              </a:ext>
            </a:extLst>
          </p:cNvPr>
          <p:cNvSpPr>
            <a:spLocks xmlns:a="http://schemas.openxmlformats.org/drawingml/2006/main" noGrp="1"/>
          </p:cNvSpPr>
          <p:nvPr/>
        </p:nvSpPr>
        <p:spPr>
          <a:xfrm xmlns:a="http://schemas.openxmlformats.org/drawingml/2006/main">
            <a:off x="990600" y="5010150"/>
            <a:ext cx="10210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125" b="1" i="0">
                <a:solidFill>
                  <a:srgbClr val="111111"/>
                </a:solidFill>
                <a:latin typeface="BIZ UDPゴシック"/>
                <a:ea typeface="BIZ UDPゴシック"/>
                <a:cs typeface="BIZ UDPゴシック"/>
              </a:defRPr>
            </a:pPr>
            <a:r>
              <a:rPr sz="1125" b="1" i="0" u="none">
                <a:solidFill>
                  <a:srgbClr val="111111"/>
                </a:solidFill>
                <a:latin typeface="BIZ UDPゴシック"/>
                <a:ea typeface="BIZ UDPゴシック"/>
                <a:cs typeface="BIZ UDPゴシック"/>
              </a:rPr>
              <a:t>対象｜上位20商品の返品理由、返品上位5商品の説明</a:t>
            </a:r>
          </a:p>
          <a:p xmlns:a="http://schemas.openxmlformats.org/drawingml/2006/main">
            <a:pPr algn="ctr">
              <a:defRPr sz="1125" b="1" i="0">
                <a:solidFill>
                  <a:srgbClr val="111111"/>
                </a:solidFill>
                <a:latin typeface="BIZ UDPゴシック"/>
                <a:ea typeface="BIZ UDPゴシック"/>
                <a:cs typeface="BIZ UDPゴシック"/>
              </a:defRPr>
            </a:pPr>
            <a:r>
              <a:rPr sz="1125" b="1" i="0" u="none">
                <a:solidFill>
                  <a:srgbClr val="111111"/>
                </a:solidFill>
                <a:latin typeface="BIZ UDPゴシック"/>
                <a:ea typeface="BIZ UDPゴシック"/>
                <a:cs typeface="BIZ UDPゴシック"/>
              </a:rPr>
              <a:t>前提｜改善効果は未確認　指標｜対象商品の返品率を週次比較</a:t>
            </a:r>
          </a:p>
        </p:txBody>
      </p:sp>
      <p:sp>
        <p:nvSpPr>
          <p:cNvPr id="43" name="page-04-object-042">
            <a:extLst xmlns:a="http://schemas.openxmlformats.org/drawingml/2006/main">
              <a:ext uri="{FF2B5EF4-FFF2-40B4-BE49-F238E27FC236}">
                <a16:creationId xmlns:a16="http://schemas.microsoft.com/office/drawing/2014/main" id="{C96797BB-D9B7-432C-83A7-53242547B292}"/>
              </a:ext>
            </a:extLst>
          </p:cNvPr>
          <p:cNvSpPr>
            <a:spLocks xmlns:a="http://schemas.openxmlformats.org/drawingml/2006/main" noGrp="1"/>
          </p:cNvSpPr>
          <p:nvPr/>
        </p:nvSpPr>
        <p:spPr>
          <a:xfrm xmlns:a="http://schemas.openxmlformats.org/drawingml/2006/main">
            <a:off x="285750" y="5753100"/>
            <a:ext cx="11601450" cy="381000"/>
          </a:xfrm>
          <a:prstGeom xmlns:a="http://schemas.openxmlformats.org/drawingml/2006/main" prst="rect">
            <a:avLst/>
          </a:prstGeom>
          <a:solidFill xmlns:a="http://schemas.openxmlformats.org/drawingml/2006/main">
            <a:srgbClr val="DDEBF7"/>
          </a:solidFill>
          <a:ln xmlns:a="http://schemas.openxmlformats.org/drawingml/2006/main" w="11430">
            <a:solidFill>
              <a:srgbClr val="2474B5"/>
            </a:solidFill>
            <a:prstDash val="solid"/>
          </a:ln>
        </p:spPr>
        <p:txBody xmlns:a="http://schemas.openxmlformats.org/drawingml/2006/main">
          <a:bodyPr/>
          <a:p/>
        </p:txBody>
      </p:sp>
      <p:sp>
        <p:nvSpPr>
          <p:cNvPr id="44" name="page-04-object-043">
            <a:extLst xmlns:a="http://schemas.openxmlformats.org/drawingml/2006/main">
              <a:ext uri="{FF2B5EF4-FFF2-40B4-BE49-F238E27FC236}">
                <a16:creationId xmlns:a16="http://schemas.microsoft.com/office/drawing/2014/main" id="{9B7DE5D0-7940-45A8-8318-BAFDB6AB8452}"/>
              </a:ext>
            </a:extLst>
          </p:cNvPr>
          <p:cNvSpPr>
            <a:spLocks xmlns:a="http://schemas.openxmlformats.org/drawingml/2006/main" noGrp="1"/>
          </p:cNvSpPr>
          <p:nvPr/>
        </p:nvSpPr>
        <p:spPr>
          <a:xfrm xmlns:a="http://schemas.openxmlformats.org/drawingml/2006/main">
            <a:off x="285750" y="5753100"/>
            <a:ext cx="1047750" cy="381000"/>
          </a:xfrm>
          <a:prstGeom xmlns:a="http://schemas.openxmlformats.org/drawingml/2006/main" prst="rect">
            <a:avLst/>
          </a:prstGeom>
          <a:solidFill xmlns:a="http://schemas.openxmlformats.org/drawingml/2006/main">
            <a:srgbClr val="0B5AA6"/>
          </a:solidFill>
          <a:ln xmlns:a="http://schemas.openxmlformats.org/drawingml/2006/main" w="0">
            <a:solidFill>
              <a:srgbClr val="0B5AA6"/>
            </a:solidFill>
            <a:prstDash val="solid"/>
          </a:ln>
        </p:spPr>
        <p:txBody xmlns:a="http://schemas.openxmlformats.org/drawingml/2006/main">
          <a:bodyPr/>
          <a:p/>
        </p:txBody>
      </p:sp>
      <p:sp>
        <p:nvSpPr>
          <p:cNvPr id="45" name="page-04-object-044">
            <a:extLst xmlns:a="http://schemas.openxmlformats.org/drawingml/2006/main">
              <a:ext uri="{FF2B5EF4-FFF2-40B4-BE49-F238E27FC236}">
                <a16:creationId xmlns:a16="http://schemas.microsoft.com/office/drawing/2014/main" id="{47E67D49-EA6A-4BDF-A0A5-814DADF5AB5B}"/>
              </a:ext>
            </a:extLst>
          </p:cNvPr>
          <p:cNvSpPr>
            <a:spLocks xmlns:a="http://schemas.openxmlformats.org/drawingml/2006/main" noGrp="1"/>
          </p:cNvSpPr>
          <p:nvPr/>
        </p:nvSpPr>
        <p:spPr>
          <a:xfrm xmlns:a="http://schemas.openxmlformats.org/drawingml/2006/main">
            <a:off x="285750" y="5800725"/>
            <a:ext cx="1047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i="0">
                <a:solidFill>
                  <a:srgbClr val="FFFFFF"/>
                </a:solidFill>
                <a:latin typeface="BIZ UDPゴシック"/>
                <a:ea typeface="BIZ UDPゴシック"/>
                <a:cs typeface="BIZ UDPゴシック"/>
              </a:defRPr>
            </a:pPr>
            <a:r>
              <a:rPr sz="1200" b="1" i="0" u="none">
                <a:solidFill>
                  <a:srgbClr val="FFFFFF"/>
                </a:solidFill>
                <a:latin typeface="BIZ UDPゴシック"/>
                <a:ea typeface="BIZ UDPゴシック"/>
                <a:cs typeface="BIZ UDPゴシック"/>
              </a:rPr>
              <a:t>移行条件</a:t>
            </a:r>
          </a:p>
        </p:txBody>
      </p:sp>
      <p:sp>
        <p:nvSpPr>
          <p:cNvPr id="46" name="page-04-object-045">
            <a:extLst xmlns:a="http://schemas.openxmlformats.org/drawingml/2006/main">
              <a:ext uri="{FF2B5EF4-FFF2-40B4-BE49-F238E27FC236}">
                <a16:creationId xmlns:a16="http://schemas.microsoft.com/office/drawing/2014/main" id="{F3F19964-0978-4FC5-8B47-ABAEE96BF39E}"/>
              </a:ext>
            </a:extLst>
          </p:cNvPr>
          <p:cNvSpPr>
            <a:spLocks xmlns:a="http://schemas.openxmlformats.org/drawingml/2006/main" noGrp="1"/>
          </p:cNvSpPr>
          <p:nvPr/>
        </p:nvSpPr>
        <p:spPr>
          <a:xfrm xmlns:a="http://schemas.openxmlformats.org/drawingml/2006/main">
            <a:off x="1447800" y="58102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i="0">
                <a:solidFill>
                  <a:srgbClr val="111111"/>
                </a:solidFill>
                <a:latin typeface="BIZ UDPゴシック"/>
                <a:ea typeface="BIZ UDPゴシック"/>
                <a:cs typeface="BIZ UDPゴシック"/>
              </a:defRPr>
            </a:pPr>
            <a:r>
              <a:rPr sz="1275" b="1" i="0" u="none">
                <a:solidFill>
                  <a:srgbClr val="111111"/>
                </a:solidFill>
                <a:latin typeface="BIZ UDPゴシック"/>
                <a:ea typeface="BIZ UDPゴシック"/>
                <a:cs typeface="BIZ UDPゴシック"/>
              </a:rPr>
              <a:t>10月9日に分類を確認し、10月16日までに商品説明を改稿する</a:t>
            </a:r>
          </a:p>
        </p:txBody>
      </p:sp>
      <p:sp>
        <p:nvSpPr>
          <p:cNvPr id="47" name="page-04-object-046">
            <a:extLst xmlns:a="http://schemas.openxmlformats.org/drawingml/2006/main">
              <a:ext uri="{FF2B5EF4-FFF2-40B4-BE49-F238E27FC236}">
                <a16:creationId xmlns:a16="http://schemas.microsoft.com/office/drawing/2014/main" id="{82205CF5-06FB-4DCA-89BD-577A9A8DA089}"/>
              </a:ext>
            </a:extLst>
          </p:cNvPr>
          <p:cNvSpPr>
            <a:spLocks xmlns:a="http://schemas.openxmlformats.org/drawingml/2006/main" noGrp="1"/>
          </p:cNvSpPr>
          <p:nvPr/>
        </p:nvSpPr>
        <p:spPr>
          <a:xfrm xmlns:a="http://schemas.openxmlformats.org/drawingml/2006/main">
            <a:off x="304800" y="6305550"/>
            <a:ext cx="1100137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75" b="0" i="0">
                <a:solidFill>
                  <a:srgbClr val="666666"/>
                </a:solidFill>
                <a:latin typeface="BIZ UDPゴシック"/>
                <a:ea typeface="BIZ UDPゴシック"/>
                <a:cs typeface="BIZ UDPゴシック"/>
              </a:defRPr>
            </a:pPr>
            <a:r>
              <a:rPr sz="675" b="0" i="0" u="none">
                <a:solidFill>
                  <a:srgbClr val="666666"/>
                </a:solidFill>
                <a:latin typeface="BIZ UDPゴシック"/>
                <a:ea typeface="BIZ UDPゴシック"/>
                <a:cs typeface="BIZ UDPゴシック"/>
              </a:rPr>
              <a:t>出所：架空データ「くらし便 9月報告・対応案」。改善後の成果は未測定。</a:t>
            </a:r>
          </a:p>
        </p:txBody>
      </p:sp>
    </p:spTree>
    <p:extLst>
      <p:ext uri="{BB962C8B-B14F-4D97-AF65-F5344CB8AC3E}">
        <p14:creationId xmlns:p14="http://schemas.microsoft.com/office/powerpoint/2010/main" val="129922680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page-03-object-000">
            <a:extLst xmlns:a="http://schemas.openxmlformats.org/drawingml/2006/main">
              <a:ext uri="{FF2B5EF4-FFF2-40B4-BE49-F238E27FC236}">
                <a16:creationId xmlns:a16="http://schemas.microsoft.com/office/drawing/2014/main" id="{D9A72375-5130-49A7-9025-2556D07F3073}"/>
              </a:ext>
            </a:extLst>
          </p:cNvPr>
          <p:cNvSpPr>
            <a:spLocks xmlns:a="http://schemas.openxmlformats.org/drawingml/2006/main" noGrp="1"/>
          </p:cNvSpPr>
          <p:nvPr/>
        </p:nvSpPr>
        <p:spPr>
          <a:xfrm xmlns:a="http://schemas.openxmlformats.org/drawingml/2006/main">
            <a:off x="0" y="0"/>
            <a:ext cx="12192000" cy="495300"/>
          </a:xfrm>
          <a:prstGeom xmlns:a="http://schemas.openxmlformats.org/drawingml/2006/main" prst="rect">
            <a:avLst/>
          </a:prstGeom>
          <a:solidFill xmlns:a="http://schemas.openxmlformats.org/drawingml/2006/main">
            <a:srgbClr val="0B5AA6"/>
          </a:solidFill>
          <a:ln xmlns:a="http://schemas.openxmlformats.org/drawingml/2006/main" w="0">
            <a:solidFill>
              <a:srgbClr val="0B5AA6"/>
            </a:solidFill>
            <a:prstDash val="solid"/>
          </a:ln>
        </p:spPr>
        <p:txBody xmlns:a="http://schemas.openxmlformats.org/drawingml/2006/main">
          <a:bodyPr/>
          <a:p/>
        </p:txBody>
      </p:sp>
      <p:sp>
        <p:nvSpPr>
          <p:cNvPr id="2" name="page-03-object-001">
            <a:extLst xmlns:a="http://schemas.openxmlformats.org/drawingml/2006/main">
              <a:ext uri="{FF2B5EF4-FFF2-40B4-BE49-F238E27FC236}">
                <a16:creationId xmlns:a16="http://schemas.microsoft.com/office/drawing/2014/main" id="{BCA393F3-018A-4540-8DFE-AA77D60ED0B1}"/>
              </a:ext>
            </a:extLst>
          </p:cNvPr>
          <p:cNvSpPr>
            <a:spLocks xmlns:a="http://schemas.openxmlformats.org/drawingml/2006/main" noGrp="1"/>
          </p:cNvSpPr>
          <p:nvPr/>
        </p:nvSpPr>
        <p:spPr>
          <a:xfrm xmlns:a="http://schemas.openxmlformats.org/drawingml/2006/main">
            <a:off x="228600" y="38100"/>
            <a:ext cx="885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i="0">
                <a:solidFill>
                  <a:srgbClr val="FFFFFF"/>
                </a:solidFill>
                <a:latin typeface="BIZ UDPゴシック"/>
                <a:ea typeface="BIZ UDPゴシック"/>
                <a:cs typeface="BIZ UDPゴシック"/>
              </a:defRPr>
            </a:pPr>
            <a:r>
              <a:rPr sz="2100" b="1" i="0" u="none">
                <a:solidFill>
                  <a:srgbClr val="FFFFFF"/>
                </a:solidFill>
                <a:latin typeface="BIZ UDPゴシック"/>
                <a:ea typeface="BIZ UDPゴシック"/>
                <a:cs typeface="BIZ UDPゴシック"/>
              </a:rPr>
              <a:t>チャネル別売上・増収の内訳</a:t>
            </a:r>
          </a:p>
        </p:txBody>
      </p:sp>
      <p:sp>
        <p:nvSpPr>
          <p:cNvPr id="3" name="page-03-object-002">
            <a:extLst xmlns:a="http://schemas.openxmlformats.org/drawingml/2006/main">
              <a:ext uri="{FF2B5EF4-FFF2-40B4-BE49-F238E27FC236}">
                <a16:creationId xmlns:a16="http://schemas.microsoft.com/office/drawing/2014/main" id="{A46657A9-CEAE-4A73-AB67-6CC0805E59C8}"/>
              </a:ext>
            </a:extLst>
          </p:cNvPr>
          <p:cNvSpPr>
            <a:spLocks xmlns:a="http://schemas.openxmlformats.org/drawingml/2006/main" noGrp="1"/>
          </p:cNvSpPr>
          <p:nvPr/>
        </p:nvSpPr>
        <p:spPr>
          <a:xfrm xmlns:a="http://schemas.openxmlformats.org/drawingml/2006/main">
            <a:off x="9620250" y="76200"/>
            <a:ext cx="2266950" cy="323850"/>
          </a:xfrm>
          <a:prstGeom xmlns:a="http://schemas.openxmlformats.org/drawingml/2006/main" prst="rect">
            <a:avLst/>
          </a:prstGeom>
          <a:solidFill xmlns:a="http://schemas.openxmlformats.org/drawingml/2006/main">
            <a:srgbClr val="00A9E0"/>
          </a:solidFill>
          <a:ln xmlns:a="http://schemas.openxmlformats.org/drawingml/2006/main" w="0">
            <a:solidFill>
              <a:srgbClr val="00A9E0"/>
            </a:solidFill>
            <a:prstDash val="solid"/>
          </a:ln>
        </p:spPr>
        <p:txBody xmlns:a="http://schemas.openxmlformats.org/drawingml/2006/main">
          <a:bodyPr/>
          <a:p/>
        </p:txBody>
      </p:sp>
      <p:sp>
        <p:nvSpPr>
          <p:cNvPr id="4" name="page-03-object-003">
            <a:extLst xmlns:a="http://schemas.openxmlformats.org/drawingml/2006/main">
              <a:ext uri="{FF2B5EF4-FFF2-40B4-BE49-F238E27FC236}">
                <a16:creationId xmlns:a16="http://schemas.microsoft.com/office/drawing/2014/main" id="{67E38DC0-21DC-4BC3-9A81-BE44EAA4F036}"/>
              </a:ext>
            </a:extLst>
          </p:cNvPr>
          <p:cNvSpPr>
            <a:spLocks xmlns:a="http://schemas.openxmlformats.org/drawingml/2006/main" noGrp="1"/>
          </p:cNvSpPr>
          <p:nvPr/>
        </p:nvSpPr>
        <p:spPr>
          <a:xfrm xmlns:a="http://schemas.openxmlformats.org/drawingml/2006/main">
            <a:off x="9620250" y="104775"/>
            <a:ext cx="22669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i="0">
                <a:solidFill>
                  <a:srgbClr val="FFFFFF"/>
                </a:solidFill>
                <a:latin typeface="BIZ UDPゴシック"/>
                <a:ea typeface="BIZ UDPゴシック"/>
                <a:cs typeface="BIZ UDPゴシック"/>
              </a:defRPr>
            </a:pPr>
            <a:r>
              <a:rPr sz="1125" b="1" i="0" u="none">
                <a:solidFill>
                  <a:srgbClr val="FFFFFF"/>
                </a:solidFill>
                <a:latin typeface="BIZ UDPゴシック"/>
                <a:ea typeface="BIZ UDPゴシック"/>
                <a:cs typeface="BIZ UDPゴシック"/>
              </a:rPr>
              <a:t>定量根拠</a:t>
            </a:r>
          </a:p>
        </p:txBody>
      </p:sp>
      <p:sp>
        <p:nvSpPr>
          <p:cNvPr id="5" name="page-03-object-004">
            <a:extLst xmlns:a="http://schemas.openxmlformats.org/drawingml/2006/main">
              <a:ext uri="{FF2B5EF4-FFF2-40B4-BE49-F238E27FC236}">
                <a16:creationId xmlns:a16="http://schemas.microsoft.com/office/drawing/2014/main" id="{11A8D5FA-64CE-4DCF-B4DF-6F5CEE8396D4}"/>
              </a:ext>
            </a:extLst>
          </p:cNvPr>
          <p:cNvSpPr>
            <a:spLocks xmlns:a="http://schemas.openxmlformats.org/drawingml/2006/main" noGrp="1"/>
          </p:cNvSpPr>
          <p:nvPr/>
        </p:nvSpPr>
        <p:spPr>
          <a:xfrm xmlns:a="http://schemas.openxmlformats.org/drawingml/2006/main">
            <a:off x="0" y="6543675"/>
            <a:ext cx="5905500" cy="314325"/>
          </a:xfrm>
          <a:prstGeom xmlns:a="http://schemas.openxmlformats.org/drawingml/2006/main" prst="rect">
            <a:avLst/>
          </a:prstGeom>
          <a:solidFill xmlns:a="http://schemas.openxmlformats.org/drawingml/2006/main">
            <a:srgbClr val="0B5AA6"/>
          </a:solidFill>
          <a:ln xmlns:a="http://schemas.openxmlformats.org/drawingml/2006/main" w="0">
            <a:solidFill>
              <a:srgbClr val="0B5AA6"/>
            </a:solidFill>
            <a:prstDash val="solid"/>
          </a:ln>
        </p:spPr>
        <p:txBody xmlns:a="http://schemas.openxmlformats.org/drawingml/2006/main">
          <a:bodyPr/>
          <a:p/>
        </p:txBody>
      </p:sp>
      <p:sp>
        <p:nvSpPr>
          <p:cNvPr id="6" name="page-03-object-005">
            <a:extLst xmlns:a="http://schemas.openxmlformats.org/drawingml/2006/main">
              <a:ext uri="{FF2B5EF4-FFF2-40B4-BE49-F238E27FC236}">
                <a16:creationId xmlns:a16="http://schemas.microsoft.com/office/drawing/2014/main" id="{513F6299-9814-49BA-B7D2-81CFE33C7BAE}"/>
              </a:ext>
            </a:extLst>
          </p:cNvPr>
          <p:cNvSpPr>
            <a:spLocks xmlns:a="http://schemas.openxmlformats.org/drawingml/2006/main" noGrp="1"/>
          </p:cNvSpPr>
          <p:nvPr/>
        </p:nvSpPr>
        <p:spPr>
          <a:xfrm xmlns:a="http://schemas.openxmlformats.org/drawingml/2006/main">
            <a:off x="447675" y="6543675"/>
            <a:ext cx="76200" cy="3143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7" name="page-03-object-006">
            <a:extLst xmlns:a="http://schemas.openxmlformats.org/drawingml/2006/main">
              <a:ext uri="{FF2B5EF4-FFF2-40B4-BE49-F238E27FC236}">
                <a16:creationId xmlns:a16="http://schemas.microsoft.com/office/drawing/2014/main" id="{5EC33ED2-2F4F-4A2E-86F9-A9964A95A442}"/>
              </a:ext>
            </a:extLst>
          </p:cNvPr>
          <p:cNvSpPr>
            <a:spLocks xmlns:a="http://schemas.openxmlformats.org/drawingml/2006/main" noGrp="1"/>
          </p:cNvSpPr>
          <p:nvPr/>
        </p:nvSpPr>
        <p:spPr>
          <a:xfrm xmlns:a="http://schemas.openxmlformats.org/drawingml/2006/main">
            <a:off x="619125" y="6543675"/>
            <a:ext cx="28575" cy="3143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8" name="page-03-object-007">
            <a:extLst xmlns:a="http://schemas.openxmlformats.org/drawingml/2006/main">
              <a:ext uri="{FF2B5EF4-FFF2-40B4-BE49-F238E27FC236}">
                <a16:creationId xmlns:a16="http://schemas.microsoft.com/office/drawing/2014/main" id="{C0CEF5B7-D916-405B-A8CE-4B1582ADD6AF}"/>
              </a:ext>
            </a:extLst>
          </p:cNvPr>
          <p:cNvSpPr>
            <a:spLocks xmlns:a="http://schemas.openxmlformats.org/drawingml/2006/main" noGrp="1"/>
          </p:cNvSpPr>
          <p:nvPr/>
        </p:nvSpPr>
        <p:spPr>
          <a:xfrm xmlns:a="http://schemas.openxmlformats.org/drawingml/2006/main">
            <a:off x="857250" y="6581775"/>
            <a:ext cx="461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75" b="0" i="0">
                <a:solidFill>
                  <a:srgbClr val="FFFFFF"/>
                </a:solidFill>
                <a:latin typeface="BIZ UDPゴシック"/>
                <a:ea typeface="BIZ UDPゴシック"/>
                <a:cs typeface="BIZ UDPゴシック"/>
              </a:defRPr>
            </a:pPr>
            <a:r>
              <a:rPr sz="975" b="0" i="0" u="none">
                <a:solidFill>
                  <a:srgbClr val="FFFFFF"/>
                </a:solidFill>
                <a:latin typeface="BIZ UDPゴシック"/>
                <a:ea typeface="BIZ UDPゴシック"/>
                <a:cs typeface="BIZ UDPゴシック"/>
              </a:rPr>
              <a:t>くらし便 EC事業部　架空の制作例</a:t>
            </a:r>
          </a:p>
        </p:txBody>
      </p:sp>
      <p:sp>
        <p:nvSpPr>
          <p:cNvPr id="9" name="page-03-object-008">
            <a:extLst xmlns:a="http://schemas.openxmlformats.org/drawingml/2006/main">
              <a:ext uri="{FF2B5EF4-FFF2-40B4-BE49-F238E27FC236}">
                <a16:creationId xmlns:a16="http://schemas.microsoft.com/office/drawing/2014/main" id="{23E9040B-9AA5-44CB-B36B-174370D70A83}"/>
              </a:ext>
            </a:extLst>
          </p:cNvPr>
          <p:cNvSpPr>
            <a:spLocks xmlns:a="http://schemas.openxmlformats.org/drawingml/2006/main" noGrp="1"/>
          </p:cNvSpPr>
          <p:nvPr/>
        </p:nvSpPr>
        <p:spPr>
          <a:xfrm xmlns:a="http://schemas.openxmlformats.org/drawingml/2006/main">
            <a:off x="11601450" y="657225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75" b="0" i="0">
                <a:solidFill>
                  <a:srgbClr val="666666"/>
                </a:solidFill>
                <a:latin typeface="BIZ UDPゴシック"/>
                <a:ea typeface="BIZ UDPゴシック"/>
                <a:cs typeface="BIZ UDPゴシック"/>
              </a:defRPr>
            </a:pPr>
            <a:r>
              <a:rPr sz="975" b="0" i="0" u="none">
                <a:solidFill>
                  <a:srgbClr val="666666"/>
                </a:solidFill>
                <a:latin typeface="BIZ UDPゴシック"/>
                <a:ea typeface="BIZ UDPゴシック"/>
                <a:cs typeface="BIZ UDPゴシック"/>
              </a:rPr>
              <a:t>3</a:t>
            </a:r>
          </a:p>
        </p:txBody>
      </p:sp>
      <p:sp>
        <p:nvSpPr>
          <p:cNvPr id="10" name="page-03-object-009">
            <a:extLst xmlns:a="http://schemas.openxmlformats.org/drawingml/2006/main">
              <a:ext uri="{FF2B5EF4-FFF2-40B4-BE49-F238E27FC236}">
                <a16:creationId xmlns:a16="http://schemas.microsoft.com/office/drawing/2014/main" id="{1092FBFC-C065-4ED4-8A1B-599D2810E449}"/>
              </a:ext>
            </a:extLst>
          </p:cNvPr>
          <p:cNvSpPr>
            <a:spLocks xmlns:a="http://schemas.openxmlformats.org/drawingml/2006/main" noGrp="1"/>
          </p:cNvSpPr>
          <p:nvPr/>
        </p:nvSpPr>
        <p:spPr>
          <a:xfrm xmlns:a="http://schemas.openxmlformats.org/drawingml/2006/main">
            <a:off x="285750" y="600075"/>
            <a:ext cx="11572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i="0">
                <a:solidFill>
                  <a:srgbClr val="111111"/>
                </a:solidFill>
                <a:latin typeface="BIZ UDPゴシック"/>
                <a:ea typeface="BIZ UDPゴシック"/>
                <a:cs typeface="BIZ UDPゴシック"/>
              </a:defRPr>
            </a:pPr>
            <a:r>
              <a:rPr sz="2100" b="1" i="0" u="none">
                <a:solidFill>
                  <a:srgbClr val="111111"/>
                </a:solidFill>
                <a:latin typeface="BIZ UDPゴシック"/>
                <a:ea typeface="BIZ UDPゴシック"/>
                <a:cs typeface="BIZ UDPゴシック"/>
              </a:rPr>
              <a:t>自然検索が増収200万円の45%を占める</a:t>
            </a:r>
          </a:p>
        </p:txBody>
      </p:sp>
      <p:sp>
        <p:nvSpPr>
          <p:cNvPr id="11" name="page-03-object-010">
            <a:extLst xmlns:a="http://schemas.openxmlformats.org/drawingml/2006/main">
              <a:ext uri="{FF2B5EF4-FFF2-40B4-BE49-F238E27FC236}">
                <a16:creationId xmlns:a16="http://schemas.microsoft.com/office/drawing/2014/main" id="{64E9EB5F-E338-44FB-B089-C8CD8739BC08}"/>
              </a:ext>
            </a:extLst>
          </p:cNvPr>
          <p:cNvSpPr>
            <a:spLocks xmlns:a="http://schemas.openxmlformats.org/drawingml/2006/main" noGrp="1"/>
          </p:cNvSpPr>
          <p:nvPr/>
        </p:nvSpPr>
        <p:spPr>
          <a:xfrm xmlns:a="http://schemas.openxmlformats.org/drawingml/2006/main">
            <a:off x="304800" y="990600"/>
            <a:ext cx="11525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2474B5"/>
                </a:solidFill>
                <a:latin typeface="BIZ UDPゴシック"/>
                <a:ea typeface="BIZ UDPゴシック"/>
                <a:cs typeface="BIZ UDPゴシック"/>
              </a:defRPr>
            </a:pPr>
            <a:r>
              <a:rPr sz="1125" b="1" i="0" u="none">
                <a:solidFill>
                  <a:srgbClr val="2474B5"/>
                </a:solidFill>
                <a:latin typeface="BIZ UDPゴシック"/>
                <a:ea typeface="BIZ UDPゴシック"/>
                <a:cs typeface="BIZ UDPゴシック"/>
              </a:rPr>
              <a:t>単位：万円／2025年9月と2026年9月を比較</a:t>
            </a:r>
          </a:p>
        </p:txBody>
      </p:sp>
      <p:graphicFrame>
        <p:nvGraphicFramePr>
          <p:cNvPr id="48" name="page-03-object-011"/>
          <p:cNvGraphicFramePr/>
          <p:nvPr/>
        </p:nvGraphicFramePr>
        <p:xfrm>
          <a:off xmlns:a="http://schemas.openxmlformats.org/drawingml/2006/main" x="381000" y="1381125"/>
          <a:ext xmlns:a="http://schemas.openxmlformats.org/drawingml/2006/main" cx="7239000" cy="3905250"/>
        </p:xfrm>
        <a:graphic xmlns:a="http://schemas.openxmlformats.org/drawingml/2006/main">
          <a:graphicData uri="http://schemas.openxmlformats.org/drawingml/2006/chart">
            <c:chart xmlns:r="http://schemas.openxmlformats.org/officeDocument/2006/relationships" xmlns:c="http://schemas.openxmlformats.org/drawingml/2006/chart" r:id="Rd542aa6f939d4beb"/>
          </a:graphicData>
        </a:graphic>
      </p:graphicFrame>
      <p:sp>
        <p:nvSpPr>
          <p:cNvPr id="13" name="page-03-object-012">
            <a:extLst xmlns:a="http://schemas.openxmlformats.org/drawingml/2006/main">
              <a:ext uri="{FF2B5EF4-FFF2-40B4-BE49-F238E27FC236}">
                <a16:creationId xmlns:a16="http://schemas.microsoft.com/office/drawing/2014/main" id="{F341289F-6556-4A4D-B119-F1EE1267B1C5}"/>
              </a:ext>
            </a:extLst>
          </p:cNvPr>
          <p:cNvSpPr>
            <a:spLocks xmlns:a="http://schemas.openxmlformats.org/drawingml/2006/main" noGrp="1"/>
          </p:cNvSpPr>
          <p:nvPr/>
        </p:nvSpPr>
        <p:spPr>
          <a:xfrm xmlns:a="http://schemas.openxmlformats.org/drawingml/2006/main">
            <a:off x="5314950" y="1666875"/>
            <a:ext cx="1952625" cy="514350"/>
          </a:xfrm>
          <a:prstGeom xmlns:a="http://schemas.openxmlformats.org/drawingml/2006/main" prst="rect">
            <a:avLst/>
          </a:prstGeom>
          <a:solidFill xmlns:a="http://schemas.openxmlformats.org/drawingml/2006/main">
            <a:srgbClr val="FFFFFF"/>
          </a:solidFill>
          <a:ln xmlns:a="http://schemas.openxmlformats.org/drawingml/2006/main" w="19050">
            <a:solidFill>
              <a:srgbClr val="C00000"/>
            </a:solidFill>
            <a:prstDash val="solid"/>
          </a:ln>
        </p:spPr>
        <p:txBody xmlns:a="http://schemas.openxmlformats.org/drawingml/2006/main">
          <a:bodyPr/>
          <a:p/>
        </p:txBody>
      </p:sp>
      <p:sp>
        <p:nvSpPr>
          <p:cNvPr id="14" name="page-03-object-013">
            <a:extLst xmlns:a="http://schemas.openxmlformats.org/drawingml/2006/main">
              <a:ext uri="{FF2B5EF4-FFF2-40B4-BE49-F238E27FC236}">
                <a16:creationId xmlns:a16="http://schemas.microsoft.com/office/drawing/2014/main" id="{867A1F5C-A367-4C2F-B909-D138DD5E675E}"/>
              </a:ext>
            </a:extLst>
          </p:cNvPr>
          <p:cNvSpPr>
            <a:spLocks xmlns:a="http://schemas.openxmlformats.org/drawingml/2006/main" noGrp="1"/>
          </p:cNvSpPr>
          <p:nvPr/>
        </p:nvSpPr>
        <p:spPr>
          <a:xfrm xmlns:a="http://schemas.openxmlformats.org/drawingml/2006/main">
            <a:off x="5429250" y="1752600"/>
            <a:ext cx="17240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975" b="1" i="0">
                <a:solidFill>
                  <a:srgbClr val="C00000"/>
                </a:solidFill>
                <a:latin typeface="BIZ UDPゴシック"/>
                <a:ea typeface="BIZ UDPゴシック"/>
                <a:cs typeface="BIZ UDPゴシック"/>
              </a:defRPr>
            </a:pPr>
            <a:r>
              <a:rPr sz="975" b="1" i="0" u="none">
                <a:solidFill>
                  <a:srgbClr val="C00000"/>
                </a:solidFill>
                <a:latin typeface="BIZ UDPゴシック"/>
                <a:ea typeface="BIZ UDPゴシック"/>
                <a:cs typeface="BIZ UDPゴシック"/>
              </a:rPr>
              <a:t>自然検索 +90万円</a:t>
            </a:r>
          </a:p>
          <a:p xmlns:a="http://schemas.openxmlformats.org/drawingml/2006/main">
            <a:pPr algn="ctr">
              <a:defRPr sz="975" b="1" i="0">
                <a:solidFill>
                  <a:srgbClr val="C00000"/>
                </a:solidFill>
                <a:latin typeface="BIZ UDPゴシック"/>
                <a:ea typeface="BIZ UDPゴシック"/>
                <a:cs typeface="BIZ UDPゴシック"/>
              </a:defRPr>
            </a:pPr>
            <a:r>
              <a:rPr sz="975" b="1" i="0" u="none">
                <a:solidFill>
                  <a:srgbClr val="C00000"/>
                </a:solidFill>
                <a:latin typeface="BIZ UDPゴシック"/>
                <a:ea typeface="BIZ UDPゴシック"/>
                <a:cs typeface="BIZ UDPゴシック"/>
              </a:rPr>
              <a:t>増収全体の45%</a:t>
            </a:r>
          </a:p>
        </p:txBody>
      </p:sp>
      <p:sp>
        <p:nvSpPr>
          <p:cNvPr id="15" name="page-03-object-014">
            <a:extLst xmlns:a="http://schemas.openxmlformats.org/drawingml/2006/main">
              <a:ext uri="{FF2B5EF4-FFF2-40B4-BE49-F238E27FC236}">
                <a16:creationId xmlns:a16="http://schemas.microsoft.com/office/drawing/2014/main" id="{FE21A685-9A70-43A1-A200-74D00AC6CF64}"/>
              </a:ext>
            </a:extLst>
          </p:cNvPr>
          <p:cNvSpPr>
            <a:spLocks xmlns:a="http://schemas.openxmlformats.org/drawingml/2006/main" noGrp="1"/>
          </p:cNvSpPr>
          <p:nvPr/>
        </p:nvSpPr>
        <p:spPr>
          <a:xfrm xmlns:a="http://schemas.openxmlformats.org/drawingml/2006/main">
            <a:off x="7905750" y="1381125"/>
            <a:ext cx="3905250" cy="333375"/>
          </a:xfrm>
          <a:prstGeom xmlns:a="http://schemas.openxmlformats.org/drawingml/2006/main" prst="rect">
            <a:avLst/>
          </a:prstGeom>
          <a:solidFill xmlns:a="http://schemas.openxmlformats.org/drawingml/2006/main">
            <a:srgbClr val="0B5AA6"/>
          </a:solidFill>
          <a:ln xmlns:a="http://schemas.openxmlformats.org/drawingml/2006/main" w="0">
            <a:solidFill>
              <a:srgbClr val="0B5AA6"/>
            </a:solidFill>
            <a:prstDash val="solid"/>
          </a:ln>
        </p:spPr>
        <p:txBody xmlns:a="http://schemas.openxmlformats.org/drawingml/2006/main">
          <a:bodyPr/>
          <a:p/>
        </p:txBody>
      </p:sp>
      <p:sp>
        <p:nvSpPr>
          <p:cNvPr id="16" name="page-03-object-015">
            <a:extLst xmlns:a="http://schemas.openxmlformats.org/drawingml/2006/main">
              <a:ext uri="{FF2B5EF4-FFF2-40B4-BE49-F238E27FC236}">
                <a16:creationId xmlns:a16="http://schemas.microsoft.com/office/drawing/2014/main" id="{5ED35523-4007-4A35-B924-C8A95B915F1F}"/>
              </a:ext>
            </a:extLst>
          </p:cNvPr>
          <p:cNvSpPr>
            <a:spLocks xmlns:a="http://schemas.openxmlformats.org/drawingml/2006/main" noGrp="1"/>
          </p:cNvSpPr>
          <p:nvPr/>
        </p:nvSpPr>
        <p:spPr>
          <a:xfrm xmlns:a="http://schemas.openxmlformats.org/drawingml/2006/main">
            <a:off x="7905750" y="13811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ctr">
              <a:defRPr sz="1275" b="1" i="0">
                <a:solidFill>
                  <a:srgbClr val="FFFFFF"/>
                </a:solidFill>
                <a:latin typeface="BIZ UDPゴシック"/>
                <a:ea typeface="BIZ UDPゴシック"/>
                <a:cs typeface="BIZ UDPゴシック"/>
              </a:defRPr>
            </a:pPr>
            <a:r>
              <a:rPr sz="1275" b="1" i="0" u="none">
                <a:solidFill>
                  <a:srgbClr val="FFFFFF"/>
                </a:solidFill>
                <a:latin typeface="BIZ UDPゴシック"/>
                <a:ea typeface="BIZ UDPゴシック"/>
                <a:cs typeface="BIZ UDPゴシック"/>
              </a:rPr>
              <a:t>読み取れること</a:t>
            </a:r>
          </a:p>
        </p:txBody>
      </p:sp>
      <p:sp>
        <p:nvSpPr>
          <p:cNvPr id="17" name="page-03-object-016">
            <a:extLst xmlns:a="http://schemas.openxmlformats.org/drawingml/2006/main">
              <a:ext uri="{FF2B5EF4-FFF2-40B4-BE49-F238E27FC236}">
                <a16:creationId xmlns:a16="http://schemas.microsoft.com/office/drawing/2014/main" id="{65A54B50-A6F8-439B-877E-98453DA9F566}"/>
              </a:ext>
            </a:extLst>
          </p:cNvPr>
          <p:cNvSpPr>
            <a:spLocks xmlns:a="http://schemas.openxmlformats.org/drawingml/2006/main" noGrp="1"/>
          </p:cNvSpPr>
          <p:nvPr/>
        </p:nvSpPr>
        <p:spPr>
          <a:xfrm xmlns:a="http://schemas.openxmlformats.org/drawingml/2006/main">
            <a:off x="7905750" y="2533650"/>
            <a:ext cx="3905250" cy="9525"/>
          </a:xfrm>
          <a:prstGeom xmlns:a="http://schemas.openxmlformats.org/drawingml/2006/main" prst="rect">
            <a:avLst/>
          </a:prstGeom>
          <a:solidFill xmlns:a="http://schemas.openxmlformats.org/drawingml/2006/main">
            <a:srgbClr val="A6A6A6"/>
          </a:solidFill>
          <a:ln xmlns:a="http://schemas.openxmlformats.org/drawingml/2006/main" w="0">
            <a:solidFill>
              <a:srgbClr val="A6A6A6"/>
            </a:solidFill>
            <a:prstDash val="solid"/>
          </a:ln>
        </p:spPr>
        <p:txBody xmlns:a="http://schemas.openxmlformats.org/drawingml/2006/main">
          <a:bodyPr/>
          <a:p/>
        </p:txBody>
      </p:sp>
      <p:sp>
        <p:nvSpPr>
          <p:cNvPr id="18" name="page-03-object-017">
            <a:extLst xmlns:a="http://schemas.openxmlformats.org/drawingml/2006/main">
              <a:ext uri="{FF2B5EF4-FFF2-40B4-BE49-F238E27FC236}">
                <a16:creationId xmlns:a16="http://schemas.microsoft.com/office/drawing/2014/main" id="{441CFDF4-0EDA-40E4-808A-9A0298305730}"/>
              </a:ext>
            </a:extLst>
          </p:cNvPr>
          <p:cNvSpPr>
            <a:spLocks xmlns:a="http://schemas.openxmlformats.org/drawingml/2006/main" noGrp="1"/>
          </p:cNvSpPr>
          <p:nvPr/>
        </p:nvSpPr>
        <p:spPr>
          <a:xfrm xmlns:a="http://schemas.openxmlformats.org/drawingml/2006/main">
            <a:off x="7981950" y="1819275"/>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200" b="1" i="0">
                <a:solidFill>
                  <a:srgbClr val="0B5AA6"/>
                </a:solidFill>
                <a:latin typeface="BIZ UDPゴシック"/>
                <a:ea typeface="BIZ UDPゴシック"/>
                <a:cs typeface="BIZ UDPゴシック"/>
              </a:defRPr>
            </a:pPr>
            <a:r>
              <a:rPr sz="1200" b="1" i="0" u="none">
                <a:solidFill>
                  <a:srgbClr val="0B5AA6"/>
                </a:solidFill>
                <a:latin typeface="BIZ UDPゴシック"/>
                <a:ea typeface="BIZ UDPゴシック"/>
                <a:cs typeface="BIZ UDPゴシック"/>
              </a:rPr>
              <a:t>① 変化</a:t>
            </a:r>
          </a:p>
        </p:txBody>
      </p:sp>
      <p:sp>
        <p:nvSpPr>
          <p:cNvPr id="19" name="page-03-object-018">
            <a:extLst xmlns:a="http://schemas.openxmlformats.org/drawingml/2006/main">
              <a:ext uri="{FF2B5EF4-FFF2-40B4-BE49-F238E27FC236}">
                <a16:creationId xmlns:a16="http://schemas.microsoft.com/office/drawing/2014/main" id="{9EF63DE5-6FFF-4A32-A1AB-A4CE50247D33}"/>
              </a:ext>
            </a:extLst>
          </p:cNvPr>
          <p:cNvSpPr>
            <a:spLocks xmlns:a="http://schemas.openxmlformats.org/drawingml/2006/main" noGrp="1"/>
          </p:cNvSpPr>
          <p:nvPr/>
        </p:nvSpPr>
        <p:spPr>
          <a:xfrm xmlns:a="http://schemas.openxmlformats.org/drawingml/2006/main">
            <a:off x="8782050" y="1819275"/>
            <a:ext cx="2914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050" b="0" i="0">
                <a:solidFill>
                  <a:srgbClr val="111111"/>
                </a:solidFill>
                <a:latin typeface="BIZ UDPゴシック"/>
                <a:ea typeface="BIZ UDPゴシック"/>
                <a:cs typeface="BIZ UDPゴシック"/>
              </a:defRPr>
            </a:pPr>
            <a:r>
              <a:rPr sz="1050" b="0" i="0" u="none">
                <a:solidFill>
                  <a:srgbClr val="111111"/>
                </a:solidFill>
                <a:latin typeface="BIZ UDPゴシック"/>
                <a:ea typeface="BIZ UDPゴシック"/>
                <a:cs typeface="BIZ UDPゴシック"/>
              </a:rPr>
              <a:t>全体：1,000 → 1,200万円</a:t>
            </a:r>
          </a:p>
        </p:txBody>
      </p:sp>
      <p:sp>
        <p:nvSpPr>
          <p:cNvPr id="20" name="page-03-object-019">
            <a:extLst xmlns:a="http://schemas.openxmlformats.org/drawingml/2006/main">
              <a:ext uri="{FF2B5EF4-FFF2-40B4-BE49-F238E27FC236}">
                <a16:creationId xmlns:a16="http://schemas.microsoft.com/office/drawing/2014/main" id="{99CCF277-272B-4B39-8118-553ABDCCFDDA}"/>
              </a:ext>
            </a:extLst>
          </p:cNvPr>
          <p:cNvSpPr>
            <a:spLocks xmlns:a="http://schemas.openxmlformats.org/drawingml/2006/main" noGrp="1"/>
          </p:cNvSpPr>
          <p:nvPr/>
        </p:nvSpPr>
        <p:spPr>
          <a:xfrm xmlns:a="http://schemas.openxmlformats.org/drawingml/2006/main">
            <a:off x="7905750" y="3314700"/>
            <a:ext cx="3905250" cy="9525"/>
          </a:xfrm>
          <a:prstGeom xmlns:a="http://schemas.openxmlformats.org/drawingml/2006/main" prst="rect">
            <a:avLst/>
          </a:prstGeom>
          <a:solidFill xmlns:a="http://schemas.openxmlformats.org/drawingml/2006/main">
            <a:srgbClr val="A6A6A6"/>
          </a:solidFill>
          <a:ln xmlns:a="http://schemas.openxmlformats.org/drawingml/2006/main" w="0">
            <a:solidFill>
              <a:srgbClr val="A6A6A6"/>
            </a:solidFill>
            <a:prstDash val="solid"/>
          </a:ln>
        </p:spPr>
        <p:txBody xmlns:a="http://schemas.openxmlformats.org/drawingml/2006/main">
          <a:bodyPr/>
          <a:p/>
        </p:txBody>
      </p:sp>
      <p:sp>
        <p:nvSpPr>
          <p:cNvPr id="21" name="page-03-object-020">
            <a:extLst xmlns:a="http://schemas.openxmlformats.org/drawingml/2006/main">
              <a:ext uri="{FF2B5EF4-FFF2-40B4-BE49-F238E27FC236}">
                <a16:creationId xmlns:a16="http://schemas.microsoft.com/office/drawing/2014/main" id="{EAE357A3-1ADD-47EF-8AE2-EA4E3BED7F68}"/>
              </a:ext>
            </a:extLst>
          </p:cNvPr>
          <p:cNvSpPr>
            <a:spLocks xmlns:a="http://schemas.openxmlformats.org/drawingml/2006/main" noGrp="1"/>
          </p:cNvSpPr>
          <p:nvPr/>
        </p:nvSpPr>
        <p:spPr>
          <a:xfrm xmlns:a="http://schemas.openxmlformats.org/drawingml/2006/main">
            <a:off x="7981950" y="2600325"/>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200" b="1" i="0">
                <a:solidFill>
                  <a:srgbClr val="0B5AA6"/>
                </a:solidFill>
                <a:latin typeface="BIZ UDPゴシック"/>
                <a:ea typeface="BIZ UDPゴシック"/>
                <a:cs typeface="BIZ UDPゴシック"/>
              </a:defRPr>
            </a:pPr>
            <a:r>
              <a:rPr sz="1200" b="1" i="0" u="none">
                <a:solidFill>
                  <a:srgbClr val="0B5AA6"/>
                </a:solidFill>
                <a:latin typeface="BIZ UDPゴシック"/>
                <a:ea typeface="BIZ UDPゴシック"/>
                <a:cs typeface="BIZ UDPゴシック"/>
              </a:rPr>
              <a:t>② 内訳</a:t>
            </a:r>
          </a:p>
        </p:txBody>
      </p:sp>
      <p:sp>
        <p:nvSpPr>
          <p:cNvPr id="22" name="page-03-object-021">
            <a:extLst xmlns:a="http://schemas.openxmlformats.org/drawingml/2006/main">
              <a:ext uri="{FF2B5EF4-FFF2-40B4-BE49-F238E27FC236}">
                <a16:creationId xmlns:a16="http://schemas.microsoft.com/office/drawing/2014/main" id="{5EE55160-8EB4-48D3-B769-C59A5B749113}"/>
              </a:ext>
            </a:extLst>
          </p:cNvPr>
          <p:cNvSpPr>
            <a:spLocks xmlns:a="http://schemas.openxmlformats.org/drawingml/2006/main" noGrp="1"/>
          </p:cNvSpPr>
          <p:nvPr/>
        </p:nvSpPr>
        <p:spPr>
          <a:xfrm xmlns:a="http://schemas.openxmlformats.org/drawingml/2006/main">
            <a:off x="8782050" y="2600325"/>
            <a:ext cx="2914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050" b="0" i="0">
                <a:solidFill>
                  <a:srgbClr val="111111"/>
                </a:solidFill>
                <a:latin typeface="BIZ UDPゴシック"/>
                <a:ea typeface="BIZ UDPゴシック"/>
                <a:cs typeface="BIZ UDPゴシック"/>
              </a:defRPr>
            </a:pPr>
            <a:r>
              <a:rPr sz="1050" b="0" i="0" u="none">
                <a:solidFill>
                  <a:srgbClr val="111111"/>
                </a:solidFill>
                <a:latin typeface="BIZ UDPゴシック"/>
                <a:ea typeface="BIZ UDPゴシック"/>
                <a:cs typeface="BIZ UDPゴシック"/>
              </a:rPr>
              <a:t>自然検索90、メール50万円増</a:t>
            </a:r>
          </a:p>
        </p:txBody>
      </p:sp>
      <p:sp>
        <p:nvSpPr>
          <p:cNvPr id="23" name="page-03-object-022">
            <a:extLst xmlns:a="http://schemas.openxmlformats.org/drawingml/2006/main">
              <a:ext uri="{FF2B5EF4-FFF2-40B4-BE49-F238E27FC236}">
                <a16:creationId xmlns:a16="http://schemas.microsoft.com/office/drawing/2014/main" id="{C4D7C792-76D9-4D67-903F-F2847D625A68}"/>
              </a:ext>
            </a:extLst>
          </p:cNvPr>
          <p:cNvSpPr>
            <a:spLocks xmlns:a="http://schemas.openxmlformats.org/drawingml/2006/main" noGrp="1"/>
          </p:cNvSpPr>
          <p:nvPr/>
        </p:nvSpPr>
        <p:spPr>
          <a:xfrm xmlns:a="http://schemas.openxmlformats.org/drawingml/2006/main">
            <a:off x="7905750" y="4095750"/>
            <a:ext cx="3905250" cy="9525"/>
          </a:xfrm>
          <a:prstGeom xmlns:a="http://schemas.openxmlformats.org/drawingml/2006/main" prst="rect">
            <a:avLst/>
          </a:prstGeom>
          <a:solidFill xmlns:a="http://schemas.openxmlformats.org/drawingml/2006/main">
            <a:srgbClr val="A6A6A6"/>
          </a:solidFill>
          <a:ln xmlns:a="http://schemas.openxmlformats.org/drawingml/2006/main" w="0">
            <a:solidFill>
              <a:srgbClr val="A6A6A6"/>
            </a:solidFill>
            <a:prstDash val="solid"/>
          </a:ln>
        </p:spPr>
        <p:txBody xmlns:a="http://schemas.openxmlformats.org/drawingml/2006/main">
          <a:bodyPr/>
          <a:p/>
        </p:txBody>
      </p:sp>
      <p:sp>
        <p:nvSpPr>
          <p:cNvPr id="24" name="page-03-object-023">
            <a:extLst xmlns:a="http://schemas.openxmlformats.org/drawingml/2006/main">
              <a:ext uri="{FF2B5EF4-FFF2-40B4-BE49-F238E27FC236}">
                <a16:creationId xmlns:a16="http://schemas.microsoft.com/office/drawing/2014/main" id="{2391188B-1351-46CB-B0DC-C4CC2A265BCD}"/>
              </a:ext>
            </a:extLst>
          </p:cNvPr>
          <p:cNvSpPr>
            <a:spLocks xmlns:a="http://schemas.openxmlformats.org/drawingml/2006/main" noGrp="1"/>
          </p:cNvSpPr>
          <p:nvPr/>
        </p:nvSpPr>
        <p:spPr>
          <a:xfrm xmlns:a="http://schemas.openxmlformats.org/drawingml/2006/main">
            <a:off x="7981950" y="3381375"/>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200" b="1" i="0">
                <a:solidFill>
                  <a:srgbClr val="0B5AA6"/>
                </a:solidFill>
                <a:latin typeface="BIZ UDPゴシック"/>
                <a:ea typeface="BIZ UDPゴシック"/>
                <a:cs typeface="BIZ UDPゴシック"/>
              </a:defRPr>
            </a:pPr>
            <a:r>
              <a:rPr sz="1200" b="1" i="0" u="none">
                <a:solidFill>
                  <a:srgbClr val="0B5AA6"/>
                </a:solidFill>
                <a:latin typeface="BIZ UDPゴシック"/>
                <a:ea typeface="BIZ UDPゴシック"/>
                <a:cs typeface="BIZ UDPゴシック"/>
              </a:rPr>
              <a:t>③ 留意点</a:t>
            </a:r>
          </a:p>
        </p:txBody>
      </p:sp>
      <p:sp>
        <p:nvSpPr>
          <p:cNvPr id="25" name="page-03-object-024">
            <a:extLst xmlns:a="http://schemas.openxmlformats.org/drawingml/2006/main">
              <a:ext uri="{FF2B5EF4-FFF2-40B4-BE49-F238E27FC236}">
                <a16:creationId xmlns:a16="http://schemas.microsoft.com/office/drawing/2014/main" id="{1B2C9900-52C3-405C-A45E-670DF6E6DAFB}"/>
              </a:ext>
            </a:extLst>
          </p:cNvPr>
          <p:cNvSpPr>
            <a:spLocks xmlns:a="http://schemas.openxmlformats.org/drawingml/2006/main" noGrp="1"/>
          </p:cNvSpPr>
          <p:nvPr/>
        </p:nvSpPr>
        <p:spPr>
          <a:xfrm xmlns:a="http://schemas.openxmlformats.org/drawingml/2006/main">
            <a:off x="8782050" y="3381375"/>
            <a:ext cx="2914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050" b="0" i="0">
                <a:solidFill>
                  <a:srgbClr val="111111"/>
                </a:solidFill>
                <a:latin typeface="BIZ UDPゴシック"/>
                <a:ea typeface="BIZ UDPゴシック"/>
                <a:cs typeface="BIZ UDPゴシック"/>
              </a:defRPr>
            </a:pPr>
            <a:r>
              <a:rPr sz="1050" b="0" i="0" u="none">
                <a:solidFill>
                  <a:srgbClr val="111111"/>
                </a:solidFill>
                <a:latin typeface="BIZ UDPゴシック"/>
                <a:ea typeface="BIZ UDPゴシック"/>
                <a:cs typeface="BIZ UDPゴシック"/>
              </a:rPr>
              <a:t>売上だけでは利益改善を判断しない</a:t>
            </a:r>
          </a:p>
        </p:txBody>
      </p:sp>
      <p:sp>
        <p:nvSpPr>
          <p:cNvPr id="26" name="page-03-object-025">
            <a:extLst xmlns:a="http://schemas.openxmlformats.org/drawingml/2006/main">
              <a:ext uri="{FF2B5EF4-FFF2-40B4-BE49-F238E27FC236}">
                <a16:creationId xmlns:a16="http://schemas.microsoft.com/office/drawing/2014/main" id="{66F673AA-4F99-4E6A-8CE1-394D707AD602}"/>
              </a:ext>
            </a:extLst>
          </p:cNvPr>
          <p:cNvSpPr>
            <a:spLocks xmlns:a="http://schemas.openxmlformats.org/drawingml/2006/main" noGrp="1"/>
          </p:cNvSpPr>
          <p:nvPr/>
        </p:nvSpPr>
        <p:spPr>
          <a:xfrm xmlns:a="http://schemas.openxmlformats.org/drawingml/2006/main">
            <a:off x="7905750" y="4876800"/>
            <a:ext cx="3905250" cy="9525"/>
          </a:xfrm>
          <a:prstGeom xmlns:a="http://schemas.openxmlformats.org/drawingml/2006/main" prst="rect">
            <a:avLst/>
          </a:prstGeom>
          <a:solidFill xmlns:a="http://schemas.openxmlformats.org/drawingml/2006/main">
            <a:srgbClr val="A6A6A6"/>
          </a:solidFill>
          <a:ln xmlns:a="http://schemas.openxmlformats.org/drawingml/2006/main" w="0">
            <a:solidFill>
              <a:srgbClr val="A6A6A6"/>
            </a:solidFill>
            <a:prstDash val="solid"/>
          </a:ln>
        </p:spPr>
        <p:txBody xmlns:a="http://schemas.openxmlformats.org/drawingml/2006/main">
          <a:bodyPr/>
          <a:p/>
        </p:txBody>
      </p:sp>
      <p:sp>
        <p:nvSpPr>
          <p:cNvPr id="27" name="page-03-object-026">
            <a:extLst xmlns:a="http://schemas.openxmlformats.org/drawingml/2006/main">
              <a:ext uri="{FF2B5EF4-FFF2-40B4-BE49-F238E27FC236}">
                <a16:creationId xmlns:a16="http://schemas.microsoft.com/office/drawing/2014/main" id="{F0057C51-2DD1-4E6A-B9FB-FD00003100FA}"/>
              </a:ext>
            </a:extLst>
          </p:cNvPr>
          <p:cNvSpPr>
            <a:spLocks xmlns:a="http://schemas.openxmlformats.org/drawingml/2006/main" noGrp="1"/>
          </p:cNvSpPr>
          <p:nvPr/>
        </p:nvSpPr>
        <p:spPr>
          <a:xfrm xmlns:a="http://schemas.openxmlformats.org/drawingml/2006/main">
            <a:off x="7981950" y="4162425"/>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200" b="1" i="0">
                <a:solidFill>
                  <a:srgbClr val="C00000"/>
                </a:solidFill>
                <a:latin typeface="BIZ UDPゴシック"/>
                <a:ea typeface="BIZ UDPゴシック"/>
                <a:cs typeface="BIZ UDPゴシック"/>
              </a:defRPr>
            </a:pPr>
            <a:r>
              <a:rPr sz="1200" b="1" i="0" u="none">
                <a:solidFill>
                  <a:srgbClr val="C00000"/>
                </a:solidFill>
                <a:latin typeface="BIZ UDPゴシック"/>
                <a:ea typeface="BIZ UDPゴシック"/>
                <a:cs typeface="BIZ UDPゴシック"/>
              </a:rPr>
              <a:t>④ 対応</a:t>
            </a:r>
          </a:p>
        </p:txBody>
      </p:sp>
      <p:sp>
        <p:nvSpPr>
          <p:cNvPr id="28" name="page-03-object-027">
            <a:extLst xmlns:a="http://schemas.openxmlformats.org/drawingml/2006/main">
              <a:ext uri="{FF2B5EF4-FFF2-40B4-BE49-F238E27FC236}">
                <a16:creationId xmlns:a16="http://schemas.microsoft.com/office/drawing/2014/main" id="{165AE605-9565-4885-8191-41C7A781FE98}"/>
              </a:ext>
            </a:extLst>
          </p:cNvPr>
          <p:cNvSpPr>
            <a:spLocks xmlns:a="http://schemas.openxmlformats.org/drawingml/2006/main" noGrp="1"/>
          </p:cNvSpPr>
          <p:nvPr/>
        </p:nvSpPr>
        <p:spPr>
          <a:xfrm xmlns:a="http://schemas.openxmlformats.org/drawingml/2006/main">
            <a:off x="8782050" y="4162425"/>
            <a:ext cx="2914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050" b="1" i="0">
                <a:solidFill>
                  <a:srgbClr val="111111"/>
                </a:solidFill>
                <a:latin typeface="BIZ UDPゴシック"/>
                <a:ea typeface="BIZ UDPゴシック"/>
                <a:cs typeface="BIZ UDPゴシック"/>
              </a:defRPr>
            </a:pPr>
            <a:r>
              <a:rPr sz="1050" b="1" i="0" u="none">
                <a:solidFill>
                  <a:srgbClr val="111111"/>
                </a:solidFill>
                <a:latin typeface="BIZ UDPゴシック"/>
                <a:ea typeface="BIZ UDPゴシック"/>
                <a:cs typeface="BIZ UDPゴシック"/>
              </a:rPr>
              <a:t>商品別の粗利差分を確認</a:t>
            </a:r>
          </a:p>
        </p:txBody>
      </p:sp>
      <p:sp>
        <p:nvSpPr>
          <p:cNvPr id="29" name="page-03-object-028">
            <a:extLst xmlns:a="http://schemas.openxmlformats.org/drawingml/2006/main">
              <a:ext uri="{FF2B5EF4-FFF2-40B4-BE49-F238E27FC236}">
                <a16:creationId xmlns:a16="http://schemas.microsoft.com/office/drawing/2014/main" id="{EEAB2599-8593-4B44-A438-86AA6302A67B}"/>
              </a:ext>
            </a:extLst>
          </p:cNvPr>
          <p:cNvSpPr>
            <a:spLocks xmlns:a="http://schemas.openxmlformats.org/drawingml/2006/main" noGrp="1"/>
          </p:cNvSpPr>
          <p:nvPr/>
        </p:nvSpPr>
        <p:spPr>
          <a:xfrm xmlns:a="http://schemas.openxmlformats.org/drawingml/2006/main">
            <a:off x="7905750" y="5086350"/>
            <a:ext cx="3905250" cy="523875"/>
          </a:xfrm>
          <a:prstGeom xmlns:a="http://schemas.openxmlformats.org/drawingml/2006/main" prst="rect">
            <a:avLst/>
          </a:prstGeom>
          <a:solidFill xmlns:a="http://schemas.openxmlformats.org/drawingml/2006/main">
            <a:srgbClr val="FFF2CC"/>
          </a:solidFill>
          <a:ln xmlns:a="http://schemas.openxmlformats.org/drawingml/2006/main" w="11430">
            <a:solidFill>
              <a:srgbClr val="ED7D31"/>
            </a:solidFill>
            <a:prstDash val="solid"/>
          </a:ln>
        </p:spPr>
        <p:txBody xmlns:a="http://schemas.openxmlformats.org/drawingml/2006/main">
          <a:bodyPr/>
          <a:p/>
        </p:txBody>
      </p:sp>
      <p:sp>
        <p:nvSpPr>
          <p:cNvPr id="30" name="page-03-object-029">
            <a:extLst xmlns:a="http://schemas.openxmlformats.org/drawingml/2006/main">
              <a:ext uri="{FF2B5EF4-FFF2-40B4-BE49-F238E27FC236}">
                <a16:creationId xmlns:a16="http://schemas.microsoft.com/office/drawing/2014/main" id="{8E3EE096-4595-4BAE-B7F5-CEAE8293B293}"/>
              </a:ext>
            </a:extLst>
          </p:cNvPr>
          <p:cNvSpPr>
            <a:spLocks xmlns:a="http://schemas.openxmlformats.org/drawingml/2006/main" noGrp="1"/>
          </p:cNvSpPr>
          <p:nvPr/>
        </p:nvSpPr>
        <p:spPr>
          <a:xfrm xmlns:a="http://schemas.openxmlformats.org/drawingml/2006/main">
            <a:off x="8048625" y="52197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125" b="1" i="0">
                <a:solidFill>
                  <a:srgbClr val="C00000"/>
                </a:solidFill>
                <a:latin typeface="BIZ UDPゴシック"/>
                <a:ea typeface="BIZ UDPゴシック"/>
                <a:cs typeface="BIZ UDPゴシック"/>
              </a:defRPr>
            </a:pPr>
            <a:r>
              <a:rPr sz="1125" b="1" i="0" u="none">
                <a:solidFill>
                  <a:srgbClr val="C00000"/>
                </a:solidFill>
                <a:latin typeface="BIZ UDPゴシック"/>
                <a:ea typeface="BIZ UDPゴシック"/>
                <a:cs typeface="BIZ UDPゴシック"/>
              </a:rPr>
              <a:t>判断｜広告増額は分析結果を見てから</a:t>
            </a:r>
          </a:p>
        </p:txBody>
      </p:sp>
      <p:sp>
        <p:nvSpPr>
          <p:cNvPr id="31" name="page-03-object-030">
            <a:extLst xmlns:a="http://schemas.openxmlformats.org/drawingml/2006/main">
              <a:ext uri="{FF2B5EF4-FFF2-40B4-BE49-F238E27FC236}">
                <a16:creationId xmlns:a16="http://schemas.microsoft.com/office/drawing/2014/main" id="{4614D60C-E7DC-4EA6-B4F6-A0EA899DE78D}"/>
              </a:ext>
            </a:extLst>
          </p:cNvPr>
          <p:cNvSpPr>
            <a:spLocks xmlns:a="http://schemas.openxmlformats.org/drawingml/2006/main" noGrp="1"/>
          </p:cNvSpPr>
          <p:nvPr/>
        </p:nvSpPr>
        <p:spPr>
          <a:xfrm xmlns:a="http://schemas.openxmlformats.org/drawingml/2006/main">
            <a:off x="381000" y="54673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750" b="0" i="0">
                <a:solidFill>
                  <a:srgbClr val="666666"/>
                </a:solidFill>
                <a:latin typeface="BIZ UDPゴシック"/>
                <a:ea typeface="BIZ UDPゴシック"/>
                <a:cs typeface="BIZ UDPゴシック"/>
              </a:defRPr>
            </a:pPr>
            <a:r>
              <a:rPr sz="750" b="0" i="0" u="none">
                <a:solidFill>
                  <a:srgbClr val="666666"/>
                </a:solidFill>
                <a:latin typeface="BIZ UDPゴシック"/>
                <a:ea typeface="BIZ UDPゴシック"/>
                <a:cs typeface="BIZ UDPゴシック"/>
              </a:rPr>
              <a:t>注：前年・当月とも架空の集計。チャネル合計は全体売上に一致。</a:t>
            </a:r>
          </a:p>
        </p:txBody>
      </p:sp>
      <p:sp>
        <p:nvSpPr>
          <p:cNvPr id="32" name="page-03-object-031">
            <a:extLst xmlns:a="http://schemas.openxmlformats.org/drawingml/2006/main">
              <a:ext uri="{FF2B5EF4-FFF2-40B4-BE49-F238E27FC236}">
                <a16:creationId xmlns:a16="http://schemas.microsoft.com/office/drawing/2014/main" id="{F2C57958-711F-4ED2-BBE7-6EA84E00E452}"/>
              </a:ext>
            </a:extLst>
          </p:cNvPr>
          <p:cNvSpPr>
            <a:spLocks xmlns:a="http://schemas.openxmlformats.org/drawingml/2006/main" noGrp="1"/>
          </p:cNvSpPr>
          <p:nvPr/>
        </p:nvSpPr>
        <p:spPr>
          <a:xfrm xmlns:a="http://schemas.openxmlformats.org/drawingml/2006/main">
            <a:off x="285750" y="5819775"/>
            <a:ext cx="11601450" cy="381000"/>
          </a:xfrm>
          <a:prstGeom xmlns:a="http://schemas.openxmlformats.org/drawingml/2006/main" prst="rect">
            <a:avLst/>
          </a:prstGeom>
          <a:solidFill xmlns:a="http://schemas.openxmlformats.org/drawingml/2006/main">
            <a:srgbClr val="DDEBF7"/>
          </a:solidFill>
          <a:ln xmlns:a="http://schemas.openxmlformats.org/drawingml/2006/main" w="11430">
            <a:solidFill>
              <a:srgbClr val="2474B5"/>
            </a:solidFill>
            <a:prstDash val="solid"/>
          </a:ln>
        </p:spPr>
        <p:txBody xmlns:a="http://schemas.openxmlformats.org/drawingml/2006/main">
          <a:bodyPr/>
          <a:p/>
        </p:txBody>
      </p:sp>
      <p:sp>
        <p:nvSpPr>
          <p:cNvPr id="33" name="page-03-object-032">
            <a:extLst xmlns:a="http://schemas.openxmlformats.org/drawingml/2006/main">
              <a:ext uri="{FF2B5EF4-FFF2-40B4-BE49-F238E27FC236}">
                <a16:creationId xmlns:a16="http://schemas.microsoft.com/office/drawing/2014/main" id="{C040E815-521E-4A59-8693-93CDBA654209}"/>
              </a:ext>
            </a:extLst>
          </p:cNvPr>
          <p:cNvSpPr>
            <a:spLocks xmlns:a="http://schemas.openxmlformats.org/drawingml/2006/main" noGrp="1"/>
          </p:cNvSpPr>
          <p:nvPr/>
        </p:nvSpPr>
        <p:spPr>
          <a:xfrm xmlns:a="http://schemas.openxmlformats.org/drawingml/2006/main">
            <a:off x="285750" y="5819775"/>
            <a:ext cx="1047750" cy="381000"/>
          </a:xfrm>
          <a:prstGeom xmlns:a="http://schemas.openxmlformats.org/drawingml/2006/main" prst="rect">
            <a:avLst/>
          </a:prstGeom>
          <a:solidFill xmlns:a="http://schemas.openxmlformats.org/drawingml/2006/main">
            <a:srgbClr val="0B5AA6"/>
          </a:solidFill>
          <a:ln xmlns:a="http://schemas.openxmlformats.org/drawingml/2006/main" w="0">
            <a:solidFill>
              <a:srgbClr val="0B5AA6"/>
            </a:solidFill>
            <a:prstDash val="solid"/>
          </a:ln>
        </p:spPr>
        <p:txBody xmlns:a="http://schemas.openxmlformats.org/drawingml/2006/main">
          <a:bodyPr/>
          <a:p/>
        </p:txBody>
      </p:sp>
      <p:sp>
        <p:nvSpPr>
          <p:cNvPr id="34" name="page-03-object-033">
            <a:extLst xmlns:a="http://schemas.openxmlformats.org/drawingml/2006/main">
              <a:ext uri="{FF2B5EF4-FFF2-40B4-BE49-F238E27FC236}">
                <a16:creationId xmlns:a16="http://schemas.microsoft.com/office/drawing/2014/main" id="{DFE07283-0A3F-40A8-AC2F-3F9AFF5BC7CD}"/>
              </a:ext>
            </a:extLst>
          </p:cNvPr>
          <p:cNvSpPr>
            <a:spLocks xmlns:a="http://schemas.openxmlformats.org/drawingml/2006/main" noGrp="1"/>
          </p:cNvSpPr>
          <p:nvPr/>
        </p:nvSpPr>
        <p:spPr>
          <a:xfrm xmlns:a="http://schemas.openxmlformats.org/drawingml/2006/main">
            <a:off x="285750" y="5867400"/>
            <a:ext cx="1047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i="0">
                <a:solidFill>
                  <a:srgbClr val="FFFFFF"/>
                </a:solidFill>
                <a:latin typeface="BIZ UDPゴシック"/>
                <a:ea typeface="BIZ UDPゴシック"/>
                <a:cs typeface="BIZ UDPゴシック"/>
              </a:defRPr>
            </a:pPr>
            <a:r>
              <a:rPr sz="1200" b="1" i="0" u="none">
                <a:solidFill>
                  <a:srgbClr val="FFFFFF"/>
                </a:solidFill>
                <a:latin typeface="BIZ UDPゴシック"/>
                <a:ea typeface="BIZ UDPゴシック"/>
                <a:cs typeface="BIZ UDPゴシック"/>
              </a:rPr>
              <a:t>含意</a:t>
            </a:r>
          </a:p>
        </p:txBody>
      </p:sp>
      <p:sp>
        <p:nvSpPr>
          <p:cNvPr id="35" name="page-03-object-034">
            <a:extLst xmlns:a="http://schemas.openxmlformats.org/drawingml/2006/main">
              <a:ext uri="{FF2B5EF4-FFF2-40B4-BE49-F238E27FC236}">
                <a16:creationId xmlns:a16="http://schemas.microsoft.com/office/drawing/2014/main" id="{4A8822BB-C35E-4F2E-B26D-CAE724CCC4EE}"/>
              </a:ext>
            </a:extLst>
          </p:cNvPr>
          <p:cNvSpPr>
            <a:spLocks xmlns:a="http://schemas.openxmlformats.org/drawingml/2006/main" noGrp="1"/>
          </p:cNvSpPr>
          <p:nvPr/>
        </p:nvSpPr>
        <p:spPr>
          <a:xfrm xmlns:a="http://schemas.openxmlformats.org/drawingml/2006/main">
            <a:off x="1447800" y="5876925"/>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i="0">
                <a:solidFill>
                  <a:srgbClr val="111111"/>
                </a:solidFill>
                <a:latin typeface="BIZ UDPゴシック"/>
                <a:ea typeface="BIZ UDPゴシック"/>
                <a:cs typeface="BIZ UDPゴシック"/>
              </a:defRPr>
            </a:pPr>
            <a:r>
              <a:rPr sz="1275" b="1" i="0" u="none">
                <a:solidFill>
                  <a:srgbClr val="111111"/>
                </a:solidFill>
                <a:latin typeface="BIZ UDPゴシック"/>
                <a:ea typeface="BIZ UDPゴシック"/>
                <a:cs typeface="BIZ UDPゴシック"/>
              </a:rPr>
              <a:t>自然検索とメールが増収の70%を占めるが、粗利と返品の確認を先行する</a:t>
            </a:r>
          </a:p>
        </p:txBody>
      </p:sp>
      <p:sp>
        <p:nvSpPr>
          <p:cNvPr id="36" name="page-03-object-035">
            <a:extLst xmlns:a="http://schemas.openxmlformats.org/drawingml/2006/main">
              <a:ext uri="{FF2B5EF4-FFF2-40B4-BE49-F238E27FC236}">
                <a16:creationId xmlns:a16="http://schemas.microsoft.com/office/drawing/2014/main" id="{60F139E9-85E4-4F4B-A2EF-6D57E8768AD4}"/>
              </a:ext>
            </a:extLst>
          </p:cNvPr>
          <p:cNvSpPr>
            <a:spLocks xmlns:a="http://schemas.openxmlformats.org/drawingml/2006/main" noGrp="1"/>
          </p:cNvSpPr>
          <p:nvPr/>
        </p:nvSpPr>
        <p:spPr>
          <a:xfrm xmlns:a="http://schemas.openxmlformats.org/drawingml/2006/main">
            <a:off x="304800" y="6305550"/>
            <a:ext cx="1100137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75" b="0" i="0">
                <a:solidFill>
                  <a:srgbClr val="666666"/>
                </a:solidFill>
                <a:latin typeface="BIZ UDPゴシック"/>
                <a:ea typeface="BIZ UDPゴシック"/>
                <a:cs typeface="BIZ UDPゴシック"/>
              </a:defRPr>
            </a:pPr>
            <a:r>
              <a:rPr sz="675" b="0" i="0" u="none">
                <a:solidFill>
                  <a:srgbClr val="666666"/>
                </a:solidFill>
                <a:latin typeface="BIZ UDPゴシック"/>
                <a:ea typeface="BIZ UDPゴシック"/>
                <a:cs typeface="BIZ UDPゴシック"/>
              </a:rPr>
              <a:t>出所：架空データ「くらし便 2026年9月・前年同月比較」</a:t>
            </a:r>
          </a:p>
        </p:txBody>
      </p:sp>
    </p:spTree>
    <p:extLst>
      <p:ext uri="{BB962C8B-B14F-4D97-AF65-F5344CB8AC3E}">
        <p14:creationId xmlns:p14="http://schemas.microsoft.com/office/powerpoint/2010/main" val="164192296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page-06-object-000">
            <a:extLst xmlns:a="http://schemas.openxmlformats.org/drawingml/2006/main">
              <a:ext uri="{FF2B5EF4-FFF2-40B4-BE49-F238E27FC236}">
                <a16:creationId xmlns:a16="http://schemas.microsoft.com/office/drawing/2014/main" id="{E36B1B5F-59AD-4947-9C6D-95871E6BF38D}"/>
              </a:ext>
            </a:extLst>
          </p:cNvPr>
          <p:cNvSpPr>
            <a:spLocks xmlns:a="http://schemas.openxmlformats.org/drawingml/2006/main" noGrp="1"/>
          </p:cNvSpPr>
          <p:nvPr/>
        </p:nvSpPr>
        <p:spPr>
          <a:xfrm xmlns:a="http://schemas.openxmlformats.org/drawingml/2006/main">
            <a:off x="0" y="0"/>
            <a:ext cx="12192000" cy="495300"/>
          </a:xfrm>
          <a:prstGeom xmlns:a="http://schemas.openxmlformats.org/drawingml/2006/main" prst="rect">
            <a:avLst/>
          </a:prstGeom>
          <a:solidFill xmlns:a="http://schemas.openxmlformats.org/drawingml/2006/main">
            <a:srgbClr val="0B5AA6"/>
          </a:solidFill>
          <a:ln xmlns:a="http://schemas.openxmlformats.org/drawingml/2006/main" w="0">
            <a:solidFill>
              <a:srgbClr val="0B5AA6"/>
            </a:solidFill>
            <a:prstDash val="solid"/>
          </a:ln>
        </p:spPr>
        <p:txBody xmlns:a="http://schemas.openxmlformats.org/drawingml/2006/main">
          <a:bodyPr/>
          <a:p/>
        </p:txBody>
      </p:sp>
      <p:sp>
        <p:nvSpPr>
          <p:cNvPr id="2" name="page-06-object-001">
            <a:extLst xmlns:a="http://schemas.openxmlformats.org/drawingml/2006/main">
              <a:ext uri="{FF2B5EF4-FFF2-40B4-BE49-F238E27FC236}">
                <a16:creationId xmlns:a16="http://schemas.microsoft.com/office/drawing/2014/main" id="{2150519A-2611-4175-85FA-05880A819747}"/>
              </a:ext>
            </a:extLst>
          </p:cNvPr>
          <p:cNvSpPr>
            <a:spLocks xmlns:a="http://schemas.openxmlformats.org/drawingml/2006/main" noGrp="1"/>
          </p:cNvSpPr>
          <p:nvPr/>
        </p:nvSpPr>
        <p:spPr>
          <a:xfrm xmlns:a="http://schemas.openxmlformats.org/drawingml/2006/main">
            <a:off x="228600" y="38100"/>
            <a:ext cx="885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i="0">
                <a:solidFill>
                  <a:srgbClr val="FFFFFF"/>
                </a:solidFill>
                <a:latin typeface="BIZ UDPゴシック"/>
                <a:ea typeface="BIZ UDPゴシック"/>
                <a:cs typeface="BIZ UDPゴシック"/>
              </a:defRPr>
            </a:pPr>
            <a:r>
              <a:rPr sz="2100" b="1" i="0" u="none">
                <a:solidFill>
                  <a:srgbClr val="FFFFFF"/>
                </a:solidFill>
                <a:latin typeface="BIZ UDPゴシック"/>
                <a:ea typeface="BIZ UDPゴシック"/>
                <a:cs typeface="BIZ UDPゴシック"/>
              </a:rPr>
              <a:t>論点・対応方針・継続審議</a:t>
            </a:r>
          </a:p>
        </p:txBody>
      </p:sp>
      <p:sp>
        <p:nvSpPr>
          <p:cNvPr id="3" name="page-06-object-002">
            <a:extLst xmlns:a="http://schemas.openxmlformats.org/drawingml/2006/main">
              <a:ext uri="{FF2B5EF4-FFF2-40B4-BE49-F238E27FC236}">
                <a16:creationId xmlns:a16="http://schemas.microsoft.com/office/drawing/2014/main" id="{F56C71DB-63E3-4D03-AEE7-E6E6E58DD727}"/>
              </a:ext>
            </a:extLst>
          </p:cNvPr>
          <p:cNvSpPr>
            <a:spLocks xmlns:a="http://schemas.openxmlformats.org/drawingml/2006/main" noGrp="1"/>
          </p:cNvSpPr>
          <p:nvPr/>
        </p:nvSpPr>
        <p:spPr>
          <a:xfrm xmlns:a="http://schemas.openxmlformats.org/drawingml/2006/main">
            <a:off x="9620250" y="76200"/>
            <a:ext cx="2266950" cy="323850"/>
          </a:xfrm>
          <a:prstGeom xmlns:a="http://schemas.openxmlformats.org/drawingml/2006/main" prst="rect">
            <a:avLst/>
          </a:prstGeom>
          <a:solidFill xmlns:a="http://schemas.openxmlformats.org/drawingml/2006/main">
            <a:srgbClr val="00A9E0"/>
          </a:solidFill>
          <a:ln xmlns:a="http://schemas.openxmlformats.org/drawingml/2006/main" w="0">
            <a:solidFill>
              <a:srgbClr val="00A9E0"/>
            </a:solidFill>
            <a:prstDash val="solid"/>
          </a:ln>
        </p:spPr>
        <p:txBody xmlns:a="http://schemas.openxmlformats.org/drawingml/2006/main">
          <a:bodyPr/>
          <a:p/>
        </p:txBody>
      </p:sp>
      <p:sp>
        <p:nvSpPr>
          <p:cNvPr id="4" name="page-06-object-003">
            <a:extLst xmlns:a="http://schemas.openxmlformats.org/drawingml/2006/main">
              <a:ext uri="{FF2B5EF4-FFF2-40B4-BE49-F238E27FC236}">
                <a16:creationId xmlns:a16="http://schemas.microsoft.com/office/drawing/2014/main" id="{F213A46F-0C8F-49F3-B19E-95F01EFE5097}"/>
              </a:ext>
            </a:extLst>
          </p:cNvPr>
          <p:cNvSpPr>
            <a:spLocks xmlns:a="http://schemas.openxmlformats.org/drawingml/2006/main" noGrp="1"/>
          </p:cNvSpPr>
          <p:nvPr/>
        </p:nvSpPr>
        <p:spPr>
          <a:xfrm xmlns:a="http://schemas.openxmlformats.org/drawingml/2006/main">
            <a:off x="9620250" y="104775"/>
            <a:ext cx="22669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i="0">
                <a:solidFill>
                  <a:srgbClr val="FFFFFF"/>
                </a:solidFill>
                <a:latin typeface="BIZ UDPゴシック"/>
                <a:ea typeface="BIZ UDPゴシック"/>
                <a:cs typeface="BIZ UDPゴシック"/>
              </a:defRPr>
            </a:pPr>
            <a:r>
              <a:rPr sz="1125" b="1" i="0" u="none">
                <a:solidFill>
                  <a:srgbClr val="FFFFFF"/>
                </a:solidFill>
                <a:latin typeface="BIZ UDPゴシック"/>
                <a:ea typeface="BIZ UDPゴシック"/>
                <a:cs typeface="BIZ UDPゴシック"/>
              </a:rPr>
              <a:t>着手方針の確認</a:t>
            </a:r>
          </a:p>
        </p:txBody>
      </p:sp>
      <p:sp>
        <p:nvSpPr>
          <p:cNvPr id="5" name="page-06-object-004">
            <a:extLst xmlns:a="http://schemas.openxmlformats.org/drawingml/2006/main">
              <a:ext uri="{FF2B5EF4-FFF2-40B4-BE49-F238E27FC236}">
                <a16:creationId xmlns:a16="http://schemas.microsoft.com/office/drawing/2014/main" id="{9F405516-AC78-4898-9173-CB79E8ECFB48}"/>
              </a:ext>
            </a:extLst>
          </p:cNvPr>
          <p:cNvSpPr>
            <a:spLocks xmlns:a="http://schemas.openxmlformats.org/drawingml/2006/main" noGrp="1"/>
          </p:cNvSpPr>
          <p:nvPr/>
        </p:nvSpPr>
        <p:spPr>
          <a:xfrm xmlns:a="http://schemas.openxmlformats.org/drawingml/2006/main">
            <a:off x="0" y="6543675"/>
            <a:ext cx="5905500" cy="314325"/>
          </a:xfrm>
          <a:prstGeom xmlns:a="http://schemas.openxmlformats.org/drawingml/2006/main" prst="rect">
            <a:avLst/>
          </a:prstGeom>
          <a:solidFill xmlns:a="http://schemas.openxmlformats.org/drawingml/2006/main">
            <a:srgbClr val="0B5AA6"/>
          </a:solidFill>
          <a:ln xmlns:a="http://schemas.openxmlformats.org/drawingml/2006/main" w="0">
            <a:solidFill>
              <a:srgbClr val="0B5AA6"/>
            </a:solidFill>
            <a:prstDash val="solid"/>
          </a:ln>
        </p:spPr>
        <p:txBody xmlns:a="http://schemas.openxmlformats.org/drawingml/2006/main">
          <a:bodyPr/>
          <a:p/>
        </p:txBody>
      </p:sp>
      <p:sp>
        <p:nvSpPr>
          <p:cNvPr id="6" name="page-06-object-005">
            <a:extLst xmlns:a="http://schemas.openxmlformats.org/drawingml/2006/main">
              <a:ext uri="{FF2B5EF4-FFF2-40B4-BE49-F238E27FC236}">
                <a16:creationId xmlns:a16="http://schemas.microsoft.com/office/drawing/2014/main" id="{626B6280-0D0B-4E85-AA05-EDCE0CE6D9FB}"/>
              </a:ext>
            </a:extLst>
          </p:cNvPr>
          <p:cNvSpPr>
            <a:spLocks xmlns:a="http://schemas.openxmlformats.org/drawingml/2006/main" noGrp="1"/>
          </p:cNvSpPr>
          <p:nvPr/>
        </p:nvSpPr>
        <p:spPr>
          <a:xfrm xmlns:a="http://schemas.openxmlformats.org/drawingml/2006/main">
            <a:off x="447675" y="6543675"/>
            <a:ext cx="76200" cy="3143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7" name="page-06-object-006">
            <a:extLst xmlns:a="http://schemas.openxmlformats.org/drawingml/2006/main">
              <a:ext uri="{FF2B5EF4-FFF2-40B4-BE49-F238E27FC236}">
                <a16:creationId xmlns:a16="http://schemas.microsoft.com/office/drawing/2014/main" id="{B24AFDAC-5F51-40A6-A523-878114008154}"/>
              </a:ext>
            </a:extLst>
          </p:cNvPr>
          <p:cNvSpPr>
            <a:spLocks xmlns:a="http://schemas.openxmlformats.org/drawingml/2006/main" noGrp="1"/>
          </p:cNvSpPr>
          <p:nvPr/>
        </p:nvSpPr>
        <p:spPr>
          <a:xfrm xmlns:a="http://schemas.openxmlformats.org/drawingml/2006/main">
            <a:off x="619125" y="6543675"/>
            <a:ext cx="28575" cy="3143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8" name="page-06-object-007">
            <a:extLst xmlns:a="http://schemas.openxmlformats.org/drawingml/2006/main">
              <a:ext uri="{FF2B5EF4-FFF2-40B4-BE49-F238E27FC236}">
                <a16:creationId xmlns:a16="http://schemas.microsoft.com/office/drawing/2014/main" id="{5C65CB62-5771-4AAB-900A-CA557D73B4BD}"/>
              </a:ext>
            </a:extLst>
          </p:cNvPr>
          <p:cNvSpPr>
            <a:spLocks xmlns:a="http://schemas.openxmlformats.org/drawingml/2006/main" noGrp="1"/>
          </p:cNvSpPr>
          <p:nvPr/>
        </p:nvSpPr>
        <p:spPr>
          <a:xfrm xmlns:a="http://schemas.openxmlformats.org/drawingml/2006/main">
            <a:off x="857250" y="6581775"/>
            <a:ext cx="461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75" b="0" i="0">
                <a:solidFill>
                  <a:srgbClr val="FFFFFF"/>
                </a:solidFill>
                <a:latin typeface="BIZ UDPゴシック"/>
                <a:ea typeface="BIZ UDPゴシック"/>
                <a:cs typeface="BIZ UDPゴシック"/>
              </a:defRPr>
            </a:pPr>
            <a:r>
              <a:rPr sz="975" b="0" i="0" u="none">
                <a:solidFill>
                  <a:srgbClr val="FFFFFF"/>
                </a:solidFill>
                <a:latin typeface="BIZ UDPゴシック"/>
                <a:ea typeface="BIZ UDPゴシック"/>
                <a:cs typeface="BIZ UDPゴシック"/>
              </a:rPr>
              <a:t>くらし便 EC事業部　架空の制作例</a:t>
            </a:r>
          </a:p>
        </p:txBody>
      </p:sp>
      <p:sp>
        <p:nvSpPr>
          <p:cNvPr id="9" name="page-06-object-008">
            <a:extLst xmlns:a="http://schemas.openxmlformats.org/drawingml/2006/main">
              <a:ext uri="{FF2B5EF4-FFF2-40B4-BE49-F238E27FC236}">
                <a16:creationId xmlns:a16="http://schemas.microsoft.com/office/drawing/2014/main" id="{C6312DF0-ACF6-4814-9B9A-56500B40E0D9}"/>
              </a:ext>
            </a:extLst>
          </p:cNvPr>
          <p:cNvSpPr>
            <a:spLocks xmlns:a="http://schemas.openxmlformats.org/drawingml/2006/main" noGrp="1"/>
          </p:cNvSpPr>
          <p:nvPr/>
        </p:nvSpPr>
        <p:spPr>
          <a:xfrm xmlns:a="http://schemas.openxmlformats.org/drawingml/2006/main">
            <a:off x="11601450" y="657225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75" b="0" i="0">
                <a:solidFill>
                  <a:srgbClr val="666666"/>
                </a:solidFill>
                <a:latin typeface="BIZ UDPゴシック"/>
                <a:ea typeface="BIZ UDPゴシック"/>
                <a:cs typeface="BIZ UDPゴシック"/>
              </a:defRPr>
            </a:pPr>
            <a:r>
              <a:rPr sz="975" b="0" i="0" u="none">
                <a:solidFill>
                  <a:srgbClr val="666666"/>
                </a:solidFill>
                <a:latin typeface="BIZ UDPゴシック"/>
                <a:ea typeface="BIZ UDPゴシック"/>
                <a:cs typeface="BIZ UDPゴシック"/>
              </a:rPr>
              <a:t>6</a:t>
            </a:r>
          </a:p>
        </p:txBody>
      </p:sp>
      <p:sp>
        <p:nvSpPr>
          <p:cNvPr id="10" name="page-06-object-009">
            <a:extLst xmlns:a="http://schemas.openxmlformats.org/drawingml/2006/main">
              <a:ext uri="{FF2B5EF4-FFF2-40B4-BE49-F238E27FC236}">
                <a16:creationId xmlns:a16="http://schemas.microsoft.com/office/drawing/2014/main" id="{0EEB838D-4835-40CA-A5FB-6B6DC16630EB}"/>
              </a:ext>
            </a:extLst>
          </p:cNvPr>
          <p:cNvSpPr>
            <a:spLocks xmlns:a="http://schemas.openxmlformats.org/drawingml/2006/main" noGrp="1"/>
          </p:cNvSpPr>
          <p:nvPr/>
        </p:nvSpPr>
        <p:spPr>
          <a:xfrm xmlns:a="http://schemas.openxmlformats.org/drawingml/2006/main">
            <a:off x="285750" y="609600"/>
            <a:ext cx="885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2025" b="1" i="0">
                <a:solidFill>
                  <a:srgbClr val="111111"/>
                </a:solidFill>
                <a:latin typeface="BIZ UDPゴシック"/>
                <a:ea typeface="BIZ UDPゴシック"/>
                <a:cs typeface="BIZ UDPゴシック"/>
              </a:defRPr>
            </a:pPr>
            <a:r>
              <a:rPr sz="2025" b="1" i="0" u="none">
                <a:solidFill>
                  <a:srgbClr val="111111"/>
                </a:solidFill>
                <a:latin typeface="BIZ UDPゴシック"/>
                <a:ea typeface="BIZ UDPゴシック"/>
                <a:cs typeface="BIZ UDPゴシック"/>
              </a:rPr>
              <a:t>商品説明の修正と粗利分析を先行する</a:t>
            </a:r>
          </a:p>
        </p:txBody>
      </p:sp>
      <p:sp>
        <p:nvSpPr>
          <p:cNvPr id="11" name="page-06-object-010">
            <a:extLst xmlns:a="http://schemas.openxmlformats.org/drawingml/2006/main">
              <a:ext uri="{FF2B5EF4-FFF2-40B4-BE49-F238E27FC236}">
                <a16:creationId xmlns:a16="http://schemas.microsoft.com/office/drawing/2014/main" id="{DD4A7A28-B98E-447C-B21D-5A13BDE2B4E5}"/>
              </a:ext>
            </a:extLst>
          </p:cNvPr>
          <p:cNvSpPr>
            <a:spLocks xmlns:a="http://schemas.openxmlformats.org/drawingml/2006/main" noGrp="1"/>
          </p:cNvSpPr>
          <p:nvPr/>
        </p:nvSpPr>
        <p:spPr>
          <a:xfrm xmlns:a="http://schemas.openxmlformats.org/drawingml/2006/main">
            <a:off x="9810750" y="552450"/>
            <a:ext cx="2095500" cy="514350"/>
          </a:xfrm>
          <a:prstGeom xmlns:a="http://schemas.openxmlformats.org/drawingml/2006/main" prst="rect">
            <a:avLst/>
          </a:prstGeom>
          <a:solidFill xmlns:a="http://schemas.openxmlformats.org/drawingml/2006/main">
            <a:srgbClr val="FFFFFF"/>
          </a:solidFill>
          <a:ln xmlns:a="http://schemas.openxmlformats.org/drawingml/2006/main" w="16193">
            <a:solidFill>
              <a:srgbClr val="C00000"/>
            </a:solidFill>
            <a:prstDash val="solid"/>
          </a:ln>
        </p:spPr>
        <p:txBody xmlns:a="http://schemas.openxmlformats.org/drawingml/2006/main">
          <a:bodyPr/>
          <a:p/>
        </p:txBody>
      </p:sp>
      <p:sp>
        <p:nvSpPr>
          <p:cNvPr id="12" name="page-06-object-011">
            <a:extLst xmlns:a="http://schemas.openxmlformats.org/drawingml/2006/main">
              <a:ext uri="{FF2B5EF4-FFF2-40B4-BE49-F238E27FC236}">
                <a16:creationId xmlns:a16="http://schemas.microsoft.com/office/drawing/2014/main" id="{D5AF9E86-FA66-47BD-A53E-B78E96F3F342}"/>
              </a:ext>
            </a:extLst>
          </p:cNvPr>
          <p:cNvSpPr>
            <a:spLocks xmlns:a="http://schemas.openxmlformats.org/drawingml/2006/main" noGrp="1"/>
          </p:cNvSpPr>
          <p:nvPr/>
        </p:nvSpPr>
        <p:spPr>
          <a:xfrm xmlns:a="http://schemas.openxmlformats.org/drawingml/2006/main">
            <a:off x="9867900" y="600075"/>
            <a:ext cx="1981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00" b="1" i="0">
                <a:solidFill>
                  <a:srgbClr val="C00000"/>
                </a:solidFill>
                <a:latin typeface="BIZ UDPゴシック"/>
                <a:ea typeface="BIZ UDPゴシック"/>
                <a:cs typeface="BIZ UDPゴシック"/>
              </a:defRPr>
            </a:pPr>
            <a:r>
              <a:rPr sz="900" b="1" i="0" u="none">
                <a:solidFill>
                  <a:srgbClr val="C00000"/>
                </a:solidFill>
                <a:latin typeface="BIZ UDPゴシック"/>
                <a:ea typeface="BIZ UDPゴシック"/>
                <a:cs typeface="BIZ UDPゴシック"/>
              </a:rPr>
              <a:t>対応案</a:t>
            </a:r>
          </a:p>
          <a:p xmlns:a="http://schemas.openxmlformats.org/drawingml/2006/main">
            <a:pPr algn="ctr">
              <a:defRPr sz="900" b="1" i="0">
                <a:solidFill>
                  <a:srgbClr val="C00000"/>
                </a:solidFill>
                <a:latin typeface="BIZ UDPゴシック"/>
                <a:ea typeface="BIZ UDPゴシック"/>
                <a:cs typeface="BIZ UDPゴシック"/>
              </a:defRPr>
            </a:pPr>
            <a:r>
              <a:rPr sz="900" b="1" i="0" u="none">
                <a:solidFill>
                  <a:srgbClr val="C00000"/>
                </a:solidFill>
                <a:latin typeface="BIZ UDPゴシック"/>
                <a:ea typeface="BIZ UDPゴシック"/>
                <a:cs typeface="BIZ UDPゴシック"/>
              </a:rPr>
              <a:t>2026年9月報告</a:t>
            </a:r>
          </a:p>
        </p:txBody>
      </p:sp>
      <p:sp>
        <p:nvSpPr>
          <p:cNvPr id="13" name="page-06-object-012">
            <a:extLst xmlns:a="http://schemas.openxmlformats.org/drawingml/2006/main">
              <a:ext uri="{FF2B5EF4-FFF2-40B4-BE49-F238E27FC236}">
                <a16:creationId xmlns:a16="http://schemas.microsoft.com/office/drawing/2014/main" id="{05672A1F-F989-49D6-A82B-0A30FC5AEC23}"/>
              </a:ext>
            </a:extLst>
          </p:cNvPr>
          <p:cNvSpPr>
            <a:spLocks xmlns:a="http://schemas.openxmlformats.org/drawingml/2006/main" noGrp="1"/>
          </p:cNvSpPr>
          <p:nvPr/>
        </p:nvSpPr>
        <p:spPr>
          <a:xfrm xmlns:a="http://schemas.openxmlformats.org/drawingml/2006/main">
            <a:off x="333375" y="1123950"/>
            <a:ext cx="11525250" cy="428625"/>
          </a:xfrm>
          <a:prstGeom xmlns:a="http://schemas.openxmlformats.org/drawingml/2006/main" prst="rect">
            <a:avLst/>
          </a:prstGeom>
          <a:solidFill xmlns:a="http://schemas.openxmlformats.org/drawingml/2006/main">
            <a:srgbClr val="F2F2F2"/>
          </a:solidFill>
          <a:ln xmlns:a="http://schemas.openxmlformats.org/drawingml/2006/main" w="7620">
            <a:solidFill>
              <a:srgbClr val="A6A6A6"/>
            </a:solidFill>
            <a:prstDash val="solid"/>
          </a:ln>
        </p:spPr>
        <p:txBody xmlns:a="http://schemas.openxmlformats.org/drawingml/2006/main">
          <a:bodyPr/>
          <a:p/>
        </p:txBody>
      </p:sp>
      <p:sp>
        <p:nvSpPr>
          <p:cNvPr id="14" name="page-06-object-013">
            <a:extLst xmlns:a="http://schemas.openxmlformats.org/drawingml/2006/main">
              <a:ext uri="{FF2B5EF4-FFF2-40B4-BE49-F238E27FC236}">
                <a16:creationId xmlns:a16="http://schemas.microsoft.com/office/drawing/2014/main" id="{81455712-294D-472A-B738-AF44F5B2E2CB}"/>
              </a:ext>
            </a:extLst>
          </p:cNvPr>
          <p:cNvSpPr>
            <a:spLocks xmlns:a="http://schemas.openxmlformats.org/drawingml/2006/main" noGrp="1"/>
          </p:cNvSpPr>
          <p:nvPr/>
        </p:nvSpPr>
        <p:spPr>
          <a:xfrm xmlns:a="http://schemas.openxmlformats.org/drawingml/2006/main">
            <a:off x="457200" y="1238250"/>
            <a:ext cx="112776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975" b="1" i="0">
                <a:solidFill>
                  <a:srgbClr val="111111"/>
                </a:solidFill>
                <a:latin typeface="BIZ UDPゴシック"/>
                <a:ea typeface="BIZ UDPゴシック"/>
                <a:cs typeface="BIZ UDPゴシック"/>
              </a:defRPr>
            </a:pPr>
            <a:r>
              <a:rPr sz="975" b="1" i="0" u="none">
                <a:solidFill>
                  <a:srgbClr val="111111"/>
                </a:solidFill>
                <a:latin typeface="BIZ UDPゴシック"/>
                <a:ea typeface="BIZ UDPゴシック"/>
                <a:cs typeface="BIZ UDPゴシック"/>
              </a:rPr>
              <a:t>対象範囲｜EC事業・9月実績　　比較｜前年同月　　前提｜架空データ　　未決定｜広告増額</a:t>
            </a:r>
          </a:p>
        </p:txBody>
      </p:sp>
      <p:graphicFrame>
        <p:nvGraphicFramePr>
          <p:cNvPr id="39" name="page-06-object-014"/>
          <p:cNvGraphicFramePr/>
          <p:nvPr/>
        </p:nvGraphicFramePr>
        <p:xfrm>
          <a:off xmlns:a="http://schemas.openxmlformats.org/drawingml/2006/main" x="333375" y="1695450"/>
          <a:ext xmlns:a="http://schemas.openxmlformats.org/drawingml/2006/main" cx="11525250" cy="3048000"/>
        </p:xfrm>
        <a:graphic xmlns:a="http://schemas.openxmlformats.org/drawingml/2006/main">
          <a:graphicData uri="http://schemas.openxmlformats.org/drawingml/2006/table">
            <a:tbl>
              <a:tblPr/>
              <a:tblGrid>
                <a:gridCol w="476250"/>
                <a:gridCol w="1571625"/>
                <a:gridCol w="2333625"/>
                <a:gridCol w="3857625"/>
                <a:gridCol w="1000125"/>
                <a:gridCol w="904875"/>
                <a:gridCol w="1381125"/>
              </a:tblGrid>
              <a:tr h="508000">
                <a:tc>
                  <a:txBody>
                    <a:bodyPr anchor="ctr"/>
                    <a:lstStyle/>
                    <a:p>
                      <a:pPr algn="ctr"/>
                      <a:r>
                        <a:rPr sz="975" b="1">
                          <a:solidFill>
                            <a:srgbClr val="FFFFFF"/>
                          </a:solidFill>
                          <a:latin typeface="BIZ UDPゴシック"/>
                          <a:ea typeface="BIZ UDPゴシック"/>
                          <a:cs typeface="BIZ UDPゴシック"/>
                        </a:rPr>
                        <a:t>No.</a:t>
                      </a:r>
                    </a:p>
                  </a:txBody>
                  <a:tcPr marL="91440" marR="91440" marT="45720" marB="45720">
                    <a:solidFill>
                      <a:srgbClr val="0B5AA6"/>
                    </a:solidFill>
                  </a:tcPr>
                </a:tc>
                <a:tc>
                  <a:txBody>
                    <a:bodyPr anchor="ctr"/>
                    <a:lstStyle/>
                    <a:p>
                      <a:pPr algn="ctr"/>
                      <a:r>
                        <a:rPr sz="975" b="1">
                          <a:solidFill>
                            <a:srgbClr val="FFFFFF"/>
                          </a:solidFill>
                          <a:latin typeface="BIZ UDPゴシック"/>
                          <a:ea typeface="BIZ UDPゴシック"/>
                          <a:cs typeface="BIZ UDPゴシック"/>
                        </a:rPr>
                        <a:t>論点</a:t>
                      </a:r>
                    </a:p>
                  </a:txBody>
                  <a:tcPr marL="91440" marR="91440" marT="45720" marB="45720">
                    <a:solidFill>
                      <a:srgbClr val="0B5AA6"/>
                    </a:solidFill>
                  </a:tcPr>
                </a:tc>
                <a:tc>
                  <a:txBody>
                    <a:bodyPr anchor="ctr"/>
                    <a:lstStyle/>
                    <a:p>
                      <a:pPr algn="ctr"/>
                      <a:r>
                        <a:rPr sz="975" b="1">
                          <a:solidFill>
                            <a:srgbClr val="FFFFFF"/>
                          </a:solidFill>
                          <a:latin typeface="BIZ UDPゴシック"/>
                          <a:ea typeface="BIZ UDPゴシック"/>
                          <a:cs typeface="BIZ UDPゴシック"/>
                        </a:rPr>
                        <a:t>把握している状況</a:t>
                      </a:r>
                    </a:p>
                  </a:txBody>
                  <a:tcPr marL="91440" marR="91440" marT="45720" marB="45720">
                    <a:solidFill>
                      <a:srgbClr val="0B5AA6"/>
                    </a:solidFill>
                  </a:tcPr>
                </a:tc>
                <a:tc>
                  <a:txBody>
                    <a:bodyPr anchor="ctr"/>
                    <a:lstStyle/>
                    <a:p>
                      <a:pPr algn="ctr"/>
                      <a:r>
                        <a:rPr sz="975" b="1">
                          <a:solidFill>
                            <a:srgbClr val="FFFFFF"/>
                          </a:solidFill>
                          <a:latin typeface="BIZ UDPゴシック"/>
                          <a:ea typeface="BIZ UDPゴシック"/>
                          <a:cs typeface="BIZ UDPゴシック"/>
                        </a:rPr>
                        <a:t>対応方針・判断条件</a:t>
                      </a:r>
                    </a:p>
                  </a:txBody>
                  <a:tcPr marL="91440" marR="91440" marT="45720" marB="45720">
                    <a:solidFill>
                      <a:srgbClr val="0B5AA6"/>
                    </a:solidFill>
                  </a:tcPr>
                </a:tc>
                <a:tc>
                  <a:txBody>
                    <a:bodyPr anchor="ctr"/>
                    <a:lstStyle/>
                    <a:p>
                      <a:pPr algn="ctr"/>
                      <a:r>
                        <a:rPr sz="975" b="1">
                          <a:solidFill>
                            <a:srgbClr val="FFFFFF"/>
                          </a:solidFill>
                          <a:latin typeface="BIZ UDPゴシック"/>
                          <a:ea typeface="BIZ UDPゴシック"/>
                          <a:cs typeface="BIZ UDPゴシック"/>
                        </a:rPr>
                        <a:t>担当</a:t>
                      </a:r>
                    </a:p>
                  </a:txBody>
                  <a:tcPr marL="91440" marR="91440" marT="45720" marB="45720">
                    <a:solidFill>
                      <a:srgbClr val="0B5AA6"/>
                    </a:solidFill>
                  </a:tcPr>
                </a:tc>
                <a:tc>
                  <a:txBody>
                    <a:bodyPr anchor="ctr"/>
                    <a:lstStyle/>
                    <a:p>
                      <a:pPr algn="ctr"/>
                      <a:r>
                        <a:rPr sz="975" b="1">
                          <a:solidFill>
                            <a:srgbClr val="FFFFFF"/>
                          </a:solidFill>
                          <a:latin typeface="BIZ UDPゴシック"/>
                          <a:ea typeface="BIZ UDPゴシック"/>
                          <a:cs typeface="BIZ UDPゴシック"/>
                        </a:rPr>
                        <a:t>期限</a:t>
                      </a:r>
                    </a:p>
                  </a:txBody>
                  <a:tcPr marL="91440" marR="91440" marT="45720" marB="45720">
                    <a:solidFill>
                      <a:srgbClr val="0B5AA6"/>
                    </a:solidFill>
                  </a:tcPr>
                </a:tc>
                <a:tc>
                  <a:txBody>
                    <a:bodyPr anchor="ctr"/>
                    <a:lstStyle/>
                    <a:p>
                      <a:pPr algn="ctr"/>
                      <a:r>
                        <a:rPr sz="975" b="1">
                          <a:solidFill>
                            <a:srgbClr val="FFFFFF"/>
                          </a:solidFill>
                          <a:latin typeface="BIZ UDPゴシック"/>
                          <a:ea typeface="BIZ UDPゴシック"/>
                          <a:cs typeface="BIZ UDPゴシック"/>
                        </a:rPr>
                        <a:t>状態</a:t>
                      </a:r>
                    </a:p>
                  </a:txBody>
                  <a:tcPr marL="91440" marR="91440" marT="45720" marB="45720">
                    <a:solidFill>
                      <a:srgbClr val="0B5AA6"/>
                    </a:solidFill>
                  </a:tcPr>
                </a:tc>
              </a:tr>
              <a:tr h="508000">
                <a:tc>
                  <a:txBody>
                    <a:bodyPr anchor="ctr"/>
                    <a:lstStyle/>
                    <a:p>
                      <a:pPr algn="ctr"/>
                      <a:r>
                        <a:rPr sz="900" b="1">
                          <a:solidFill>
                            <a:srgbClr val="111111"/>
                          </a:solidFill>
                          <a:latin typeface="BIZ UDPゴシック"/>
                          <a:ea typeface="BIZ UDPゴシック"/>
                          <a:cs typeface="BIZ UDPゴシック"/>
                        </a:rPr>
                        <a:t>1</a:t>
                      </a:r>
                    </a:p>
                  </a:txBody>
                  <a:tcPr marL="91440" marR="91440" marT="45720" marB="45720">
                    <a:solidFill>
                      <a:srgbClr val="DDEBF7"/>
                    </a:solidFill>
                  </a:tcPr>
                </a:tc>
                <a:tc>
                  <a:txBody>
                    <a:bodyPr anchor="ctr"/>
                    <a:lstStyle/>
                    <a:p>
                      <a:pPr algn="ctr"/>
                      <a:r>
                        <a:rPr sz="900" b="1">
                          <a:solidFill>
                            <a:srgbClr val="111111"/>
                          </a:solidFill>
                          <a:latin typeface="BIZ UDPゴシック"/>
                          <a:ea typeface="BIZ UDPゴシック"/>
                          <a:cs typeface="BIZ UDPゴシック"/>
                        </a:rPr>
                        <a:t>返品理由</a:t>
                      </a:r>
                    </a:p>
                  </a:txBody>
                  <a:tcPr marL="91440" marR="91440" marT="45720" marB="45720">
                    <a:solidFill>
                      <a:srgbClr val="FFFFFF"/>
                    </a:solidFill>
                  </a:tcPr>
                </a:tc>
                <a:tc>
                  <a:txBody>
                    <a:bodyPr anchor="ctr"/>
                    <a:lstStyle/>
                    <a:p>
                      <a:pPr algn="ctr"/>
                      <a:r>
                        <a:rPr sz="900" b="0">
                          <a:solidFill>
                            <a:srgbClr val="111111"/>
                          </a:solidFill>
                          <a:latin typeface="BIZ UDPゴシック"/>
                          <a:ea typeface="BIZ UDPゴシック"/>
                          <a:cs typeface="BIZ UDPゴシック"/>
                        </a:rPr>
                        <a:t>返品率 4% → 6%</a:t>
                      </a:r>
                    </a:p>
                  </a:txBody>
                  <a:tcPr marL="91440" marR="91440" marT="45720" marB="45720">
                    <a:solidFill>
                      <a:srgbClr val="FFFFFF"/>
                    </a:solidFill>
                  </a:tcPr>
                </a:tc>
                <a:tc>
                  <a:txBody>
                    <a:bodyPr anchor="ctr"/>
                    <a:lstStyle/>
                    <a:p>
                      <a:pPr algn="ctr"/>
                      <a:r>
                        <a:rPr sz="825" b="0">
                          <a:solidFill>
                            <a:srgbClr val="111111"/>
                          </a:solidFill>
                          <a:latin typeface="BIZ UDPゴシック"/>
                          <a:ea typeface="BIZ UDPゴシック"/>
                          <a:cs typeface="BIZ UDPゴシック"/>
                        </a:rPr>
                        <a:t>上位20商品の理由を分類</a:t>
                      </a:r>
                    </a:p>
                  </a:txBody>
                  <a:tcPr marL="91440" marR="91440" marT="45720" marB="45720">
                    <a:solidFill>
                      <a:srgbClr val="FFFFFF"/>
                    </a:solidFill>
                  </a:tcPr>
                </a:tc>
                <a:tc>
                  <a:txBody>
                    <a:bodyPr anchor="ctr"/>
                    <a:lstStyle/>
                    <a:p>
                      <a:pPr algn="ctr"/>
                      <a:r>
                        <a:rPr sz="900" b="0">
                          <a:solidFill>
                            <a:srgbClr val="111111"/>
                          </a:solidFill>
                          <a:latin typeface="BIZ UDPゴシック"/>
                          <a:ea typeface="BIZ UDPゴシック"/>
                          <a:cs typeface="BIZ UDPゴシック"/>
                        </a:rPr>
                        <a:t>森</a:t>
                      </a:r>
                    </a:p>
                  </a:txBody>
                  <a:tcPr marL="91440" marR="91440" marT="45720" marB="45720">
                    <a:solidFill>
                      <a:srgbClr val="FFFFFF"/>
                    </a:solidFill>
                  </a:tcPr>
                </a:tc>
                <a:tc>
                  <a:txBody>
                    <a:bodyPr anchor="ctr"/>
                    <a:lstStyle/>
                    <a:p>
                      <a:pPr algn="ctr"/>
                      <a:r>
                        <a:rPr sz="900" b="0">
                          <a:solidFill>
                            <a:srgbClr val="111111"/>
                          </a:solidFill>
                          <a:latin typeface="BIZ UDPゴシック"/>
                          <a:ea typeface="BIZ UDPゴシック"/>
                          <a:cs typeface="BIZ UDPゴシック"/>
                        </a:rPr>
                        <a:t>10/09</a:t>
                      </a:r>
                    </a:p>
                  </a:txBody>
                  <a:tcPr marL="91440" marR="91440" marT="45720" marB="45720">
                    <a:solidFill>
                      <a:srgbClr val="FFFFFF"/>
                    </a:solidFill>
                  </a:tcPr>
                </a:tc>
                <a:tc>
                  <a:txBody>
                    <a:bodyPr anchor="ctr"/>
                    <a:lstStyle/>
                    <a:p>
                      <a:pPr algn="ctr"/>
                      <a:r>
                        <a:rPr sz="900" b="1">
                          <a:solidFill>
                            <a:srgbClr val="FFFFFF"/>
                          </a:solidFill>
                          <a:latin typeface="BIZ UDPゴシック"/>
                          <a:ea typeface="BIZ UDPゴシック"/>
                          <a:cs typeface="BIZ UDPゴシック"/>
                        </a:rPr>
                        <a:t>提案</a:t>
                      </a:r>
                    </a:p>
                  </a:txBody>
                  <a:tcPr marL="91440" marR="91440" marT="45720" marB="45720">
                    <a:solidFill>
                      <a:srgbClr val="2474B5"/>
                    </a:solidFill>
                  </a:tcPr>
                </a:tc>
              </a:tr>
              <a:tr h="508000">
                <a:tc>
                  <a:txBody>
                    <a:bodyPr anchor="ctr"/>
                    <a:lstStyle/>
                    <a:p>
                      <a:pPr algn="ctr"/>
                      <a:r>
                        <a:rPr sz="900" b="1">
                          <a:solidFill>
                            <a:srgbClr val="111111"/>
                          </a:solidFill>
                          <a:latin typeface="BIZ UDPゴシック"/>
                          <a:ea typeface="BIZ UDPゴシック"/>
                          <a:cs typeface="BIZ UDPゴシック"/>
                        </a:rPr>
                        <a:t>2</a:t>
                      </a:r>
                    </a:p>
                  </a:txBody>
                  <a:tcPr marL="91440" marR="91440" marT="45720" marB="45720">
                    <a:solidFill>
                      <a:srgbClr val="DDEBF7"/>
                    </a:solidFill>
                  </a:tcPr>
                </a:tc>
                <a:tc>
                  <a:txBody>
                    <a:bodyPr anchor="ctr"/>
                    <a:lstStyle/>
                    <a:p>
                      <a:pPr algn="ctr"/>
                      <a:r>
                        <a:rPr sz="900" b="1">
                          <a:solidFill>
                            <a:srgbClr val="111111"/>
                          </a:solidFill>
                          <a:latin typeface="BIZ UDPゴシック"/>
                          <a:ea typeface="BIZ UDPゴシック"/>
                          <a:cs typeface="BIZ UDPゴシック"/>
                        </a:rPr>
                        <a:t>商品説明</a:t>
                      </a:r>
                    </a:p>
                  </a:txBody>
                  <a:tcPr marL="91440" marR="91440" marT="45720" marB="45720">
                    <a:solidFill>
                      <a:srgbClr val="F2F2F2"/>
                    </a:solidFill>
                  </a:tcPr>
                </a:tc>
                <a:tc>
                  <a:txBody>
                    <a:bodyPr anchor="ctr"/>
                    <a:lstStyle/>
                    <a:p>
                      <a:pPr algn="ctr"/>
                      <a:r>
                        <a:rPr sz="900" b="0">
                          <a:solidFill>
                            <a:srgbClr val="111111"/>
                          </a:solidFill>
                          <a:latin typeface="BIZ UDPゴシック"/>
                          <a:ea typeface="BIZ UDPゴシック"/>
                          <a:cs typeface="BIZ UDPゴシック"/>
                        </a:rPr>
                        <a:t>説明と実物の差は仮説</a:t>
                      </a:r>
                    </a:p>
                  </a:txBody>
                  <a:tcPr marL="91440" marR="91440" marT="45720" marB="45720">
                    <a:solidFill>
                      <a:srgbClr val="F2F2F2"/>
                    </a:solidFill>
                  </a:tcPr>
                </a:tc>
                <a:tc>
                  <a:txBody>
                    <a:bodyPr anchor="ctr"/>
                    <a:lstStyle/>
                    <a:p>
                      <a:pPr algn="ctr"/>
                      <a:r>
                        <a:rPr sz="825" b="0">
                          <a:solidFill>
                            <a:srgbClr val="111111"/>
                          </a:solidFill>
                          <a:latin typeface="BIZ UDPゴシック"/>
                          <a:ea typeface="BIZ UDPゴシック"/>
                          <a:cs typeface="BIZ UDPゴシック"/>
                        </a:rPr>
                        <a:t>返品上位5商品の説明を改稿</a:t>
                      </a:r>
                    </a:p>
                  </a:txBody>
                  <a:tcPr marL="91440" marR="91440" marT="45720" marB="45720">
                    <a:solidFill>
                      <a:srgbClr val="F2F2F2"/>
                    </a:solidFill>
                  </a:tcPr>
                </a:tc>
                <a:tc>
                  <a:txBody>
                    <a:bodyPr anchor="ctr"/>
                    <a:lstStyle/>
                    <a:p>
                      <a:pPr algn="ctr"/>
                      <a:r>
                        <a:rPr sz="900" b="0">
                          <a:solidFill>
                            <a:srgbClr val="111111"/>
                          </a:solidFill>
                          <a:latin typeface="BIZ UDPゴシック"/>
                          <a:ea typeface="BIZ UDPゴシック"/>
                          <a:cs typeface="BIZ UDPゴシック"/>
                        </a:rPr>
                        <a:t>青木</a:t>
                      </a:r>
                    </a:p>
                  </a:txBody>
                  <a:tcPr marL="91440" marR="91440" marT="45720" marB="45720">
                    <a:solidFill>
                      <a:srgbClr val="F2F2F2"/>
                    </a:solidFill>
                  </a:tcPr>
                </a:tc>
                <a:tc>
                  <a:txBody>
                    <a:bodyPr anchor="ctr"/>
                    <a:lstStyle/>
                    <a:p>
                      <a:pPr algn="ctr"/>
                      <a:r>
                        <a:rPr sz="900" b="0">
                          <a:solidFill>
                            <a:srgbClr val="111111"/>
                          </a:solidFill>
                          <a:latin typeface="BIZ UDPゴシック"/>
                          <a:ea typeface="BIZ UDPゴシック"/>
                          <a:cs typeface="BIZ UDPゴシック"/>
                        </a:rPr>
                        <a:t>10/16</a:t>
                      </a:r>
                    </a:p>
                  </a:txBody>
                  <a:tcPr marL="91440" marR="91440" marT="45720" marB="45720">
                    <a:solidFill>
                      <a:srgbClr val="F2F2F2"/>
                    </a:solidFill>
                  </a:tcPr>
                </a:tc>
                <a:tc>
                  <a:txBody>
                    <a:bodyPr anchor="ctr"/>
                    <a:lstStyle/>
                    <a:p>
                      <a:pPr algn="ctr"/>
                      <a:r>
                        <a:rPr sz="900" b="1">
                          <a:solidFill>
                            <a:srgbClr val="FFFFFF"/>
                          </a:solidFill>
                          <a:latin typeface="BIZ UDPゴシック"/>
                          <a:ea typeface="BIZ UDPゴシック"/>
                          <a:cs typeface="BIZ UDPゴシック"/>
                        </a:rPr>
                        <a:t>提案</a:t>
                      </a:r>
                    </a:p>
                  </a:txBody>
                  <a:tcPr marL="91440" marR="91440" marT="45720" marB="45720">
                    <a:solidFill>
                      <a:srgbClr val="2474B5"/>
                    </a:solidFill>
                  </a:tcPr>
                </a:tc>
              </a:tr>
              <a:tr h="508000">
                <a:tc>
                  <a:txBody>
                    <a:bodyPr anchor="ctr"/>
                    <a:lstStyle/>
                    <a:p>
                      <a:pPr algn="ctr"/>
                      <a:r>
                        <a:rPr sz="900" b="1">
                          <a:solidFill>
                            <a:srgbClr val="111111"/>
                          </a:solidFill>
                          <a:latin typeface="BIZ UDPゴシック"/>
                          <a:ea typeface="BIZ UDPゴシック"/>
                          <a:cs typeface="BIZ UDPゴシック"/>
                        </a:rPr>
                        <a:t>3</a:t>
                      </a:r>
                    </a:p>
                  </a:txBody>
                  <a:tcPr marL="91440" marR="91440" marT="45720" marB="45720">
                    <a:solidFill>
                      <a:srgbClr val="DDEBF7"/>
                    </a:solidFill>
                  </a:tcPr>
                </a:tc>
                <a:tc>
                  <a:txBody>
                    <a:bodyPr anchor="ctr"/>
                    <a:lstStyle/>
                    <a:p>
                      <a:pPr algn="ctr"/>
                      <a:r>
                        <a:rPr sz="900" b="1">
                          <a:solidFill>
                            <a:srgbClr val="111111"/>
                          </a:solidFill>
                          <a:latin typeface="BIZ UDPゴシック"/>
                          <a:ea typeface="BIZ UDPゴシック"/>
                          <a:cs typeface="BIZ UDPゴシック"/>
                        </a:rPr>
                        <a:t>粗利率</a:t>
                      </a:r>
                    </a:p>
                  </a:txBody>
                  <a:tcPr marL="91440" marR="91440" marT="45720" marB="45720">
                    <a:solidFill>
                      <a:srgbClr val="FFFFFF"/>
                    </a:solidFill>
                  </a:tcPr>
                </a:tc>
                <a:tc>
                  <a:txBody>
                    <a:bodyPr anchor="ctr"/>
                    <a:lstStyle/>
                    <a:p>
                      <a:pPr algn="ctr"/>
                      <a:r>
                        <a:rPr sz="900" b="0">
                          <a:solidFill>
                            <a:srgbClr val="111111"/>
                          </a:solidFill>
                          <a:latin typeface="BIZ UDPゴシック"/>
                          <a:ea typeface="BIZ UDPゴシック"/>
                          <a:cs typeface="BIZ UDPゴシック"/>
                        </a:rPr>
                        <a:t>38% → 36%</a:t>
                      </a:r>
                    </a:p>
                  </a:txBody>
                  <a:tcPr marL="91440" marR="91440" marT="45720" marB="45720">
                    <a:solidFill>
                      <a:srgbClr val="FFFFFF"/>
                    </a:solidFill>
                  </a:tcPr>
                </a:tc>
                <a:tc>
                  <a:txBody>
                    <a:bodyPr anchor="ctr"/>
                    <a:lstStyle/>
                    <a:p>
                      <a:pPr algn="ctr"/>
                      <a:r>
                        <a:rPr sz="825" b="0">
                          <a:solidFill>
                            <a:srgbClr val="111111"/>
                          </a:solidFill>
                          <a:latin typeface="BIZ UDPゴシック"/>
                          <a:ea typeface="BIZ UDPゴシック"/>
                          <a:cs typeface="BIZ UDPゴシック"/>
                        </a:rPr>
                        <a:t>値引きと商品構成を分解</a:t>
                      </a:r>
                    </a:p>
                  </a:txBody>
                  <a:tcPr marL="91440" marR="91440" marT="45720" marB="45720">
                    <a:solidFill>
                      <a:srgbClr val="FFFFFF"/>
                    </a:solidFill>
                  </a:tcPr>
                </a:tc>
                <a:tc>
                  <a:txBody>
                    <a:bodyPr anchor="ctr"/>
                    <a:lstStyle/>
                    <a:p>
                      <a:pPr algn="ctr"/>
                      <a:r>
                        <a:rPr sz="900" b="0">
                          <a:solidFill>
                            <a:srgbClr val="111111"/>
                          </a:solidFill>
                          <a:latin typeface="BIZ UDPゴシック"/>
                          <a:ea typeface="BIZ UDPゴシック"/>
                          <a:cs typeface="BIZ UDPゴシック"/>
                        </a:rPr>
                        <a:t>山田</a:t>
                      </a:r>
                    </a:p>
                  </a:txBody>
                  <a:tcPr marL="91440" marR="91440" marT="45720" marB="45720">
                    <a:solidFill>
                      <a:srgbClr val="FFFFFF"/>
                    </a:solidFill>
                  </a:tcPr>
                </a:tc>
                <a:tc>
                  <a:txBody>
                    <a:bodyPr anchor="ctr"/>
                    <a:lstStyle/>
                    <a:p>
                      <a:pPr algn="ctr"/>
                      <a:r>
                        <a:rPr sz="900" b="0">
                          <a:solidFill>
                            <a:srgbClr val="111111"/>
                          </a:solidFill>
                          <a:latin typeface="BIZ UDPゴシック"/>
                          <a:ea typeface="BIZ UDPゴシック"/>
                          <a:cs typeface="BIZ UDPゴシック"/>
                        </a:rPr>
                        <a:t>10/16</a:t>
                      </a:r>
                    </a:p>
                  </a:txBody>
                  <a:tcPr marL="91440" marR="91440" marT="45720" marB="45720">
                    <a:solidFill>
                      <a:srgbClr val="FFFFFF"/>
                    </a:solidFill>
                  </a:tcPr>
                </a:tc>
                <a:tc>
                  <a:txBody>
                    <a:bodyPr anchor="ctr"/>
                    <a:lstStyle/>
                    <a:p>
                      <a:pPr algn="ctr"/>
                      <a:r>
                        <a:rPr sz="900" b="1">
                          <a:solidFill>
                            <a:srgbClr val="FFFFFF"/>
                          </a:solidFill>
                          <a:latin typeface="BIZ UDPゴシック"/>
                          <a:ea typeface="BIZ UDPゴシック"/>
                          <a:cs typeface="BIZ UDPゴシック"/>
                        </a:rPr>
                        <a:t>要確認</a:t>
                      </a:r>
                    </a:p>
                  </a:txBody>
                  <a:tcPr marL="91440" marR="91440" marT="45720" marB="45720">
                    <a:solidFill>
                      <a:srgbClr val="C00000"/>
                    </a:solidFill>
                  </a:tcPr>
                </a:tc>
              </a:tr>
              <a:tr h="508000">
                <a:tc>
                  <a:txBody>
                    <a:bodyPr anchor="ctr"/>
                    <a:lstStyle/>
                    <a:p>
                      <a:pPr algn="ctr"/>
                      <a:r>
                        <a:rPr sz="900" b="1">
                          <a:solidFill>
                            <a:srgbClr val="111111"/>
                          </a:solidFill>
                          <a:latin typeface="BIZ UDPゴシック"/>
                          <a:ea typeface="BIZ UDPゴシック"/>
                          <a:cs typeface="BIZ UDPゴシック"/>
                        </a:rPr>
                        <a:t>4</a:t>
                      </a:r>
                    </a:p>
                  </a:txBody>
                  <a:tcPr marL="91440" marR="91440" marT="45720" marB="45720">
                    <a:solidFill>
                      <a:srgbClr val="DDEBF7"/>
                    </a:solidFill>
                  </a:tcPr>
                </a:tc>
                <a:tc>
                  <a:txBody>
                    <a:bodyPr anchor="ctr"/>
                    <a:lstStyle/>
                    <a:p>
                      <a:pPr algn="ctr"/>
                      <a:r>
                        <a:rPr sz="900" b="1">
                          <a:solidFill>
                            <a:srgbClr val="111111"/>
                          </a:solidFill>
                          <a:latin typeface="BIZ UDPゴシック"/>
                          <a:ea typeface="BIZ UDPゴシック"/>
                          <a:cs typeface="BIZ UDPゴシック"/>
                        </a:rPr>
                        <a:t>施策の効果</a:t>
                      </a:r>
                    </a:p>
                  </a:txBody>
                  <a:tcPr marL="91440" marR="91440" marT="45720" marB="45720">
                    <a:solidFill>
                      <a:srgbClr val="F2F2F2"/>
                    </a:solidFill>
                  </a:tcPr>
                </a:tc>
                <a:tc>
                  <a:txBody>
                    <a:bodyPr anchor="ctr"/>
                    <a:lstStyle/>
                    <a:p>
                      <a:pPr algn="ctr"/>
                      <a:r>
                        <a:rPr sz="900" b="0">
                          <a:solidFill>
                            <a:srgbClr val="111111"/>
                          </a:solidFill>
                          <a:latin typeface="BIZ UDPゴシック"/>
                          <a:ea typeface="BIZ UDPゴシック"/>
                          <a:cs typeface="BIZ UDPゴシック"/>
                        </a:rPr>
                        <a:t>改善後の結果は未測定</a:t>
                      </a:r>
                    </a:p>
                  </a:txBody>
                  <a:tcPr marL="91440" marR="91440" marT="45720" marB="45720">
                    <a:solidFill>
                      <a:srgbClr val="F2F2F2"/>
                    </a:solidFill>
                  </a:tcPr>
                </a:tc>
                <a:tc>
                  <a:txBody>
                    <a:bodyPr anchor="ctr"/>
                    <a:lstStyle/>
                    <a:p>
                      <a:pPr algn="ctr"/>
                      <a:r>
                        <a:rPr sz="825" b="0">
                          <a:solidFill>
                            <a:srgbClr val="111111"/>
                          </a:solidFill>
                          <a:latin typeface="BIZ UDPゴシック"/>
                          <a:ea typeface="BIZ UDPゴシック"/>
                          <a:cs typeface="BIZ UDPゴシック"/>
                        </a:rPr>
                        <a:t>対象商品の返品率を週次比較</a:t>
                      </a:r>
                    </a:p>
                  </a:txBody>
                  <a:tcPr marL="91440" marR="91440" marT="45720" marB="45720">
                    <a:solidFill>
                      <a:srgbClr val="F2F2F2"/>
                    </a:solidFill>
                  </a:tcPr>
                </a:tc>
                <a:tc>
                  <a:txBody>
                    <a:bodyPr anchor="ctr"/>
                    <a:lstStyle/>
                    <a:p>
                      <a:pPr algn="ctr"/>
                      <a:r>
                        <a:rPr sz="900" b="0">
                          <a:solidFill>
                            <a:srgbClr val="111111"/>
                          </a:solidFill>
                          <a:latin typeface="BIZ UDPゴシック"/>
                          <a:ea typeface="BIZ UDPゴシック"/>
                          <a:cs typeface="BIZ UDPゴシック"/>
                        </a:rPr>
                        <a:t>青木</a:t>
                      </a:r>
                    </a:p>
                  </a:txBody>
                  <a:tcPr marL="91440" marR="91440" marT="45720" marB="45720">
                    <a:solidFill>
                      <a:srgbClr val="F2F2F2"/>
                    </a:solidFill>
                  </a:tcPr>
                </a:tc>
                <a:tc>
                  <a:txBody>
                    <a:bodyPr anchor="ctr"/>
                    <a:lstStyle/>
                    <a:p>
                      <a:pPr algn="ctr"/>
                      <a:r>
                        <a:rPr sz="900" b="0">
                          <a:solidFill>
                            <a:srgbClr val="111111"/>
                          </a:solidFill>
                          <a:latin typeface="BIZ UDPゴシック"/>
                          <a:ea typeface="BIZ UDPゴシック"/>
                          <a:cs typeface="BIZ UDPゴシック"/>
                        </a:rPr>
                        <a:t>週次</a:t>
                      </a:r>
                    </a:p>
                  </a:txBody>
                  <a:tcPr marL="91440" marR="91440" marT="45720" marB="45720">
                    <a:solidFill>
                      <a:srgbClr val="F2F2F2"/>
                    </a:solidFill>
                  </a:tcPr>
                </a:tc>
                <a:tc>
                  <a:txBody>
                    <a:bodyPr anchor="ctr"/>
                    <a:lstStyle/>
                    <a:p>
                      <a:pPr algn="ctr"/>
                      <a:r>
                        <a:rPr sz="900" b="1">
                          <a:solidFill>
                            <a:srgbClr val="FFFFFF"/>
                          </a:solidFill>
                          <a:latin typeface="BIZ UDPゴシック"/>
                          <a:ea typeface="BIZ UDPゴシック"/>
                          <a:cs typeface="BIZ UDPゴシック"/>
                        </a:rPr>
                        <a:t>要確認</a:t>
                      </a:r>
                    </a:p>
                  </a:txBody>
                  <a:tcPr marL="91440" marR="91440" marT="45720" marB="45720">
                    <a:solidFill>
                      <a:srgbClr val="C00000"/>
                    </a:solidFill>
                  </a:tcPr>
                </a:tc>
              </a:tr>
              <a:tr h="508000">
                <a:tc>
                  <a:txBody>
                    <a:bodyPr anchor="ctr"/>
                    <a:lstStyle/>
                    <a:p>
                      <a:pPr algn="ctr"/>
                      <a:r>
                        <a:rPr sz="900" b="1">
                          <a:solidFill>
                            <a:srgbClr val="111111"/>
                          </a:solidFill>
                          <a:latin typeface="BIZ UDPゴシック"/>
                          <a:ea typeface="BIZ UDPゴシック"/>
                          <a:cs typeface="BIZ UDPゴシック"/>
                        </a:rPr>
                        <a:t>5</a:t>
                      </a:r>
                    </a:p>
                  </a:txBody>
                  <a:tcPr marL="91440" marR="91440" marT="45720" marB="45720">
                    <a:solidFill>
                      <a:srgbClr val="DDEBF7"/>
                    </a:solidFill>
                  </a:tcPr>
                </a:tc>
                <a:tc>
                  <a:txBody>
                    <a:bodyPr anchor="ctr"/>
                    <a:lstStyle/>
                    <a:p>
                      <a:pPr algn="ctr"/>
                      <a:r>
                        <a:rPr sz="900" b="1">
                          <a:solidFill>
                            <a:srgbClr val="111111"/>
                          </a:solidFill>
                          <a:latin typeface="BIZ UDPゴシック"/>
                          <a:ea typeface="BIZ UDPゴシック"/>
                          <a:cs typeface="BIZ UDPゴシック"/>
                        </a:rPr>
                        <a:t>広告増額</a:t>
                      </a:r>
                    </a:p>
                  </a:txBody>
                  <a:tcPr marL="91440" marR="91440" marT="45720" marB="45720">
                    <a:solidFill>
                      <a:srgbClr val="FFFFFF"/>
                    </a:solidFill>
                  </a:tcPr>
                </a:tc>
                <a:tc>
                  <a:txBody>
                    <a:bodyPr anchor="ctr"/>
                    <a:lstStyle/>
                    <a:p>
                      <a:pPr algn="ctr"/>
                      <a:r>
                        <a:rPr sz="900" b="0">
                          <a:solidFill>
                            <a:srgbClr val="111111"/>
                          </a:solidFill>
                          <a:latin typeface="BIZ UDPゴシック"/>
                          <a:ea typeface="BIZ UDPゴシック"/>
                          <a:cs typeface="BIZ UDPゴシック"/>
                        </a:rPr>
                        <a:t>売上20%増、粗利率2ポイント低下</a:t>
                      </a:r>
                    </a:p>
                  </a:txBody>
                  <a:tcPr marL="91440" marR="91440" marT="45720" marB="45720">
                    <a:solidFill>
                      <a:srgbClr val="FFFFFF"/>
                    </a:solidFill>
                  </a:tcPr>
                </a:tc>
                <a:tc>
                  <a:txBody>
                    <a:bodyPr anchor="ctr"/>
                    <a:lstStyle/>
                    <a:p>
                      <a:pPr algn="ctr"/>
                      <a:r>
                        <a:rPr sz="825" b="0">
                          <a:solidFill>
                            <a:srgbClr val="111111"/>
                          </a:solidFill>
                          <a:latin typeface="BIZ UDPゴシック"/>
                          <a:ea typeface="BIZ UDPゴシック"/>
                          <a:cs typeface="BIZ UDPゴシック"/>
                        </a:rPr>
                        <a:t>施策の完了と分析後に判断</a:t>
                      </a:r>
                    </a:p>
                  </a:txBody>
                  <a:tcPr marL="91440" marR="91440" marT="45720" marB="45720">
                    <a:solidFill>
                      <a:srgbClr val="FFFFFF"/>
                    </a:solidFill>
                  </a:tcPr>
                </a:tc>
                <a:tc>
                  <a:txBody>
                    <a:bodyPr anchor="ctr"/>
                    <a:lstStyle/>
                    <a:p>
                      <a:pPr algn="ctr"/>
                      <a:r>
                        <a:rPr sz="900" b="0">
                          <a:solidFill>
                            <a:srgbClr val="111111"/>
                          </a:solidFill>
                          <a:latin typeface="BIZ UDPゴシック"/>
                          <a:ea typeface="BIZ UDPゴシック"/>
                          <a:cs typeface="BIZ UDPゴシック"/>
                        </a:rPr>
                        <a:t>責任者</a:t>
                      </a:r>
                    </a:p>
                  </a:txBody>
                  <a:tcPr marL="91440" marR="91440" marT="45720" marB="45720">
                    <a:solidFill>
                      <a:srgbClr val="FFFFFF"/>
                    </a:solidFill>
                  </a:tcPr>
                </a:tc>
                <a:tc>
                  <a:txBody>
                    <a:bodyPr anchor="ctr"/>
                    <a:lstStyle/>
                    <a:p>
                      <a:pPr algn="ctr"/>
                      <a:r>
                        <a:rPr sz="900" b="0">
                          <a:solidFill>
                            <a:srgbClr val="111111"/>
                          </a:solidFill>
                          <a:latin typeface="BIZ UDPゴシック"/>
                          <a:ea typeface="BIZ UDPゴシック"/>
                          <a:cs typeface="BIZ UDPゴシック"/>
                        </a:rPr>
                        <a:t>次回</a:t>
                      </a:r>
                    </a:p>
                  </a:txBody>
                  <a:tcPr marL="91440" marR="91440" marT="45720" marB="45720">
                    <a:solidFill>
                      <a:srgbClr val="FFFFFF"/>
                    </a:solidFill>
                  </a:tcPr>
                </a:tc>
                <a:tc>
                  <a:txBody>
                    <a:bodyPr anchor="ctr"/>
                    <a:lstStyle/>
                    <a:p>
                      <a:pPr algn="ctr"/>
                      <a:r>
                        <a:rPr sz="900" b="1">
                          <a:solidFill>
                            <a:srgbClr val="FFFFFF"/>
                          </a:solidFill>
                          <a:latin typeface="BIZ UDPゴシック"/>
                          <a:ea typeface="BIZ UDPゴシック"/>
                          <a:cs typeface="BIZ UDPゴシック"/>
                        </a:rPr>
                        <a:t>継続審議</a:t>
                      </a:r>
                    </a:p>
                  </a:txBody>
                  <a:tcPr marL="91440" marR="91440" marT="45720" marB="45720">
                    <a:solidFill>
                      <a:srgbClr val="666666"/>
                    </a:solidFill>
                  </a:tcPr>
                </a:tc>
              </a:tr>
            </a:tbl>
          </a:graphicData>
        </a:graphic>
      </p:graphicFrame>
      <p:sp>
        <p:nvSpPr>
          <p:cNvPr id="16" name="page-06-object-015">
            <a:extLst xmlns:a="http://schemas.openxmlformats.org/drawingml/2006/main">
              <a:ext uri="{FF2B5EF4-FFF2-40B4-BE49-F238E27FC236}">
                <a16:creationId xmlns:a16="http://schemas.microsoft.com/office/drawing/2014/main" id="{8CF62AB7-896C-40D6-A459-C881D2C659AD}"/>
              </a:ext>
            </a:extLst>
          </p:cNvPr>
          <p:cNvSpPr>
            <a:spLocks xmlns:a="http://schemas.openxmlformats.org/drawingml/2006/main" noGrp="1"/>
          </p:cNvSpPr>
          <p:nvPr/>
        </p:nvSpPr>
        <p:spPr>
          <a:xfrm xmlns:a="http://schemas.openxmlformats.org/drawingml/2006/main">
            <a:off x="333375" y="4914900"/>
            <a:ext cx="5524500" cy="819150"/>
          </a:xfrm>
          <a:prstGeom xmlns:a="http://schemas.openxmlformats.org/drawingml/2006/main" prst="rect">
            <a:avLst/>
          </a:prstGeom>
          <a:solidFill xmlns:a="http://schemas.openxmlformats.org/drawingml/2006/main">
            <a:srgbClr val="DDEBF7"/>
          </a:solidFill>
          <a:ln xmlns:a="http://schemas.openxmlformats.org/drawingml/2006/main" w="12383">
            <a:solidFill>
              <a:srgbClr val="2474B5"/>
            </a:solidFill>
            <a:prstDash val="solid"/>
          </a:ln>
        </p:spPr>
        <p:txBody xmlns:a="http://schemas.openxmlformats.org/drawingml/2006/main">
          <a:bodyPr/>
          <a:p/>
        </p:txBody>
      </p:sp>
      <p:sp>
        <p:nvSpPr>
          <p:cNvPr id="17" name="page-06-object-016">
            <a:extLst xmlns:a="http://schemas.openxmlformats.org/drawingml/2006/main">
              <a:ext uri="{FF2B5EF4-FFF2-40B4-BE49-F238E27FC236}">
                <a16:creationId xmlns:a16="http://schemas.microsoft.com/office/drawing/2014/main" id="{EDC63B7C-A725-4B2B-A67F-A15A8672C716}"/>
              </a:ext>
            </a:extLst>
          </p:cNvPr>
          <p:cNvSpPr>
            <a:spLocks xmlns:a="http://schemas.openxmlformats.org/drawingml/2006/main" noGrp="1"/>
          </p:cNvSpPr>
          <p:nvPr/>
        </p:nvSpPr>
        <p:spPr>
          <a:xfrm xmlns:a="http://schemas.openxmlformats.org/drawingml/2006/main">
            <a:off x="476250" y="5010150"/>
            <a:ext cx="5238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975" b="1" i="0">
                <a:solidFill>
                  <a:srgbClr val="111111"/>
                </a:solidFill>
                <a:latin typeface="BIZ UDPゴシック"/>
                <a:ea typeface="BIZ UDPゴシック"/>
                <a:cs typeface="BIZ UDPゴシック"/>
              </a:defRPr>
            </a:pPr>
            <a:r>
              <a:rPr sz="975" b="1" i="0" u="none">
                <a:solidFill>
                  <a:srgbClr val="111111"/>
                </a:solidFill>
                <a:latin typeface="BIZ UDPゴシック"/>
                <a:ea typeface="BIZ UDPゴシック"/>
                <a:cs typeface="BIZ UDPゴシック"/>
              </a:rPr>
              <a:t>【今回の判断】</a:t>
            </a:r>
          </a:p>
          <a:p xmlns:a="http://schemas.openxmlformats.org/drawingml/2006/main">
            <a:pPr algn="l">
              <a:defRPr sz="975" b="1" i="0">
                <a:solidFill>
                  <a:srgbClr val="111111"/>
                </a:solidFill>
                <a:latin typeface="BIZ UDPゴシック"/>
                <a:ea typeface="BIZ UDPゴシック"/>
                <a:cs typeface="BIZ UDPゴシック"/>
              </a:defRPr>
            </a:pPr>
            <a:r>
              <a:rPr sz="975" b="1" i="0" u="none">
                <a:solidFill>
                  <a:srgbClr val="111111"/>
                </a:solidFill>
                <a:latin typeface="BIZ UDPゴシック"/>
                <a:ea typeface="BIZ UDPゴシック"/>
                <a:cs typeface="BIZ UDPゴシック"/>
              </a:rPr>
              <a:t>商品説明の修正と粗利分析に着手する案</a:t>
            </a:r>
          </a:p>
          <a:p xmlns:a="http://schemas.openxmlformats.org/drawingml/2006/main">
            <a:pPr algn="l">
              <a:defRPr sz="975" b="1" i="0">
                <a:solidFill>
                  <a:srgbClr val="111111"/>
                </a:solidFill>
                <a:latin typeface="BIZ UDPゴシック"/>
                <a:ea typeface="BIZ UDPゴシック"/>
                <a:cs typeface="BIZ UDPゴシック"/>
              </a:defRPr>
            </a:pPr>
            <a:r>
              <a:rPr sz="975" b="1" i="0" u="none">
                <a:solidFill>
                  <a:srgbClr val="111111"/>
                </a:solidFill>
                <a:latin typeface="BIZ UDPゴシック"/>
                <a:ea typeface="BIZ UDPゴシック"/>
                <a:cs typeface="BIZ UDPゴシック"/>
              </a:rPr>
              <a:t>判断者：事業責任者／結果は会議後に記録</a:t>
            </a:r>
          </a:p>
        </p:txBody>
      </p:sp>
      <p:sp>
        <p:nvSpPr>
          <p:cNvPr id="18" name="page-06-object-017">
            <a:extLst xmlns:a="http://schemas.openxmlformats.org/drawingml/2006/main">
              <a:ext uri="{FF2B5EF4-FFF2-40B4-BE49-F238E27FC236}">
                <a16:creationId xmlns:a16="http://schemas.microsoft.com/office/drawing/2014/main" id="{9A2A196B-477D-45F3-9352-8A1A9D80C2CE}"/>
              </a:ext>
            </a:extLst>
          </p:cNvPr>
          <p:cNvSpPr>
            <a:spLocks xmlns:a="http://schemas.openxmlformats.org/drawingml/2006/main" noGrp="1"/>
          </p:cNvSpPr>
          <p:nvPr/>
        </p:nvSpPr>
        <p:spPr>
          <a:xfrm xmlns:a="http://schemas.openxmlformats.org/drawingml/2006/main">
            <a:off x="6048375" y="4914900"/>
            <a:ext cx="5810250" cy="819150"/>
          </a:xfrm>
          <a:prstGeom xmlns:a="http://schemas.openxmlformats.org/drawingml/2006/main" prst="rect">
            <a:avLst/>
          </a:prstGeom>
          <a:solidFill xmlns:a="http://schemas.openxmlformats.org/drawingml/2006/main">
            <a:srgbClr val="FCE4D6"/>
          </a:solidFill>
          <a:ln xmlns:a="http://schemas.openxmlformats.org/drawingml/2006/main" w="12383">
            <a:solidFill>
              <a:srgbClr val="C00000"/>
            </a:solidFill>
            <a:prstDash val="solid"/>
          </a:ln>
        </p:spPr>
        <p:txBody xmlns:a="http://schemas.openxmlformats.org/drawingml/2006/main">
          <a:bodyPr/>
          <a:p/>
        </p:txBody>
      </p:sp>
      <p:sp>
        <p:nvSpPr>
          <p:cNvPr id="19" name="page-06-object-018">
            <a:extLst xmlns:a="http://schemas.openxmlformats.org/drawingml/2006/main">
              <a:ext uri="{FF2B5EF4-FFF2-40B4-BE49-F238E27FC236}">
                <a16:creationId xmlns:a16="http://schemas.microsoft.com/office/drawing/2014/main" id="{812E96FE-5E71-47C5-A82A-48BDA3321CCE}"/>
              </a:ext>
            </a:extLst>
          </p:cNvPr>
          <p:cNvSpPr>
            <a:spLocks xmlns:a="http://schemas.openxmlformats.org/drawingml/2006/main" noGrp="1"/>
          </p:cNvSpPr>
          <p:nvPr/>
        </p:nvSpPr>
        <p:spPr>
          <a:xfrm xmlns:a="http://schemas.openxmlformats.org/drawingml/2006/main">
            <a:off x="6191250" y="5010150"/>
            <a:ext cx="552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975" b="1" i="0">
                <a:solidFill>
                  <a:srgbClr val="C00000"/>
                </a:solidFill>
                <a:latin typeface="BIZ UDPゴシック"/>
                <a:ea typeface="BIZ UDPゴシック"/>
                <a:cs typeface="BIZ UDPゴシック"/>
              </a:defRPr>
            </a:pPr>
            <a:r>
              <a:rPr sz="975" b="1" i="0" u="none">
                <a:solidFill>
                  <a:srgbClr val="C00000"/>
                </a:solidFill>
                <a:latin typeface="BIZ UDPゴシック"/>
                <a:ea typeface="BIZ UDPゴシック"/>
                <a:cs typeface="BIZ UDPゴシック"/>
              </a:rPr>
              <a:t>【継続確認】</a:t>
            </a:r>
          </a:p>
          <a:p xmlns:a="http://schemas.openxmlformats.org/drawingml/2006/main">
            <a:pPr algn="l">
              <a:defRPr sz="975" b="1" i="0">
                <a:solidFill>
                  <a:srgbClr val="C00000"/>
                </a:solidFill>
                <a:latin typeface="BIZ UDPゴシック"/>
                <a:ea typeface="BIZ UDPゴシック"/>
                <a:cs typeface="BIZ UDPゴシック"/>
              </a:defRPr>
            </a:pPr>
            <a:r>
              <a:rPr sz="975" b="1" i="0" u="none">
                <a:solidFill>
                  <a:srgbClr val="C00000"/>
                </a:solidFill>
                <a:latin typeface="BIZ UDPゴシック"/>
                <a:ea typeface="BIZ UDPゴシック"/>
                <a:cs typeface="BIZ UDPゴシック"/>
              </a:rPr>
              <a:t>返品率上昇と粗利率低下の要因は未確認</a:t>
            </a:r>
          </a:p>
          <a:p xmlns:a="http://schemas.openxmlformats.org/drawingml/2006/main">
            <a:pPr algn="l">
              <a:defRPr sz="975" b="1" i="0">
                <a:solidFill>
                  <a:srgbClr val="C00000"/>
                </a:solidFill>
                <a:latin typeface="BIZ UDPゴシック"/>
                <a:ea typeface="BIZ UDPゴシック"/>
                <a:cs typeface="BIZ UDPゴシック"/>
              </a:defRPr>
            </a:pPr>
            <a:r>
              <a:rPr sz="975" b="1" i="0" u="none">
                <a:solidFill>
                  <a:srgbClr val="C00000"/>
                </a:solidFill>
                <a:latin typeface="BIZ UDPゴシック"/>
                <a:ea typeface="BIZ UDPゴシック"/>
                <a:cs typeface="BIZ UDPゴシック"/>
              </a:rPr>
              <a:t>次回提示物：分類表・改稿記録・粗利差分</a:t>
            </a:r>
          </a:p>
        </p:txBody>
      </p:sp>
      <p:sp>
        <p:nvSpPr>
          <p:cNvPr id="20" name="page-06-object-019">
            <a:extLst xmlns:a="http://schemas.openxmlformats.org/drawingml/2006/main">
              <a:ext uri="{FF2B5EF4-FFF2-40B4-BE49-F238E27FC236}">
                <a16:creationId xmlns:a16="http://schemas.microsoft.com/office/drawing/2014/main" id="{AAEB0C23-01CE-49A1-9DBD-F6E780FCB047}"/>
              </a:ext>
            </a:extLst>
          </p:cNvPr>
          <p:cNvSpPr>
            <a:spLocks xmlns:a="http://schemas.openxmlformats.org/drawingml/2006/main" noGrp="1"/>
          </p:cNvSpPr>
          <p:nvPr/>
        </p:nvSpPr>
        <p:spPr>
          <a:xfrm xmlns:a="http://schemas.openxmlformats.org/drawingml/2006/main">
            <a:off x="285750" y="5848350"/>
            <a:ext cx="11601450" cy="381000"/>
          </a:xfrm>
          <a:prstGeom xmlns:a="http://schemas.openxmlformats.org/drawingml/2006/main" prst="rect">
            <a:avLst/>
          </a:prstGeom>
          <a:solidFill xmlns:a="http://schemas.openxmlformats.org/drawingml/2006/main">
            <a:srgbClr val="DDEBF7"/>
          </a:solidFill>
          <a:ln xmlns:a="http://schemas.openxmlformats.org/drawingml/2006/main" w="11430">
            <a:solidFill>
              <a:srgbClr val="2474B5"/>
            </a:solidFill>
            <a:prstDash val="solid"/>
          </a:ln>
        </p:spPr>
        <p:txBody xmlns:a="http://schemas.openxmlformats.org/drawingml/2006/main">
          <a:bodyPr/>
          <a:p/>
        </p:txBody>
      </p:sp>
      <p:sp>
        <p:nvSpPr>
          <p:cNvPr id="21" name="page-06-object-020">
            <a:extLst xmlns:a="http://schemas.openxmlformats.org/drawingml/2006/main">
              <a:ext uri="{FF2B5EF4-FFF2-40B4-BE49-F238E27FC236}">
                <a16:creationId xmlns:a16="http://schemas.microsoft.com/office/drawing/2014/main" id="{AABCBC0A-4306-4D63-A360-D605516EBAA5}"/>
              </a:ext>
            </a:extLst>
          </p:cNvPr>
          <p:cNvSpPr>
            <a:spLocks xmlns:a="http://schemas.openxmlformats.org/drawingml/2006/main" noGrp="1"/>
          </p:cNvSpPr>
          <p:nvPr/>
        </p:nvSpPr>
        <p:spPr>
          <a:xfrm xmlns:a="http://schemas.openxmlformats.org/drawingml/2006/main">
            <a:off x="285750" y="5848350"/>
            <a:ext cx="1047750" cy="381000"/>
          </a:xfrm>
          <a:prstGeom xmlns:a="http://schemas.openxmlformats.org/drawingml/2006/main" prst="rect">
            <a:avLst/>
          </a:prstGeom>
          <a:solidFill xmlns:a="http://schemas.openxmlformats.org/drawingml/2006/main">
            <a:srgbClr val="0B5AA6"/>
          </a:solidFill>
          <a:ln xmlns:a="http://schemas.openxmlformats.org/drawingml/2006/main" w="0">
            <a:solidFill>
              <a:srgbClr val="0B5AA6"/>
            </a:solidFill>
            <a:prstDash val="solid"/>
          </a:ln>
        </p:spPr>
        <p:txBody xmlns:a="http://schemas.openxmlformats.org/drawingml/2006/main">
          <a:bodyPr/>
          <a:p/>
        </p:txBody>
      </p:sp>
      <p:sp>
        <p:nvSpPr>
          <p:cNvPr id="22" name="page-06-object-021">
            <a:extLst xmlns:a="http://schemas.openxmlformats.org/drawingml/2006/main">
              <a:ext uri="{FF2B5EF4-FFF2-40B4-BE49-F238E27FC236}">
                <a16:creationId xmlns:a16="http://schemas.microsoft.com/office/drawing/2014/main" id="{F9E817EB-1449-431E-928D-965FCE020196}"/>
              </a:ext>
            </a:extLst>
          </p:cNvPr>
          <p:cNvSpPr>
            <a:spLocks xmlns:a="http://schemas.openxmlformats.org/drawingml/2006/main" noGrp="1"/>
          </p:cNvSpPr>
          <p:nvPr/>
        </p:nvSpPr>
        <p:spPr>
          <a:xfrm xmlns:a="http://schemas.openxmlformats.org/drawingml/2006/main">
            <a:off x="285750" y="5895975"/>
            <a:ext cx="1047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i="0">
                <a:solidFill>
                  <a:srgbClr val="FFFFFF"/>
                </a:solidFill>
                <a:latin typeface="BIZ UDPゴシック"/>
                <a:ea typeface="BIZ UDPゴシック"/>
                <a:cs typeface="BIZ UDPゴシック"/>
              </a:defRPr>
            </a:pPr>
            <a:r>
              <a:rPr sz="1200" b="1" i="0" u="none">
                <a:solidFill>
                  <a:srgbClr val="FFFFFF"/>
                </a:solidFill>
                <a:latin typeface="BIZ UDPゴシック"/>
                <a:ea typeface="BIZ UDPゴシック"/>
                <a:cs typeface="BIZ UDPゴシック"/>
              </a:rPr>
              <a:t>次回</a:t>
            </a:r>
          </a:p>
        </p:txBody>
      </p:sp>
      <p:sp>
        <p:nvSpPr>
          <p:cNvPr id="23" name="page-06-object-022">
            <a:extLst xmlns:a="http://schemas.openxmlformats.org/drawingml/2006/main">
              <a:ext uri="{FF2B5EF4-FFF2-40B4-BE49-F238E27FC236}">
                <a16:creationId xmlns:a16="http://schemas.microsoft.com/office/drawing/2014/main" id="{10A86ABB-E46C-4CC5-835B-0B9B619FFAE4}"/>
              </a:ext>
            </a:extLst>
          </p:cNvPr>
          <p:cNvSpPr>
            <a:spLocks xmlns:a="http://schemas.openxmlformats.org/drawingml/2006/main" noGrp="1"/>
          </p:cNvSpPr>
          <p:nvPr/>
        </p:nvSpPr>
        <p:spPr>
          <a:xfrm xmlns:a="http://schemas.openxmlformats.org/drawingml/2006/main">
            <a:off x="1447800" y="590550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i="0">
                <a:solidFill>
                  <a:srgbClr val="111111"/>
                </a:solidFill>
                <a:latin typeface="BIZ UDPゴシック"/>
                <a:ea typeface="BIZ UDPゴシック"/>
                <a:cs typeface="BIZ UDPゴシック"/>
              </a:defRPr>
            </a:pPr>
            <a:r>
              <a:rPr sz="1275" b="1" i="0" u="none">
                <a:solidFill>
                  <a:srgbClr val="111111"/>
                </a:solidFill>
                <a:latin typeface="BIZ UDPゴシック"/>
                <a:ea typeface="BIZ UDPゴシック"/>
                <a:cs typeface="BIZ UDPゴシック"/>
              </a:rPr>
              <a:t>次回、各担当が施策の完了と分析結果を示し、事業責任者が広告増額を判断する</a:t>
            </a:r>
          </a:p>
        </p:txBody>
      </p:sp>
      <p:sp>
        <p:nvSpPr>
          <p:cNvPr id="24" name="page-06-object-023">
            <a:extLst xmlns:a="http://schemas.openxmlformats.org/drawingml/2006/main">
              <a:ext uri="{FF2B5EF4-FFF2-40B4-BE49-F238E27FC236}">
                <a16:creationId xmlns:a16="http://schemas.microsoft.com/office/drawing/2014/main" id="{3904EB2D-ACAF-4377-8078-0F34CCD8D320}"/>
              </a:ext>
            </a:extLst>
          </p:cNvPr>
          <p:cNvSpPr>
            <a:spLocks xmlns:a="http://schemas.openxmlformats.org/drawingml/2006/main" noGrp="1"/>
          </p:cNvSpPr>
          <p:nvPr/>
        </p:nvSpPr>
        <p:spPr>
          <a:xfrm xmlns:a="http://schemas.openxmlformats.org/drawingml/2006/main">
            <a:off x="304800" y="6305550"/>
            <a:ext cx="1100137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75" b="0" i="0">
                <a:solidFill>
                  <a:srgbClr val="666666"/>
                </a:solidFill>
                <a:latin typeface="BIZ UDPゴシック"/>
                <a:ea typeface="BIZ UDPゴシック"/>
                <a:cs typeface="BIZ UDPゴシック"/>
              </a:defRPr>
            </a:pPr>
            <a:r>
              <a:rPr sz="675" b="0" i="0" u="none">
                <a:solidFill>
                  <a:srgbClr val="666666"/>
                </a:solidFill>
                <a:latin typeface="BIZ UDPゴシック"/>
                <a:ea typeface="BIZ UDPゴシック"/>
                <a:cs typeface="BIZ UDPゴシック"/>
              </a:rPr>
              <a:t>出所：架空データ「くらし便 9月報告・対応案」。提案段階であり、実施済みの結果ではない。</a:t>
            </a:r>
          </a:p>
        </p:txBody>
      </p:sp>
    </p:spTree>
    <p:extLst>
      <p:ext uri="{BB962C8B-B14F-4D97-AF65-F5344CB8AC3E}">
        <p14:creationId xmlns:p14="http://schemas.microsoft.com/office/powerpoint/2010/main" val="11310591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くらし便 EC事業 9月報告</dc:title>
  <dcterms:created xsi:type="dcterms:W3CDTF">2026-07-23T10:21:40.3760000Z</dcterms:created>
  <dcterms:modified xsi:type="dcterms:W3CDTF">2026-07-23T10:21:40.3760000Z</dcterms:modified>
  <dc:subject>架空のデータによる原典テンプレート実行例</dc:subject>
  <dc:language>ja-JP</dc:language>
</coreProperties>
</file>