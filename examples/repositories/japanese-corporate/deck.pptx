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charts/chart1.xml" ContentType="application/vnd.openxmlformats-officedocument.drawingml.chart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22ea82e0823249e8" Type="http://schemas.openxmlformats.org/officeDocument/2006/relationships/extended-properties" Target="docProps/app.xml"/><Relationship Id="R67bf38adaf17436c" Type="http://schemas.openxmlformats.org/package/2006/relationships/metadata/core-properties" Target="docProps/core.xml"/><Relationship Id="Rb60b7b4c923e4ec2" Type="http://schemas.openxmlformats.org/officeDocument/2006/relationships/officeDocument" Target="ppt/presentation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b78575d63e0411c"/>
  </p:sldMasterIdLst>
  <p:notesMasterIdLst>
    <p:notesMasterId xmlns:r="http://schemas.openxmlformats.org/officeDocument/2006/relationships" r:id="R8626ecf1133f457d"/>
  </p:notesMasterIdLst>
  <p:sldIdLst>
    <p:sldId xmlns:r="http://schemas.openxmlformats.org/officeDocument/2006/relationships" id="256" r:id="R8c51160cfc374565"/>
    <p:sldId xmlns:r="http://schemas.openxmlformats.org/officeDocument/2006/relationships" id="257" r:id="Re82984a468c648f8"/>
    <p:sldId xmlns:r="http://schemas.openxmlformats.org/officeDocument/2006/relationships" id="266" r:id="Rb42ab2b702a94b3b"/>
    <p:sldId xmlns:r="http://schemas.openxmlformats.org/officeDocument/2006/relationships" id="264" r:id="R58223999bf9949d1"/>
    <p:sldId xmlns:r="http://schemas.openxmlformats.org/officeDocument/2006/relationships" id="263" r:id="Rc956495f49dd4651"/>
    <p:sldId xmlns:r="http://schemas.openxmlformats.org/officeDocument/2006/relationships" id="269" r:id="R6b81009cab8345a3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31dd5bcadc0b49e5" Type="http://schemas.openxmlformats.org/officeDocument/2006/relationships/tableStyles" Target="tableStyles.xml"/><Relationship Id="R58223999bf9949d1" Type="http://schemas.openxmlformats.org/officeDocument/2006/relationships/slide" Target="slides/slide9.xml"/><Relationship Id="R6b81009cab8345a3" Type="http://schemas.openxmlformats.org/officeDocument/2006/relationships/slide" Target="slides/slide14.xml"/><Relationship Id="R8626ecf1133f457d" Type="http://schemas.openxmlformats.org/officeDocument/2006/relationships/notesMaster" Target="notesMasters/notesMaster1.xml"/><Relationship Id="R8c51160cfc374565" Type="http://schemas.openxmlformats.org/officeDocument/2006/relationships/slide" Target="slides/slide1.xml"/><Relationship Id="Rab78575d63e0411c" Type="http://schemas.openxmlformats.org/officeDocument/2006/relationships/slideMaster" Target="slideMasters/slideMaster1.xml"/><Relationship Id="Rb42ab2b702a94b3b" Type="http://schemas.openxmlformats.org/officeDocument/2006/relationships/slide" Target="slides/slide11.xml"/><Relationship Id="Rb478b0b7acc04659" Type="http://schemas.openxmlformats.org/officeDocument/2006/relationships/theme" Target="theme/theme1.xml"/><Relationship Id="Rc4d2fc77c2484f4b" Type="http://schemas.openxmlformats.org/officeDocument/2006/relationships/presProps" Target="presProps.xml"/><Relationship Id="Rc956495f49dd4651" Type="http://schemas.openxmlformats.org/officeDocument/2006/relationships/slide" Target="slides/slide8.xml"/><Relationship Id="Re82984a468c648f8" Type="http://schemas.openxmlformats.org/officeDocument/2006/relationships/slide" Target="slides/slide2.xml"/></Relationships>
</file>

<file path=ppt/notesMasters/_rels/notesMaster1.xml.rels><?xml version='1.0' encoding='UTF-8' standalone='yes'?>
<Relationships xmlns="http://schemas.openxmlformats.org/package/2006/relationships"><Relationship Id="Rf2df1301d6164ee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5a847af16c7e4f96" Type="http://schemas.openxmlformats.org/officeDocument/2006/relationships/slide" Target="../slides/slide1.xml"/><Relationship Id="Ra5404ce8f0d04b22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56a0d1b14f2e476f" Type="http://schemas.openxmlformats.org/officeDocument/2006/relationships/slide" Target="../slides/slide2.xml"/><Relationship Id="Re3eac9d0858d4bc0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0c73c4044d834a22" Type="http://schemas.openxmlformats.org/officeDocument/2006/relationships/slide" Target="../slides/slide8.xml"/><Relationship Id="Rd1b134c0689f4a84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2e9d71ababba4356" Type="http://schemas.openxmlformats.org/officeDocument/2006/relationships/notesMaster" Target="../notesMasters/notesMaster1.xml"/><Relationship Id="R95368ee4acba4890" Type="http://schemas.openxmlformats.org/officeDocument/2006/relationships/slide" Target="../slides/slide9.xml"/></Relationships>
</file>

<file path=ppt/notesSlides/_rels/notesSlide11.xml.rels><?xml version='1.0' encoding='UTF-8' standalone='yes'?>
<Relationships xmlns="http://schemas.openxmlformats.org/package/2006/relationships"><Relationship Id="R5a18eefc26f04fe3" Type="http://schemas.openxmlformats.org/officeDocument/2006/relationships/slide" Target="../slides/slide11.xml"/><Relationship Id="R73fab106c491496b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31d1c071c0d746cf" Type="http://schemas.openxmlformats.org/officeDocument/2006/relationships/slide" Target="../slides/slide14.xml"/><Relationship Id="R558a903aab3b4b73" Type="http://schemas.openxmlformats.org/officeDocument/2006/relationships/notesMaster" Target="../notesMasters/notesMaster1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くらし便 EC事業 9月報告。架空のEC月次報告。商品説明の修正と粗利分析を先行。広告増額は次回の確認後に判断する。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売上増と利益・返品の変化を分けて確認。架空のEC月次報告。商品説明の修正と粗利分析を先行。広告増額は次回の確認後に判断する。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販売・商品・顧客対応で確認結果を引き継ぐ。架空のEC月次報告。商品説明の修正と粗利分析を先行。広告増額は次回の確認後に判断する。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返品理由の分類を、説明修正と効果確認につなぐ。架空のEC月次報告。商品説明の修正と粗利分析を先行。広告増額は次回の確認後に判断する。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自然検索が増収200万円の45%を占める。架空のEC月次報告。商品説明の修正と粗利分析を先行。広告増額は次回の確認後に判断する。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商品説明の修正と粗利分析を先行する。架空のEC月次報告。商品説明の修正と粗利分析を先行。広告増額は次回の確認後に判断する。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39694f70321c4f1a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18e9c6cd989840c3" Type="http://schemas.openxmlformats.org/officeDocument/2006/relationships/theme" Target="theme/theme2.xml"/><Relationship Id="R35fe349179644f54" Type="http://schemas.openxmlformats.org/officeDocument/2006/relationships/slideLayout" Target="../slideLayouts/slideLayout1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5fe349179644f54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1e9f1e2cba6640e7" Type="http://schemas.openxmlformats.org/officeDocument/2006/relationships/notesSlide" Target="../notesSlides/notesSlide1.xml"/><Relationship Id="R35269fd24ae0475f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92702b1237c44f0f" Type="http://schemas.openxmlformats.org/officeDocument/2006/relationships/slideLayout" Target="../slideLayouts/slideLayout1.xml"/><Relationship Id="Ra518415fcf104c78" Type="http://schemas.openxmlformats.org/officeDocument/2006/relationships/notesSlide" Target="../notesSlides/notesSlide2.xml"/></Relationships>
</file>

<file path=ppt/slides/_rels/slide8.xml.rels><?xml version='1.0' encoding='UTF-8' standalone='yes'?>
<Relationships xmlns="http://schemas.openxmlformats.org/package/2006/relationships"><Relationship Id="R9e47884778214246" Type="http://schemas.openxmlformats.org/officeDocument/2006/relationships/notesSlide" Target="../notesSlides/notesSlide8.xml"/><Relationship Id="Re8f87355de174d62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3ed6ff34d28a41c5" Type="http://schemas.openxmlformats.org/officeDocument/2006/relationships/notesSlide" Target="../notesSlides/notesSlide9.xml"/><Relationship Id="Rdcd9339a1a2f4793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6f3bb697438e49bc" Type="http://schemas.openxmlformats.org/officeDocument/2006/relationships/slideLayout" Target="../slideLayouts/slideLayout1.xml"/><Relationship Id="Rc9e2628f7c9e4259" Type="http://schemas.openxmlformats.org/officeDocument/2006/relationships/notesSlide" Target="../notesSlides/notesSlide11.xml"/><Relationship Id="Rd542aa6f939d4beb" Type="http://schemas.openxmlformats.org/officeDocument/2006/relationships/chart" Target="charts/chart1.xml"/></Relationships>
</file>

<file path=ppt/slides/_rels/slide14.xml.rels><?xml version='1.0' encoding='UTF-8' standalone='yes'?>
<Relationships xmlns="http://schemas.openxmlformats.org/package/2006/relationships"><Relationship Id="R105c2451c93c4ff6" Type="http://schemas.openxmlformats.org/officeDocument/2006/relationships/slideLayout" Target="../slideLayouts/slideLayout1.xml"/><Relationship Id="R382dd2f734c64f0a" Type="http://schemas.openxmlformats.org/officeDocument/2006/relationships/notesSlide" Target="../notesSlides/notesSlide14.xml"/></Relationships>
</file>

<file path=ppt/slides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../embeddings/Microsoft_Excel_Sheet1.xlsx"/></Relationships>
</file>

<file path=ppt/slides/charts/chart1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売上／万円</a:t>
            </a:r>
          </a:p>
        </c:rich>
      </c:tx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 b="1">
              <a:solidFill>
                <a:srgbClr val="111111"/>
              </a:solidFill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2025年9月</c:v>
                </c:pt>
              </c:strCache>
            </c:strRef>
          </c:tx>
          <c:spPr>
            <a:solidFill xmlns:a="http://schemas.openxmlformats.org/drawingml/2006/main">
              <a:srgbClr val="777777"/>
            </a:solidFill>
          </c:spPr>
          <c:cat>
            <c:strRef>
              <c:f>Sheet1!$A$2:$A$5</c:f>
              <c:strCache>
                <c:ptCount val="4"/>
                <c:pt idx="0">
                  <c:v>広告</c:v>
                </c:pt>
                <c:pt idx="1">
                  <c:v>自然検索</c:v>
                </c:pt>
                <c:pt idx="2">
                  <c:v>メール</c:v>
                </c:pt>
                <c:pt idx="3">
                  <c:v>リピート直訪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220</c:v>
                </c:pt>
                <c:pt idx="1">
                  <c:v>300</c:v>
                </c:pt>
                <c:pt idx="2">
                  <c:v>160</c:v>
                </c:pt>
                <c:pt idx="3">
                  <c:v>320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2026年9月</c:v>
                </c:pt>
              </c:strCache>
            </c:strRef>
          </c:tx>
          <c:spPr>
            <a:solidFill xmlns:a="http://schemas.openxmlformats.org/drawingml/2006/main">
              <a:srgbClr val="2474B5"/>
            </a:solidFill>
          </c:spPr>
          <c:cat>
            <c:strRef>
              <c:f>Sheet1!$A$2:$A$5</c:f>
              <c:strCache>
                <c:ptCount val="4"/>
                <c:pt idx="0">
                  <c:v>広告</c:v>
                </c:pt>
                <c:pt idx="1">
                  <c:v>自然検索</c:v>
                </c:pt>
                <c:pt idx="2">
                  <c:v>メール</c:v>
                </c:pt>
                <c:pt idx="3">
                  <c:v>リピート直訪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240</c:v>
                </c:pt>
                <c:pt idx="1">
                  <c:v>390</c:v>
                </c:pt>
                <c:pt idx="2">
                  <c:v>210</c:v>
                </c:pt>
                <c:pt idx="3">
                  <c:v>360</c:v>
                </c:pt>
              </c:numCache>
            </c:numRef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75" b="1">
                  <a:solidFill>
                    <a:srgbClr val="111111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6A6A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75">
                <a:solidFill>
                  <a:srgbClr val="111111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500.0"/>
          <c:min val="0.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6E6"/>
              </a:solidFill>
              <a:prstDash val="solid"/>
            </a:ln>
          </c:spPr>
        </c:majorGridlines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A6A6A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666666"/>
                </a:solidFill>
              </a:defRPr>
            </a:pPr>
          </a:p>
        </c:txPr>
        <c:crossAx val="48650112"/>
        <c:crossBetween val="between"/>
        <c:majorUnit val="100.0"/>
      </c:valAx>
      <c:spPr>
        <a:solidFill xmlns:a="http://schemas.openxmlformats.org/drawingml/2006/main">
          <a:srgbClr val="FFFFFF"/>
        </a:solidFill>
        <a:ln xmlns:a="http://schemas.openxmlformats.org/drawingml/2006/main" w="0">
          <a:solidFill>
            <a:srgbClr val="FFFFFF"/>
          </a:solidFill>
          <a:prstDash val="solid"/>
        </a:ln>
      </c:spPr>
    </c:plotArea>
    <c:legend>
      <c:legendPos val="b"/>
      <c:overlay val="0"/>
      <c:txPr xmlns:a="http://schemas.openxmlformats.org/drawingml/2006/main">
        <a:bodyPr/>
        <a:lstStyle/>
        <a:p>
          <a:pPr>
            <a:defRPr sz="1000"/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9525">
      <a:solidFill>
        <a:srgbClr val="A6A6A6"/>
      </a:solidFill>
      <a:prstDash val="solid"/>
    </a:ln>
  </c:spPr>
  <c:externalData xmlns:ns0="http://schemas.openxmlformats.org/officeDocument/2006/relationships" ns0:id="rId1">
    <c:autoUpdate val="0"/>
  </c:externalData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page-01-object-000">
            <a:extLst xmlns:a="http://schemas.openxmlformats.org/drawingml/2006/main">
              <a:ext uri="{FF2B5EF4-FFF2-40B4-BE49-F238E27FC236}">
                <a16:creationId xmlns:a16="http://schemas.microsoft.com/office/drawing/2014/main" id="{91677977-23F9-4405-86CD-259E87E49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page-01-object-001">
            <a:extLst xmlns:a="http://schemas.openxmlformats.org/drawingml/2006/main">
              <a:ext uri="{FF2B5EF4-FFF2-40B4-BE49-F238E27FC236}">
                <a16:creationId xmlns:a16="http://schemas.microsoft.com/office/drawing/2014/main" id="{6DE9E53D-A6D3-43F1-8B78-5A5CF9FE76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8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EC事業 月次会議</a:t>
            </a:r>
          </a:p>
        </p:txBody>
      </p:sp>
      <p:sp>
        <p:nvSpPr>
          <p:cNvPr id="3" name="page-01-object-002">
            <a:extLst xmlns:a="http://schemas.openxmlformats.org/drawingml/2006/main">
              <a:ext uri="{FF2B5EF4-FFF2-40B4-BE49-F238E27FC236}">
                <a16:creationId xmlns:a16="http://schemas.microsoft.com/office/drawing/2014/main" id="{D31838F9-8956-4E9F-9882-044FC3D9F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page-01-object-003">
            <a:extLst xmlns:a="http://schemas.openxmlformats.org/drawingml/2006/main">
              <a:ext uri="{FF2B5EF4-FFF2-40B4-BE49-F238E27FC236}">
                <a16:creationId xmlns:a16="http://schemas.microsoft.com/office/drawing/2014/main" id="{5253808A-01B9-4FE3-9686-25EA253BC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0477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9月報告</a:t>
            </a:r>
          </a:p>
        </p:txBody>
      </p:sp>
      <p:sp>
        <p:nvSpPr>
          <p:cNvPr id="5" name="page-01-object-004">
            <a:extLst xmlns:a="http://schemas.openxmlformats.org/drawingml/2006/main">
              <a:ext uri="{FF2B5EF4-FFF2-40B4-BE49-F238E27FC236}">
                <a16:creationId xmlns:a16="http://schemas.microsoft.com/office/drawing/2014/main" id="{044A15D8-C4D6-4D03-BBAE-51D06B4C0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43675"/>
            <a:ext cx="5905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page-01-object-005">
            <a:extLst xmlns:a="http://schemas.openxmlformats.org/drawingml/2006/main">
              <a:ext uri="{FF2B5EF4-FFF2-40B4-BE49-F238E27FC236}">
                <a16:creationId xmlns:a16="http://schemas.microsoft.com/office/drawing/2014/main" id="{41A28C52-50FA-47D4-A32A-34C91F23F7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43675"/>
            <a:ext cx="76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page-01-object-006">
            <a:extLst xmlns:a="http://schemas.openxmlformats.org/drawingml/2006/main">
              <a:ext uri="{FF2B5EF4-FFF2-40B4-BE49-F238E27FC236}">
                <a16:creationId xmlns:a16="http://schemas.microsoft.com/office/drawing/2014/main" id="{2F9B974E-2246-4390-8F26-A6CBBCBAC3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4367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page-01-object-007">
            <a:extLst xmlns:a="http://schemas.openxmlformats.org/drawingml/2006/main">
              <a:ext uri="{FF2B5EF4-FFF2-40B4-BE49-F238E27FC236}">
                <a16:creationId xmlns:a16="http://schemas.microsoft.com/office/drawing/2014/main" id="{1F5586BF-4D9C-40C0-BF01-FDCDF79A1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81775"/>
            <a:ext cx="4619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くらし便 EC事業部　架空の制作例</a:t>
            </a:r>
          </a:p>
        </p:txBody>
      </p:sp>
      <p:sp>
        <p:nvSpPr>
          <p:cNvPr id="9" name="page-01-object-008">
            <a:extLst xmlns:a="http://schemas.openxmlformats.org/drawingml/2006/main">
              <a:ext uri="{FF2B5EF4-FFF2-40B4-BE49-F238E27FC236}">
                <a16:creationId xmlns:a16="http://schemas.microsoft.com/office/drawing/2014/main" id="{17C07814-AFD6-4228-B710-212948D45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5722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1</a:t>
            </a:r>
          </a:p>
        </p:txBody>
      </p:sp>
      <p:sp>
        <p:nvSpPr>
          <p:cNvPr id="10" name="page-01-object-009">
            <a:extLst xmlns:a="http://schemas.openxmlformats.org/drawingml/2006/main">
              <a:ext uri="{FF2B5EF4-FFF2-40B4-BE49-F238E27FC236}">
                <a16:creationId xmlns:a16="http://schemas.microsoft.com/office/drawing/2014/main" id="{53926C99-7145-45C9-B09B-DDA96BB37F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000125"/>
            <a:ext cx="10477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315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315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くらし便 EC事業 9月報告</a:t>
            </a:r>
          </a:p>
        </p:txBody>
      </p:sp>
      <p:sp>
        <p:nvSpPr>
          <p:cNvPr id="11" name="page-01-object-010">
            <a:extLst xmlns:a="http://schemas.openxmlformats.org/drawingml/2006/main">
              <a:ext uri="{FF2B5EF4-FFF2-40B4-BE49-F238E27FC236}">
                <a16:creationId xmlns:a16="http://schemas.microsoft.com/office/drawing/2014/main" id="{3BCD023E-B2C7-4004-9083-D1BD7F8FA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5260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65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65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rPr>
              <a:t>商品説明の修正と粗利分析を先行する</a:t>
            </a:r>
          </a:p>
        </p:txBody>
      </p:sp>
      <p:sp>
        <p:nvSpPr>
          <p:cNvPr id="12" name="page-01-object-011">
            <a:extLst xmlns:a="http://schemas.openxmlformats.org/drawingml/2006/main">
              <a:ext uri="{FF2B5EF4-FFF2-40B4-BE49-F238E27FC236}">
                <a16:creationId xmlns:a16="http://schemas.microsoft.com/office/drawing/2014/main" id="{C2EEB1FF-74FF-4008-845C-48E1B8D59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209800"/>
            <a:ext cx="4191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page-01-object-012">
            <a:extLst xmlns:a="http://schemas.openxmlformats.org/drawingml/2006/main">
              <a:ext uri="{FF2B5EF4-FFF2-40B4-BE49-F238E27FC236}">
                <a16:creationId xmlns:a16="http://schemas.microsoft.com/office/drawing/2014/main" id="{35E5F375-4B5A-4E94-8E86-28ED989629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362200"/>
            <a:ext cx="590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3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3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2026年9月／前年同月比較</a:t>
            </a:r>
          </a:p>
          <a:p xmlns:a="http://schemas.openxmlformats.org/drawingml/2006/main">
            <a:pPr algn="ctr">
              <a:defRPr sz="13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3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読者：事業責任者・販売・商品・顧客対応</a:t>
            </a:r>
          </a:p>
          <a:p xmlns:a="http://schemas.openxmlformats.org/drawingml/2006/main">
            <a:pPr algn="ctr">
              <a:defRPr sz="13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3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組織・数値・担当者は架空</a:t>
            </a:r>
          </a:p>
        </p:txBody>
      </p:sp>
      <p:sp>
        <p:nvSpPr>
          <p:cNvPr id="14" name="page-01-object-013">
            <a:extLst xmlns:a="http://schemas.openxmlformats.org/drawingml/2006/main">
              <a:ext uri="{FF2B5EF4-FFF2-40B4-BE49-F238E27FC236}">
                <a16:creationId xmlns:a16="http://schemas.microsoft.com/office/drawing/2014/main" id="{852792C4-5D9C-4E99-B1CD-8811E722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81375"/>
            <a:ext cx="100965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page-01-object-014">
            <a:extLst xmlns:a="http://schemas.openxmlformats.org/drawingml/2006/main">
              <a:ext uri="{FF2B5EF4-FFF2-40B4-BE49-F238E27FC236}">
                <a16:creationId xmlns:a16="http://schemas.microsoft.com/office/drawing/2014/main" id="{70DC7072-97AF-4A55-8426-0759C6DB2F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81375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本日の進行</a:t>
            </a:r>
          </a:p>
        </p:txBody>
      </p:sp>
      <p:sp>
        <p:nvSpPr>
          <p:cNvPr id="16" name="page-01-object-015">
            <a:extLst xmlns:a="http://schemas.openxmlformats.org/drawingml/2006/main">
              <a:ext uri="{FF2B5EF4-FFF2-40B4-BE49-F238E27FC236}">
                <a16:creationId xmlns:a16="http://schemas.microsoft.com/office/drawing/2014/main" id="{5AB039AD-7F02-4EF5-9BB9-6977B4BB4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705225"/>
            <a:ext cx="1009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page-01-object-016">
            <a:extLst xmlns:a="http://schemas.openxmlformats.org/drawingml/2006/main">
              <a:ext uri="{FF2B5EF4-FFF2-40B4-BE49-F238E27FC236}">
                <a16:creationId xmlns:a16="http://schemas.microsoft.com/office/drawing/2014/main" id="{E73C8FB1-B9A8-4F9A-BB14-4111094AF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790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1分</a:t>
            </a:r>
          </a:p>
        </p:txBody>
      </p:sp>
      <p:sp>
        <p:nvSpPr>
          <p:cNvPr id="18" name="page-01-object-017">
            <a:extLst xmlns:a="http://schemas.openxmlformats.org/drawingml/2006/main">
              <a:ext uri="{FF2B5EF4-FFF2-40B4-BE49-F238E27FC236}">
                <a16:creationId xmlns:a16="http://schemas.microsoft.com/office/drawing/2014/main" id="{D2A03892-478A-450F-A14F-A3E62CCA1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主要指標と判断の論点</a:t>
            </a:r>
          </a:p>
        </p:txBody>
      </p:sp>
      <p:sp>
        <p:nvSpPr>
          <p:cNvPr id="19" name="page-01-object-018">
            <a:extLst xmlns:a="http://schemas.openxmlformats.org/drawingml/2006/main">
              <a:ext uri="{FF2B5EF4-FFF2-40B4-BE49-F238E27FC236}">
                <a16:creationId xmlns:a16="http://schemas.microsoft.com/office/drawing/2014/main" id="{19D62CF1-5510-4E1E-9045-0F1DB9B4C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79095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販売担当</a:t>
            </a:r>
          </a:p>
        </p:txBody>
      </p:sp>
      <p:sp>
        <p:nvSpPr>
          <p:cNvPr id="20" name="page-01-object-019">
            <a:extLst xmlns:a="http://schemas.openxmlformats.org/drawingml/2006/main">
              <a:ext uri="{FF2B5EF4-FFF2-40B4-BE49-F238E27FC236}">
                <a16:creationId xmlns:a16="http://schemas.microsoft.com/office/drawing/2014/main" id="{F4A92157-2FA6-46F8-AA53-2980AAEAE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10050"/>
            <a:ext cx="1009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A"/>
          </a:solidFill>
          <a:ln xmlns:a="http://schemas.openxmlformats.org/drawingml/2006/main" w="762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page-01-object-020">
            <a:extLst xmlns:a="http://schemas.openxmlformats.org/drawingml/2006/main">
              <a:ext uri="{FF2B5EF4-FFF2-40B4-BE49-F238E27FC236}">
                <a16:creationId xmlns:a16="http://schemas.microsoft.com/office/drawing/2014/main" id="{F225199B-7979-4439-A675-FC99784FB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957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2分</a:t>
            </a:r>
          </a:p>
        </p:txBody>
      </p:sp>
      <p:sp>
        <p:nvSpPr>
          <p:cNvPr id="22" name="page-01-object-021">
            <a:extLst xmlns:a="http://schemas.openxmlformats.org/drawingml/2006/main">
              <a:ext uri="{FF2B5EF4-FFF2-40B4-BE49-F238E27FC236}">
                <a16:creationId xmlns:a16="http://schemas.microsoft.com/office/drawing/2014/main" id="{4133067C-D6DC-4D14-9D24-D662ED8B0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9577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チャネル別の増収と利益</a:t>
            </a:r>
          </a:p>
        </p:txBody>
      </p:sp>
      <p:sp>
        <p:nvSpPr>
          <p:cNvPr id="23" name="page-01-object-022">
            <a:extLst xmlns:a="http://schemas.openxmlformats.org/drawingml/2006/main">
              <a:ext uri="{FF2B5EF4-FFF2-40B4-BE49-F238E27FC236}">
                <a16:creationId xmlns:a16="http://schemas.microsoft.com/office/drawing/2014/main" id="{60FB47DD-9AFD-409A-A769-996B2358CF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29577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販売担当</a:t>
            </a:r>
          </a:p>
        </p:txBody>
      </p:sp>
      <p:sp>
        <p:nvSpPr>
          <p:cNvPr id="24" name="page-01-object-023">
            <a:extLst xmlns:a="http://schemas.openxmlformats.org/drawingml/2006/main">
              <a:ext uri="{FF2B5EF4-FFF2-40B4-BE49-F238E27FC236}">
                <a16:creationId xmlns:a16="http://schemas.microsoft.com/office/drawing/2014/main" id="{5B766640-0A38-42ED-90EB-1976F30A0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714875"/>
            <a:ext cx="1009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762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page-01-object-024">
            <a:extLst xmlns:a="http://schemas.openxmlformats.org/drawingml/2006/main">
              <a:ext uri="{FF2B5EF4-FFF2-40B4-BE49-F238E27FC236}">
                <a16:creationId xmlns:a16="http://schemas.microsoft.com/office/drawing/2014/main" id="{7BD9A419-1865-4099-92F6-A4D910411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00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2分</a:t>
            </a:r>
          </a:p>
        </p:txBody>
      </p:sp>
      <p:sp>
        <p:nvSpPr>
          <p:cNvPr id="26" name="page-01-object-025">
            <a:extLst xmlns:a="http://schemas.openxmlformats.org/drawingml/2006/main">
              <a:ext uri="{FF2B5EF4-FFF2-40B4-BE49-F238E27FC236}">
                <a16:creationId xmlns:a16="http://schemas.microsoft.com/office/drawing/2014/main" id="{53D2422A-8541-439B-AB43-E240B8BC3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800600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商品説明修正の進め方</a:t>
            </a:r>
          </a:p>
        </p:txBody>
      </p:sp>
      <p:sp>
        <p:nvSpPr>
          <p:cNvPr id="27" name="page-01-object-026">
            <a:extLst xmlns:a="http://schemas.openxmlformats.org/drawingml/2006/main">
              <a:ext uri="{FF2B5EF4-FFF2-40B4-BE49-F238E27FC236}">
                <a16:creationId xmlns:a16="http://schemas.microsoft.com/office/drawing/2014/main" id="{9217F34B-4F92-4DAC-82C1-5167017D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4800600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商品担当</a:t>
            </a:r>
          </a:p>
        </p:txBody>
      </p:sp>
      <p:sp>
        <p:nvSpPr>
          <p:cNvPr id="28" name="page-01-object-027">
            <a:extLst xmlns:a="http://schemas.openxmlformats.org/drawingml/2006/main">
              <a:ext uri="{FF2B5EF4-FFF2-40B4-BE49-F238E27FC236}">
                <a16:creationId xmlns:a16="http://schemas.microsoft.com/office/drawing/2014/main" id="{E393F370-EE03-42A3-8E1C-749534E5E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219700"/>
            <a:ext cx="10096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5FA"/>
          </a:solidFill>
          <a:ln xmlns:a="http://schemas.openxmlformats.org/drawingml/2006/main" w="762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page-01-object-028">
            <a:extLst xmlns:a="http://schemas.openxmlformats.org/drawingml/2006/main">
              <a:ext uri="{FF2B5EF4-FFF2-40B4-BE49-F238E27FC236}">
                <a16:creationId xmlns:a16="http://schemas.microsoft.com/office/drawing/2014/main" id="{099347EF-4418-48E5-8597-B3AAF611A9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3054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2分</a:t>
            </a:r>
          </a:p>
        </p:txBody>
      </p:sp>
      <p:sp>
        <p:nvSpPr>
          <p:cNvPr id="30" name="page-01-object-029">
            <a:extLst xmlns:a="http://schemas.openxmlformats.org/drawingml/2006/main">
              <a:ext uri="{FF2B5EF4-FFF2-40B4-BE49-F238E27FC236}">
                <a16:creationId xmlns:a16="http://schemas.microsoft.com/office/drawing/2014/main" id="{74FC1922-782A-42E0-BC08-F55469C2E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05425"/>
            <a:ext cx="5905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着手する施策と次回の確認</a:t>
            </a:r>
          </a:p>
        </p:txBody>
      </p:sp>
      <p:sp>
        <p:nvSpPr>
          <p:cNvPr id="31" name="page-01-object-030">
            <a:extLst xmlns:a="http://schemas.openxmlformats.org/drawingml/2006/main">
              <a:ext uri="{FF2B5EF4-FFF2-40B4-BE49-F238E27FC236}">
                <a16:creationId xmlns:a16="http://schemas.microsoft.com/office/drawing/2014/main" id="{653AEEF6-F3E6-41B2-87D2-5A19D3146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5305425"/>
            <a:ext cx="1809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参加者</a:t>
            </a:r>
          </a:p>
        </p:txBody>
      </p:sp>
      <p:sp>
        <p:nvSpPr>
          <p:cNvPr id="32" name="page-01-object-031">
            <a:extLst xmlns:a="http://schemas.openxmlformats.org/drawingml/2006/main">
              <a:ext uri="{FF2B5EF4-FFF2-40B4-BE49-F238E27FC236}">
                <a16:creationId xmlns:a16="http://schemas.microsoft.com/office/drawing/2014/main" id="{2198EA45-ECAB-4A65-98E4-73BE577469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05550"/>
            <a:ext cx="110013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注：実在の組織・業績ではなく、制作手順を比較するためのサンプル。</a:t>
            </a:r>
          </a:p>
        </p:txBody>
      </p:sp>
    </p:spTree>
    <p:extLst>
      <p:ext uri="{BB962C8B-B14F-4D97-AF65-F5344CB8AC3E}">
        <p14:creationId xmlns:p14="http://schemas.microsoft.com/office/powerpoint/2010/main" val="4279855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page-02-object-000">
            <a:extLst xmlns:a="http://schemas.openxmlformats.org/drawingml/2006/main">
              <a:ext uri="{FF2B5EF4-FFF2-40B4-BE49-F238E27FC236}">
                <a16:creationId xmlns:a16="http://schemas.microsoft.com/office/drawing/2014/main" id="{08B1E4B4-C3D8-40E6-A0C8-917860047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page-02-object-001">
            <a:extLst xmlns:a="http://schemas.openxmlformats.org/drawingml/2006/main">
              <a:ext uri="{FF2B5EF4-FFF2-40B4-BE49-F238E27FC236}">
                <a16:creationId xmlns:a16="http://schemas.microsoft.com/office/drawing/2014/main" id="{C3B84A76-EE44-4DE4-B62C-E3E6939E2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8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論点整理・問題提起</a:t>
            </a:r>
          </a:p>
        </p:txBody>
      </p:sp>
      <p:sp>
        <p:nvSpPr>
          <p:cNvPr id="3" name="page-02-object-002">
            <a:extLst xmlns:a="http://schemas.openxmlformats.org/drawingml/2006/main">
              <a:ext uri="{FF2B5EF4-FFF2-40B4-BE49-F238E27FC236}">
                <a16:creationId xmlns:a16="http://schemas.microsoft.com/office/drawing/2014/main" id="{EBC912F9-EA9B-41D3-BDE6-20FEA72AD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page-02-object-003">
            <a:extLst xmlns:a="http://schemas.openxmlformats.org/drawingml/2006/main">
              <a:ext uri="{FF2B5EF4-FFF2-40B4-BE49-F238E27FC236}">
                <a16:creationId xmlns:a16="http://schemas.microsoft.com/office/drawing/2014/main" id="{C01DDFDE-F293-47A0-8E4A-CFB062B8C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0477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主要指標</a:t>
            </a:r>
          </a:p>
        </p:txBody>
      </p:sp>
      <p:sp>
        <p:nvSpPr>
          <p:cNvPr id="5" name="page-02-object-004">
            <a:extLst xmlns:a="http://schemas.openxmlformats.org/drawingml/2006/main">
              <a:ext uri="{FF2B5EF4-FFF2-40B4-BE49-F238E27FC236}">
                <a16:creationId xmlns:a16="http://schemas.microsoft.com/office/drawing/2014/main" id="{5F988F9E-0734-49F1-9DE8-646992C1C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43675"/>
            <a:ext cx="5905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page-02-object-005">
            <a:extLst xmlns:a="http://schemas.openxmlformats.org/drawingml/2006/main">
              <a:ext uri="{FF2B5EF4-FFF2-40B4-BE49-F238E27FC236}">
                <a16:creationId xmlns:a16="http://schemas.microsoft.com/office/drawing/2014/main" id="{2590595F-54A1-4EB8-8E81-C1392731F5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43675"/>
            <a:ext cx="76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page-02-object-006">
            <a:extLst xmlns:a="http://schemas.openxmlformats.org/drawingml/2006/main">
              <a:ext uri="{FF2B5EF4-FFF2-40B4-BE49-F238E27FC236}">
                <a16:creationId xmlns:a16="http://schemas.microsoft.com/office/drawing/2014/main" id="{EAD9E472-5D23-40ED-B2AA-798D0A5C4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4367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page-02-object-007">
            <a:extLst xmlns:a="http://schemas.openxmlformats.org/drawingml/2006/main">
              <a:ext uri="{FF2B5EF4-FFF2-40B4-BE49-F238E27FC236}">
                <a16:creationId xmlns:a16="http://schemas.microsoft.com/office/drawing/2014/main" id="{2BE83016-E9FA-4AB1-82AB-42DD4585C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81775"/>
            <a:ext cx="4619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くらし便 EC事業部　架空の制作例</a:t>
            </a:r>
          </a:p>
        </p:txBody>
      </p:sp>
      <p:sp>
        <p:nvSpPr>
          <p:cNvPr id="9" name="page-02-object-008">
            <a:extLst xmlns:a="http://schemas.openxmlformats.org/drawingml/2006/main">
              <a:ext uri="{FF2B5EF4-FFF2-40B4-BE49-F238E27FC236}">
                <a16:creationId xmlns:a16="http://schemas.microsoft.com/office/drawing/2014/main" id="{6339A66C-A847-4885-BE1D-068A33D2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5722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2</a:t>
            </a:r>
          </a:p>
        </p:txBody>
      </p:sp>
      <p:sp>
        <p:nvSpPr>
          <p:cNvPr id="10" name="page-02-object-009">
            <a:extLst xmlns:a="http://schemas.openxmlformats.org/drawingml/2006/main">
              <a:ext uri="{FF2B5EF4-FFF2-40B4-BE49-F238E27FC236}">
                <a16:creationId xmlns:a16="http://schemas.microsoft.com/office/drawing/2014/main" id="{8E84A52F-F79D-47BA-897D-C2B43B9DC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685800"/>
            <a:ext cx="11144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2325" b="1" i="0" u="sng">
                <a:solidFill>
                  <a:srgbClr val="2F2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325" b="1" i="0" u="sng">
                <a:solidFill>
                  <a:srgbClr val="2F2FFF"/>
                </a:solidFill>
                <a:latin typeface="BIZ UDPゴシック"/>
                <a:ea typeface="BIZ UDPゴシック"/>
                <a:cs typeface="BIZ UDPゴシック"/>
              </a:rPr>
              <a:t>売上増と利益・返品の変化を分けて確認</a:t>
            </a:r>
          </a:p>
        </p:txBody>
      </p:sp>
      <p:sp>
        <p:nvSpPr>
          <p:cNvPr id="11" name="page-02-object-010">
            <a:extLst xmlns:a="http://schemas.openxmlformats.org/drawingml/2006/main">
              <a:ext uri="{FF2B5EF4-FFF2-40B4-BE49-F238E27FC236}">
                <a16:creationId xmlns:a16="http://schemas.microsoft.com/office/drawing/2014/main" id="{1730FD34-D0D6-4E41-B08A-B017D4B8E9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6700" y="1371600"/>
            <a:ext cx="1162050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47625" tIns="38100" rIns="47625" bIns="3810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8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● 売上は1,000万円から1,200万円へ20%増加</a:t>
            </a:r>
          </a:p>
          <a:p xmlns:a="http://schemas.openxmlformats.org/drawingml/2006/main">
            <a:pPr algn="l">
              <a:defRPr sz="18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8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● 粗利率は38%から36%へ低下し、返品率は4%から6%へ上昇</a:t>
            </a:r>
          </a:p>
        </p:txBody>
      </p:sp>
      <p:sp>
        <p:nvSpPr>
          <p:cNvPr id="12" name="page-02-object-011">
            <a:extLst xmlns:a="http://schemas.openxmlformats.org/drawingml/2006/main">
              <a:ext uri="{FF2B5EF4-FFF2-40B4-BE49-F238E27FC236}">
                <a16:creationId xmlns:a16="http://schemas.microsoft.com/office/drawing/2014/main" id="{5374B3A9-8CC7-4820-BB3E-7FA3FD75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" y="2724150"/>
            <a:ext cx="111442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6A6A6"/>
            </a:solidFill>
            <a:prstDash val="dash"/>
          </a:ln>
        </p:spPr>
        <p:txBody>
          <a:bodyPr xmlns:a="http://schemas.openxmlformats.org/drawingml/2006/main" wrap="square" lIns="114300" tIns="85725" rIns="114300" bIns="7620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350" b="0" i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350" b="0" i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対象：2026年9月と2025年9月の同月比較</a:t>
            </a:r>
          </a:p>
          <a:p xmlns:a="http://schemas.openxmlformats.org/drawingml/2006/main">
            <a:pPr algn="l">
              <a:defRPr sz="1350" b="0" i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350" b="0" i="1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率の差は「ポイント」で表記し、売上の増加率と区別する</a:t>
            </a:r>
          </a:p>
        </p:txBody>
      </p:sp>
      <p:sp>
        <p:nvSpPr>
          <p:cNvPr id="13" name="page-02-object-012">
            <a:extLst xmlns:a="http://schemas.openxmlformats.org/drawingml/2006/main">
              <a:ext uri="{FF2B5EF4-FFF2-40B4-BE49-F238E27FC236}">
                <a16:creationId xmlns:a16="http://schemas.microsoft.com/office/drawing/2014/main" id="{88BFF62D-6951-4D37-BAEA-BE4FB4F63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3895725"/>
            <a:ext cx="11144250" cy="1638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7620">
            <a:solidFill>
              <a:srgbClr val="E7E6E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page-02-object-013">
            <a:extLst xmlns:a="http://schemas.openxmlformats.org/drawingml/2006/main">
              <a:ext uri="{FF2B5EF4-FFF2-40B4-BE49-F238E27FC236}">
                <a16:creationId xmlns:a16="http://schemas.microsoft.com/office/drawing/2014/main" id="{140465C6-ED21-4ED3-BD75-8E6AB9162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29075"/>
            <a:ext cx="8572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65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※ 粗利額と返品率を同時に確認</a:t>
            </a:r>
          </a:p>
        </p:txBody>
      </p:sp>
      <p:sp>
        <p:nvSpPr>
          <p:cNvPr id="15" name="page-02-object-014">
            <a:extLst xmlns:a="http://schemas.openxmlformats.org/drawingml/2006/main">
              <a:ext uri="{FF2B5EF4-FFF2-40B4-BE49-F238E27FC236}">
                <a16:creationId xmlns:a16="http://schemas.microsoft.com/office/drawing/2014/main" id="{EE18E051-8CE3-4EDE-BF14-57E7868ED5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400550"/>
            <a:ext cx="10620375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・前年の粗利額：1,000万円 × 38% = 380万円</a:t>
            </a:r>
          </a:p>
          <a:p xmlns:a="http://schemas.openxmlformats.org/drawingml/2006/main">
            <a:pPr algn="l">
              <a:def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・当月の粗利額：1,200万円 × 36% = 432万円</a:t>
            </a:r>
          </a:p>
          <a:p xmlns:a="http://schemas.openxmlformats.org/drawingml/2006/main">
            <a:pPr algn="l">
              <a:def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・粗利額は52万円増加したが、率の低下要因は未確認</a:t>
            </a:r>
          </a:p>
        </p:txBody>
      </p:sp>
      <p:sp>
        <p:nvSpPr>
          <p:cNvPr id="16" name="page-02-object-015">
            <a:extLst xmlns:a="http://schemas.openxmlformats.org/drawingml/2006/main">
              <a:ext uri="{FF2B5EF4-FFF2-40B4-BE49-F238E27FC236}">
                <a16:creationId xmlns:a16="http://schemas.microsoft.com/office/drawing/2014/main" id="{AA098160-C692-497F-990E-BF3A0C1F8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43575"/>
            <a:ext cx="11601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143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page-02-object-016">
            <a:extLst xmlns:a="http://schemas.openxmlformats.org/drawingml/2006/main">
              <a:ext uri="{FF2B5EF4-FFF2-40B4-BE49-F238E27FC236}">
                <a16:creationId xmlns:a16="http://schemas.microsoft.com/office/drawing/2014/main" id="{C79F894D-2DE4-4DA1-98E1-E2DA21426A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43575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page-02-object-017">
            <a:extLst xmlns:a="http://schemas.openxmlformats.org/drawingml/2006/main">
              <a:ext uri="{FF2B5EF4-FFF2-40B4-BE49-F238E27FC236}">
                <a16:creationId xmlns:a16="http://schemas.microsoft.com/office/drawing/2014/main" id="{DC976C29-A7AF-45F2-A939-4A8BE5072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91200"/>
            <a:ext cx="1047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要旨</a:t>
            </a:r>
          </a:p>
        </p:txBody>
      </p:sp>
      <p:sp>
        <p:nvSpPr>
          <p:cNvPr id="19" name="page-02-object-018">
            <a:extLst xmlns:a="http://schemas.openxmlformats.org/drawingml/2006/main">
              <a:ext uri="{FF2B5EF4-FFF2-40B4-BE49-F238E27FC236}">
                <a16:creationId xmlns:a16="http://schemas.microsoft.com/office/drawing/2014/main" id="{7B9C59F4-0F3C-4E87-8EF6-7C412C9D0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8007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商品説明の修正と粗利分析を先行し、広告増額は次回の確認後に判断する</a:t>
            </a:r>
          </a:p>
        </p:txBody>
      </p:sp>
      <p:sp>
        <p:nvSpPr>
          <p:cNvPr id="20" name="page-02-object-019">
            <a:extLst xmlns:a="http://schemas.openxmlformats.org/drawingml/2006/main">
              <a:ext uri="{FF2B5EF4-FFF2-40B4-BE49-F238E27FC236}">
                <a16:creationId xmlns:a16="http://schemas.microsoft.com/office/drawing/2014/main" id="{E53BF51B-39A5-4532-B288-43543D840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05550"/>
            <a:ext cx="110013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出所：架空データ「くらし便 2026年9月・前年同月比較」</a:t>
            </a:r>
          </a:p>
        </p:txBody>
      </p:sp>
    </p:spTree>
    <p:extLst>
      <p:ext uri="{BB962C8B-B14F-4D97-AF65-F5344CB8AC3E}">
        <p14:creationId xmlns:p14="http://schemas.microsoft.com/office/powerpoint/2010/main" val="140186489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page-05-object-000">
            <a:extLst xmlns:a="http://schemas.openxmlformats.org/drawingml/2006/main">
              <a:ext uri="{FF2B5EF4-FFF2-40B4-BE49-F238E27FC236}">
                <a16:creationId xmlns:a16="http://schemas.microsoft.com/office/drawing/2014/main" id="{F94B9678-3C54-491D-ABD7-C12BF0FD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page-05-object-001">
            <a:extLst xmlns:a="http://schemas.openxmlformats.org/drawingml/2006/main">
              <a:ext uri="{FF2B5EF4-FFF2-40B4-BE49-F238E27FC236}">
                <a16:creationId xmlns:a16="http://schemas.microsoft.com/office/drawing/2014/main" id="{D05BD237-8579-4285-9B6A-28F0504B6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8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業務プロセス・役割分担</a:t>
            </a:r>
          </a:p>
        </p:txBody>
      </p:sp>
      <p:sp>
        <p:nvSpPr>
          <p:cNvPr id="3" name="page-05-object-002">
            <a:extLst xmlns:a="http://schemas.openxmlformats.org/drawingml/2006/main">
              <a:ext uri="{FF2B5EF4-FFF2-40B4-BE49-F238E27FC236}">
                <a16:creationId xmlns:a16="http://schemas.microsoft.com/office/drawing/2014/main" id="{78F24543-0C29-471B-9E4D-04FDBCCA0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page-05-object-003">
            <a:extLst xmlns:a="http://schemas.openxmlformats.org/drawingml/2006/main">
              <a:ext uri="{FF2B5EF4-FFF2-40B4-BE49-F238E27FC236}">
                <a16:creationId xmlns:a16="http://schemas.microsoft.com/office/drawing/2014/main" id="{141539DE-1A4B-441A-97A5-0D5FEF764A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0477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受け渡しの設計案</a:t>
            </a:r>
          </a:p>
        </p:txBody>
      </p:sp>
      <p:sp>
        <p:nvSpPr>
          <p:cNvPr id="5" name="page-05-object-004">
            <a:extLst xmlns:a="http://schemas.openxmlformats.org/drawingml/2006/main">
              <a:ext uri="{FF2B5EF4-FFF2-40B4-BE49-F238E27FC236}">
                <a16:creationId xmlns:a16="http://schemas.microsoft.com/office/drawing/2014/main" id="{B94A229F-5AB2-4C26-BFF9-94EE33E40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43675"/>
            <a:ext cx="5905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page-05-object-005">
            <a:extLst xmlns:a="http://schemas.openxmlformats.org/drawingml/2006/main">
              <a:ext uri="{FF2B5EF4-FFF2-40B4-BE49-F238E27FC236}">
                <a16:creationId xmlns:a16="http://schemas.microsoft.com/office/drawing/2014/main" id="{4946777E-AF05-4126-9428-DA98D90D2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43675"/>
            <a:ext cx="76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page-05-object-006">
            <a:extLst xmlns:a="http://schemas.openxmlformats.org/drawingml/2006/main">
              <a:ext uri="{FF2B5EF4-FFF2-40B4-BE49-F238E27FC236}">
                <a16:creationId xmlns:a16="http://schemas.microsoft.com/office/drawing/2014/main" id="{6C2C766C-A842-4B0E-AD75-75E49F0C1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4367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page-05-object-007">
            <a:extLst xmlns:a="http://schemas.openxmlformats.org/drawingml/2006/main">
              <a:ext uri="{FF2B5EF4-FFF2-40B4-BE49-F238E27FC236}">
                <a16:creationId xmlns:a16="http://schemas.microsoft.com/office/drawing/2014/main" id="{CA3A4B40-52DC-4962-A24E-E46F7FE78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81775"/>
            <a:ext cx="4619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くらし便 EC事業部　架空の制作例</a:t>
            </a:r>
          </a:p>
        </p:txBody>
      </p:sp>
      <p:sp>
        <p:nvSpPr>
          <p:cNvPr id="9" name="page-05-object-008">
            <a:extLst xmlns:a="http://schemas.openxmlformats.org/drawingml/2006/main">
              <a:ext uri="{FF2B5EF4-FFF2-40B4-BE49-F238E27FC236}">
                <a16:creationId xmlns:a16="http://schemas.microsoft.com/office/drawing/2014/main" id="{62AC2485-2E1A-4D15-B332-97257EF8B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5722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5</a:t>
            </a:r>
          </a:p>
        </p:txBody>
      </p:sp>
      <p:sp>
        <p:nvSpPr>
          <p:cNvPr id="10" name="page-05-object-009">
            <a:extLst xmlns:a="http://schemas.openxmlformats.org/drawingml/2006/main">
              <a:ext uri="{FF2B5EF4-FFF2-40B4-BE49-F238E27FC236}">
                <a16:creationId xmlns:a16="http://schemas.microsoft.com/office/drawing/2014/main" id="{42EA272E-FEB5-42B9-A6C9-BCB2983E3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00075"/>
            <a:ext cx="1157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販売・商品・顧客対応で確認結果を引き継ぐ</a:t>
            </a:r>
          </a:p>
        </p:txBody>
      </p:sp>
      <p:sp>
        <p:nvSpPr>
          <p:cNvPr id="11" name="page-05-object-010">
            <a:extLst xmlns:a="http://schemas.openxmlformats.org/drawingml/2006/main">
              <a:ext uri="{FF2B5EF4-FFF2-40B4-BE49-F238E27FC236}">
                <a16:creationId xmlns:a16="http://schemas.microsoft.com/office/drawing/2014/main" id="{18B79179-3535-47AD-8DC5-859A2918C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90600"/>
            <a:ext cx="1152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474B5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2474B5"/>
                </a:solidFill>
                <a:latin typeface="BIZ UDPゴシック"/>
                <a:ea typeface="BIZ UDPゴシック"/>
                <a:cs typeface="BIZ UDPゴシック"/>
              </a:rPr>
              <a:t>承認前の作業案。記録を引き継ぎ、推測と確認済みの結果を分ける</a:t>
            </a:r>
          </a:p>
        </p:txBody>
      </p:sp>
      <p:sp>
        <p:nvSpPr>
          <p:cNvPr id="12" name="page-05-object-011">
            <a:extLst xmlns:a="http://schemas.openxmlformats.org/drawingml/2006/main">
              <a:ext uri="{FF2B5EF4-FFF2-40B4-BE49-F238E27FC236}">
                <a16:creationId xmlns:a16="http://schemas.microsoft.com/office/drawing/2014/main" id="{624A5455-0F7C-4F86-8937-0F676685A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323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B5"/>
          </a:solidFill>
          <a:ln xmlns:a="http://schemas.openxmlformats.org/drawingml/2006/main" w="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page-05-object-012">
            <a:extLst xmlns:a="http://schemas.openxmlformats.org/drawingml/2006/main">
              <a:ext uri="{FF2B5EF4-FFF2-40B4-BE49-F238E27FC236}">
                <a16:creationId xmlns:a16="http://schemas.microsoft.com/office/drawing/2014/main" id="{BFF955BB-8DC4-4F4C-A10D-7CC19A87CE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323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① 対象を決める</a:t>
            </a:r>
          </a:p>
        </p:txBody>
      </p:sp>
      <p:sp>
        <p:nvSpPr>
          <p:cNvPr id="14" name="page-05-object-013">
            <a:extLst xmlns:a="http://schemas.openxmlformats.org/drawingml/2006/main">
              <a:ext uri="{FF2B5EF4-FFF2-40B4-BE49-F238E27FC236}">
                <a16:creationId xmlns:a16="http://schemas.microsoft.com/office/drawing/2014/main" id="{702961E0-3237-4AF0-9912-08A2E321A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323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B5"/>
          </a:solidFill>
          <a:ln xmlns:a="http://schemas.openxmlformats.org/drawingml/2006/main" w="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page-05-object-014">
            <a:extLst xmlns:a="http://schemas.openxmlformats.org/drawingml/2006/main">
              <a:ext uri="{FF2B5EF4-FFF2-40B4-BE49-F238E27FC236}">
                <a16:creationId xmlns:a16="http://schemas.microsoft.com/office/drawing/2014/main" id="{04E8E178-BD4A-4AF7-B0C1-7CDC4F5BB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323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② 理由を確かめる</a:t>
            </a:r>
          </a:p>
        </p:txBody>
      </p:sp>
      <p:sp>
        <p:nvSpPr>
          <p:cNvPr id="16" name="page-05-object-015">
            <a:extLst xmlns:a="http://schemas.openxmlformats.org/drawingml/2006/main">
              <a:ext uri="{FF2B5EF4-FFF2-40B4-BE49-F238E27FC236}">
                <a16:creationId xmlns:a16="http://schemas.microsoft.com/office/drawing/2014/main" id="{A1E3D155-A27E-4B7B-8993-557D2A122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323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74B5"/>
          </a:solidFill>
          <a:ln xmlns:a="http://schemas.openxmlformats.org/drawingml/2006/main" w="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page-05-object-016">
            <a:extLst xmlns:a="http://schemas.openxmlformats.org/drawingml/2006/main">
              <a:ext uri="{FF2B5EF4-FFF2-40B4-BE49-F238E27FC236}">
                <a16:creationId xmlns:a16="http://schemas.microsoft.com/office/drawing/2014/main" id="{4A8D8FA5-7D89-43DA-8317-10A3182BE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323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③ 説明を直す</a:t>
            </a:r>
          </a:p>
        </p:txBody>
      </p:sp>
      <p:sp>
        <p:nvSpPr>
          <p:cNvPr id="18" name="page-05-object-017">
            <a:extLst xmlns:a="http://schemas.openxmlformats.org/drawingml/2006/main">
              <a:ext uri="{FF2B5EF4-FFF2-40B4-BE49-F238E27FC236}">
                <a16:creationId xmlns:a16="http://schemas.microsoft.com/office/drawing/2014/main" id="{77693231-72B1-46F0-ABEC-F86AFC14C0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323975"/>
            <a:ext cx="2381250" cy="361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B843"/>
          </a:solidFill>
          <a:ln xmlns:a="http://schemas.openxmlformats.org/drawingml/2006/main" w="0">
            <a:solidFill>
              <a:srgbClr val="75B84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page-05-object-018">
            <a:extLst xmlns:a="http://schemas.openxmlformats.org/drawingml/2006/main">
              <a:ext uri="{FF2B5EF4-FFF2-40B4-BE49-F238E27FC236}">
                <a16:creationId xmlns:a16="http://schemas.microsoft.com/office/drawing/2014/main" id="{0085610C-78B7-4205-A857-150771DB37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323975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④ 結果を判断</a:t>
            </a:r>
          </a:p>
        </p:txBody>
      </p:sp>
      <p:sp>
        <p:nvSpPr>
          <p:cNvPr id="20" name="page-05-object-019">
            <a:extLst xmlns:a="http://schemas.openxmlformats.org/drawingml/2006/main">
              <a:ext uri="{FF2B5EF4-FFF2-40B4-BE49-F238E27FC236}">
                <a16:creationId xmlns:a16="http://schemas.microsoft.com/office/drawing/2014/main" id="{840F62F0-0AFE-404F-AA1E-FDA9327E0F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1781175"/>
            <a:ext cx="1571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9525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page-05-object-020">
            <a:extLst xmlns:a="http://schemas.openxmlformats.org/drawingml/2006/main">
              <a:ext uri="{FF2B5EF4-FFF2-40B4-BE49-F238E27FC236}">
                <a16:creationId xmlns:a16="http://schemas.microsoft.com/office/drawing/2014/main" id="{611B560C-0E37-4008-BA10-4CAF587FF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2085975"/>
            <a:ext cx="1400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事業責任者</a:t>
            </a:r>
          </a:p>
        </p:txBody>
      </p:sp>
      <p:sp>
        <p:nvSpPr>
          <p:cNvPr id="22" name="page-05-object-021">
            <a:extLst xmlns:a="http://schemas.openxmlformats.org/drawingml/2006/main">
              <a:ext uri="{FF2B5EF4-FFF2-40B4-BE49-F238E27FC236}">
                <a16:creationId xmlns:a16="http://schemas.microsoft.com/office/drawing/2014/main" id="{3940E513-26C0-4E3B-B933-A89FAEE57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17811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3" name="page-05-object-022">
            <a:extLst xmlns:a="http://schemas.openxmlformats.org/drawingml/2006/main">
              <a:ext uri="{FF2B5EF4-FFF2-40B4-BE49-F238E27FC236}">
                <a16:creationId xmlns:a16="http://schemas.microsoft.com/office/drawing/2014/main" id="{AB1C1AFC-6EEA-41FF-90A7-D8FA376F9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19145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着手方針を確認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入力：9月の実績</a:t>
            </a:r>
          </a:p>
        </p:txBody>
      </p:sp>
      <p:sp>
        <p:nvSpPr>
          <p:cNvPr id="24" name="page-05-object-023">
            <a:extLst xmlns:a="http://schemas.openxmlformats.org/drawingml/2006/main">
              <a:ext uri="{FF2B5EF4-FFF2-40B4-BE49-F238E27FC236}">
                <a16:creationId xmlns:a16="http://schemas.microsoft.com/office/drawing/2014/main" id="{9F6CC2E1-1D03-4942-B50D-A3BA6FCBF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7811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page-05-object-024">
            <a:extLst xmlns:a="http://schemas.openxmlformats.org/drawingml/2006/main">
              <a:ext uri="{FF2B5EF4-FFF2-40B4-BE49-F238E27FC236}">
                <a16:creationId xmlns:a16="http://schemas.microsoft.com/office/drawing/2014/main" id="{6FE97768-585B-4B7E-A5B6-FA771DFB9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19145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分類結果を確認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出力：修正対象</a:t>
            </a:r>
          </a:p>
        </p:txBody>
      </p:sp>
      <p:sp>
        <p:nvSpPr>
          <p:cNvPr id="26" name="page-05-object-025">
            <a:extLst xmlns:a="http://schemas.openxmlformats.org/drawingml/2006/main">
              <a:ext uri="{FF2B5EF4-FFF2-40B4-BE49-F238E27FC236}">
                <a16:creationId xmlns:a16="http://schemas.microsoft.com/office/drawing/2014/main" id="{7A0E670A-DE25-4573-A4B9-F6F1EEBDE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17811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page-05-object-026">
            <a:extLst xmlns:a="http://schemas.openxmlformats.org/drawingml/2006/main">
              <a:ext uri="{FF2B5EF4-FFF2-40B4-BE49-F238E27FC236}">
                <a16:creationId xmlns:a16="http://schemas.microsoft.com/office/drawing/2014/main" id="{4436660A-CAD8-4C29-A870-5B0330130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19145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完了状況を確認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入力：改稿記録</a:t>
            </a:r>
          </a:p>
        </p:txBody>
      </p:sp>
      <p:sp>
        <p:nvSpPr>
          <p:cNvPr id="28" name="page-05-object-027">
            <a:extLst xmlns:a="http://schemas.openxmlformats.org/drawingml/2006/main">
              <a:ext uri="{FF2B5EF4-FFF2-40B4-BE49-F238E27FC236}">
                <a16:creationId xmlns:a16="http://schemas.microsoft.com/office/drawing/2014/main" id="{5CA0CE9B-8459-41F9-9B8D-6AFFE879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7811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page-05-object-028">
            <a:extLst xmlns:a="http://schemas.openxmlformats.org/drawingml/2006/main">
              <a:ext uri="{FF2B5EF4-FFF2-40B4-BE49-F238E27FC236}">
                <a16:creationId xmlns:a16="http://schemas.microsoft.com/office/drawing/2014/main" id="{62C491F1-30ED-41B6-AE25-E9ACC80B7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19145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広告増額を判断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入力：効果・粗利</a:t>
            </a:r>
          </a:p>
        </p:txBody>
      </p:sp>
      <p:sp>
        <p:nvSpPr>
          <p:cNvPr id="30" name="page-05-object-029">
            <a:extLst xmlns:a="http://schemas.openxmlformats.org/drawingml/2006/main">
              <a:ext uri="{FF2B5EF4-FFF2-40B4-BE49-F238E27FC236}">
                <a16:creationId xmlns:a16="http://schemas.microsoft.com/office/drawing/2014/main" id="{8D420495-7550-457C-ABC2-36D73076E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2847975"/>
            <a:ext cx="1571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0D9"/>
          </a:solidFill>
          <a:ln xmlns:a="http://schemas.openxmlformats.org/drawingml/2006/main" w="9525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page-05-object-030">
            <a:extLst xmlns:a="http://schemas.openxmlformats.org/drawingml/2006/main">
              <a:ext uri="{FF2B5EF4-FFF2-40B4-BE49-F238E27FC236}">
                <a16:creationId xmlns:a16="http://schemas.microsoft.com/office/drawing/2014/main" id="{9D81E4B1-D051-4A30-B293-2519725192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3152775"/>
            <a:ext cx="1400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商品・販売</a:t>
            </a:r>
          </a:p>
        </p:txBody>
      </p:sp>
      <p:sp>
        <p:nvSpPr>
          <p:cNvPr id="32" name="page-05-object-031">
            <a:extLst xmlns:a="http://schemas.openxmlformats.org/drawingml/2006/main">
              <a:ext uri="{FF2B5EF4-FFF2-40B4-BE49-F238E27FC236}">
                <a16:creationId xmlns:a16="http://schemas.microsoft.com/office/drawing/2014/main" id="{200AB9D5-DA31-46B6-9957-D23CD4FAF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28479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page-05-object-032">
            <a:extLst xmlns:a="http://schemas.openxmlformats.org/drawingml/2006/main">
              <a:ext uri="{FF2B5EF4-FFF2-40B4-BE49-F238E27FC236}">
                <a16:creationId xmlns:a16="http://schemas.microsoft.com/office/drawing/2014/main" id="{2A338EE4-E3B8-40A8-94F6-B40F35FC5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29813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上位商品を抽出</a:t>
            </a:r>
          </a:p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出力：対象一覧</a:t>
            </a:r>
          </a:p>
        </p:txBody>
      </p:sp>
      <p:sp>
        <p:nvSpPr>
          <p:cNvPr id="34" name="page-05-object-033">
            <a:extLst xmlns:a="http://schemas.openxmlformats.org/drawingml/2006/main">
              <a:ext uri="{FF2B5EF4-FFF2-40B4-BE49-F238E27FC236}">
                <a16:creationId xmlns:a16="http://schemas.microsoft.com/office/drawing/2014/main" id="{ED7CE5A1-656A-452A-AE2B-0C2D7FE46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8479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5" name="page-05-object-034">
            <a:extLst xmlns:a="http://schemas.openxmlformats.org/drawingml/2006/main">
              <a:ext uri="{FF2B5EF4-FFF2-40B4-BE49-F238E27FC236}">
                <a16:creationId xmlns:a16="http://schemas.microsoft.com/office/drawing/2014/main" id="{019D7F08-910E-488A-AE80-8E4D7D99E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29813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商品別粗利を分解</a:t>
            </a:r>
          </a:p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出力：差分の要因</a:t>
            </a:r>
          </a:p>
        </p:txBody>
      </p:sp>
      <p:sp>
        <p:nvSpPr>
          <p:cNvPr id="36" name="page-05-object-035">
            <a:extLst xmlns:a="http://schemas.openxmlformats.org/drawingml/2006/main">
              <a:ext uri="{FF2B5EF4-FFF2-40B4-BE49-F238E27FC236}">
                <a16:creationId xmlns:a16="http://schemas.microsoft.com/office/drawing/2014/main" id="{586DA120-027A-4104-BA43-5CFC7E1AC9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8479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7" name="page-05-object-036">
            <a:extLst xmlns:a="http://schemas.openxmlformats.org/drawingml/2006/main">
              <a:ext uri="{FF2B5EF4-FFF2-40B4-BE49-F238E27FC236}">
                <a16:creationId xmlns:a16="http://schemas.microsoft.com/office/drawing/2014/main" id="{328B9E73-C4B1-4097-AE36-518174EAE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29813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商品説明を改稿</a:t>
            </a:r>
          </a:p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出力：修正記録</a:t>
            </a:r>
          </a:p>
        </p:txBody>
      </p:sp>
      <p:sp>
        <p:nvSpPr>
          <p:cNvPr id="38" name="page-05-object-037">
            <a:extLst xmlns:a="http://schemas.openxmlformats.org/drawingml/2006/main">
              <a:ext uri="{FF2B5EF4-FFF2-40B4-BE49-F238E27FC236}">
                <a16:creationId xmlns:a16="http://schemas.microsoft.com/office/drawing/2014/main" id="{D635B3D2-974D-4610-9B9A-00BF599A3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8479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9" name="page-05-object-038">
            <a:extLst xmlns:a="http://schemas.openxmlformats.org/drawingml/2006/main">
              <a:ext uri="{FF2B5EF4-FFF2-40B4-BE49-F238E27FC236}">
                <a16:creationId xmlns:a16="http://schemas.microsoft.com/office/drawing/2014/main" id="{F1A32E1A-B658-4C81-BEA0-13219CECA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29813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返品率を週次比較</a:t>
            </a:r>
          </a:p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出力：効果の記録</a:t>
            </a:r>
          </a:p>
        </p:txBody>
      </p:sp>
      <p:sp>
        <p:nvSpPr>
          <p:cNvPr id="40" name="page-05-object-039">
            <a:extLst xmlns:a="http://schemas.openxmlformats.org/drawingml/2006/main">
              <a:ext uri="{FF2B5EF4-FFF2-40B4-BE49-F238E27FC236}">
                <a16:creationId xmlns:a16="http://schemas.microsoft.com/office/drawing/2014/main" id="{0E49CCA1-861A-4AFB-8B61-EA724A5A5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914775"/>
            <a:ext cx="1571625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9525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1" name="page-05-object-040">
            <a:extLst xmlns:a="http://schemas.openxmlformats.org/drawingml/2006/main">
              <a:ext uri="{FF2B5EF4-FFF2-40B4-BE49-F238E27FC236}">
                <a16:creationId xmlns:a16="http://schemas.microsoft.com/office/drawing/2014/main" id="{FF81B98C-B7D6-41FB-BBBB-DA2E436528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" y="4219575"/>
            <a:ext cx="14001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顧客対応</a:t>
            </a:r>
          </a:p>
        </p:txBody>
      </p:sp>
      <p:sp>
        <p:nvSpPr>
          <p:cNvPr id="42" name="page-05-object-041">
            <a:extLst xmlns:a="http://schemas.openxmlformats.org/drawingml/2006/main">
              <a:ext uri="{FF2B5EF4-FFF2-40B4-BE49-F238E27FC236}">
                <a16:creationId xmlns:a16="http://schemas.microsoft.com/office/drawing/2014/main" id="{317E712A-F594-4153-943F-144AF0FDA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39147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3" name="page-05-object-042">
            <a:extLst xmlns:a="http://schemas.openxmlformats.org/drawingml/2006/main">
              <a:ext uri="{FF2B5EF4-FFF2-40B4-BE49-F238E27FC236}">
                <a16:creationId xmlns:a16="http://schemas.microsoft.com/office/drawing/2014/main" id="{27B2C152-BE75-4757-9886-AC3A04B3FF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85975" y="40481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返品記録を用意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出力：返品の一覧</a:t>
            </a:r>
          </a:p>
        </p:txBody>
      </p:sp>
      <p:sp>
        <p:nvSpPr>
          <p:cNvPr id="44" name="page-05-object-043">
            <a:extLst xmlns:a="http://schemas.openxmlformats.org/drawingml/2006/main">
              <a:ext uri="{FF2B5EF4-FFF2-40B4-BE49-F238E27FC236}">
                <a16:creationId xmlns:a16="http://schemas.microsoft.com/office/drawing/2014/main" id="{3F45CCD4-433D-4905-881D-E8AD7BE1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9147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page-05-object-044">
            <a:extLst xmlns:a="http://schemas.openxmlformats.org/drawingml/2006/main">
              <a:ext uri="{FF2B5EF4-FFF2-40B4-BE49-F238E27FC236}">
                <a16:creationId xmlns:a16="http://schemas.microsoft.com/office/drawing/2014/main" id="{3E7B9B6C-E745-4AF4-8245-C78318B70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43425" y="40481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返品理由を分類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10/09・分類率100%</a:t>
            </a:r>
          </a:p>
        </p:txBody>
      </p:sp>
      <p:sp>
        <p:nvSpPr>
          <p:cNvPr id="46" name="page-05-object-045">
            <a:extLst xmlns:a="http://schemas.openxmlformats.org/drawingml/2006/main">
              <a:ext uri="{FF2B5EF4-FFF2-40B4-BE49-F238E27FC236}">
                <a16:creationId xmlns:a16="http://schemas.microsoft.com/office/drawing/2014/main" id="{C5E9AA23-E05F-4EEA-B9E5-B88E884F1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39147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7" name="page-05-object-046">
            <a:extLst xmlns:a="http://schemas.openxmlformats.org/drawingml/2006/main">
              <a:ext uri="{FF2B5EF4-FFF2-40B4-BE49-F238E27FC236}">
                <a16:creationId xmlns:a16="http://schemas.microsoft.com/office/drawing/2014/main" id="{FAA5B7D4-92B1-4C7C-A740-F7B5B98A5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00875" y="40481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説明と理由を照合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入力：修正記録</a:t>
            </a:r>
          </a:p>
        </p:txBody>
      </p:sp>
      <p:sp>
        <p:nvSpPr>
          <p:cNvPr id="48" name="page-05-object-047">
            <a:extLst xmlns:a="http://schemas.openxmlformats.org/drawingml/2006/main">
              <a:ext uri="{FF2B5EF4-FFF2-40B4-BE49-F238E27FC236}">
                <a16:creationId xmlns:a16="http://schemas.microsoft.com/office/drawing/2014/main" id="{8E7937D5-559B-4854-AEB4-645B1CC9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3914775"/>
            <a:ext cx="2381250" cy="952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6668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9" name="page-05-object-048">
            <a:extLst xmlns:a="http://schemas.openxmlformats.org/drawingml/2006/main">
              <a:ext uri="{FF2B5EF4-FFF2-40B4-BE49-F238E27FC236}">
                <a16:creationId xmlns:a16="http://schemas.microsoft.com/office/drawing/2014/main" id="{3662AAE5-C290-4C03-9128-DE0B88DB34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58325" y="4048125"/>
            <a:ext cx="22098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新たな返品を記録</a:t>
            </a:r>
          </a:p>
          <a:p xmlns:a="http://schemas.openxmlformats.org/drawingml/2006/main">
            <a:pPr algn="ctr">
              <a:def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出力：理由の推移</a:t>
            </a:r>
          </a:p>
        </p:txBody>
      </p:sp>
      <p:sp>
        <p:nvSpPr>
          <p:cNvPr id="50" name="page-05-object-049">
            <a:extLst xmlns:a="http://schemas.openxmlformats.org/drawingml/2006/main">
              <a:ext uri="{FF2B5EF4-FFF2-40B4-BE49-F238E27FC236}">
                <a16:creationId xmlns:a16="http://schemas.microsoft.com/office/drawing/2014/main" id="{41923259-6499-43B0-8D5E-37848B15C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53200" y="4905375"/>
            <a:ext cx="704850" cy="552450"/>
          </a:xfrm>
          <a:prstGeom xmlns:a="http://schemas.openxmlformats.org/drawingml/2006/main" prst="diamond">
            <a:avLst/>
          </a:prstGeom>
          <a:solidFill xmlns:a="http://schemas.openxmlformats.org/drawingml/2006/main">
            <a:srgbClr val="FFD966"/>
          </a:solidFill>
          <a:ln xmlns:a="http://schemas.openxmlformats.org/drawingml/2006/main" w="13335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1" name="page-05-object-050">
            <a:extLst xmlns:a="http://schemas.openxmlformats.org/drawingml/2006/main">
              <a:ext uri="{FF2B5EF4-FFF2-40B4-BE49-F238E27FC236}">
                <a16:creationId xmlns:a16="http://schemas.microsoft.com/office/drawing/2014/main" id="{4D49744C-6094-4E88-ACBD-8404DFD08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5057775"/>
            <a:ext cx="6096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確認</a:t>
            </a:r>
          </a:p>
        </p:txBody>
      </p:sp>
      <p:sp>
        <p:nvSpPr>
          <p:cNvPr id="52" name="page-05-object-051">
            <a:extLst xmlns:a="http://schemas.openxmlformats.org/drawingml/2006/main">
              <a:ext uri="{FF2B5EF4-FFF2-40B4-BE49-F238E27FC236}">
                <a16:creationId xmlns:a16="http://schemas.microsoft.com/office/drawing/2014/main" id="{81486E44-F248-43CD-8619-C9FC36CD6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00250" y="4905375"/>
            <a:ext cx="4095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143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3" name="page-05-object-052">
            <a:extLst xmlns:a="http://schemas.openxmlformats.org/drawingml/2006/main">
              <a:ext uri="{FF2B5EF4-FFF2-40B4-BE49-F238E27FC236}">
                <a16:creationId xmlns:a16="http://schemas.microsoft.com/office/drawing/2014/main" id="{885257D8-D058-47C2-B595-B1A67B192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2650" y="5067300"/>
            <a:ext cx="37909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092B4C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050" b="1" i="0">
                <a:solidFill>
                  <a:srgbClr val="092B4C"/>
                </a:solidFill>
                <a:latin typeface="BIZ UDPゴシック"/>
                <a:ea typeface="BIZ UDPゴシック"/>
                <a:cs typeface="BIZ UDPゴシック"/>
              </a:rPr>
              <a:t>引き継ぐ記録｜返品理由・説明の修正・商品別粗利</a:t>
            </a:r>
          </a:p>
        </p:txBody>
      </p:sp>
      <p:sp>
        <p:nvSpPr>
          <p:cNvPr id="54" name="page-05-object-053">
            <a:extLst xmlns:a="http://schemas.openxmlformats.org/drawingml/2006/main">
              <a:ext uri="{FF2B5EF4-FFF2-40B4-BE49-F238E27FC236}">
                <a16:creationId xmlns:a16="http://schemas.microsoft.com/office/drawing/2014/main" id="{4836421A-A537-47E4-A553-CF240F34D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905375"/>
            <a:ext cx="4114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4D6"/>
          </a:solidFill>
          <a:ln xmlns:a="http://schemas.openxmlformats.org/drawingml/2006/main" w="11430">
            <a:solidFill>
              <a:srgbClr val="C0000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5" name="page-05-object-054">
            <a:extLst xmlns:a="http://schemas.openxmlformats.org/drawingml/2006/main">
              <a:ext uri="{FF2B5EF4-FFF2-40B4-BE49-F238E27FC236}">
                <a16:creationId xmlns:a16="http://schemas.microsoft.com/office/drawing/2014/main" id="{BBDD20A0-E44E-4424-85E9-C92062716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067300"/>
            <a:ext cx="3810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05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05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要確認｜説明と実物の差、値引きと商品構成の影響</a:t>
            </a:r>
          </a:p>
        </p:txBody>
      </p:sp>
      <p:sp>
        <p:nvSpPr>
          <p:cNvPr id="56" name="page-05-object-055">
            <a:extLst xmlns:a="http://schemas.openxmlformats.org/drawingml/2006/main">
              <a:ext uri="{FF2B5EF4-FFF2-40B4-BE49-F238E27FC236}">
                <a16:creationId xmlns:a16="http://schemas.microsoft.com/office/drawing/2014/main" id="{36EB3211-0BF4-4758-897F-13FFA4C13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53100"/>
            <a:ext cx="11601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143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7" name="page-05-object-056">
            <a:extLst xmlns:a="http://schemas.openxmlformats.org/drawingml/2006/main">
              <a:ext uri="{FF2B5EF4-FFF2-40B4-BE49-F238E27FC236}">
                <a16:creationId xmlns:a16="http://schemas.microsoft.com/office/drawing/2014/main" id="{883417A0-7873-46DB-8FA2-ED205809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5310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58" name="page-05-object-057">
            <a:extLst xmlns:a="http://schemas.openxmlformats.org/drawingml/2006/main">
              <a:ext uri="{FF2B5EF4-FFF2-40B4-BE49-F238E27FC236}">
                <a16:creationId xmlns:a16="http://schemas.microsoft.com/office/drawing/2014/main" id="{592C007A-A675-41A9-9CF4-AA3DEF45FE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00725"/>
            <a:ext cx="1047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改善</a:t>
            </a:r>
          </a:p>
        </p:txBody>
      </p:sp>
      <p:sp>
        <p:nvSpPr>
          <p:cNvPr id="59" name="page-05-object-058">
            <a:extLst xmlns:a="http://schemas.openxmlformats.org/drawingml/2006/main">
              <a:ext uri="{FF2B5EF4-FFF2-40B4-BE49-F238E27FC236}">
                <a16:creationId xmlns:a16="http://schemas.microsoft.com/office/drawing/2014/main" id="{A8217E09-479C-4FD5-B22F-FE318E979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8102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担当者が記録と期限を共有し、事業責任者は確認した結果を基に判断する</a:t>
            </a:r>
          </a:p>
        </p:txBody>
      </p:sp>
      <p:sp>
        <p:nvSpPr>
          <p:cNvPr id="60" name="page-05-object-059">
            <a:extLst xmlns:a="http://schemas.openxmlformats.org/drawingml/2006/main">
              <a:ext uri="{FF2B5EF4-FFF2-40B4-BE49-F238E27FC236}">
                <a16:creationId xmlns:a16="http://schemas.microsoft.com/office/drawing/2014/main" id="{3D836042-B71A-48EA-A637-BF1804BE5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05550"/>
            <a:ext cx="110013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注：架空の業務設計案。既存のシステム構成や実際の組織を示すものではない。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159471102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page-04-object-000">
            <a:extLst xmlns:a="http://schemas.openxmlformats.org/drawingml/2006/main">
              <a:ext uri="{FF2B5EF4-FFF2-40B4-BE49-F238E27FC236}">
                <a16:creationId xmlns:a16="http://schemas.microsoft.com/office/drawing/2014/main" id="{A1601DD1-84C4-4786-9B44-ADEF76405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page-04-object-001">
            <a:extLst xmlns:a="http://schemas.openxmlformats.org/drawingml/2006/main">
              <a:ext uri="{FF2B5EF4-FFF2-40B4-BE49-F238E27FC236}">
                <a16:creationId xmlns:a16="http://schemas.microsoft.com/office/drawing/2014/main" id="{78E7DFCF-1FEC-421C-9C72-B259001E2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8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返品理由から商品説明を見直す</a:t>
            </a:r>
          </a:p>
        </p:txBody>
      </p:sp>
      <p:sp>
        <p:nvSpPr>
          <p:cNvPr id="3" name="page-04-object-002">
            <a:extLst xmlns:a="http://schemas.openxmlformats.org/drawingml/2006/main">
              <a:ext uri="{FF2B5EF4-FFF2-40B4-BE49-F238E27FC236}">
                <a16:creationId xmlns:a16="http://schemas.microsoft.com/office/drawing/2014/main" id="{CCFF0B84-75CF-4712-9D5F-E5235A5B8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page-04-object-003">
            <a:extLst xmlns:a="http://schemas.openxmlformats.org/drawingml/2006/main">
              <a:ext uri="{FF2B5EF4-FFF2-40B4-BE49-F238E27FC236}">
                <a16:creationId xmlns:a16="http://schemas.microsoft.com/office/drawing/2014/main" id="{E9934EFE-0C74-4EC2-B99B-6982A13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0477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施策のつながり</a:t>
            </a:r>
          </a:p>
        </p:txBody>
      </p:sp>
      <p:sp>
        <p:nvSpPr>
          <p:cNvPr id="5" name="page-04-object-004">
            <a:extLst xmlns:a="http://schemas.openxmlformats.org/drawingml/2006/main">
              <a:ext uri="{FF2B5EF4-FFF2-40B4-BE49-F238E27FC236}">
                <a16:creationId xmlns:a16="http://schemas.microsoft.com/office/drawing/2014/main" id="{1A2AAF54-B970-49F5-A742-25B6409450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43675"/>
            <a:ext cx="5905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page-04-object-005">
            <a:extLst xmlns:a="http://schemas.openxmlformats.org/drawingml/2006/main">
              <a:ext uri="{FF2B5EF4-FFF2-40B4-BE49-F238E27FC236}">
                <a16:creationId xmlns:a16="http://schemas.microsoft.com/office/drawing/2014/main" id="{B7BE5A35-E9DF-48E8-8067-253DFA686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43675"/>
            <a:ext cx="76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page-04-object-006">
            <a:extLst xmlns:a="http://schemas.openxmlformats.org/drawingml/2006/main">
              <a:ext uri="{FF2B5EF4-FFF2-40B4-BE49-F238E27FC236}">
                <a16:creationId xmlns:a16="http://schemas.microsoft.com/office/drawing/2014/main" id="{4801C97A-D665-42C0-B6F0-616BA7936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4367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page-04-object-007">
            <a:extLst xmlns:a="http://schemas.openxmlformats.org/drawingml/2006/main">
              <a:ext uri="{FF2B5EF4-FFF2-40B4-BE49-F238E27FC236}">
                <a16:creationId xmlns:a16="http://schemas.microsoft.com/office/drawing/2014/main" id="{F5BB010B-08F7-45EB-9DBA-379BF7898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81775"/>
            <a:ext cx="4619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くらし便 EC事業部　架空の制作例</a:t>
            </a:r>
          </a:p>
        </p:txBody>
      </p:sp>
      <p:sp>
        <p:nvSpPr>
          <p:cNvPr id="9" name="page-04-object-008">
            <a:extLst xmlns:a="http://schemas.openxmlformats.org/drawingml/2006/main">
              <a:ext uri="{FF2B5EF4-FFF2-40B4-BE49-F238E27FC236}">
                <a16:creationId xmlns:a16="http://schemas.microsoft.com/office/drawing/2014/main" id="{CCE2C95F-8BC9-491D-832F-AE7E014E8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5722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4</a:t>
            </a:r>
          </a:p>
        </p:txBody>
      </p:sp>
      <p:sp>
        <p:nvSpPr>
          <p:cNvPr id="10" name="page-04-object-009">
            <a:extLst xmlns:a="http://schemas.openxmlformats.org/drawingml/2006/main">
              <a:ext uri="{FF2B5EF4-FFF2-40B4-BE49-F238E27FC236}">
                <a16:creationId xmlns:a16="http://schemas.microsoft.com/office/drawing/2014/main" id="{FCE7499B-C716-40D9-8741-544B70E18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00075"/>
            <a:ext cx="1157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返品理由の分類を、説明修正と効果確認につなぐ</a:t>
            </a:r>
          </a:p>
        </p:txBody>
      </p:sp>
      <p:sp>
        <p:nvSpPr>
          <p:cNvPr id="11" name="page-04-object-010">
            <a:extLst xmlns:a="http://schemas.openxmlformats.org/drawingml/2006/main">
              <a:ext uri="{FF2B5EF4-FFF2-40B4-BE49-F238E27FC236}">
                <a16:creationId xmlns:a16="http://schemas.microsoft.com/office/drawing/2014/main" id="{139053FB-F37D-4CBF-8273-673B57FC93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90600"/>
            <a:ext cx="1152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474B5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2474B5"/>
                </a:solidFill>
                <a:latin typeface="BIZ UDPゴシック"/>
                <a:ea typeface="BIZ UDPゴシック"/>
                <a:cs typeface="BIZ UDPゴシック"/>
              </a:rPr>
              <a:t>商品説明と実物の差は仮説。返品理由の分類で確かめる</a:t>
            </a:r>
          </a:p>
        </p:txBody>
      </p:sp>
      <p:sp>
        <p:nvSpPr>
          <p:cNvPr id="12" name="page-04-object-011">
            <a:extLst xmlns:a="http://schemas.openxmlformats.org/drawingml/2006/main">
              <a:ext uri="{FF2B5EF4-FFF2-40B4-BE49-F238E27FC236}">
                <a16:creationId xmlns:a16="http://schemas.microsoft.com/office/drawing/2014/main" id="{55257325-2D48-45B4-8B32-F3A4DB74F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3048000"/>
            <a:ext cx="1047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3" name="page-04-object-012">
            <a:extLst xmlns:a="http://schemas.openxmlformats.org/drawingml/2006/main">
              <a:ext uri="{FF2B5EF4-FFF2-40B4-BE49-F238E27FC236}">
                <a16:creationId xmlns:a16="http://schemas.microsoft.com/office/drawing/2014/main" id="{07C3201A-E802-47B1-AC6B-8DFD7E6BD8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3048000"/>
            <a:ext cx="1047750" cy="400050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page-04-object-013">
            <a:extLst xmlns:a="http://schemas.openxmlformats.org/drawingml/2006/main">
              <a:ext uri="{FF2B5EF4-FFF2-40B4-BE49-F238E27FC236}">
                <a16:creationId xmlns:a16="http://schemas.microsoft.com/office/drawing/2014/main" id="{B09DD8E4-DCD1-4EC2-A22C-13A1B6B6F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81125"/>
            <a:ext cx="31432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7145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5" name="page-04-object-014">
            <a:extLst xmlns:a="http://schemas.openxmlformats.org/drawingml/2006/main">
              <a:ext uri="{FF2B5EF4-FFF2-40B4-BE49-F238E27FC236}">
                <a16:creationId xmlns:a16="http://schemas.microsoft.com/office/drawing/2014/main" id="{79B2F190-08F9-498C-85CC-90533D495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811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page-04-object-015">
            <a:extLst xmlns:a="http://schemas.openxmlformats.org/drawingml/2006/main">
              <a:ext uri="{FF2B5EF4-FFF2-40B4-BE49-F238E27FC236}">
                <a16:creationId xmlns:a16="http://schemas.microsoft.com/office/drawing/2014/main" id="{46576EED-E868-4BE4-9BFA-1D4779C91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3811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5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現状</a:t>
            </a:r>
          </a:p>
        </p:txBody>
      </p:sp>
      <p:sp>
        <p:nvSpPr>
          <p:cNvPr id="17" name="page-04-object-016">
            <a:extLst xmlns:a="http://schemas.openxmlformats.org/drawingml/2006/main">
              <a:ext uri="{FF2B5EF4-FFF2-40B4-BE49-F238E27FC236}">
                <a16:creationId xmlns:a16="http://schemas.microsoft.com/office/drawing/2014/main" id="{FC375CF9-735B-46E2-BE69-3D11AEF08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02882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page-04-object-017">
            <a:extLst xmlns:a="http://schemas.openxmlformats.org/drawingml/2006/main">
              <a:ext uri="{FF2B5EF4-FFF2-40B4-BE49-F238E27FC236}">
                <a16:creationId xmlns:a16="http://schemas.microsoft.com/office/drawing/2014/main" id="{45D51E72-FFB6-40EA-AF1B-0829860D5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526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返品率が4%から6%へ上昇</a:t>
            </a:r>
          </a:p>
        </p:txBody>
      </p:sp>
      <p:sp>
        <p:nvSpPr>
          <p:cNvPr id="19" name="page-04-object-018">
            <a:extLst xmlns:a="http://schemas.openxmlformats.org/drawingml/2006/main">
              <a:ext uri="{FF2B5EF4-FFF2-40B4-BE49-F238E27FC236}">
                <a16:creationId xmlns:a16="http://schemas.microsoft.com/office/drawing/2014/main" id="{F7AEAC35-6ED7-40C8-AB0A-3052674A0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277177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0" name="page-04-object-019">
            <a:extLst xmlns:a="http://schemas.openxmlformats.org/drawingml/2006/main">
              <a:ext uri="{FF2B5EF4-FFF2-40B4-BE49-F238E27FC236}">
                <a16:creationId xmlns:a16="http://schemas.microsoft.com/office/drawing/2014/main" id="{94A8028F-A0F7-4FFB-94BD-87BE18FC8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956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理由の内訳は未分類</a:t>
            </a:r>
          </a:p>
        </p:txBody>
      </p:sp>
      <p:sp>
        <p:nvSpPr>
          <p:cNvPr id="21" name="page-04-object-020">
            <a:extLst xmlns:a="http://schemas.openxmlformats.org/drawingml/2006/main">
              <a:ext uri="{FF2B5EF4-FFF2-40B4-BE49-F238E27FC236}">
                <a16:creationId xmlns:a16="http://schemas.microsoft.com/office/drawing/2014/main" id="{23B24CB1-B04C-4AF6-B626-E1763694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" y="351472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page-04-object-021">
            <a:extLst xmlns:a="http://schemas.openxmlformats.org/drawingml/2006/main">
              <a:ext uri="{FF2B5EF4-FFF2-40B4-BE49-F238E27FC236}">
                <a16:creationId xmlns:a16="http://schemas.microsoft.com/office/drawing/2014/main" id="{2CFD6EBA-95F1-40B7-8709-BD6622D4C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385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説明と実物の差は未確認</a:t>
            </a:r>
          </a:p>
        </p:txBody>
      </p:sp>
      <p:sp>
        <p:nvSpPr>
          <p:cNvPr id="23" name="page-04-object-022">
            <a:extLst xmlns:a="http://schemas.openxmlformats.org/drawingml/2006/main">
              <a:ext uri="{FF2B5EF4-FFF2-40B4-BE49-F238E27FC236}">
                <a16:creationId xmlns:a16="http://schemas.microsoft.com/office/drawing/2014/main" id="{722BCA4D-6A8C-48EA-A5A5-465426288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31432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17145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page-04-object-023">
            <a:extLst xmlns:a="http://schemas.openxmlformats.org/drawingml/2006/main">
              <a:ext uri="{FF2B5EF4-FFF2-40B4-BE49-F238E27FC236}">
                <a16:creationId xmlns:a16="http://schemas.microsoft.com/office/drawing/2014/main" id="{173F6E23-D016-4D75-9F19-2E6ED603D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D7D31"/>
          </a:solidFill>
          <a:ln xmlns:a="http://schemas.openxmlformats.org/drawingml/2006/main" w="0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5" name="page-04-object-024">
            <a:extLst xmlns:a="http://schemas.openxmlformats.org/drawingml/2006/main">
              <a:ext uri="{FF2B5EF4-FFF2-40B4-BE49-F238E27FC236}">
                <a16:creationId xmlns:a16="http://schemas.microsoft.com/office/drawing/2014/main" id="{0642ECA8-80DE-48D8-99F5-9197E957E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3811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5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変革手段</a:t>
            </a:r>
          </a:p>
        </p:txBody>
      </p:sp>
      <p:sp>
        <p:nvSpPr>
          <p:cNvPr id="26" name="page-04-object-025">
            <a:extLst xmlns:a="http://schemas.openxmlformats.org/drawingml/2006/main">
              <a:ext uri="{FF2B5EF4-FFF2-40B4-BE49-F238E27FC236}">
                <a16:creationId xmlns:a16="http://schemas.microsoft.com/office/drawing/2014/main" id="{3E48EF5D-1812-4180-B364-1B80CF7C8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02882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page-04-object-026">
            <a:extLst xmlns:a="http://schemas.openxmlformats.org/drawingml/2006/main">
              <a:ext uri="{FF2B5EF4-FFF2-40B4-BE49-F238E27FC236}">
                <a16:creationId xmlns:a16="http://schemas.microsoft.com/office/drawing/2014/main" id="{8E71720F-F275-4D24-855C-9109E9F58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1526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顧客対応が返品理由を分類</a:t>
            </a:r>
          </a:p>
        </p:txBody>
      </p:sp>
      <p:sp>
        <p:nvSpPr>
          <p:cNvPr id="28" name="page-04-object-027">
            <a:extLst xmlns:a="http://schemas.openxmlformats.org/drawingml/2006/main">
              <a:ext uri="{FF2B5EF4-FFF2-40B4-BE49-F238E27FC236}">
                <a16:creationId xmlns:a16="http://schemas.microsoft.com/office/drawing/2014/main" id="{8A119E1E-A75F-4433-8BC5-12D143CCB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277177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9" name="page-04-object-028">
            <a:extLst xmlns:a="http://schemas.openxmlformats.org/drawingml/2006/main">
              <a:ext uri="{FF2B5EF4-FFF2-40B4-BE49-F238E27FC236}">
                <a16:creationId xmlns:a16="http://schemas.microsoft.com/office/drawing/2014/main" id="{A3800963-58BD-4C60-B801-08E7E363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28956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商品担当が上位5商品を改稿</a:t>
            </a:r>
          </a:p>
        </p:txBody>
      </p:sp>
      <p:sp>
        <p:nvSpPr>
          <p:cNvPr id="30" name="page-04-object-029">
            <a:extLst xmlns:a="http://schemas.openxmlformats.org/drawingml/2006/main">
              <a:ext uri="{FF2B5EF4-FFF2-40B4-BE49-F238E27FC236}">
                <a16:creationId xmlns:a16="http://schemas.microsoft.com/office/drawing/2014/main" id="{517F3619-C2DC-45CA-AB9B-B92808264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52975" y="351472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1" name="page-04-object-030">
            <a:extLst xmlns:a="http://schemas.openxmlformats.org/drawingml/2006/main">
              <a:ext uri="{FF2B5EF4-FFF2-40B4-BE49-F238E27FC236}">
                <a16:creationId xmlns:a16="http://schemas.microsoft.com/office/drawing/2014/main" id="{C8DDAE7E-1E99-424D-B31E-AEA9D60BD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76800" y="36385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商品担当が返品率を週次比較</a:t>
            </a:r>
          </a:p>
        </p:txBody>
      </p:sp>
      <p:sp>
        <p:nvSpPr>
          <p:cNvPr id="32" name="page-04-object-031">
            <a:extLst xmlns:a="http://schemas.openxmlformats.org/drawingml/2006/main">
              <a:ext uri="{FF2B5EF4-FFF2-40B4-BE49-F238E27FC236}">
                <a16:creationId xmlns:a16="http://schemas.microsoft.com/office/drawing/2014/main" id="{A6E6B0B4-616E-4025-9A20-505D1AC7A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3143250" cy="3257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2F0D9"/>
          </a:solidFill>
          <a:ln xmlns:a="http://schemas.openxmlformats.org/drawingml/2006/main" w="17145">
            <a:solidFill>
              <a:srgbClr val="75B84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page-04-object-032">
            <a:extLst xmlns:a="http://schemas.openxmlformats.org/drawingml/2006/main">
              <a:ext uri="{FF2B5EF4-FFF2-40B4-BE49-F238E27FC236}">
                <a16:creationId xmlns:a16="http://schemas.microsoft.com/office/drawing/2014/main" id="{818BEDE0-012A-4820-91B7-3579A596C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3143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5B843"/>
          </a:solidFill>
          <a:ln xmlns:a="http://schemas.openxmlformats.org/drawingml/2006/main" w="0">
            <a:solidFill>
              <a:srgbClr val="75B84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page-04-object-033">
            <a:extLst xmlns:a="http://schemas.openxmlformats.org/drawingml/2006/main">
              <a:ext uri="{FF2B5EF4-FFF2-40B4-BE49-F238E27FC236}">
                <a16:creationId xmlns:a16="http://schemas.microsoft.com/office/drawing/2014/main" id="{DC7D76B5-E8E7-4ED5-B330-EC502B6D3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15375" y="138112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5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5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目指す姿</a:t>
            </a:r>
          </a:p>
        </p:txBody>
      </p:sp>
      <p:sp>
        <p:nvSpPr>
          <p:cNvPr id="35" name="page-04-object-034">
            <a:extLst xmlns:a="http://schemas.openxmlformats.org/drawingml/2006/main">
              <a:ext uri="{FF2B5EF4-FFF2-40B4-BE49-F238E27FC236}">
                <a16:creationId xmlns:a16="http://schemas.microsoft.com/office/drawing/2014/main" id="{2F7F0992-25D3-4A52-B131-6EC3C2FE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02882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B84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6" name="page-04-object-035">
            <a:extLst xmlns:a="http://schemas.openxmlformats.org/drawingml/2006/main">
              <a:ext uri="{FF2B5EF4-FFF2-40B4-BE49-F238E27FC236}">
                <a16:creationId xmlns:a16="http://schemas.microsoft.com/office/drawing/2014/main" id="{8A1CF4BD-CDCC-40FC-8C96-A7CE5FB3D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1526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返品理由を分類表で確認</a:t>
            </a:r>
          </a:p>
        </p:txBody>
      </p:sp>
      <p:sp>
        <p:nvSpPr>
          <p:cNvPr id="37" name="page-04-object-036">
            <a:extLst xmlns:a="http://schemas.openxmlformats.org/drawingml/2006/main">
              <a:ext uri="{FF2B5EF4-FFF2-40B4-BE49-F238E27FC236}">
                <a16:creationId xmlns:a16="http://schemas.microsoft.com/office/drawing/2014/main" id="{3A941E03-8454-4379-AF94-4EEBC556A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277177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B84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8" name="page-04-object-037">
            <a:extLst xmlns:a="http://schemas.openxmlformats.org/drawingml/2006/main">
              <a:ext uri="{FF2B5EF4-FFF2-40B4-BE49-F238E27FC236}">
                <a16:creationId xmlns:a16="http://schemas.microsoft.com/office/drawing/2014/main" id="{A84D0C0E-17B5-40A1-943E-DD2A338FF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89560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説明の修正箇所を記録</a:t>
            </a:r>
          </a:p>
        </p:txBody>
      </p:sp>
      <p:sp>
        <p:nvSpPr>
          <p:cNvPr id="39" name="page-04-object-038">
            <a:extLst xmlns:a="http://schemas.openxmlformats.org/drawingml/2006/main">
              <a:ext uri="{FF2B5EF4-FFF2-40B4-BE49-F238E27FC236}">
                <a16:creationId xmlns:a16="http://schemas.microsoft.com/office/drawing/2014/main" id="{1DA16A4C-1CB9-4AD4-B4E5-9F85AB845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43975" y="3514725"/>
            <a:ext cx="26860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75B843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0" name="page-04-object-039">
            <a:extLst xmlns:a="http://schemas.openxmlformats.org/drawingml/2006/main">
              <a:ext uri="{FF2B5EF4-FFF2-40B4-BE49-F238E27FC236}">
                <a16:creationId xmlns:a16="http://schemas.microsoft.com/office/drawing/2014/main" id="{C990E600-E00E-4742-ACBF-DDFA66CD9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3638550"/>
            <a:ext cx="24384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実測で改善の有無を判断</a:t>
            </a:r>
          </a:p>
        </p:txBody>
      </p:sp>
      <p:sp>
        <p:nvSpPr>
          <p:cNvPr id="41" name="page-04-object-040">
            <a:extLst xmlns:a="http://schemas.openxmlformats.org/drawingml/2006/main">
              <a:ext uri="{FF2B5EF4-FFF2-40B4-BE49-F238E27FC236}">
                <a16:creationId xmlns:a16="http://schemas.microsoft.com/office/drawing/2014/main" id="{9BF50E28-32A8-4A28-9B45-DDBE9157D0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876800"/>
            <a:ext cx="10629900" cy="695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3335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2" name="page-04-object-041">
            <a:extLst xmlns:a="http://schemas.openxmlformats.org/drawingml/2006/main">
              <a:ext uri="{FF2B5EF4-FFF2-40B4-BE49-F238E27FC236}">
                <a16:creationId xmlns:a16="http://schemas.microsoft.com/office/drawing/2014/main" id="{52AAFAE0-7EDD-4502-8970-E53A2AA71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5010150"/>
            <a:ext cx="102108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対象｜上位20商品の返品理由、返品上位5商品の説明</a:t>
            </a:r>
          </a:p>
          <a:p xmlns:a="http://schemas.openxmlformats.org/drawingml/2006/main">
            <a:pPr algn="ctr">
              <a:def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前提｜改善効果は未確認　指標｜対象商品の返品率を週次比較</a:t>
            </a:r>
          </a:p>
        </p:txBody>
      </p:sp>
      <p:sp>
        <p:nvSpPr>
          <p:cNvPr id="43" name="page-04-object-042">
            <a:extLst xmlns:a="http://schemas.openxmlformats.org/drawingml/2006/main">
              <a:ext uri="{FF2B5EF4-FFF2-40B4-BE49-F238E27FC236}">
                <a16:creationId xmlns:a16="http://schemas.microsoft.com/office/drawing/2014/main" id="{C96797BB-D9B7-432C-83A7-53242547B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53100"/>
            <a:ext cx="11601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143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4" name="page-04-object-043">
            <a:extLst xmlns:a="http://schemas.openxmlformats.org/drawingml/2006/main">
              <a:ext uri="{FF2B5EF4-FFF2-40B4-BE49-F238E27FC236}">
                <a16:creationId xmlns:a16="http://schemas.microsoft.com/office/drawing/2014/main" id="{9B7DE5D0-7940-45A8-8318-BAFDB6AB8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75310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5" name="page-04-object-044">
            <a:extLst xmlns:a="http://schemas.openxmlformats.org/drawingml/2006/main">
              <a:ext uri="{FF2B5EF4-FFF2-40B4-BE49-F238E27FC236}">
                <a16:creationId xmlns:a16="http://schemas.microsoft.com/office/drawing/2014/main" id="{47E67D49-EA6A-4BDF-A0A5-814DADF5A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00725"/>
            <a:ext cx="1047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移行条件</a:t>
            </a:r>
          </a:p>
        </p:txBody>
      </p:sp>
      <p:sp>
        <p:nvSpPr>
          <p:cNvPr id="46" name="page-04-object-045">
            <a:extLst xmlns:a="http://schemas.openxmlformats.org/drawingml/2006/main">
              <a:ext uri="{FF2B5EF4-FFF2-40B4-BE49-F238E27FC236}">
                <a16:creationId xmlns:a16="http://schemas.microsoft.com/office/drawing/2014/main" id="{F3F19964-0978-4FC5-8B47-ABAEE96BF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81025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10月9日に分類を確認し、10月16日までに商品説明を改稿する</a:t>
            </a:r>
          </a:p>
        </p:txBody>
      </p:sp>
      <p:sp>
        <p:nvSpPr>
          <p:cNvPr id="47" name="page-04-object-046">
            <a:extLst xmlns:a="http://schemas.openxmlformats.org/drawingml/2006/main">
              <a:ext uri="{FF2B5EF4-FFF2-40B4-BE49-F238E27FC236}">
                <a16:creationId xmlns:a16="http://schemas.microsoft.com/office/drawing/2014/main" id="{82205CF5-06FB-4DCA-89BD-577A9A8DA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05550"/>
            <a:ext cx="110013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出所：架空データ「くらし便 9月報告・対応案」。改善後の成果は未測定。</a:t>
            </a:r>
          </a:p>
        </p:txBody>
      </p:sp>
    </p:spTree>
    <p:extLst>
      <p:ext uri="{BB962C8B-B14F-4D97-AF65-F5344CB8AC3E}">
        <p14:creationId xmlns:p14="http://schemas.microsoft.com/office/powerpoint/2010/main" val="129922680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7" name="page-03-object-000">
            <a:extLst xmlns:a="http://schemas.openxmlformats.org/drawingml/2006/main">
              <a:ext uri="{FF2B5EF4-FFF2-40B4-BE49-F238E27FC236}">
                <a16:creationId xmlns:a16="http://schemas.microsoft.com/office/drawing/2014/main" id="{D9A72375-5130-49A7-9025-2556D07F3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page-03-object-001">
            <a:extLst xmlns:a="http://schemas.openxmlformats.org/drawingml/2006/main">
              <a:ext uri="{FF2B5EF4-FFF2-40B4-BE49-F238E27FC236}">
                <a16:creationId xmlns:a16="http://schemas.microsoft.com/office/drawing/2014/main" id="{BCA393F3-018A-4540-8DFE-AA77D60ED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8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チャネル別売上・増収の内訳</a:t>
            </a:r>
          </a:p>
        </p:txBody>
      </p:sp>
      <p:sp>
        <p:nvSpPr>
          <p:cNvPr id="3" name="page-03-object-002">
            <a:extLst xmlns:a="http://schemas.openxmlformats.org/drawingml/2006/main">
              <a:ext uri="{FF2B5EF4-FFF2-40B4-BE49-F238E27FC236}">
                <a16:creationId xmlns:a16="http://schemas.microsoft.com/office/drawing/2014/main" id="{A46657A9-CEAE-4A73-AB67-6CC0805E5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page-03-object-003">
            <a:extLst xmlns:a="http://schemas.openxmlformats.org/drawingml/2006/main">
              <a:ext uri="{FF2B5EF4-FFF2-40B4-BE49-F238E27FC236}">
                <a16:creationId xmlns:a16="http://schemas.microsoft.com/office/drawing/2014/main" id="{67E38DC0-21DC-4BC3-9A81-BE44EAA4F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0477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定量根拠</a:t>
            </a:r>
          </a:p>
        </p:txBody>
      </p:sp>
      <p:sp>
        <p:nvSpPr>
          <p:cNvPr id="5" name="page-03-object-004">
            <a:extLst xmlns:a="http://schemas.openxmlformats.org/drawingml/2006/main">
              <a:ext uri="{FF2B5EF4-FFF2-40B4-BE49-F238E27FC236}">
                <a16:creationId xmlns:a16="http://schemas.microsoft.com/office/drawing/2014/main" id="{11A8D5FA-64CE-4DCF-B4DF-6F5CEE839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43675"/>
            <a:ext cx="5905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page-03-object-005">
            <a:extLst xmlns:a="http://schemas.openxmlformats.org/drawingml/2006/main">
              <a:ext uri="{FF2B5EF4-FFF2-40B4-BE49-F238E27FC236}">
                <a16:creationId xmlns:a16="http://schemas.microsoft.com/office/drawing/2014/main" id="{513F6299-9814-49BA-B7D2-81CFE33C7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43675"/>
            <a:ext cx="76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page-03-object-006">
            <a:extLst xmlns:a="http://schemas.openxmlformats.org/drawingml/2006/main">
              <a:ext uri="{FF2B5EF4-FFF2-40B4-BE49-F238E27FC236}">
                <a16:creationId xmlns:a16="http://schemas.microsoft.com/office/drawing/2014/main" id="{5EC33ED2-2F4F-4A2E-86F9-A9964A95A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4367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page-03-object-007">
            <a:extLst xmlns:a="http://schemas.openxmlformats.org/drawingml/2006/main">
              <a:ext uri="{FF2B5EF4-FFF2-40B4-BE49-F238E27FC236}">
                <a16:creationId xmlns:a16="http://schemas.microsoft.com/office/drawing/2014/main" id="{C0CEF5B7-D916-405B-A8CE-4B1582ADD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81775"/>
            <a:ext cx="4619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くらし便 EC事業部　架空の制作例</a:t>
            </a:r>
          </a:p>
        </p:txBody>
      </p:sp>
      <p:sp>
        <p:nvSpPr>
          <p:cNvPr id="9" name="page-03-object-008">
            <a:extLst xmlns:a="http://schemas.openxmlformats.org/drawingml/2006/main">
              <a:ext uri="{FF2B5EF4-FFF2-40B4-BE49-F238E27FC236}">
                <a16:creationId xmlns:a16="http://schemas.microsoft.com/office/drawing/2014/main" id="{23E9040B-9AA5-44CB-B36B-174370D70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5722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3</a:t>
            </a:r>
          </a:p>
        </p:txBody>
      </p:sp>
      <p:sp>
        <p:nvSpPr>
          <p:cNvPr id="10" name="page-03-object-009">
            <a:extLst xmlns:a="http://schemas.openxmlformats.org/drawingml/2006/main">
              <a:ext uri="{FF2B5EF4-FFF2-40B4-BE49-F238E27FC236}">
                <a16:creationId xmlns:a16="http://schemas.microsoft.com/office/drawing/2014/main" id="{1092FBFC-C065-4ED4-8A1B-599D2810E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00075"/>
            <a:ext cx="11572875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自然検索が増収200万円の45%を占める</a:t>
            </a:r>
          </a:p>
        </p:txBody>
      </p:sp>
      <p:sp>
        <p:nvSpPr>
          <p:cNvPr id="11" name="page-03-object-010">
            <a:extLst xmlns:a="http://schemas.openxmlformats.org/drawingml/2006/main">
              <a:ext uri="{FF2B5EF4-FFF2-40B4-BE49-F238E27FC236}">
                <a16:creationId xmlns:a16="http://schemas.microsoft.com/office/drawing/2014/main" id="{64E9EB5F-E338-44FB-B089-C8CD8739B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990600"/>
            <a:ext cx="11525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2474B5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2474B5"/>
                </a:solidFill>
                <a:latin typeface="BIZ UDPゴシック"/>
                <a:ea typeface="BIZ UDPゴシック"/>
                <a:cs typeface="BIZ UDPゴシック"/>
              </a:rPr>
              <a:t>単位：万円／2025年9月と2026年9月を比較</a:t>
            </a:r>
          </a:p>
        </p:txBody>
      </p:sp>
      <p:graphicFrame>
        <p:nvGraphicFramePr>
          <p:cNvPr id="48" name="page-03-object-011"/>
          <p:cNvGraphicFramePr/>
          <p:nvPr/>
        </p:nvGraphicFramePr>
        <p:xfrm>
          <a:off xmlns:a="http://schemas.openxmlformats.org/drawingml/2006/main" x="381000" y="1381125"/>
          <a:ext xmlns:a="http://schemas.openxmlformats.org/drawingml/2006/main" cx="7239000" cy="3905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542aa6f939d4beb"/>
          </a:graphicData>
        </a:graphic>
      </p:graphicFrame>
      <p:sp>
        <p:nvSpPr>
          <p:cNvPr id="13" name="page-03-object-012">
            <a:extLst xmlns:a="http://schemas.openxmlformats.org/drawingml/2006/main">
              <a:ext uri="{FF2B5EF4-FFF2-40B4-BE49-F238E27FC236}">
                <a16:creationId xmlns:a16="http://schemas.microsoft.com/office/drawing/2014/main" id="{F341289F-6556-4A4D-B119-F1EE1267B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1666875"/>
            <a:ext cx="1952625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C0000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page-03-object-013">
            <a:extLst xmlns:a="http://schemas.openxmlformats.org/drawingml/2006/main">
              <a:ext uri="{FF2B5EF4-FFF2-40B4-BE49-F238E27FC236}">
                <a16:creationId xmlns:a16="http://schemas.microsoft.com/office/drawing/2014/main" id="{867A1F5C-A367-4C2F-B909-D138DD5E6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29250" y="1752600"/>
            <a:ext cx="172402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自然検索 +90万円</a:t>
            </a:r>
          </a:p>
          <a:p xmlns:a="http://schemas.openxmlformats.org/drawingml/2006/main">
            <a:pPr algn="ctr">
              <a:def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増収全体の45%</a:t>
            </a:r>
          </a:p>
        </p:txBody>
      </p:sp>
      <p:sp>
        <p:nvSpPr>
          <p:cNvPr id="15" name="page-03-object-014">
            <a:extLst xmlns:a="http://schemas.openxmlformats.org/drawingml/2006/main">
              <a:ext uri="{FF2B5EF4-FFF2-40B4-BE49-F238E27FC236}">
                <a16:creationId xmlns:a16="http://schemas.microsoft.com/office/drawing/2014/main" id="{FE21A685-9A70-43A1-A200-74D00AC6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81125"/>
            <a:ext cx="390525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6" name="page-03-object-015">
            <a:extLst xmlns:a="http://schemas.openxmlformats.org/drawingml/2006/main">
              <a:ext uri="{FF2B5EF4-FFF2-40B4-BE49-F238E27FC236}">
                <a16:creationId xmlns:a16="http://schemas.microsoft.com/office/drawing/2014/main" id="{5ED35523-4007-4A35-B924-C8A95B915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381125"/>
            <a:ext cx="390525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19050" tIns="0" rIns="1905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7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読み取れること</a:t>
            </a:r>
          </a:p>
        </p:txBody>
      </p:sp>
      <p:sp>
        <p:nvSpPr>
          <p:cNvPr id="17" name="page-03-object-016">
            <a:extLst xmlns:a="http://schemas.openxmlformats.org/drawingml/2006/main">
              <a:ext uri="{FF2B5EF4-FFF2-40B4-BE49-F238E27FC236}">
                <a16:creationId xmlns:a16="http://schemas.microsoft.com/office/drawing/2014/main" id="{65A54B50-A6F8-439B-877E-98453DA9F5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5336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A6A6"/>
          </a:solidFill>
          <a:ln xmlns:a="http://schemas.openxmlformats.org/drawingml/2006/main" w="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8" name="page-03-object-017">
            <a:extLst xmlns:a="http://schemas.openxmlformats.org/drawingml/2006/main">
              <a:ext uri="{FF2B5EF4-FFF2-40B4-BE49-F238E27FC236}">
                <a16:creationId xmlns:a16="http://schemas.microsoft.com/office/drawing/2014/main" id="{441CFDF4-0EDA-40E4-808A-9A0298305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819275"/>
            <a:ext cx="809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rPr>
              <a:t>① 変化</a:t>
            </a:r>
          </a:p>
        </p:txBody>
      </p:sp>
      <p:sp>
        <p:nvSpPr>
          <p:cNvPr id="19" name="page-03-object-018">
            <a:extLst xmlns:a="http://schemas.openxmlformats.org/drawingml/2006/main">
              <a:ext uri="{FF2B5EF4-FFF2-40B4-BE49-F238E27FC236}">
                <a16:creationId xmlns:a16="http://schemas.microsoft.com/office/drawing/2014/main" id="{9EF63DE5-6FFF-4A32-A1AB-A4CE50247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1819275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0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全体：1,000 → 1,200万円</a:t>
            </a:r>
          </a:p>
        </p:txBody>
      </p:sp>
      <p:sp>
        <p:nvSpPr>
          <p:cNvPr id="20" name="page-03-object-019">
            <a:extLst xmlns:a="http://schemas.openxmlformats.org/drawingml/2006/main">
              <a:ext uri="{FF2B5EF4-FFF2-40B4-BE49-F238E27FC236}">
                <a16:creationId xmlns:a16="http://schemas.microsoft.com/office/drawing/2014/main" id="{99CCF277-272B-4B39-8118-553ABDCCF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33147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A6A6"/>
          </a:solidFill>
          <a:ln xmlns:a="http://schemas.openxmlformats.org/drawingml/2006/main" w="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page-03-object-020">
            <a:extLst xmlns:a="http://schemas.openxmlformats.org/drawingml/2006/main">
              <a:ext uri="{FF2B5EF4-FFF2-40B4-BE49-F238E27FC236}">
                <a16:creationId xmlns:a16="http://schemas.microsoft.com/office/drawing/2014/main" id="{EAE357A3-1ADD-47EF-8AE2-EA4E3BED7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600325"/>
            <a:ext cx="809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rPr>
              <a:t>② 内訳</a:t>
            </a:r>
          </a:p>
        </p:txBody>
      </p:sp>
      <p:sp>
        <p:nvSpPr>
          <p:cNvPr id="22" name="page-03-object-021">
            <a:extLst xmlns:a="http://schemas.openxmlformats.org/drawingml/2006/main">
              <a:ext uri="{FF2B5EF4-FFF2-40B4-BE49-F238E27FC236}">
                <a16:creationId xmlns:a16="http://schemas.microsoft.com/office/drawing/2014/main" id="{5EE55160-8EB4-48D3-B769-C59A5B749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2600325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0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自然検索90、メール50万円増</a:t>
            </a:r>
          </a:p>
        </p:txBody>
      </p:sp>
      <p:sp>
        <p:nvSpPr>
          <p:cNvPr id="23" name="page-03-object-022">
            <a:extLst xmlns:a="http://schemas.openxmlformats.org/drawingml/2006/main">
              <a:ext uri="{FF2B5EF4-FFF2-40B4-BE49-F238E27FC236}">
                <a16:creationId xmlns:a16="http://schemas.microsoft.com/office/drawing/2014/main" id="{C4D7C792-76D9-4D67-903F-F2847D625A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09575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A6A6"/>
          </a:solidFill>
          <a:ln xmlns:a="http://schemas.openxmlformats.org/drawingml/2006/main" w="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4" name="page-03-object-023">
            <a:extLst xmlns:a="http://schemas.openxmlformats.org/drawingml/2006/main">
              <a:ext uri="{FF2B5EF4-FFF2-40B4-BE49-F238E27FC236}">
                <a16:creationId xmlns:a16="http://schemas.microsoft.com/office/drawing/2014/main" id="{2391188B-1351-46CB-B0DC-C4CC2A265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381375"/>
            <a:ext cx="809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0B5AA6"/>
                </a:solidFill>
                <a:latin typeface="BIZ UDPゴシック"/>
                <a:ea typeface="BIZ UDPゴシック"/>
                <a:cs typeface="BIZ UDPゴシック"/>
              </a:rPr>
              <a:t>③ 留意点</a:t>
            </a:r>
          </a:p>
        </p:txBody>
      </p:sp>
      <p:sp>
        <p:nvSpPr>
          <p:cNvPr id="25" name="page-03-object-024">
            <a:extLst xmlns:a="http://schemas.openxmlformats.org/drawingml/2006/main">
              <a:ext uri="{FF2B5EF4-FFF2-40B4-BE49-F238E27FC236}">
                <a16:creationId xmlns:a16="http://schemas.microsoft.com/office/drawing/2014/main" id="{1B2C9900-52C3-405C-A45E-670DF6E6D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381375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050" b="0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売上だけでは利益改善を判断しない</a:t>
            </a:r>
          </a:p>
        </p:txBody>
      </p:sp>
      <p:sp>
        <p:nvSpPr>
          <p:cNvPr id="26" name="page-03-object-025">
            <a:extLst xmlns:a="http://schemas.openxmlformats.org/drawingml/2006/main">
              <a:ext uri="{FF2B5EF4-FFF2-40B4-BE49-F238E27FC236}">
                <a16:creationId xmlns:a16="http://schemas.microsoft.com/office/drawing/2014/main" id="{66F673AA-4F99-4E6A-8CE1-394D707AD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4876800"/>
            <a:ext cx="3905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6A6A6"/>
          </a:solidFill>
          <a:ln xmlns:a="http://schemas.openxmlformats.org/drawingml/2006/main" w="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7" name="page-03-object-026">
            <a:extLst xmlns:a="http://schemas.openxmlformats.org/drawingml/2006/main">
              <a:ext uri="{FF2B5EF4-FFF2-40B4-BE49-F238E27FC236}">
                <a16:creationId xmlns:a16="http://schemas.microsoft.com/office/drawing/2014/main" id="{F0057C51-2DD1-4E6A-B9FB-FD000031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162425"/>
            <a:ext cx="80962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④ 対応</a:t>
            </a:r>
          </a:p>
        </p:txBody>
      </p:sp>
      <p:sp>
        <p:nvSpPr>
          <p:cNvPr id="28" name="page-03-object-027">
            <a:extLst xmlns:a="http://schemas.openxmlformats.org/drawingml/2006/main">
              <a:ext uri="{FF2B5EF4-FFF2-40B4-BE49-F238E27FC236}">
                <a16:creationId xmlns:a16="http://schemas.microsoft.com/office/drawing/2014/main" id="{165AE605-9565-4885-8191-41C7A781F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4162425"/>
            <a:ext cx="29146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050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商品別の粗利差分を確認</a:t>
            </a:r>
          </a:p>
        </p:txBody>
      </p:sp>
      <p:sp>
        <p:nvSpPr>
          <p:cNvPr id="29" name="page-03-object-028">
            <a:extLst xmlns:a="http://schemas.openxmlformats.org/drawingml/2006/main">
              <a:ext uri="{FF2B5EF4-FFF2-40B4-BE49-F238E27FC236}">
                <a16:creationId xmlns:a16="http://schemas.microsoft.com/office/drawing/2014/main" id="{EEAB2599-8593-4B44-A438-86AA6302A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5086350"/>
            <a:ext cx="390525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2CC"/>
          </a:solidFill>
          <a:ln xmlns:a="http://schemas.openxmlformats.org/drawingml/2006/main" w="11430">
            <a:solidFill>
              <a:srgbClr val="ED7D31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0" name="page-03-object-029">
            <a:extLst xmlns:a="http://schemas.openxmlformats.org/drawingml/2006/main">
              <a:ext uri="{FF2B5EF4-FFF2-40B4-BE49-F238E27FC236}">
                <a16:creationId xmlns:a16="http://schemas.microsoft.com/office/drawing/2014/main" id="{8E3EE096-4595-4BAE-B7F5-CEAE8293B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判断｜広告増額は分析結果を見てから</a:t>
            </a:r>
          </a:p>
        </p:txBody>
      </p:sp>
      <p:sp>
        <p:nvSpPr>
          <p:cNvPr id="31" name="page-03-object-030">
            <a:extLst xmlns:a="http://schemas.openxmlformats.org/drawingml/2006/main">
              <a:ext uri="{FF2B5EF4-FFF2-40B4-BE49-F238E27FC236}">
                <a16:creationId xmlns:a16="http://schemas.microsoft.com/office/drawing/2014/main" id="{4614D60C-E7DC-4EA6-B4F6-A0EA899DE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5467350"/>
            <a:ext cx="723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750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750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注：前年・当月とも架空の集計。チャネル合計は全体売上に一致。</a:t>
            </a:r>
          </a:p>
        </p:txBody>
      </p:sp>
      <p:sp>
        <p:nvSpPr>
          <p:cNvPr id="32" name="page-03-object-031">
            <a:extLst xmlns:a="http://schemas.openxmlformats.org/drawingml/2006/main">
              <a:ext uri="{FF2B5EF4-FFF2-40B4-BE49-F238E27FC236}">
                <a16:creationId xmlns:a16="http://schemas.microsoft.com/office/drawing/2014/main" id="{F2C57958-711F-4ED2-BBE7-6EA84E00E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9775"/>
            <a:ext cx="11601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143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3" name="page-03-object-032">
            <a:extLst xmlns:a="http://schemas.openxmlformats.org/drawingml/2006/main">
              <a:ext uri="{FF2B5EF4-FFF2-40B4-BE49-F238E27FC236}">
                <a16:creationId xmlns:a16="http://schemas.microsoft.com/office/drawing/2014/main" id="{C040E815-521E-4A59-8693-93CDBA654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19775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34" name="page-03-object-033">
            <a:extLst xmlns:a="http://schemas.openxmlformats.org/drawingml/2006/main">
              <a:ext uri="{FF2B5EF4-FFF2-40B4-BE49-F238E27FC236}">
                <a16:creationId xmlns:a16="http://schemas.microsoft.com/office/drawing/2014/main" id="{DFE07283-0A3F-40A8-AC2F-3F9AFF5BC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67400"/>
            <a:ext cx="1047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含意</a:t>
            </a:r>
          </a:p>
        </p:txBody>
      </p:sp>
      <p:sp>
        <p:nvSpPr>
          <p:cNvPr id="35" name="page-03-object-034">
            <a:extLst xmlns:a="http://schemas.openxmlformats.org/drawingml/2006/main">
              <a:ext uri="{FF2B5EF4-FFF2-40B4-BE49-F238E27FC236}">
                <a16:creationId xmlns:a16="http://schemas.microsoft.com/office/drawing/2014/main" id="{4A8822BB-C35E-4F2E-B26D-CAE724CCC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876925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自然検索とメールが増収の70%を占めるが、粗利と返品の確認を先行する</a:t>
            </a:r>
          </a:p>
        </p:txBody>
      </p:sp>
      <p:sp>
        <p:nvSpPr>
          <p:cNvPr id="36" name="page-03-object-035">
            <a:extLst xmlns:a="http://schemas.openxmlformats.org/drawingml/2006/main">
              <a:ext uri="{FF2B5EF4-FFF2-40B4-BE49-F238E27FC236}">
                <a16:creationId xmlns:a16="http://schemas.microsoft.com/office/drawing/2014/main" id="{60F139E9-85E4-4F4B-A2EF-6D57E8768A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05550"/>
            <a:ext cx="110013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出所：架空データ「くらし便 2026年9月・前年同月比較」</a:t>
            </a:r>
          </a:p>
        </p:txBody>
      </p:sp>
    </p:spTree>
    <p:extLst>
      <p:ext uri="{BB962C8B-B14F-4D97-AF65-F5344CB8AC3E}">
        <p14:creationId xmlns:p14="http://schemas.microsoft.com/office/powerpoint/2010/main" val="164192296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page-06-object-000">
            <a:extLst xmlns:a="http://schemas.openxmlformats.org/drawingml/2006/main">
              <a:ext uri="{FF2B5EF4-FFF2-40B4-BE49-F238E27FC236}">
                <a16:creationId xmlns:a16="http://schemas.microsoft.com/office/drawing/2014/main" id="{E36B1B5F-59AD-4947-9C6D-95871E6BF3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495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" name="page-06-object-001">
            <a:extLst xmlns:a="http://schemas.openxmlformats.org/drawingml/2006/main">
              <a:ext uri="{FF2B5EF4-FFF2-40B4-BE49-F238E27FC236}">
                <a16:creationId xmlns:a16="http://schemas.microsoft.com/office/drawing/2014/main" id="{2150519A-2611-4175-85FA-05880A81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38100"/>
            <a:ext cx="8858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1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論点・対応方針・継続審議</a:t>
            </a:r>
          </a:p>
        </p:txBody>
      </p:sp>
      <p:sp>
        <p:nvSpPr>
          <p:cNvPr id="3" name="page-06-object-002">
            <a:extLst xmlns:a="http://schemas.openxmlformats.org/drawingml/2006/main">
              <a:ext uri="{FF2B5EF4-FFF2-40B4-BE49-F238E27FC236}">
                <a16:creationId xmlns:a16="http://schemas.microsoft.com/office/drawing/2014/main" id="{F56C71DB-63E3-4D03-AEE7-E6E6E58DD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76200"/>
            <a:ext cx="22669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9E0"/>
          </a:solidFill>
          <a:ln xmlns:a="http://schemas.openxmlformats.org/drawingml/2006/main" w="0">
            <a:solidFill>
              <a:srgbClr val="00A9E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4" name="page-06-object-003">
            <a:extLst xmlns:a="http://schemas.openxmlformats.org/drawingml/2006/main">
              <a:ext uri="{FF2B5EF4-FFF2-40B4-BE49-F238E27FC236}">
                <a16:creationId xmlns:a16="http://schemas.microsoft.com/office/drawing/2014/main" id="{F213A46F-0C8F-49F3-B19E-95F01EFE50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04775"/>
            <a:ext cx="22669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125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着手方針の確認</a:t>
            </a:r>
          </a:p>
        </p:txBody>
      </p:sp>
      <p:sp>
        <p:nvSpPr>
          <p:cNvPr id="5" name="page-06-object-004">
            <a:extLst xmlns:a="http://schemas.openxmlformats.org/drawingml/2006/main">
              <a:ext uri="{FF2B5EF4-FFF2-40B4-BE49-F238E27FC236}">
                <a16:creationId xmlns:a16="http://schemas.microsoft.com/office/drawing/2014/main" id="{9F405516-AC78-4898-9173-CB79E8ECF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6543675"/>
            <a:ext cx="59055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6" name="page-06-object-005">
            <a:extLst xmlns:a="http://schemas.openxmlformats.org/drawingml/2006/main">
              <a:ext uri="{FF2B5EF4-FFF2-40B4-BE49-F238E27FC236}">
                <a16:creationId xmlns:a16="http://schemas.microsoft.com/office/drawing/2014/main" id="{626B6280-0D0B-4E85-AA05-EDCE0CE6D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6543675"/>
            <a:ext cx="76200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7" name="page-06-object-006">
            <a:extLst xmlns:a="http://schemas.openxmlformats.org/drawingml/2006/main">
              <a:ext uri="{FF2B5EF4-FFF2-40B4-BE49-F238E27FC236}">
                <a16:creationId xmlns:a16="http://schemas.microsoft.com/office/drawing/2014/main" id="{B24AFDAC-5F51-40A6-A523-878114008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6543675"/>
            <a:ext cx="28575" cy="3143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solidFill>
              <a:srgbClr val="FFFFFF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8" name="page-06-object-007">
            <a:extLst xmlns:a="http://schemas.openxmlformats.org/drawingml/2006/main">
              <a:ext uri="{FF2B5EF4-FFF2-40B4-BE49-F238E27FC236}">
                <a16:creationId xmlns:a16="http://schemas.microsoft.com/office/drawing/2014/main" id="{5C65CB62-5771-4AAB-900A-CA557D73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6581775"/>
            <a:ext cx="4619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くらし便 EC事業部　架空の制作例</a:t>
            </a:r>
          </a:p>
        </p:txBody>
      </p:sp>
      <p:sp>
        <p:nvSpPr>
          <p:cNvPr id="9" name="page-06-object-008">
            <a:extLst xmlns:a="http://schemas.openxmlformats.org/drawingml/2006/main">
              <a:ext uri="{FF2B5EF4-FFF2-40B4-BE49-F238E27FC236}">
                <a16:creationId xmlns:a16="http://schemas.microsoft.com/office/drawing/2014/main" id="{C6312DF0-ACF6-4814-9B9A-56500B40E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01450" y="6572250"/>
            <a:ext cx="3619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def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6</a:t>
            </a:r>
          </a:p>
        </p:txBody>
      </p:sp>
      <p:sp>
        <p:nvSpPr>
          <p:cNvPr id="10" name="page-06-object-009">
            <a:extLst xmlns:a="http://schemas.openxmlformats.org/drawingml/2006/main">
              <a:ext uri="{FF2B5EF4-FFF2-40B4-BE49-F238E27FC236}">
                <a16:creationId xmlns:a16="http://schemas.microsoft.com/office/drawing/2014/main" id="{0EEB838D-4835-40CA-A5FB-6B6DC1663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609600"/>
            <a:ext cx="885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202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商品説明の修正と粗利分析を先行する</a:t>
            </a:r>
          </a:p>
        </p:txBody>
      </p:sp>
      <p:sp>
        <p:nvSpPr>
          <p:cNvPr id="11" name="page-06-object-010">
            <a:extLst xmlns:a="http://schemas.openxmlformats.org/drawingml/2006/main">
              <a:ext uri="{FF2B5EF4-FFF2-40B4-BE49-F238E27FC236}">
                <a16:creationId xmlns:a16="http://schemas.microsoft.com/office/drawing/2014/main" id="{DD4A7A28-B98E-447C-B21D-5A13BDE2B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552450"/>
            <a:ext cx="2095500" cy="514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6193">
            <a:solidFill>
              <a:srgbClr val="C0000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2" name="page-06-object-011">
            <a:extLst xmlns:a="http://schemas.openxmlformats.org/drawingml/2006/main">
              <a:ext uri="{FF2B5EF4-FFF2-40B4-BE49-F238E27FC236}">
                <a16:creationId xmlns:a16="http://schemas.microsoft.com/office/drawing/2014/main" id="{D5AF9E86-FA66-47BD-A53E-B78E96F3F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600075"/>
            <a:ext cx="1981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90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0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対応案</a:t>
            </a:r>
          </a:p>
          <a:p xmlns:a="http://schemas.openxmlformats.org/drawingml/2006/main">
            <a:pPr algn="ctr">
              <a:defRPr sz="90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00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2026年9月報告</a:t>
            </a:r>
          </a:p>
        </p:txBody>
      </p:sp>
      <p:sp>
        <p:nvSpPr>
          <p:cNvPr id="13" name="page-06-object-012">
            <a:extLst xmlns:a="http://schemas.openxmlformats.org/drawingml/2006/main">
              <a:ext uri="{FF2B5EF4-FFF2-40B4-BE49-F238E27FC236}">
                <a16:creationId xmlns:a16="http://schemas.microsoft.com/office/drawing/2014/main" id="{05672A1F-F989-49D6-A82B-0A30FC5A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1123950"/>
            <a:ext cx="11525250" cy="428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7620">
            <a:solidFill>
              <a:srgbClr val="A6A6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4" name="page-06-object-013">
            <a:extLst xmlns:a="http://schemas.openxmlformats.org/drawingml/2006/main">
              <a:ext uri="{FF2B5EF4-FFF2-40B4-BE49-F238E27FC236}">
                <a16:creationId xmlns:a16="http://schemas.microsoft.com/office/drawing/2014/main" id="{81455712-294D-472A-B738-AF44F5B2E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1238250"/>
            <a:ext cx="112776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対象範囲｜EC事業・9月実績　　比較｜前年同月　　前提｜架空データ　　未決定｜広告増額</a:t>
            </a:r>
          </a:p>
        </p:txBody>
      </p:sp>
      <p:graphicFrame>
        <p:nvGraphicFramePr>
          <p:cNvPr id="39" name="page-06-object-014"/>
          <p:cNvGraphicFramePr/>
          <p:nvPr/>
        </p:nvGraphicFramePr>
        <p:xfrm>
          <a:off xmlns:a="http://schemas.openxmlformats.org/drawingml/2006/main" x="333375" y="1695450"/>
          <a:ext xmlns:a="http://schemas.openxmlformats.org/drawingml/2006/main" cx="1152525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76250"/>
                <a:gridCol w="1571625"/>
                <a:gridCol w="2333625"/>
                <a:gridCol w="3857625"/>
                <a:gridCol w="1000125"/>
                <a:gridCol w="904875"/>
                <a:gridCol w="1381125"/>
              </a:tblGrid>
              <a:tr h="508000"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No.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論点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把握している状況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対応方針・判断条件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担当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期限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75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状態</a:t>
                      </a:r>
                    </a:p>
                  </a:txBody>
                  <a:tcPr marL="91440" marR="91440" marT="45720" marB="45720">
                    <a:solidFill>
                      <a:srgbClr val="0B5AA6"/>
                    </a:solidFill>
                  </a:tcPr>
                </a:tc>
              </a:tr>
              <a:tr h="50800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DDEBF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返品理由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返品率 4% → 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25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上位20商品の理由を分類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10/09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提案</a:t>
                      </a:r>
                    </a:p>
                  </a:txBody>
                  <a:tcPr marL="91440" marR="91440" marT="45720" marB="45720">
                    <a:solidFill>
                      <a:srgbClr val="2474B5"/>
                    </a:solidFill>
                  </a:tcPr>
                </a:tc>
              </a:tr>
              <a:tr h="50800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DDEBF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商品説明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説明と実物の差は仮説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25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返品上位5商品の説明を改稿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青木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10/16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提案</a:t>
                      </a:r>
                    </a:p>
                  </a:txBody>
                  <a:tcPr marL="91440" marR="91440" marT="45720" marB="45720">
                    <a:solidFill>
                      <a:srgbClr val="2474B5"/>
                    </a:solidFill>
                  </a:tcPr>
                </a:tc>
              </a:tr>
              <a:tr h="50800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DDEBF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粗利率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38% → 36%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25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値引きと商品構成を分解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山田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10/16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要確認</a:t>
                      </a:r>
                    </a:p>
                  </a:txBody>
                  <a:tcPr marL="91440" marR="91440" marT="45720" marB="45720">
                    <a:solidFill>
                      <a:srgbClr val="C00000"/>
                    </a:solidFill>
                  </a:tcPr>
                </a:tc>
              </a:tr>
              <a:tr h="50800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4</a:t>
                      </a:r>
                    </a:p>
                  </a:txBody>
                  <a:tcPr marL="91440" marR="91440" marT="45720" marB="45720">
                    <a:solidFill>
                      <a:srgbClr val="DDEBF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施策の効果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改善後の結果は未測定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25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対象商品の返品率を週次比較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青木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週次</a:t>
                      </a:r>
                    </a:p>
                  </a:txBody>
                  <a:tcPr marL="91440" marR="91440" marT="45720" marB="45720">
                    <a:solidFill>
                      <a:srgbClr val="F2F2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要確認</a:t>
                      </a:r>
                    </a:p>
                  </a:txBody>
                  <a:tcPr marL="91440" marR="91440" marT="45720" marB="45720">
                    <a:solidFill>
                      <a:srgbClr val="C00000"/>
                    </a:solidFill>
                  </a:tcPr>
                </a:tc>
              </a:tr>
              <a:tr h="508000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DDEBF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広告増額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売上20%増、粗利率2ポイント低下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25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施策の完了と分析後に判断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責任者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0">
                          <a:solidFill>
                            <a:srgbClr val="111111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次回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BIZ UDPゴシック"/>
                          <a:ea typeface="BIZ UDPゴシック"/>
                          <a:cs typeface="BIZ UDPゴシック"/>
                        </a:rPr>
                        <a:t>継続審議</a:t>
                      </a:r>
                    </a:p>
                  </a:txBody>
                  <a:tcPr marL="91440" marR="91440" marT="45720" marB="45720">
                    <a:solidFill>
                      <a:srgbClr val="666666"/>
                    </a:solidFill>
                  </a:tcPr>
                </a:tc>
              </a:tr>
            </a:tbl>
          </a:graphicData>
        </a:graphic>
      </p:graphicFrame>
      <p:sp>
        <p:nvSpPr>
          <p:cNvPr id="16" name="page-06-object-015">
            <a:extLst xmlns:a="http://schemas.openxmlformats.org/drawingml/2006/main">
              <a:ext uri="{FF2B5EF4-FFF2-40B4-BE49-F238E27FC236}">
                <a16:creationId xmlns:a16="http://schemas.microsoft.com/office/drawing/2014/main" id="{8CF62AB7-896C-40D6-A459-C881D2C65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" y="4914900"/>
            <a:ext cx="552450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2383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7" name="page-06-object-016">
            <a:extLst xmlns:a="http://schemas.openxmlformats.org/drawingml/2006/main">
              <a:ext uri="{FF2B5EF4-FFF2-40B4-BE49-F238E27FC236}">
                <a16:creationId xmlns:a16="http://schemas.microsoft.com/office/drawing/2014/main" id="{EDC63B7C-A725-4B2B-A67F-A15A8672C7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" y="5010150"/>
            <a:ext cx="52387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【今回の判断】</a:t>
            </a:r>
          </a:p>
          <a:p xmlns:a="http://schemas.openxmlformats.org/drawingml/2006/main">
            <a:pPr algn="l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商品説明の修正と粗利分析に着手する案</a:t>
            </a:r>
          </a:p>
          <a:p xmlns:a="http://schemas.openxmlformats.org/drawingml/2006/main">
            <a:pPr algn="l">
              <a:def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判断者：事業責任者／結果は会議後に記録</a:t>
            </a:r>
          </a:p>
        </p:txBody>
      </p:sp>
      <p:sp>
        <p:nvSpPr>
          <p:cNvPr id="18" name="page-06-object-017">
            <a:extLst xmlns:a="http://schemas.openxmlformats.org/drawingml/2006/main">
              <a:ext uri="{FF2B5EF4-FFF2-40B4-BE49-F238E27FC236}">
                <a16:creationId xmlns:a16="http://schemas.microsoft.com/office/drawing/2014/main" id="{9A2A196B-477D-45F3-9352-8A1A9D80C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4914900"/>
            <a:ext cx="5810250" cy="819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CE4D6"/>
          </a:solidFill>
          <a:ln xmlns:a="http://schemas.openxmlformats.org/drawingml/2006/main" w="12383">
            <a:solidFill>
              <a:srgbClr val="C00000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19" name="page-06-object-018">
            <a:extLst xmlns:a="http://schemas.openxmlformats.org/drawingml/2006/main">
              <a:ext uri="{FF2B5EF4-FFF2-40B4-BE49-F238E27FC236}">
                <a16:creationId xmlns:a16="http://schemas.microsoft.com/office/drawing/2014/main" id="{812E96FE-5E71-47C5-A82A-48BDA3321C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10150"/>
            <a:ext cx="552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38100" tIns="19050" rIns="38100" bIns="1905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【継続確認】</a:t>
            </a:r>
          </a:p>
          <a:p xmlns:a="http://schemas.openxmlformats.org/drawingml/2006/main">
            <a:pPr algn="l">
              <a:def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返品率上昇と粗利率低下の要因は未確認</a:t>
            </a:r>
          </a:p>
          <a:p xmlns:a="http://schemas.openxmlformats.org/drawingml/2006/main">
            <a:pPr algn="l">
              <a:def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975" b="1" i="0">
                <a:solidFill>
                  <a:srgbClr val="C00000"/>
                </a:solidFill>
                <a:latin typeface="BIZ UDPゴシック"/>
                <a:ea typeface="BIZ UDPゴシック"/>
                <a:cs typeface="BIZ UDPゴシック"/>
              </a:rPr>
              <a:t>次回提示物：分類表・改稿記録・粗利差分</a:t>
            </a:r>
          </a:p>
        </p:txBody>
      </p:sp>
      <p:sp>
        <p:nvSpPr>
          <p:cNvPr id="20" name="page-06-object-019">
            <a:extLst xmlns:a="http://schemas.openxmlformats.org/drawingml/2006/main">
              <a:ext uri="{FF2B5EF4-FFF2-40B4-BE49-F238E27FC236}">
                <a16:creationId xmlns:a16="http://schemas.microsoft.com/office/drawing/2014/main" id="{AAEB0C23-01CE-49A1-9DBD-F6E780FC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48350"/>
            <a:ext cx="116014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BF7"/>
          </a:solidFill>
          <a:ln xmlns:a="http://schemas.openxmlformats.org/drawingml/2006/main" w="11430">
            <a:solidFill>
              <a:srgbClr val="2474B5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1" name="page-06-object-020">
            <a:extLst xmlns:a="http://schemas.openxmlformats.org/drawingml/2006/main">
              <a:ext uri="{FF2B5EF4-FFF2-40B4-BE49-F238E27FC236}">
                <a16:creationId xmlns:a16="http://schemas.microsoft.com/office/drawing/2014/main" id="{AABCBC0A-4306-4D63-A360-D605516EB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48350"/>
            <a:ext cx="1047750" cy="381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5AA6"/>
          </a:solidFill>
          <a:ln xmlns:a="http://schemas.openxmlformats.org/drawingml/2006/main" w="0">
            <a:solidFill>
              <a:srgbClr val="0B5AA6"/>
            </a:solidFill>
            <a:prstDash val="solid"/>
          </a:ln>
        </p:spPr>
        <p:txBody xmlns:a="http://schemas.openxmlformats.org/drawingml/2006/main">
          <a:bodyPr/>
          <a:p/>
        </p:txBody>
      </p:sp>
      <p:sp>
        <p:nvSpPr>
          <p:cNvPr id="22" name="page-06-object-021">
            <a:extLst xmlns:a="http://schemas.openxmlformats.org/drawingml/2006/main">
              <a:ext uri="{FF2B5EF4-FFF2-40B4-BE49-F238E27FC236}">
                <a16:creationId xmlns:a16="http://schemas.microsoft.com/office/drawing/2014/main" id="{F9E817EB-1449-431E-928D-965FCE020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5895975"/>
            <a:ext cx="1047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00" b="1" i="0">
                <a:solidFill>
                  <a:srgbClr val="FFFFFF"/>
                </a:solidFill>
                <a:latin typeface="BIZ UDPゴシック"/>
                <a:ea typeface="BIZ UDPゴシック"/>
                <a:cs typeface="BIZ UDPゴシック"/>
              </a:rPr>
              <a:t>次回</a:t>
            </a:r>
          </a:p>
        </p:txBody>
      </p:sp>
      <p:sp>
        <p:nvSpPr>
          <p:cNvPr id="23" name="page-06-object-022">
            <a:extLst xmlns:a="http://schemas.openxmlformats.org/drawingml/2006/main">
              <a:ext uri="{FF2B5EF4-FFF2-40B4-BE49-F238E27FC236}">
                <a16:creationId xmlns:a16="http://schemas.microsoft.com/office/drawing/2014/main" id="{10A86ABB-E46C-4CC5-835B-0B9B619FF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47800" y="5905500"/>
            <a:ext cx="1028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1275" b="1" i="0">
                <a:solidFill>
                  <a:srgbClr val="111111"/>
                </a:solidFill>
                <a:latin typeface="BIZ UDPゴシック"/>
                <a:ea typeface="BIZ UDPゴシック"/>
                <a:cs typeface="BIZ UDPゴシック"/>
              </a:rPr>
              <a:t>次回、各担当が施策の完了と分析結果を示し、事業責任者が広告増額を判断する</a:t>
            </a:r>
          </a:p>
        </p:txBody>
      </p:sp>
      <p:sp>
        <p:nvSpPr>
          <p:cNvPr id="24" name="page-06-object-023">
            <a:extLst xmlns:a="http://schemas.openxmlformats.org/drawingml/2006/main">
              <a:ext uri="{FF2B5EF4-FFF2-40B4-BE49-F238E27FC236}">
                <a16:creationId xmlns:a16="http://schemas.microsoft.com/office/drawing/2014/main" id="{3904EB2D-ACAF-4377-8078-0F34CCD8D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6305550"/>
            <a:ext cx="11001375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defRPr>
            </a:pPr>
            <a:r>
              <a:rPr sz="675" b="0" i="0">
                <a:solidFill>
                  <a:srgbClr val="666666"/>
                </a:solidFill>
                <a:latin typeface="BIZ UDPゴシック"/>
                <a:ea typeface="BIZ UDPゴシック"/>
                <a:cs typeface="BIZ UDPゴシック"/>
              </a:rPr>
              <a:t>出所：架空データ「くらし便 9月報告・対応案」。提案段階であり、実施済みの結果ではない。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113105910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/>
  <lastModifiedBy/>
  <dc:title>くらし便 EC事業 9月報告</dc:title>
  <dcterms:created xsi:type="dcterms:W3CDTF">2026-07-23T10:21:40.3760000Z</dcterms:created>
  <dcterms:modified xsi:type="dcterms:W3CDTF">2026-07-23T10:21:40.3760000Z</dcterms:modified>
  <dc:subject>架空のデータによる原典テンプレート実行例</dc:subject>
  <dc:language>ja-JP</dc:language>
</coreProperties>
</file>