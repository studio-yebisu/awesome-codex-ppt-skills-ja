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bf38adaf17436c" /><Relationship Type="http://schemas.openxmlformats.org/officeDocument/2006/relationships/extended-properties" Target="/docProps/app.xml" Id="R22ea82e0823249e8" /><Relationship Type="http://schemas.openxmlformats.org/officeDocument/2006/relationships/officeDocument" Target="/ppt/presentation.xml" Id="Rb60b7b4c923e4e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78575d63e0411c"/>
  </p:sldMasterIdLst>
  <p:notesMasterIdLst>
    <p:notesMasterId xmlns:r="http://schemas.openxmlformats.org/officeDocument/2006/relationships" r:id="R8626ecf1133f457d"/>
  </p:notesMasterIdLst>
  <p:sldIdLst>
    <p:sldId xmlns:r="http://schemas.openxmlformats.org/officeDocument/2006/relationships" id="256" r:id="R8c51160cfc374565"/>
    <p:sldId xmlns:r="http://schemas.openxmlformats.org/officeDocument/2006/relationships" id="257" r:id="Re82984a468c648f8"/>
    <p:sldId xmlns:r="http://schemas.openxmlformats.org/officeDocument/2006/relationships" id="258" r:id="R3604b1bcf6e14e33"/>
    <p:sldId xmlns:r="http://schemas.openxmlformats.org/officeDocument/2006/relationships" id="259" r:id="R0e25624e360c40b7"/>
    <p:sldId xmlns:r="http://schemas.openxmlformats.org/officeDocument/2006/relationships" id="260" r:id="Rcf5c484c65fc4089"/>
    <p:sldId xmlns:r="http://schemas.openxmlformats.org/officeDocument/2006/relationships" id="261" r:id="Red5515d8048f4df5"/>
    <p:sldId xmlns:r="http://schemas.openxmlformats.org/officeDocument/2006/relationships" id="262" r:id="Rd840770d8a0d4aa0"/>
    <p:sldId xmlns:r="http://schemas.openxmlformats.org/officeDocument/2006/relationships" id="263" r:id="Rc956495f49dd4651"/>
    <p:sldId xmlns:r="http://schemas.openxmlformats.org/officeDocument/2006/relationships" id="264" r:id="R58223999bf9949d1"/>
    <p:sldId xmlns:r="http://schemas.openxmlformats.org/officeDocument/2006/relationships" id="265" r:id="R99d62355c2c7420f"/>
    <p:sldId xmlns:r="http://schemas.openxmlformats.org/officeDocument/2006/relationships" id="266" r:id="Rb42ab2b702a94b3b"/>
    <p:sldId xmlns:r="http://schemas.openxmlformats.org/officeDocument/2006/relationships" id="267" r:id="Rbc07313ec8a640d6"/>
    <p:sldId xmlns:r="http://schemas.openxmlformats.org/officeDocument/2006/relationships" id="268" r:id="R6f58f6e53f19431a"/>
    <p:sldId xmlns:r="http://schemas.openxmlformats.org/officeDocument/2006/relationships" id="269" r:id="R6b81009cab8345a3"/>
    <p:sldId xmlns:r="http://schemas.openxmlformats.org/officeDocument/2006/relationships" id="270" r:id="R19af4d008204400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78b0b7acc04659" /><Relationship Type="http://schemas.openxmlformats.org/officeDocument/2006/relationships/slideMaster" Target="/ppt/slideMasters/slideMaster1.xml" Id="Rab78575d63e0411c" /><Relationship Type="http://schemas.openxmlformats.org/officeDocument/2006/relationships/notesMaster" Target="/ppt/notesMasters/notesMaster1.xml" Id="R8626ecf1133f457d" /><Relationship Type="http://schemas.openxmlformats.org/officeDocument/2006/relationships/presProps" Target="/ppt/presProps.xml" Id="Rc4d2fc77c2484f4b" /><Relationship Type="http://schemas.openxmlformats.org/officeDocument/2006/relationships/tableStyles" Target="/ppt/tableStyles.xml" Id="R31dd5bcadc0b49e5" /><Relationship Type="http://schemas.openxmlformats.org/officeDocument/2006/relationships/slide" Target="/ppt/slides/slide1.xml" Id="R8c51160cfc374565" /><Relationship Type="http://schemas.openxmlformats.org/officeDocument/2006/relationships/slide" Target="/ppt/slides/slide2.xml" Id="Re82984a468c648f8" /><Relationship Type="http://schemas.openxmlformats.org/officeDocument/2006/relationships/slide" Target="/ppt/slides/slide3.xml" Id="R3604b1bcf6e14e33" /><Relationship Type="http://schemas.openxmlformats.org/officeDocument/2006/relationships/slide" Target="/ppt/slides/slide4.xml" Id="R0e25624e360c40b7" /><Relationship Type="http://schemas.openxmlformats.org/officeDocument/2006/relationships/slide" Target="/ppt/slides/slide5.xml" Id="Rcf5c484c65fc4089" /><Relationship Type="http://schemas.openxmlformats.org/officeDocument/2006/relationships/slide" Target="/ppt/slides/slide6.xml" Id="Red5515d8048f4df5" /><Relationship Type="http://schemas.openxmlformats.org/officeDocument/2006/relationships/slide" Target="/ppt/slides/slide7.xml" Id="Rd840770d8a0d4aa0" /><Relationship Type="http://schemas.openxmlformats.org/officeDocument/2006/relationships/slide" Target="/ppt/slides/slide8.xml" Id="Rc956495f49dd4651" /><Relationship Type="http://schemas.openxmlformats.org/officeDocument/2006/relationships/slide" Target="/ppt/slides/slide9.xml" Id="R58223999bf9949d1" /><Relationship Type="http://schemas.openxmlformats.org/officeDocument/2006/relationships/slide" Target="/ppt/slides/slide10.xml" Id="R99d62355c2c7420f" /><Relationship Type="http://schemas.openxmlformats.org/officeDocument/2006/relationships/slide" Target="/ppt/slides/slide11.xml" Id="Rb42ab2b702a94b3b" /><Relationship Type="http://schemas.openxmlformats.org/officeDocument/2006/relationships/slide" Target="/ppt/slides/slide12.xml" Id="Rbc07313ec8a640d6" /><Relationship Type="http://schemas.openxmlformats.org/officeDocument/2006/relationships/slide" Target="/ppt/slides/slide13.xml" Id="R6f58f6e53f19431a" /><Relationship Type="http://schemas.openxmlformats.org/officeDocument/2006/relationships/slide" Target="/ppt/slides/slide14.xml" Id="R6b81009cab8345a3" /><Relationship Type="http://schemas.openxmlformats.org/officeDocument/2006/relationships/slide" Target="/ppt/slides/slide15.xml" Id="R19af4d00820440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df1301d6164e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847af16c7e4f96" /><Relationship Type="http://schemas.openxmlformats.org/officeDocument/2006/relationships/notesMaster" Target="/ppt/notesMasters/notesMaster1.xml" Id="Ra5404ce8f0d04b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a0d1b14f2e476f" /><Relationship Type="http://schemas.openxmlformats.org/officeDocument/2006/relationships/notesMaster" Target="/ppt/notesMasters/notesMaster1.xml" Id="Re3eac9d0858d4b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16b068aca44121" /><Relationship Type="http://schemas.openxmlformats.org/officeDocument/2006/relationships/notesMaster" Target="/ppt/notesMasters/notesMaster1.xml" Id="R64ea881dd2084a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1958ddcc92487b" /><Relationship Type="http://schemas.openxmlformats.org/officeDocument/2006/relationships/notesMaster" Target="/ppt/notesMasters/notesMaster1.xml" Id="R343d1e0d54444f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6be2b3dbfc40b8" /><Relationship Type="http://schemas.openxmlformats.org/officeDocument/2006/relationships/notesMaster" Target="/ppt/notesMasters/notesMaster1.xml" Id="R1651fe96447445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39122e276449b3" /><Relationship Type="http://schemas.openxmlformats.org/officeDocument/2006/relationships/notesMaster" Target="/ppt/notesMasters/notesMaster1.xml" Id="R1990ad8600654d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428da350ae4e3c" /><Relationship Type="http://schemas.openxmlformats.org/officeDocument/2006/relationships/notesMaster" Target="/ppt/notesMasters/notesMaster1.xml" Id="Rc47fbdba69114c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73c4044d834a22" /><Relationship Type="http://schemas.openxmlformats.org/officeDocument/2006/relationships/notesMaster" Target="/ppt/notesMasters/notesMaster1.xml" Id="Rd1b134c0689f4a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368ee4acba4890" /><Relationship Type="http://schemas.openxmlformats.org/officeDocument/2006/relationships/notesMaster" Target="/ppt/notesMasters/notesMaster1.xml" Id="R2e9d71ababba43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54e0e0cbc242c4" /><Relationship Type="http://schemas.openxmlformats.org/officeDocument/2006/relationships/notesMaster" Target="/ppt/notesMasters/notesMaster1.xml" Id="Re38641d2c87940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18eefc26f04fe3" /><Relationship Type="http://schemas.openxmlformats.org/officeDocument/2006/relationships/notesMaster" Target="/ppt/notesMasters/notesMaster1.xml" Id="R73fab106c49149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44f8ea36fa4adb" /><Relationship Type="http://schemas.openxmlformats.org/officeDocument/2006/relationships/notesMaster" Target="/ppt/notesMasters/notesMaster1.xml" Id="Redf722ab881644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70d16f0d424c6f" /><Relationship Type="http://schemas.openxmlformats.org/officeDocument/2006/relationships/notesMaster" Target="/ppt/notesMasters/notesMaster1.xml" Id="R0a973ae0226a49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d1c071c0d746cf" /><Relationship Type="http://schemas.openxmlformats.org/officeDocument/2006/relationships/notesMaster" Target="/ppt/notesMasters/notesMaster1.xml" Id="R558a903aab3b4b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8914b2b33a4176" /><Relationship Type="http://schemas.openxmlformats.org/officeDocument/2006/relationships/notesMaster" Target="/ppt/notesMasters/notesMaster1.xml" Id="R6d388050bf6c4f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694f70321c4f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e9c6cd989840c3" /><Relationship Type="http://schemas.openxmlformats.org/officeDocument/2006/relationships/slideLayout" Target="/ppt/slideLayouts/slideLayout1.xml" Id="R35fe349179644f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e349179644f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69fd24ae0475f" /><Relationship Type="http://schemas.openxmlformats.org/officeDocument/2006/relationships/notesSlide" Target="/ppt/notesSlides/notesSlide1.xml" Id="R1e9f1e2cba6640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02b1237c44f0f" /><Relationship Type="http://schemas.openxmlformats.org/officeDocument/2006/relationships/notesSlide" Target="/ppt/notesSlides/notesSlide2.xml" Id="Ra518415fcf104c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facdc013341d7" /><Relationship Type="http://schemas.openxmlformats.org/officeDocument/2006/relationships/image" Target="/ppt/media/image.png" Id="R151f44c44e154141" /><Relationship Type="http://schemas.openxmlformats.org/officeDocument/2006/relationships/image" Target="/ppt/media/image2.png" Id="Rbba5d4be2d354093" /><Relationship Type="http://schemas.openxmlformats.org/officeDocument/2006/relationships/notesSlide" Target="/ppt/notesSlides/notesSlide3.xml" Id="R9a2c130f58974c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d81d2945043b7" /><Relationship Type="http://schemas.openxmlformats.org/officeDocument/2006/relationships/notesSlide" Target="/ppt/notesSlides/notesSlide4.xml" Id="Rff2f12f1e15343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9c0fe05eb46fc" /><Relationship Type="http://schemas.openxmlformats.org/officeDocument/2006/relationships/notesSlide" Target="/ppt/notesSlides/notesSlide5.xml" Id="Rcece9803b20a40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ce210c06d4114" /><Relationship Type="http://schemas.openxmlformats.org/officeDocument/2006/relationships/notesSlide" Target="/ppt/notesSlides/notesSlide6.xml" Id="R95619b001c1d49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6b03f68c44560" /><Relationship Type="http://schemas.openxmlformats.org/officeDocument/2006/relationships/notesSlide" Target="/ppt/notesSlides/notesSlide7.xml" Id="R187ee270c84743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87355de174d62" /><Relationship Type="http://schemas.openxmlformats.org/officeDocument/2006/relationships/notesSlide" Target="/ppt/notesSlides/notesSlide8.xml" Id="R9e478847782142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9339a1a2f4793" /><Relationship Type="http://schemas.openxmlformats.org/officeDocument/2006/relationships/notesSlide" Target="/ppt/notesSlides/notesSlide9.xml" Id="R3ed6ff34d28a41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95fabd4ae41e3" /><Relationship Type="http://schemas.openxmlformats.org/officeDocument/2006/relationships/notesSlide" Target="/ppt/notesSlides/notesSlide10.xml" Id="R05b120cb694243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bb697438e49bc" /><Relationship Type="http://schemas.openxmlformats.org/officeDocument/2006/relationships/chart" Target="/ppt/slides/charts/chart1.xml" Id="Rd542aa6f939d4beb" /><Relationship Type="http://schemas.openxmlformats.org/officeDocument/2006/relationships/notesSlide" Target="/ppt/notesSlides/notesSlide11.xml" Id="Rc9e2628f7c9e42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2f8be3f194d26" /><Relationship Type="http://schemas.openxmlformats.org/officeDocument/2006/relationships/notesSlide" Target="/ppt/notesSlides/notesSlide12.xml" Id="R749358bce3954b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a5d6a1534493c" /><Relationship Type="http://schemas.openxmlformats.org/officeDocument/2006/relationships/notesSlide" Target="/ppt/notesSlides/notesSlide13.xml" Id="Rf196f43d8e8c40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c2451c93c4ff6" /><Relationship Type="http://schemas.openxmlformats.org/officeDocument/2006/relationships/notesSlide" Target="/ppt/notesSlides/notesSlide14.xml" Id="R382dd2f734c64f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23e8bba014a1e" /><Relationship Type="http://schemas.openxmlformats.org/officeDocument/2006/relationships/chart" Target="/ppt/slides/charts/chart2.xml" Id="R4624e8ebf4e4471f" /><Relationship Type="http://schemas.openxmlformats.org/officeDocument/2006/relationships/notesSlide" Target="/ppt/notesSlides/notesSlide15.xml" Id="R5f703a291fe54a0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{{指標名}}（単位：{{単位}}）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{{実績・予測}}</c:v>
          </c:tx>
          <c:spPr>
            <a:solidFill xmlns:a="http://schemas.openxmlformats.org/drawingml/2006/main">
              <a:srgbClr val="2474B5"/>
            </a:solidFill>
          </c:spPr>
          <c:cat>
            <c:strLit>
              <c:ptCount val="5"/>
              <c:pt idx="0">
                <c:v>{{実績1}}</c:v>
              </c:pt>
              <c:pt idx="1">
                <c:v>{{実績2}}</c:v>
              </c:pt>
              <c:pt idx="2">
                <c:v>{{現在}}</c:v>
              </c:pt>
              <c:pt idx="3">
                <c:v>{{予測1}}</c:v>
              </c:pt>
              <c:pt idx="4">
                <c:v>{{予測2}}</c:v>
              </c:pt>
            </c:strLit>
          </c:cat>
          <c:val>
            <c:numLit>
              <c:formatCode>General</c:formatCode>
              <c:ptCount val="5"/>
              <c:pt idx="0">
                <c:v>20</c:v>
              </c:pt>
              <c:pt idx="1">
                <c:v>34</c:v>
              </c:pt>
              <c:pt idx="2">
                <c:v>52</c:v>
              </c:pt>
              <c:pt idx="3">
                <c:v>79</c:v>
              </c:pt>
              <c:pt idx="4">
                <c:v>112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6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6A6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A6A6A6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areaChart>
        <c:grouping val="stacked"/>
        <c:varyColors val="0"/>
        <c:ser>
          <c:idx val="0"/>
          <c:order val="0"/>
          <c:tx>
            <c:v>{{基幹ワークロード}}</c:v>
          </c:tx>
          <c:spPr>
            <a:solidFill xmlns:a="http://schemas.openxmlformats.org/drawingml/2006/main">
              <a:srgbClr val="092B4C"/>
            </a:solidFill>
            <a:ln xmlns:a="http://schemas.openxmlformats.org/drawingml/2006/main" w="9525">
              <a:solidFill>
                <a:srgbClr val="092B4C"/>
              </a:solidFill>
              <a:prstDash val="solid"/>
            </a:ln>
          </c:spPr>
          <c:cat>
            <c:strLit>
              <c:ptCount val="7"/>
              <c:pt idx="0">
                <c:v>{{現在}}</c:v>
              </c:pt>
              <c:pt idx="1">
                <c:v>{{+1年}}</c:v>
              </c:pt>
              <c:pt idx="2">
                <c:v>{{+2年}}</c:v>
              </c:pt>
              <c:pt idx="3">
                <c:v>{{+3年}}</c:v>
              </c:pt>
              <c:pt idx="4">
                <c:v>{{+4年}}</c:v>
              </c:pt>
              <c:pt idx="5">
                <c:v>{{+5年}}</c:v>
              </c:pt>
              <c:pt idx="6">
                <c:v>{{将来}}</c:v>
              </c:pt>
            </c:strLit>
          </c:cat>
          <c:val>
            <c:numLit>
              <c:formatCode>General</c:formatCode>
              <c:ptCount val="7"/>
              <c:pt idx="0">
                <c:v>16</c:v>
              </c:pt>
              <c:pt idx="1">
                <c:v>17</c:v>
              </c:pt>
              <c:pt idx="2">
                <c:v>18</c:v>
              </c:pt>
              <c:pt idx="3">
                <c:v>19</c:v>
              </c:pt>
              <c:pt idx="4">
                <c:v>20</c:v>
              </c:pt>
              <c:pt idx="5">
                <c:v>21</c:v>
              </c:pt>
              <c:pt idx="6">
                <c:v>22</c:v>
              </c:pt>
            </c:numLit>
          </c:val>
        </c:ser>
        <c:ser>
          <c:idx val="1"/>
          <c:order val="1"/>
          <c:tx>
            <c:v>{{利用者エージェント}}</c:v>
          </c:tx>
          <c:spPr>
            <a:solidFill xmlns:a="http://schemas.openxmlformats.org/drawingml/2006/main">
              <a:srgbClr val="2474B5"/>
            </a:solidFill>
            <a:ln xmlns:a="http://schemas.openxmlformats.org/drawingml/2006/main" w="9525">
              <a:solidFill>
                <a:srgbClr val="2474B5"/>
              </a:solidFill>
              <a:prstDash val="solid"/>
            </a:ln>
          </c:spPr>
          <c:cat>
            <c:strLit>
              <c:ptCount val="7"/>
              <c:pt idx="0">
                <c:v>{{現在}}</c:v>
              </c:pt>
              <c:pt idx="1">
                <c:v>{{+1年}}</c:v>
              </c:pt>
              <c:pt idx="2">
                <c:v>{{+2年}}</c:v>
              </c:pt>
              <c:pt idx="3">
                <c:v>{{+3年}}</c:v>
              </c:pt>
              <c:pt idx="4">
                <c:v>{{+4年}}</c:v>
              </c:pt>
              <c:pt idx="5">
                <c:v>{{+5年}}</c:v>
              </c:pt>
              <c:pt idx="6">
                <c:v>{{将来}}</c:v>
              </c:pt>
            </c:strLit>
          </c:cat>
          <c:val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4</c:v>
              </c:pt>
              <c:pt idx="3">
                <c:v>9</c:v>
              </c:pt>
              <c:pt idx="4">
                <c:v>18</c:v>
              </c:pt>
              <c:pt idx="5">
                <c:v>31</c:v>
              </c:pt>
              <c:pt idx="6">
                <c:v>45</c:v>
              </c:pt>
            </c:numLit>
          </c:val>
        </c:ser>
        <c:ser>
          <c:idx val="2"/>
          <c:order val="2"/>
          <c:tx>
            <c:v>{{企業エージェント}}</c:v>
          </c:tx>
          <c:spPr>
            <a:solidFill xmlns:a="http://schemas.openxmlformats.org/drawingml/2006/main">
              <a:srgbClr val="DDEBF7"/>
            </a:solidFill>
            <a:ln xmlns:a="http://schemas.openxmlformats.org/drawingml/2006/main" w="11430">
              <a:solidFill>
                <a:srgbClr val="8DB9DD"/>
              </a:solidFill>
              <a:prstDash val="solid"/>
            </a:ln>
          </c:spPr>
          <c:cat>
            <c:strLit>
              <c:ptCount val="7"/>
              <c:pt idx="0">
                <c:v>{{現在}}</c:v>
              </c:pt>
              <c:pt idx="1">
                <c:v>{{+1年}}</c:v>
              </c:pt>
              <c:pt idx="2">
                <c:v>{{+2年}}</c:v>
              </c:pt>
              <c:pt idx="3">
                <c:v>{{+3年}}</c:v>
              </c:pt>
              <c:pt idx="4">
                <c:v>{{+4年}}</c:v>
              </c:pt>
              <c:pt idx="5">
                <c:v>{{+5年}}</c:v>
              </c:pt>
              <c:pt idx="6">
                <c:v>{{将来}}</c:v>
              </c:pt>
            </c:strLit>
          </c:cat>
          <c:val>
            <c:numLit>
              <c:formatCode>General</c:formatCode>
              <c:ptCount val="7"/>
              <c:pt idx="0">
                <c:v>0</c:v>
              </c:pt>
              <c:pt idx="1">
                <c:v>0</c:v>
              </c:pt>
              <c:pt idx="2">
                <c:v>1</c:v>
              </c:pt>
              <c:pt idx="3">
                <c:v>5</c:v>
              </c:pt>
              <c:pt idx="4">
                <c:v>14</c:v>
              </c:pt>
              <c:pt idx="5">
                <c:v>32</c:v>
              </c:pt>
              <c:pt idx="6">
                <c:v>58</c:v>
              </c:pt>
            </c:numLit>
          </c:val>
        </c:ser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3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7E6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 b="1">
                    <a:solidFill>
                      <a:srgbClr val="111111"/>
                    </a:solidFill>
                  </a:rPr>
                  <a:t>{{指標／月}}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111111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A6A6A6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91677977-23F9-4405-86CD-259E87E4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6DE9E53D-A6D3-43F1-8B78-5A5CF9FE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{{講演・報告資料の区分}}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838F9-8956-4E9F-9882-044FC3D9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3808A-01B9-4FE3-9686-25EA253B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{{委員会／会議名}}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044A15D8-C4D6-4D03-BBAE-51D06B4C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28C52-50FA-47D4-A32A-34C91F23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B974E-2246-4390-8F26-A6CBBCBA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1F5586BF-4D9C-40C0-BF01-FDCDF79A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C07814-AFD6-4228-B710-212948D4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26C99-7145-45C9-B09B-DDA96BB3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01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31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{{講演・報告タイトル}}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D023E-B2C7-4004-9083-D1BD7F8F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26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65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rPr>
              <a:t>{{副題：対象・論点・到達点を一文で}}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EB1FF-74FF-4008-845C-48E1B8D5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5F375-4B5A-4E94-8E86-28ED9896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{{開催日}}　{{開始時刻}}〜{{終了時刻}}</a:t>
            </a:r>
          </a:p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開催方式：{{会場／Web開催}}</a:t>
            </a:r>
          </a:p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{{会社名}}　{{氏名・役割}}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792C4-5D9C-4E99-B1CD-8811E722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C7072-97AF-4A55-8426-0759C6DB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本日の進行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039AD-7F02-4EF5-9BB9-6977B4BB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C8FB1-B9A8-4F9A-BB14-4111094A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{{00:00–00:10}}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03892-478A-450F-A14F-A3E62CCA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{{背景と問題意識}}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D62CF1-5510-4E1E-9045-0F1DB9B4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90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{{説明者}}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92157-2FA6-46F8-AA53-2980AAEA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5199B-7979-4439-A675-FC99784F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95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{{00:10–00:35}}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3067C-D6DC-4D14-9D24-D662ED8B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957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{{全体像・技術動向・事例}}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B47DD-9AFD-409A-A769-996B2358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95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{{説明者}}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66640-0A38-42ED-90EB-1976F30A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D9A419-1865-4099-92F6-A4D91041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00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{{00:35–00:50}}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2422A-8541-439B-AB43-E240B8BC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006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{{実務への示唆と留意点}}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17F34B-4F92-4DAC-82C1-5167017D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00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{{説明者}}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93F370-EE03-42A3-8E1C-749534E5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9347EF-4418-48E5-8597-B3AAF611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05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{{00:50–01:00}}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FC1922-782A-42E0-BC08-F55469C2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054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質疑応答・意見交換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3AEEF6-F3E6-41B2-87D2-5A19D314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05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参加者</a:t>
            </a:r>
          </a:p>
        </p:txBody>
      </p:sp>
      <p:sp>
        <p:nvSpPr>
          <p:cNvPr id="3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2198EA45-ECAB-4A65-98E4-73BE5774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注：時間配分・登壇者表記は開催要領に合わせて更新してください。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427985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08B1E4B4-C3D8-40E6-A0C8-91786004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C3B84A76-EE44-4DE4-B62C-E3E6939E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論点整理・問題提起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912F9-EA9B-41D3-BDE6-20FEA72A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DDFDE-F293-47A0-8E4A-CFB062B8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{{章タイトル}}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5F988F9E-0734-49F1-9DE8-646992C1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0595F-54A1-4EB8-8E81-C1392731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9E472-5D23-40ED-B2AA-798D0A5C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2BE83016-E9FA-4AB1-82AB-42DD4585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39A66C-A847-4885-BE1D-068A33D2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4A52F-F79D-47BA-897D-C2B43B9D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 u="sng">
                <a:solidFill>
                  <a:srgbClr val="2F2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325" b="1" i="0" u="sng">
                <a:solidFill>
                  <a:srgbClr val="2F2FFF"/>
                </a:solidFill>
                <a:latin typeface="BIZ UDPゴシック"/>
                <a:ea typeface="BIZ UDPゴシック"/>
                <a:cs typeface="BIZ UDPゴシック"/>
              </a:rPr>
              <a:t>{{主題}}は、単なるツール導入ではなく、{{組織・産業}}の基盤設計である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0FD34-D0D6-4E41-B08A-B017D4B8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71600"/>
            <a:ext cx="1162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8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● {{背景1}}の進行により、既存の業務・システム・責任分界だけでは対応できない。</a:t>
            </a:r>
          </a:p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8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● {{背景2}}を前提に、技術・人材・ルールを同時に整備する必要がある。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4B3A9-8CC7-4820-BB3E-7FA3FD75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1114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6A6"/>
            </a:solidFill>
            <a:prstDash val="dash"/>
          </a:ln>
        </p:spPr>
        <p:txBody>
          <a:bodyPr xmlns:a="http://schemas.openxmlformats.org/drawingml/2006/main" wrap="square" lIns="114300" tIns="85725" rIns="114300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0" i="1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注：{{重要概念}}の定義</a:t>
            </a:r>
          </a:p>
          <a:p xmlns:a="http://schemas.openxmlformats.org/drawingml/2006/main">
            <a:pPr algn="l">
              <a:defRPr sz="1350" b="0" i="1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0" i="1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{{概念の境界、対象範囲、他概念との違いを2〜3行で記載。例外・前提も省略しない。}}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FF62D-6951-4D37-BAEA-BE4FB4F6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95725"/>
            <a:ext cx="11144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E7E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465C6-ED21-4ED3-BD75-8E6AB916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6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※ 先行事例・市場動向から読み取れること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8E051-8CE3-4EDE-BF14-57E7868E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620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・{{事実・事例1：誰が、何を、どこまで実施しているか}}</a:t>
            </a:r>
          </a:p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・{{事実・事例2：効果、課題、制約}}</a:t>
            </a:r>
          </a:p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・{{自社・業界への示唆：今後の判断にどう影響するか}}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98160-C692-497F-990E-BF3A0C1F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43575"/>
            <a:ext cx="1160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F894D-2DE4-4DA1-98E1-E2DA2142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43575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76C29-A7AF-45F2-A939-4A8BE507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9120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要旨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C59F4-0F3C-4E87-8EF6-7C412C9D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007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{{本ページから合意したい一文。実施条件または次の論点まで示す。}}</a:t>
            </a:r>
          </a:p>
        </p:txBody>
      </p:sp>
      <p:sp>
        <p:nvSpPr>
          <p:cNvPr id="2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53BF51B-39A5-4532-B288-43543D84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出所：{{機関名「資料名」（公表日）、ページ、URL}}</a:t>
            </a:r>
          </a:p>
        </p:txBody>
      </p:sp>
    </p:spTree>
    <p:extLst>
      <p:ext uri="{BB962C8B-B14F-4D97-AF65-F5344CB8AC3E}">
        <p14:creationId xmlns:p14="http://schemas.microsoft.com/office/powerpoint/2010/main" val="1401864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op-rail">
            <a:extLst xmlns:a="http://schemas.openxmlformats.org/drawingml/2006/main">
              <a:ext uri="{FF2B5EF4-FFF2-40B4-BE49-F238E27FC236}">
                <a16:creationId xmlns:a16="http://schemas.microsoft.com/office/drawing/2014/main" id="{048C3251-B0C5-4ED6-87F6-98151C9E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6F9B0F64-9553-488F-B18B-CC55774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講演者・会社・事業紹介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92DCF-B237-454E-BE66-439446B9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62FF8-B129-461F-8A0E-8772FA4E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{{登壇者紹介}}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38391E63-EA56-4116-9F19-1647D05F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80389-C7C0-4C96-934E-D47973B9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A1F1F-13AF-4CEB-96BC-B282929C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578B20C7-4057-4D6B-ADC5-4DA15688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8AA70C-7CFE-4895-B4BF-41363F4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3</a:t>
            </a:r>
          </a:p>
        </p:txBody>
      </p:sp>
      <p:sp>
        <p:nvSpPr>
          <p:cNvPr id="10" name="main-title">
            <a:extLst xmlns:a="http://schemas.openxmlformats.org/drawingml/2006/main">
              <a:ext uri="{FF2B5EF4-FFF2-40B4-BE49-F238E27FC236}">
                <a16:creationId xmlns:a16="http://schemas.microsoft.com/office/drawing/2014/main" id="{7C6A1530-D40E-4DD4-8185-DAB058EF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0075"/>
            <a:ext cx="1157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{{氏名}}の経歴と、{{会社名}}が取り組む事業</a:t>
            </a:r>
          </a:p>
        </p:txBody>
      </p:sp>
      <p:sp>
        <p:nvSpPr>
          <p:cNvPr id="11" name="main-subtitle">
            <a:extLst xmlns:a="http://schemas.openxmlformats.org/drawingml/2006/main">
              <a:ext uri="{FF2B5EF4-FFF2-40B4-BE49-F238E27FC236}">
                <a16:creationId xmlns:a16="http://schemas.microsoft.com/office/drawing/2014/main" id="{C4545576-97CB-42AC-8655-CE152FA7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90600"/>
            <a:ext cx="1152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rPr>
              <a:t>{{今回のテーマとの関係が分かる範囲に絞って紹介}}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6B96E-B7A4-43FD-9A74-56C60850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23975"/>
            <a:ext cx="28575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EEBBC-E120-4D6F-91EB-1A4A4EBE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23975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AA781-A901-42AF-AE62-336E58A3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239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{{氏名／組織名}}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E7EC4-FF11-4098-B931-2664AC4A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2514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{{現職・役割}}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{{プログラム設計・全体監修等}}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■ 主な経歴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{{経歴1}}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{{経歴2}}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{{経歴3}}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■ 専門領域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{{専門1／専門2／専門3}}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B218E-3E9B-439C-AE04-D386A489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8958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9525">
            <a:solidFill>
              <a:srgbClr val="24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CB50F-BCCE-4510-B348-6C46BBA2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92B4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092B4C"/>
                </a:solidFill>
                <a:latin typeface="BIZ UDPゴシック"/>
                <a:ea typeface="BIZ UDPゴシック"/>
                <a:cs typeface="BIZ UDPゴシック"/>
              </a:rPr>
              <a:t>{{実績数値1}} ｜ {{実績数値2}}</a:t>
            </a:r>
          </a:p>
          <a:p xmlns:a="http://schemas.openxmlformats.org/drawingml/2006/main">
            <a:pPr algn="ctr">
              <a:defRPr sz="1050" b="1" i="0">
                <a:solidFill>
                  <a:srgbClr val="092B4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092B4C"/>
                </a:solidFill>
                <a:latin typeface="BIZ UDPゴシック"/>
                <a:ea typeface="BIZ UDPゴシック"/>
                <a:cs typeface="BIZ UDPゴシック"/>
              </a:rPr>
              <a:t>{{今回の講演における役割}}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A1C8A-2DD3-4721-843E-C9EA1588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23975"/>
            <a:ext cx="8191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DDCB6-29B3-49C0-8A5F-EDD21181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23975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63F978-B357-42ED-B37F-58A8175E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478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法人研修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E7E05-C962-46AB-BBC0-929FF91F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438275"/>
            <a:ext cx="643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{{業界・職種別の集合研修／演習／定着支援}}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298C5-65BD-447E-B881-8676E3DB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57400"/>
            <a:ext cx="8191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DFBDEC-F60D-4E5D-8D5D-876B92D4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57400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C95"/>
          </a:solidFill>
          <a:ln xmlns:a="http://schemas.openxmlformats.org/drawingml/2006/main" w="0">
            <a:solidFill>
              <a:srgbClr val="009C9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B5240-6060-424E-827B-C2A48F21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8122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個別指導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D2CFB-0AAE-4647-BEED-C6E945BB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71700"/>
            <a:ext cx="643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{{経営者・担当者への1対1伴走／実務課題の整理}}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7F9632-9798-4A3D-891F-5E80CA02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90825"/>
            <a:ext cx="8191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9C8BC1-889E-4ECE-A295-47DC2EAA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90825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01E6F-B58C-4403-AEBF-E521B1B1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146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AI実装・発信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A825AB-1A79-400B-B281-8B1DAF37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05125"/>
            <a:ext cx="643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{{業務エージェント、メディア、調査・出版等}}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1738C2-9A43-4157-8B45-DFBB923F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48075"/>
            <a:ext cx="49149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4B5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f44c44e154141"/>
          <a:srcRect xmlns:a="http://schemas.openxmlformats.org/drawingml/2006/main" l="0" t="17773" r="0" b="177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1375" y="3676650"/>
            <a:ext cx="4857750" cy="17621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3FE024-9FC2-4C23-8B3D-2FD1A06B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486400"/>
            <a:ext cx="485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82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法人研修の構成例｜大人数での講義・ハンズオン（サンプル画像）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8A4D2F-CE94-428F-BF0F-3602D95E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48075"/>
            <a:ext cx="315277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4B5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5d4be2d354093"/>
          <a:srcRect xmlns:a="http://schemas.openxmlformats.org/drawingml/2006/main" l="0" t="7308" r="0" b="7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3676650"/>
            <a:ext cx="3095625" cy="176212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B01775-0000-4E46-B4B9-1EFC2992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86400"/>
            <a:ext cx="309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82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個別指導の構成例｜1対1伴走（サンプル画像）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B73E4A-EA6E-4951-AE58-5884534E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62625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注：サンプル画像は架空人物による説明用。実案件では許諾済みの実写へ差し替える。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916C78-2B97-4EAD-A736-364AC021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0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BF9379-21DB-42E6-BD9C-4EE78AF1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BF7360-DFA5-4443-8466-BCBDBA84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6742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関連性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B71CAF-3EA5-419E-A037-DD0A4788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769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{{今回のテーマに対して提供できる知見・経験を一文で記載}}</a:t>
            </a:r>
          </a:p>
        </p:txBody>
      </p:sp>
    </p:spTree>
    <p:extLst>
      <p:ext uri="{BB962C8B-B14F-4D97-AF65-F5344CB8AC3E}">
        <p14:creationId xmlns:p14="http://schemas.microsoft.com/office/powerpoint/2010/main" val="208243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op-rail">
            <a:extLst xmlns:a="http://schemas.openxmlformats.org/drawingml/2006/main">
              <a:ext uri="{FF2B5EF4-FFF2-40B4-BE49-F238E27FC236}">
                <a16:creationId xmlns:a16="http://schemas.microsoft.com/office/drawing/2014/main" id="{24E5B746-4C29-42DC-A404-CB11C7C6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4CC187A0-EB4B-4A86-A0EA-BEE3C3D3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年代・技術動向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805A2-0B37-4E2D-9037-D6577037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7AB5C-3639-4F7C-A12A-563102DC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{{技術ロードマップ}}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68CB53FF-C8AB-4BDA-A69F-36C04470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4A286-C402-4C99-B47C-280F2A8A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D3FEF-9ADA-41FB-B984-C3230FD6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230C1A12-42CB-4A61-866D-54AEE72A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C03636-B517-4BFE-94F8-264F3D97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98DB6-3212-4FF0-B26C-04A738E2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96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0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{{技術・市場}}の進化は、基盤・サービス・制度の3レイヤーで見る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BEAA0-1680-4DC3-9EE5-7339AA27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905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39DA1-0F74-498D-829D-4F03A493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57225"/>
            <a:ext cx="2457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{{将来時点}}：{{転換点}}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8171D-E3DB-4246-B07A-AF8A2990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066800"/>
            <a:ext cx="2143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6B9F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D9815-16CD-40A7-A412-F0558E01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811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4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{{第1期}}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54EA5-5D95-406F-A8B5-73D59DBB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66800"/>
            <a:ext cx="2143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8458B-6F44-4393-9A54-CC7C6BAD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1811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4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{{第2期}}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8CD4B-ECB9-4C98-A9FF-9D225F5D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066800"/>
            <a:ext cx="2143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C8D5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08BCC-CA0B-4206-878D-DC7B1F92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1811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4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{{第3期}}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10EEF-864E-4CF4-A58D-A71A0566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066800"/>
            <a:ext cx="2143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C997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E08DB-6F34-4631-8232-622115CD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1811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4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{{第4期}}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FA451-1BC2-4AC9-8BD2-DEE74F77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066800"/>
            <a:ext cx="2143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C95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E311C-9C27-4FC3-8752-E73C23D2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811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4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{{現在}}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E485C-B3A1-4857-B259-69A89B56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066800"/>
            <a:ext cx="2143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B84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FCAAE9-FD5A-494B-B13C-A40055A1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1811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4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{{将来}}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BCF5C-20E2-4DDA-9D4B-1F998CF7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933575"/>
            <a:ext cx="11734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A13181-8DE8-4B4B-A91F-50558042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01930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rPr>
              <a:t>技術基盤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7C5A1A-6574-46C4-9224-4BB3E196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66950"/>
            <a:ext cx="10001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74B5"/>
          </a:solidFill>
          <a:ln xmlns:a="http://schemas.openxmlformats.org/drawingml/2006/main" w="0">
            <a:solidFill>
              <a:srgbClr val="2474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DFE106-2050-4FC4-8E33-AD9DB43F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{{基盤技術A}}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E46F68-75F0-44FB-8204-49739E98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{{基盤技術B}}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F2D37B-92FD-4A97-A050-66358869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{{基盤技術C}}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1ADA56-C2CF-46CE-AEA1-E2F0789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{{基盤技術D}}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4C8D5A-680F-4A44-9729-EAA5B81F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28950"/>
            <a:ext cx="11734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C0D8FE-1196-407F-851E-BB9410B7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114675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rPr>
              <a:t>業務・サービス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5835D0-EE28-4F7F-88A8-76A13288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62325"/>
            <a:ext cx="10001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AADD"/>
          </a:solidFill>
          <a:ln xmlns:a="http://schemas.openxmlformats.org/drawingml/2006/main" w="0">
            <a:solidFill>
              <a:srgbClr val="77AA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1C20BB-D4DD-4565-BC93-6CCB29F2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{{業務A}}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301E2E-352E-4E2B-99A6-AE58760E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{{業務B}}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3FA123-42C2-4465-A7ED-D8DB8A95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95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{{業務C}}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54DCB9-A0FD-489D-ACC8-3DFCCD51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95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{{業務D}}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C48CD6-2713-4DA8-A3F6-354C6ADA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124325"/>
            <a:ext cx="11734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E2F07B-C95B-45C7-B407-CF0B4014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2100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rPr>
              <a:t>組織・制度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C6736F-A650-4384-8EA5-34FE0B17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57700"/>
            <a:ext cx="10001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C95"/>
          </a:solidFill>
          <a:ln xmlns:a="http://schemas.openxmlformats.org/drawingml/2006/main" w="0">
            <a:solidFill>
              <a:srgbClr val="009C9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593824-E785-47D8-BF11-663FF308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{{制度A}}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A3D69E-7BE8-4F86-92EA-90D3124F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91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{{制度B}}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D34554-7A18-46E8-BB15-320DE944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{{制度C}}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BA2F0E-30E0-4D73-ABC5-E9DB40FB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91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{{制度D}}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C01C98-4B92-4666-957B-A3135FBA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914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76A8F2-BD43-47B8-B21E-71E33078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現在地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379943-1A3F-411A-8791-6EA167AC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72075"/>
            <a:ext cx="1109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※ {{重要な補足1：市場・技術の前提}}</a:t>
            </a:r>
          </a:p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※ {{重要な補足2：将来予測の不確実性}}</a:t>
            </a:r>
          </a:p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※ {{重要な補足3：自社・業界への含意}}</a:t>
            </a:r>
          </a:p>
        </p:txBody>
      </p:sp>
      <p:sp>
        <p:nvSpPr>
          <p:cNvPr id="4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7BBDC6B1-36FB-477D-A7F3-E2118071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出所：{{機関名「ロードマップ／調査資料」（公表日）、ページ、URL}}</a:t>
            </a:r>
          </a:p>
        </p:txBody>
      </p:sp>
    </p:spTree>
    <p:extLst>
      <p:ext uri="{BB962C8B-B14F-4D97-AF65-F5344CB8AC3E}">
        <p14:creationId xmlns:p14="http://schemas.microsoft.com/office/powerpoint/2010/main" val="1328018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top-rail">
            <a:extLst xmlns:a="http://schemas.openxmlformats.org/drawingml/2006/main">
              <a:ext uri="{FF2B5EF4-FFF2-40B4-BE49-F238E27FC236}">
                <a16:creationId xmlns:a16="http://schemas.microsoft.com/office/drawing/2014/main" id="{4FAF82FD-2F67-49C3-A6F0-75BE2BEA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25500AA1-69CA-41FF-A6FB-EBBD657A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技術・産業レイヤー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8DE74-BC64-4F58-875F-5CDB9669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1C22C-1480-4EDE-AD32-607665CC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{{全体構造}}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818C1E9D-4A7C-4CB4-9EA0-49CF5759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F0F1D-990B-4350-A692-2585F9DE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37C5D-9715-4754-AF52-A50D93E3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3769E2EF-FCFA-4E53-B8F6-400628B0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32C77F-AE6C-4F6D-B7B1-11DCE5E4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5</a:t>
            </a:r>
          </a:p>
        </p:txBody>
      </p:sp>
      <p:sp>
        <p:nvSpPr>
          <p:cNvPr id="10" name="main-title">
            <a:extLst xmlns:a="http://schemas.openxmlformats.org/drawingml/2006/main">
              <a:ext uri="{FF2B5EF4-FFF2-40B4-BE49-F238E27FC236}">
                <a16:creationId xmlns:a16="http://schemas.microsoft.com/office/drawing/2014/main" id="{84A1068D-03B6-491A-9C43-1FAB2B53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0075"/>
            <a:ext cx="1157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{{主題}}は、アプリケーションから資源までを貫く基幹構造である</a:t>
            </a:r>
          </a:p>
        </p:txBody>
      </p:sp>
      <p:sp>
        <p:nvSpPr>
          <p:cNvPr id="11" name="main-subtitle">
            <a:extLst xmlns:a="http://schemas.openxmlformats.org/drawingml/2006/main">
              <a:ext uri="{FF2B5EF4-FFF2-40B4-BE49-F238E27FC236}">
                <a16:creationId xmlns:a16="http://schemas.microsoft.com/office/drawing/2014/main" id="{58389917-0066-4928-BF7E-A21276BF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90600"/>
            <a:ext cx="1152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rPr>
              <a:t>{{各層の役割、依存関係、統制点を同時に確認}}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1A12D-FF5D-4378-8EB4-6EEC7B91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09700"/>
            <a:ext cx="4000500" cy="63817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50941-05D6-4C5B-957F-4C7C9BEC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859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006B5-6256-4C69-B785-C5179CC6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62125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{{業務・サービス・自動化}}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40776-0B72-4F9A-89EF-ED460A97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0275"/>
            <a:ext cx="4000500" cy="63817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1460F-3AC4-499B-B27C-11A1D54C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76475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B3817-20B5-4795-8589-6CD9EAFD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5270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{{基盤モデル・個社モデル}}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BC80C-8F12-47C1-A1BC-EA7662F4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4000500" cy="63817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38100">
            <a:solidFill>
              <a:srgbClr val="00A9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42C4C-DAD3-45F6-8178-55C5E436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670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/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7CFF0-37A4-4018-A30F-538AFF25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43275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rPr>
              <a:t>{{データ連携・共通基盤}}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73EF1-0D4C-4AB5-A5B4-5B1F6992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81425"/>
            <a:ext cx="4000500" cy="63817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BDD4E-0CD9-41BC-B304-6F76D9C7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57625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 / CHIPS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C4ABD8-C265-49D4-A258-7EFEA02B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3385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{{クラウド・GPU・半導体}}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80B82-50D6-45B7-A766-D96D0E1A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4000500" cy="63817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3D80E-779F-4C8E-A86B-C6272AA8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482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ENERGY / FACILITY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317D88-6E23-4785-9623-048C70D3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24425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{{電力・通信・データセンター}}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C4B4E9-01BC-40D9-8551-A1CC4D0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859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F80879-06D5-45FA-B95F-3E079D0A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430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利用者・業務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{{経営／管理／現場}}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E4D518-A873-4121-BD72-5FBB24E9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47825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137587-8D13-4827-AA36-1811DE72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7647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5BFE99-20FC-4F78-8112-E93EE8F9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ルール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{{利用規程／審査}}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7B5D4-0745-4295-87F3-2A8C9A35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3840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0F1AE4-B6F8-4925-9650-E6BF12A5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670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447680-16A7-4BA2-B2C0-5AA1B8A5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242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データ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{{社内／外部／個人}}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92FAC3-6403-44B4-AC5A-CA992000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28975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C97FD7-BD85-4A91-B4E3-5DC35643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5762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8507A0-BE5A-4E31-A77B-2292C044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147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運用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{{監視／評価／改善}}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2B92BE-B469-4F50-9668-425DFFE2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195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893887-AD49-4D31-86B5-469FB9FB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482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06F7E0-98A6-4E1B-A4AF-3ACE985F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053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設備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{{拠点／電力／通信}}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D60B24-E517-47A9-9ED3-6F3D23AE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10125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35160A-7DB6-43C1-B2E4-04975FF3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47825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B843"/>
          </a:solidFill>
          <a:ln xmlns:a="http://schemas.openxmlformats.org/drawingml/2006/main" w="0">
            <a:solidFill>
              <a:srgbClr val="75B84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43304F-87F5-4D53-9486-A1EDACD1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4859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5B84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03DD19-8193-44D0-976A-06ADD8A8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430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価値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{{判断／効率／品質}}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2CAF37-6C70-441F-B652-18316242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3840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B843"/>
          </a:solidFill>
          <a:ln xmlns:a="http://schemas.openxmlformats.org/drawingml/2006/main" w="0">
            <a:solidFill>
              <a:srgbClr val="75B84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78208E-D17C-4321-AD1C-9A354210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7647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5B84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B6E77-5336-4238-9D24-A0781418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336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機能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{{検索／生成／推論}}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7CDF0A-5A3E-4727-B076-EEB3D9C7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28975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B843"/>
          </a:solidFill>
          <a:ln xmlns:a="http://schemas.openxmlformats.org/drawingml/2006/main" w="0">
            <a:solidFill>
              <a:srgbClr val="75B84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567FD5-FA3A-44D3-8A12-24648186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670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5B84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F1147E-B027-46E4-8226-A991A3CF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242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統制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{{権限／ログ／保護}}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20E541-8077-4AFC-8296-558E6190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B843"/>
          </a:solidFill>
          <a:ln xmlns:a="http://schemas.openxmlformats.org/drawingml/2006/main" w="0">
            <a:solidFill>
              <a:srgbClr val="75B84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78D44C-CDB8-4197-BD69-DB33B0C3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5762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5B84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B47977-D751-4D96-8025-8E96FDDA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147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性能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{{速度／コスト／可用性}}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E622CEF-F910-477F-84CB-7EBBA419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0125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5B843"/>
          </a:solidFill>
          <a:ln xmlns:a="http://schemas.openxmlformats.org/drawingml/2006/main" w="0">
            <a:solidFill>
              <a:srgbClr val="75B84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1ED931-1663-4B66-9F71-BC056B89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482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5B84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A0E1B2-B7D2-4132-ABB2-ED5A4A14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053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供給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{{容量／冗長化／BCP}}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5A16BE-4BF8-45E0-AC17-71560890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1000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A5680E-C54C-42B3-B81D-AF2EB038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718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重点統制点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9F2019-83D0-4CF3-86EC-4668187A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48350"/>
            <a:ext cx="1160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D4FA61-B419-43E6-8BB4-D65A1D42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483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3A4011-FB7E-46F2-A02B-631636B8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9597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示唆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1695C79-4054-43A2-820C-14C2D37B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{{上位の価値と下位の資源を分離せず、責任分界と投資判断を連動させる}}</a:t>
            </a:r>
          </a:p>
        </p:txBody>
      </p:sp>
      <p:sp>
        <p:nvSpPr>
          <p:cNvPr id="6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757D901-7D2B-418B-9AAB-A4F31FE3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注：本図は説明用の模式図。実際のシステム構成・契約関係に合わせて更新。</a:t>
            </a:r>
          </a:p>
        </p:txBody>
      </p:sp>
    </p:spTree>
    <p:extLst>
      <p:ext uri="{BB962C8B-B14F-4D97-AF65-F5344CB8AC3E}">
        <p14:creationId xmlns:p14="http://schemas.microsoft.com/office/powerpoint/2010/main" val="4538984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-rail">
            <a:extLst xmlns:a="http://schemas.openxmlformats.org/drawingml/2006/main">
              <a:ext uri="{FF2B5EF4-FFF2-40B4-BE49-F238E27FC236}">
                <a16:creationId xmlns:a16="http://schemas.microsoft.com/office/drawing/2014/main" id="{EDF8677D-75A4-4F7E-8D96-5292E91B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4A2F286A-06DE-443C-8A1F-08AA5763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関係者・価値交換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2D6C0-8252-4721-BB64-43F72915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7AF0A-8ACB-4015-B3B5-508BD247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{{事業モデル}}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8E45E152-863E-4E4E-B00D-D2A3714D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3ED7B-5B5D-4904-AE07-F4225480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36A57-7296-4F10-B79E-2F238D24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A1309D6C-2833-4520-A4F4-7AD50D1C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E37DC0-4DCA-4EEB-A71C-A968E630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6</a:t>
            </a:r>
          </a:p>
        </p:txBody>
      </p:sp>
      <p:sp>
        <p:nvSpPr>
          <p:cNvPr id="10" name="main-title">
            <a:extLst xmlns:a="http://schemas.openxmlformats.org/drawingml/2006/main">
              <a:ext uri="{FF2B5EF4-FFF2-40B4-BE49-F238E27FC236}">
                <a16:creationId xmlns:a16="http://schemas.microsoft.com/office/drawing/2014/main" id="{FFA8366B-F155-4168-AED2-8AE76023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0075"/>
            <a:ext cx="1157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{{事業・仕組み}}は、価値・データ・対価・責任の循環で成立する</a:t>
            </a:r>
          </a:p>
        </p:txBody>
      </p:sp>
      <p:sp>
        <p:nvSpPr>
          <p:cNvPr id="11" name="main-subtitle">
            <a:extLst xmlns:a="http://schemas.openxmlformats.org/drawingml/2006/main">
              <a:ext uri="{FF2B5EF4-FFF2-40B4-BE49-F238E27FC236}">
                <a16:creationId xmlns:a16="http://schemas.microsoft.com/office/drawing/2014/main" id="{A0D9832C-0734-4ED6-B137-CA6AD313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90600"/>
            <a:ext cx="1152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rPr>
              <a:t>{{一方向の商流だけでなく、フィードバックと統制を明示}}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14A9C-4537-4350-8A21-E8F06312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20955">
            <a:solidFill>
              <a:srgbClr val="092B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5FD1A-E9FD-45BE-83A6-FE039730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3335">
            <a:solidFill>
              <a:srgbClr val="2474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5A18D-7A53-483E-9E08-573E7EBC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71600"/>
            <a:ext cx="2686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3335">
            <a:solidFill>
              <a:srgbClr val="75B8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BCAA8-4E4B-46ED-AD5B-85564D7F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573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3335">
            <a:solidFill>
              <a:srgbClr val="2474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E1CE1-C327-488F-BBC7-3A8752B7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3335">
            <a:solidFill>
              <a:srgbClr val="A6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9BD6D-A9FE-4E58-B0D1-E2C16BEB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00525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3335">
            <a:solidFill>
              <a:srgbClr val="ED7D31"/>
            </a:solidFill>
            <a:prstDash val="solid"/>
          </a:ln>
        </p:spPr>
      </p:sp>
      <p:cxnSp>
        <p:nvCxnSpPr>
          <p:cNvPr id="69" name=""/>
          <p:cNvCxnSpPr>
            <a:stCxn xmlns:a="http://schemas.openxmlformats.org/drawingml/2006/main" id="13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71500" y="1543050"/>
            <a:ext cx="4057650" cy="1666875"/>
          </a:xfrm>
          <a:prstGeom xmlns:a="http://schemas.openxmlformats.org/drawingml/2006/main" prst="bentConnector4">
            <a:avLst/>
          </a:prstGeom>
          <a:ln xmlns:a="http://schemas.openxmlformats.org/drawingml/2006/main" w="22860">
            <a:solidFill>
              <a:srgbClr val="2474B5"/>
            </a:solidFill>
            <a:prstDash val="solid"/>
            <a:head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581900" y="1543050"/>
            <a:ext cx="4000500" cy="1666875"/>
          </a:xfrm>
          <a:prstGeom xmlns:a="http://schemas.openxmlformats.org/drawingml/2006/main" prst="bentConnector4">
            <a:avLst/>
          </a:prstGeom>
          <a:ln xmlns:a="http://schemas.openxmlformats.org/drawingml/2006/main" w="22860">
            <a:solidFill>
              <a:srgbClr val="2474B5"/>
            </a:solidFill>
            <a:prstDash val="solid"/>
            <a:head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105525" y="21907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5B843"/>
            </a:solidFill>
            <a:prstDash val="solid"/>
            <a:headEnd type="arrow" w="med" len="med"/>
          </a:ln>
        </p:spPr>
      </p:cxnSp>
      <p:cxnSp>
        <p:nvCxnSpPr>
          <p:cNvPr id="72" name=""/>
          <p:cNvCxnSpPr>
            <a:stCxn xmlns:a="http://schemas.openxmlformats.org/drawingml/2006/main" id="16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3162300" y="3810000"/>
            <a:ext cx="2943225" cy="8286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09C95"/>
            </a:solidFill>
            <a:prstDash val="solid"/>
            <a:headEnd type="arrow" w="med" len="med"/>
          </a:ln>
        </p:spPr>
      </p:cxnSp>
      <p:cxnSp>
        <p:nvCxnSpPr>
          <p:cNvPr id="73" name=""/>
          <p:cNvCxnSpPr>
            <a:stCxn xmlns:a="http://schemas.openxmlformats.org/drawingml/2006/main" id="17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6105525" y="3810000"/>
            <a:ext cx="2886075" cy="8286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ED7D31"/>
            </a:solidFill>
            <a:prstDash val="solid"/>
            <a:headEnd type="arrow" w="med" len="med"/>
          </a:ln>
        </p:spPr>
      </p:cxnSp>
      <p:cxnSp>
        <p:nvCxnSpPr>
          <p:cNvPr id="74" name=""/>
          <p:cNvCxnSpPr>
            <a:stCxn xmlns:a="http://schemas.openxmlformats.org/drawingml/2006/main" id="15" idx="2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7581900" y="2533650"/>
            <a:ext cx="2647950" cy="676275"/>
          </a:xfrm>
          <a:prstGeom xmlns:a="http://schemas.openxmlformats.org/drawingml/2006/main" prst="bentConnector5">
            <a:avLst>
              <a:gd name="adj1" fmla="val 0"/>
              <a:gd name="adj2" fmla="val 33803"/>
              <a:gd name="adj3" fmla="val 91367"/>
            </a:avLst>
          </a:prstGeom>
          <a:ln xmlns:a="http://schemas.openxmlformats.org/drawingml/2006/main" w="15240">
            <a:solidFill>
              <a:srgbClr val="C00000"/>
            </a:solidFill>
            <a:prstDash val="dash"/>
            <a:head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0B2455-49CD-4304-93BC-110D586A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71775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{{統合基盤／共創の場}}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{{価値のコア・中核機能}}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35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{{品質・運用・データ}}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DE88D-E1ED-4423-9BEE-3611101B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供給者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{{技術・部材・データ}}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6F62A1-BF0C-4387-A0D1-667BCCC2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71600"/>
            <a:ext cx="2686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事業主体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{{設計・運用・責任}}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704FBA-ED73-4C98-A544-54C5DFA7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573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利用者・顧客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{{課題・利用・評価}}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0A4887-5349-418E-84D0-5EFBB03B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協業先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{{販売・実装・支援}}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77C53C-9B01-44EF-B2EF-C1E3F11E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005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統制主体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{{規制・監査・安全}}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0C531A-D249-4769-82AF-18B816B7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324100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rPr>
              <a:t>技術・部材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0E0483-93BD-4BF8-A981-D4987C47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rPr>
              <a:t>製品・サービス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6F34B-6F99-45B7-B02A-209BAF3C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38375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5B843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75B843"/>
                </a:solidFill>
                <a:latin typeface="BIZ UDPゴシック"/>
                <a:ea typeface="BIZ UDPゴシック"/>
                <a:cs typeface="BIZ UDPゴシック"/>
              </a:rPr>
              <a:t>委託・責任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358292-4BD6-425E-A04F-B58F7EBE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10025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9C95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009C95"/>
                </a:solidFill>
                <a:latin typeface="BIZ UDPゴシック"/>
                <a:ea typeface="BIZ UDPゴシック"/>
                <a:cs typeface="BIZ UDPゴシック"/>
              </a:rPr>
              <a:t>実装・運用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DA04FB-61BF-470D-AE7A-45FC639C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010025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D7D3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ED7D31"/>
                </a:solidFill>
                <a:latin typeface="BIZ UDPゴシック"/>
                <a:ea typeface="BIZ UDPゴシック"/>
                <a:cs typeface="BIZ UDPゴシック"/>
              </a:rPr>
              <a:t>基準・監査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E709F4-9A95-42D4-ACE5-21A96994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352800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利用ログ・評価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A12DF1-D9E9-4962-AA60-75C92011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0AC933-8B56-43B0-B3CE-44153849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886325"/>
            <a:ext cx="462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場を回す力｜{{データを収集→分析→改善へ還元}}</a:t>
            </a:r>
          </a:p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主なリスク｜{{責任分界・知財・個人情報・品質・継続性}}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355F36-8E6C-4674-9675-29926EA0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67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E412C3-0CAA-4C75-AD35-968BD9CF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534025"/>
            <a:ext cx="19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B5"/>
          </a:solidFill>
          <a:ln xmlns:a="http://schemas.openxmlformats.org/drawingml/2006/main" w="0">
            <a:solidFill>
              <a:srgbClr val="2474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A397EA-7A6C-4F48-8F03-148C69B6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0545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技術・商流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820313-FB0B-4283-BAFF-D28C0EBD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534025"/>
            <a:ext cx="19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C95"/>
          </a:solidFill>
          <a:ln xmlns:a="http://schemas.openxmlformats.org/drawingml/2006/main" w="0">
            <a:solidFill>
              <a:srgbClr val="009C9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085DF2-B192-4CA5-A93E-FE53469A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0545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実装・運用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26F168-105C-408F-9A06-6A652829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534025"/>
            <a:ext cx="19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710764-151F-4122-9EA0-C59B87A8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0545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基準・監査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24164E-4083-4D0F-AA42-C6A912D7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534025"/>
            <a:ext cx="19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4288">
            <a:solidFill>
              <a:srgbClr val="C00000"/>
            </a:solidFill>
            <a:prstDash val="dash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F10A34-2AC0-4F6B-BCF7-AD8722E8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0545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評価・フィードバック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7F67EE-3881-4865-8FE7-CC2CA9C0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53100"/>
            <a:ext cx="1160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C8E3D8-128D-457F-8A75-17884A1E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531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40D450-CFDE-480B-A872-0CB2E619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0072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判断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8A5CDD-E555-4F77-893D-60605A00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0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{{各主体の便益だけでなく、データ・責任・費用の循環まで合意する}}</a:t>
            </a:r>
          </a:p>
        </p:txBody>
      </p:sp>
      <p:sp>
        <p:nvSpPr>
          <p:cNvPr id="51" name="source-note">
            <a:extLst xmlns:a="http://schemas.openxmlformats.org/drawingml/2006/main">
              <a:ext uri="{FF2B5EF4-FFF2-40B4-BE49-F238E27FC236}">
                <a16:creationId xmlns:a16="http://schemas.microsoft.com/office/drawing/2014/main" id="{6781BDB3-36D0-456B-B8B2-1FC71B24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注：矢印は主な関係のみを示す。契約・金銭・データの実流に合わせて更新。</a:t>
            </a:r>
          </a:p>
        </p:txBody>
      </p:sp>
    </p:spTree>
    <p:extLst>
      <p:ext uri="{BB962C8B-B14F-4D97-AF65-F5344CB8AC3E}">
        <p14:creationId xmlns:p14="http://schemas.microsoft.com/office/powerpoint/2010/main" val="1641802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op-rail">
            <a:extLst xmlns:a="http://schemas.openxmlformats.org/drawingml/2006/main">
              <a:ext uri="{FF2B5EF4-FFF2-40B4-BE49-F238E27FC236}">
                <a16:creationId xmlns:a16="http://schemas.microsoft.com/office/drawing/2014/main" id="{7F75FFF3-72C6-4E16-AFD7-FF7F0496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63647B3E-80C7-46CA-A9D6-66A9C503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事業・政策スキーム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48A2B-047C-40CF-89DE-CA29F359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F055E-D61A-4427-811B-D391D648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{{事業概要}}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597EF83D-D30E-46AF-AD86-6AEB679D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72DC4-A54C-4FFE-9DDB-84078EE6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492EB-4DE7-441E-B6CA-DBF52805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2491C3DB-BBD7-4A15-9501-84E26451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BF57A4-2CCB-4C70-A273-2293D4C2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E92B1-87B6-479F-AD21-A9654714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0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{{事業名／施策名}}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D33B4-3A3A-4693-B4E4-FEAAB3F2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0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担当：{{部局・責任者}}</a:t>
            </a:r>
          </a:p>
          <a:p xmlns:a="http://schemas.openxmlformats.org/drawingml/2006/main">
            <a:pPr algn="r">
              <a:def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{{年度}}／{{予算・事業規模}}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50879-50C2-49F9-BEEF-4255FC90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24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00000"/>
            </a:solidFill>
            <a:prstDash val="solid"/>
          </a:ln>
        </p:spPr>
      </p:sp>
      <p:sp>
        <p:nvSpPr>
          <p:cNvPr id="13" name="document-control-badge">
            <a:extLst xmlns:a="http://schemas.openxmlformats.org/drawingml/2006/main">
              <a:ext uri="{FF2B5EF4-FFF2-40B4-BE49-F238E27FC236}">
                <a16:creationId xmlns:a16="http://schemas.microsoft.com/office/drawing/2014/main" id="{02BCD3F2-3D4E-4711-92A5-3FC59258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資料{{番号}}　{{案}}</a:t>
            </a:r>
          </a:p>
          <a:p xmlns:a="http://schemas.openxmlformats.org/drawingml/2006/main">
            <a:pPr algn="ctr">
              <a:def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{{会議日}}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D1282-8B24-4147-8D50-33B33A19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52525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DF600-14C9-4B93-9615-FD3CDA95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525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事業目的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14A5E-87FD-413F-81DE-258B4FD5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57325"/>
            <a:ext cx="3810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5A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445DF-DDD1-4322-8687-E3AD169B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5814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{{解決する社会・産業課題}}</a:t>
            </a:r>
          </a:p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{{政策上の必要性と対象}}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C9969-368A-4EB9-AACB-BEE56FF4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152525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C95"/>
          </a:solidFill>
          <a:ln xmlns:a="http://schemas.openxmlformats.org/drawingml/2006/main" w="0">
            <a:solidFill>
              <a:srgbClr val="009C9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543B4-C572-4012-B283-10A9241E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1525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事業内容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88AD5-D07C-42B9-9598-56FD098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57325"/>
            <a:ext cx="3810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9C9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AE445-064A-48F3-8BAE-BEF9239E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81150"/>
            <a:ext cx="35814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{{支援・実施する内容}}</a:t>
            </a:r>
          </a:p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{{対象行為・期間・条件}}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80A231-DD0B-471A-A6EB-FC23A1E9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5252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843"/>
          </a:solidFill>
          <a:ln xmlns:a="http://schemas.openxmlformats.org/drawingml/2006/main" w="0">
            <a:solidFill>
              <a:srgbClr val="75B8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031FC-7F80-4EDD-99D0-049B8CA3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525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成果目標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EE0A12-3CB3-4FD1-88CE-58D5A6F0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57325"/>
            <a:ext cx="3714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5B8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F04571-BA50-40BF-A931-4A54D768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81150"/>
            <a:ext cx="34861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{{いつまでに何を実現するか}}</a:t>
            </a:r>
          </a:p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{{KPI・波及効果}}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422C69-62DC-4C84-A6E4-F8B6CB69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1162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FA690C-87A6-43E8-BAE7-7B042C5D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1162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事業スキーム（対象者・資金・情報・役割）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B3C472-3BA9-4CC1-8FCA-2C9BD527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171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4288">
            <a:solidFill>
              <a:srgbClr val="0B5AA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AB159B-92DA-47DB-8CC4-1786B609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43275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75B8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5F2C78-714F-4FB8-A773-FF916AE4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43275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4288">
            <a:solidFill>
              <a:srgbClr val="ED7D3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BEC55-1B93-4B76-A1FF-71F1B627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29025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4288">
            <a:solidFill>
              <a:srgbClr val="2474B5"/>
            </a:solidFill>
            <a:prstDash val="solid"/>
          </a:ln>
        </p:spPr>
      </p:sp>
      <p:cxnSp>
        <p:nvCxnSpPr>
          <p:cNvPr id="82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2333625" y="3905250"/>
            <a:ext cx="100012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0B5AA6"/>
            </a:solidFill>
            <a:prstDash val="solid"/>
            <a:headEnd type="arrow" w="med" len="med"/>
          </a:ln>
        </p:spPr>
      </p:cxnSp>
      <p:cxnSp>
        <p:nvCxnSpPr>
          <p:cNvPr id="83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476875" y="39052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5B843"/>
            </a:solidFill>
            <a:prstDash val="solid"/>
            <a:headEnd type="arrow" w="med" len="med"/>
          </a:ln>
        </p:spPr>
      </p:cxnSp>
      <p:cxnSp>
        <p:nvCxnSpPr>
          <p:cNvPr id="84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524875" y="3905250"/>
            <a:ext cx="100012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ED7D31"/>
            </a:solidFill>
            <a:prstDash val="solid"/>
            <a:headEnd type="arrow" w="med" len="med"/>
          </a:ln>
        </p:spPr>
      </p:cxnSp>
      <p:cxnSp>
        <p:nvCxnSpPr>
          <p:cNvPr id="85" name=""/>
          <p:cNvCxnSpPr>
            <a:stCxn xmlns:a="http://schemas.openxmlformats.org/drawingml/2006/main" id="31" idx="2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H="1">
            <a:off x="4405313" y="4467225"/>
            <a:ext cx="6024563" cy="228600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C00000"/>
            </a:solidFill>
            <a:prstDash val="dash"/>
            <a:headEnd type="arrow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8941F3-D15E-4CCB-AB57-80ECA958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国・業界団体</a:t>
            </a:r>
          </a:p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{{制度設計・原資}}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960824-6837-438B-A324-AB659A0F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43275"/>
            <a:ext cx="2143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事務局・実施主体</a:t>
            </a:r>
          </a:p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{{審査・管理・伴走}}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983B98-665C-4AA6-BC14-CAF3AB06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43275"/>
            <a:ext cx="2143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実施事業者</a:t>
            </a:r>
          </a:p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{{研修・開発・提供}}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511100-D33E-4B61-BBA1-08FD83C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29025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対象企業・利用者</a:t>
            </a:r>
          </a:p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{{導入・実践・報告}}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5CDCD4-1C2F-4D0C-9678-D00FAF88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95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rPr>
              <a:t>補助・委託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61BD5A-36FD-4DE4-9B35-1E602A5D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099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75B843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75B843"/>
                </a:solidFill>
                <a:latin typeface="BIZ UDPゴシック"/>
                <a:ea typeface="BIZ UDPゴシック"/>
                <a:cs typeface="BIZ UDPゴシック"/>
              </a:rPr>
              <a:t>交付・契約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D6D31E-D153-4DB2-80D1-5BC00F66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95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D7D3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ED7D31"/>
                </a:solidFill>
                <a:latin typeface="BIZ UDPゴシック"/>
                <a:ea typeface="BIZ UDPゴシック"/>
                <a:cs typeface="BIZ UDPゴシック"/>
              </a:rPr>
              <a:t>支援・サービス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76CDBB-561E-4EF3-9207-84517706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958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実績・評価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63CCB-9F75-48E6-9506-1E2C5ECC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715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7771DB-01E9-4A3D-BFAC-4FA1D178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対象要件｜{{対象者・補助率・期間・対象経費}}</a:t>
            </a:r>
          </a:p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留意事項｜{{除外条件・実績報告・個人情報・知財・監査}}</a:t>
            </a:r>
          </a:p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波及効果｜{{対象外企業・地域・業界への横展開}}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01E264-ABE6-4DD7-A497-A2CC3496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91200"/>
            <a:ext cx="1160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79E367-F1EB-45EF-85F6-C554536C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912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722E64-C429-46DB-B78B-541A4647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3882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成果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60D83A-DCD3-49BF-B9CA-9422DA28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483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{{直接成果と中長期の政策・事業インパクトを一文で記載}}</a:t>
            </a:r>
          </a:p>
        </p:txBody>
      </p:sp>
      <p:sp>
        <p:nvSpPr>
          <p:cNvPr id="5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7F73CF0F-7D58-4A4D-AA7B-BCC49E38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出所：{{所管機関「事業概要」（年度）、ページ、URL}}</a:t>
            </a:r>
          </a:p>
        </p:txBody>
      </p:sp>
    </p:spTree>
    <p:extLst>
      <p:ext uri="{BB962C8B-B14F-4D97-AF65-F5344CB8AC3E}">
        <p14:creationId xmlns:p14="http://schemas.microsoft.com/office/powerpoint/2010/main" val="12118160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top-rail">
            <a:extLst xmlns:a="http://schemas.openxmlformats.org/drawingml/2006/main">
              <a:ext uri="{FF2B5EF4-FFF2-40B4-BE49-F238E27FC236}">
                <a16:creationId xmlns:a16="http://schemas.microsoft.com/office/drawing/2014/main" id="{F94B9678-3C54-491D-ABD7-C12BF0FD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D05BD237-8579-4285-9B6A-28F0504B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業務プロセス・役割分担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24543-0C29-471B-9E4D-04FDBCCA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539DE-1A4B-441A-97A5-0D5FEF76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{{業務全体像}}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B94A229F-5AB2-4C26-BFF9-94EE33E4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6777E-AF05-4126-9428-DA98D90D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C766C-A842-4B0E-AD75-75E49F0C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CA3A4B40-52DC-4962-A24E-E46F7FE7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AC2485-2E1A-4D15-B332-97257EF8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8</a:t>
            </a:r>
          </a:p>
        </p:txBody>
      </p:sp>
      <p:sp>
        <p:nvSpPr>
          <p:cNvPr id="10" name="main-title">
            <a:extLst xmlns:a="http://schemas.openxmlformats.org/drawingml/2006/main">
              <a:ext uri="{FF2B5EF4-FFF2-40B4-BE49-F238E27FC236}">
                <a16:creationId xmlns:a16="http://schemas.microsoft.com/office/drawing/2014/main" id="{42EA272E-FEB5-42B9-A6C9-BCB2983E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0075"/>
            <a:ext cx="1157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{{対象業務}}は、4段階の流れと3主体の責任分界で整理する</a:t>
            </a:r>
          </a:p>
        </p:txBody>
      </p:sp>
      <p:sp>
        <p:nvSpPr>
          <p:cNvPr id="11" name="main-subtitle">
            <a:extLst xmlns:a="http://schemas.openxmlformats.org/drawingml/2006/main">
              <a:ext uri="{FF2B5EF4-FFF2-40B4-BE49-F238E27FC236}">
                <a16:creationId xmlns:a16="http://schemas.microsoft.com/office/drawing/2014/main" id="{18B79179-3535-47AD-8DC5-859A2918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90600"/>
            <a:ext cx="1152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rPr>
              <a:t>{{判断・データ・システムの受け渡しを明示}}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A5455-0F7C-4F86-8937-0F676685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23975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B5"/>
          </a:solidFill>
          <a:ln xmlns:a="http://schemas.openxmlformats.org/drawingml/2006/main" w="0">
            <a:solidFill>
              <a:srgbClr val="24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955BB-8DC4-4F4C-A10D-7CC19A87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239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① 企画・受付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961E0-3237-4AF0-9912-08A2E321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23975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B5"/>
          </a:solidFill>
          <a:ln xmlns:a="http://schemas.openxmlformats.org/drawingml/2006/main" w="0">
            <a:solidFill>
              <a:srgbClr val="2474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8E178-BD4A-4AF7-B0C1-7CDC4F5B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239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② 調査・設計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3D155-A27E-4B7B-8993-557D2A12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323975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B5"/>
          </a:solidFill>
          <a:ln xmlns:a="http://schemas.openxmlformats.org/drawingml/2006/main" w="0">
            <a:solidFill>
              <a:srgbClr val="24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D8FA5-7D89-43DA-8317-10A3182B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3239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③ 実行・提供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93231-72B1-46F0-ABEC-F86AFC14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23975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843"/>
          </a:solidFill>
          <a:ln xmlns:a="http://schemas.openxmlformats.org/drawingml/2006/main" w="0">
            <a:solidFill>
              <a:srgbClr val="75B8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5610C-78B7-4205-A857-150771DB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239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④ 評価・改善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F62F0-0AFE-404F-AA1E-FDA9327E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81175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B560C-0E37-4008-BA10-4CAF587F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8597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経営・責任者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40E513-26C0-4E3B-B933-A89FAEE5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811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C1AFC-6EEA-41FF-90A7-D8FA376F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9145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{{経営・責任者の主な行動1}}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{{入力・判断・出力}}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6CC2E1-1D03-4942-B50D-A3BA6FCB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811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E97768-585B-4B7E-A5B6-FA771DFB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145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{{経営・責任者の主な行動2}}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{{入力・判断・出力}}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0E670A-DE25-4573-A4B9-F6F1EEBD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811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36660A-CAD8-4C29-A870-5B033013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145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{{経営・責任者の主な行動3}}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{{入力・判断・出力}}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A0CE9B-8459-41F9-9B8D-6AFFE879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811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C491F1-30ED-41B6-AE25-E9ACC80B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9145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{{経営・責任者の主な行動4}}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{{入力・判断・出力}}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420495-7550-457C-ABC2-36D73076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47975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81E4B1-D051-4A30-B293-25197251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5277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担当部門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0AB9D5-DA31-46B6-9957-D23CD4FA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479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338EE4-E3B8-40A8-94F6-B40F35FC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813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{{担当部門の主な行動1}}</a:t>
            </a:r>
          </a:p>
          <a:p xmlns:a="http://schemas.openxmlformats.org/drawingml/2006/main">
            <a:pPr algn="ctr">
              <a:def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{{入力・判断・出力}}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7CE5A1-656A-452A-AE2B-0C2D7FE4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479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9D7F08-910E-488A-AE80-8E4D7D99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813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{{担当部門の主な行動2}}</a:t>
            </a:r>
          </a:p>
          <a:p xmlns:a="http://schemas.openxmlformats.org/drawingml/2006/main">
            <a:pPr algn="ctr">
              <a:def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{{入力・判断・出力}}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6DA120-027A-4104-BA43-5CFC7E1A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479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8B9E73-C4B1-4097-AE36-518174EA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813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{{担当部門の主な行動3}}</a:t>
            </a:r>
          </a:p>
          <a:p xmlns:a="http://schemas.openxmlformats.org/drawingml/2006/main">
            <a:pPr algn="ctr">
              <a:def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{{入力・判断・出力}}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35B3D2-974D-4610-9B9A-00BF599A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479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A32E1A-B658-4C81-BEA0-13219CEC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813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{{担当部門の主な行動4}}</a:t>
            </a:r>
          </a:p>
          <a:p xmlns:a="http://schemas.openxmlformats.org/drawingml/2006/main">
            <a:pPr algn="ctr">
              <a:def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{{入力・判断・出力}}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49CCA1-861A-4AFB-8B61-EA724A5A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14775"/>
            <a:ext cx="1571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A6A6A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81B98C-B7D6-41FB-BBBB-DA2E4365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1957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現場・利用者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7E712A-F594-4153-943F-144AF0FD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147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B2C152-BE75-4757-9886-AC3A04B3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0481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{{現場・利用者の主な行動1}}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{{入力・判断・出力}}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45CCD4-433D-4905-881D-E8AD7BE1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147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7B9B6C-E745-4AF4-8245-C78318B7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481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{{現場・利用者の主な行動2}}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{{入力・判断・出力}}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E9AA23-E05F-4EEA-B9E5-B88E884F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147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A5B7D4-92B1-4C7C-A740-F7B5B98A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481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{{現場・利用者の主な行動3}}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{{入力・判断・出力}}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7937D5-559B-4854-AEB4-645B1CC9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14775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6A6A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62AAE5-C290-4C03-9128-DE0B88DB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0481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{{現場・利用者の主な行動4}}</a:t>
            </a:r>
          </a:p>
          <a:p xmlns:a="http://schemas.openxmlformats.org/drawingml/2006/main">
            <a:pPr algn="ctr">
              <a:def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{{入力・判断・出力}}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923259-6499-43B0-8D5E-37848B15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05375"/>
            <a:ext cx="704850" cy="552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D966"/>
          </a:solidFill>
          <a:ln xmlns:a="http://schemas.openxmlformats.org/drawingml/2006/main" w="13335">
            <a:solidFill>
              <a:srgbClr val="ED7D3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49744C-6094-4E88-ACBD-8404DFD0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577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承認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486E44-F248-43CD-8619-C9FC36CD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5257D8-D058-47C2-B595-B1A67B19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67300"/>
            <a:ext cx="3790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92B4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092B4C"/>
                </a:solidFill>
                <a:latin typeface="BIZ UDPゴシック"/>
                <a:ea typeface="BIZ UDPゴシック"/>
                <a:cs typeface="BIZ UDPゴシック"/>
              </a:rPr>
              <a:t>共通データ・システム｜{{台帳／権限／ログ／連携基盤}}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36421A-A537-47E4-A553-CF240F3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05375"/>
            <a:ext cx="4114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1430">
            <a:solidFill>
              <a:srgbClr val="C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DD20A0-E44E-4424-85E9-C9206271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673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主な詰まり｜{{二重入力／判断待ち／属人化／確認漏れ}}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EB3211-0BF4-4758-897F-13FFA4C1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53100"/>
            <a:ext cx="1160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3417A0-7873-46DB-8FA2-ED205809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531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2C007A-A675-41A9-9CF4-AA3DEF45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0072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改善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217E09-479C-4FD5-B22F-FE318E97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0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{{責任分界と判断条件を揃え、データが次工程へ切れずに流れる状態をつくる}}</a:t>
            </a:r>
          </a:p>
        </p:txBody>
      </p:sp>
      <p:sp>
        <p:nvSpPr>
          <p:cNvPr id="6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D836042-B71A-48EA-A637-BF1804BE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注：現行業務の場合は実態ヒアリング、将来業務の場合は移行条件を明記。</a:t>
            </a:r>
          </a:p>
        </p:txBody>
      </p:sp>
    </p:spTree>
    <p:extLst>
      <p:ext uri="{BB962C8B-B14F-4D97-AF65-F5344CB8AC3E}">
        <p14:creationId xmlns:p14="http://schemas.microsoft.com/office/powerpoint/2010/main" val="15947110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op-rail">
            <a:extLst xmlns:a="http://schemas.openxmlformats.org/drawingml/2006/main">
              <a:ext uri="{FF2B5EF4-FFF2-40B4-BE49-F238E27FC236}">
                <a16:creationId xmlns:a16="http://schemas.microsoft.com/office/drawing/2014/main" id="{A1601DD1-84C4-4786-9B44-ADEF7640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78E7DFCF-1FEC-421C-9C72-B259001E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変革の全体像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F0B84-75CF-4712-9D5F-E5235A5B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34EFE-0C74-4EC2-B99B-6982A13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{{現状→目指す姿}}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1A2AAF54-B970-49F5-A742-25B64094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E5A35-E9DF-48E8-8067-253DFA68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1C97A-D665-42C0-B6F0-616BA793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F5BB010B-08F7-45EB-9DBA-379BF789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E2C95F-8BC9-491D-832F-AE7E014E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9</a:t>
            </a:r>
          </a:p>
        </p:txBody>
      </p:sp>
      <p:sp>
        <p:nvSpPr>
          <p:cNvPr id="10" name="main-title">
            <a:extLst xmlns:a="http://schemas.openxmlformats.org/drawingml/2006/main">
              <a:ext uri="{FF2B5EF4-FFF2-40B4-BE49-F238E27FC236}">
                <a16:creationId xmlns:a16="http://schemas.microsoft.com/office/drawing/2014/main" id="{FCE7499B-C716-40D9-8741-544B70E1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0075"/>
            <a:ext cx="1157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{{主題}}は、ツール追加ではなく業務・データ・統制の組み替えで実現する</a:t>
            </a:r>
          </a:p>
        </p:txBody>
      </p:sp>
      <p:sp>
        <p:nvSpPr>
          <p:cNvPr id="11" name="main-subtitle">
            <a:extLst xmlns:a="http://schemas.openxmlformats.org/drawingml/2006/main">
              <a:ext uri="{FF2B5EF4-FFF2-40B4-BE49-F238E27FC236}">
                <a16:creationId xmlns:a16="http://schemas.microsoft.com/office/drawing/2014/main" id="{139053FB-F37D-4CBF-8273-673B57FC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90600"/>
            <a:ext cx="1152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rPr>
              <a:t>{{現状、変革手段、目指す姿、共通基盤を一枚で整理}}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57325-2D48-45B4-8B32-F3A4DB74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1047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3201A-E802-47B1-AC6B-8DFD7E6B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1047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DD8E4-DCD1-4EC2-A22C-13A1B6B6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81125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7145">
            <a:solidFill>
              <a:srgbClr val="0B5A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2F190-08F9-498C-85CC-90533D49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81125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76EED-E868-4BE4-9BFA-1D4779C9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5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現状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75CF9-735B-46E2-BE69-3D11AEF0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28825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5A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51E72-FFB6-40EA-AF1B-0829860D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{{個別最適・属人化}}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EAC35-6ED7-40C8-AB0A-3052674A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71775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5A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8028F-A0F7-4FFB-94BD-87BE18FC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{{データ分散・二重入力}}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24CB1-B04C-4AF6-B626-E1763694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514725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5A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D6EBA-95F1-40B7-8709-BD6622D4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{{判断基準が不明確}}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BCA4D-6A8C-48EA-A5A5-46542628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81125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7145">
            <a:solidFill>
              <a:srgbClr val="ED7D3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F6E23-D016-4D75-9F19-2E6ED603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81125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solidFill>
              <a:srgbClr val="ED7D3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2ECA8-80DE-48D8-99F5-9197E957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5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変革手段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48EF5D-1812-4180-B364-1B80CF7C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28825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7D3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71720F-F275-4D24-855C-9109E9F5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526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{{ルール・責任分界}}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119E1E-A75F-4433-8BC5-12D143CC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71775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7D3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800963-58BD-4C60-B801-08E7E363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{{データ・権限の整備}}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7F3619-C2DC-45CA-AB9B-B9280826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514725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7D3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DDAE7E-1E99-424D-B31E-AEA9D60B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385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{{教育・実装・評価}}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E6B0B4-616E-4025-9A20-505D1AC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7145">
            <a:solidFill>
              <a:srgbClr val="75B84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8BEDE0-012A-4820-91B7-3579A596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314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843"/>
          </a:solidFill>
          <a:ln xmlns:a="http://schemas.openxmlformats.org/drawingml/2006/main" w="0">
            <a:solidFill>
              <a:srgbClr val="75B8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7D76B5-E8E7-4ED5-B330-EC502B6D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5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目指す姿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7F0992-25D3-4A52-B131-6EC3C2FE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28825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5B84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1CF4BD-CDCC-40FC-8C96-A7CE5FB3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526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{{業務とAIが常時連携}}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941E03-8454-4379-AF94-4EEBC556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71775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5B84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4D0C0E-17B5-40A1-943E-DD2A338F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{{判断・実行を記録}}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A16A4C-1CB9-4AD4-B4E5-9F85AB84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514725"/>
            <a:ext cx="268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5B84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90E600-E00E-4742-ACBF-DDFA66CD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385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{{改善が横展開される}}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F50E28-32A8-4A28-9B45-DDBE9157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0629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3335">
            <a:solidFill>
              <a:srgbClr val="2474B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AAFAE0-7EDD-4502-8970-E53A2AA7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021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共通基盤｜{{データ標準・ID／権限・セキュリティ・監視ログ・改善サイクル}}</a:t>
            </a:r>
          </a:p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評価指標｜{{時間・品質・コスト・利用率・リスク指標}}　制約｜{{予算・人員・規程・既存システム}}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6797BB-D9B7-432C-83A7-53242547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53100"/>
            <a:ext cx="1160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7DE5D0-7940-45A8-8318-BAFDB6AB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531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E67D49-EA6A-4BDF-A0A5-814DADF5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0072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移行条件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F19964-0978-4FC5-8B47-ABAEE96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0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{{現行業務を止めずに段階移行するための条件・判断基準}}</a:t>
            </a:r>
          </a:p>
        </p:txBody>
      </p:sp>
      <p:sp>
        <p:nvSpPr>
          <p:cNvPr id="47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2205CF5-06FB-4DCA-89BD-577A9A8D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注：KPIは導入前の基準値と測定方法を定義した上で記載。</a:t>
            </a:r>
          </a:p>
        </p:txBody>
      </p:sp>
    </p:spTree>
    <p:extLst>
      <p:ext uri="{BB962C8B-B14F-4D97-AF65-F5344CB8AC3E}">
        <p14:creationId xmlns:p14="http://schemas.microsoft.com/office/powerpoint/2010/main" val="12992268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top-rail">
            <a:extLst xmlns:a="http://schemas.openxmlformats.org/drawingml/2006/main">
              <a:ext uri="{FF2B5EF4-FFF2-40B4-BE49-F238E27FC236}">
                <a16:creationId xmlns:a16="http://schemas.microsoft.com/office/drawing/2014/main" id="{1D55ABA4-902B-48AF-912A-DBA3E93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841227AE-61BB-49C9-B118-DAD1003D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ロードマップ・判断ゲート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21BDF-DCC3-4528-BAAA-3C27E618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F4800-8E60-4A90-9862-4A37630A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{{実行計画}}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92952868-6345-4F6F-B7E6-E55B67B8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95F89-161B-42A9-93D1-90B3F11B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304C2-A0D7-451E-BD36-9F3856C3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6F6E82BC-240D-41B9-B73A-BF81714F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C92CB1-DE71-4E96-866B-E2509F89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10</a:t>
            </a:r>
          </a:p>
        </p:txBody>
      </p:sp>
      <p:sp>
        <p:nvSpPr>
          <p:cNvPr id="10" name="main-title">
            <a:extLst xmlns:a="http://schemas.openxmlformats.org/drawingml/2006/main">
              <a:ext uri="{FF2B5EF4-FFF2-40B4-BE49-F238E27FC236}">
                <a16:creationId xmlns:a16="http://schemas.microsoft.com/office/drawing/2014/main" id="{F26F40AE-B019-4046-85E0-1E65CCBF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0075"/>
            <a:ext cx="1157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{{テーマ}}は、検証・標準化・展開・定着の4段階で進める</a:t>
            </a:r>
          </a:p>
        </p:txBody>
      </p:sp>
      <p:sp>
        <p:nvSpPr>
          <p:cNvPr id="11" name="main-subtitle">
            <a:extLst xmlns:a="http://schemas.openxmlformats.org/drawingml/2006/main">
              <a:ext uri="{FF2B5EF4-FFF2-40B4-BE49-F238E27FC236}">
                <a16:creationId xmlns:a16="http://schemas.microsoft.com/office/drawing/2014/main" id="{11839D5F-09AA-46BD-98DF-25C34B38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90600"/>
            <a:ext cx="1152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rPr>
              <a:t>{{成果物、責任者、依存関係、判断ゲートを同じ時間軸に置く}}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EFF1E-E6FA-4C32-8732-1AEEC69D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333500"/>
            <a:ext cx="2400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B5"/>
          </a:solidFill>
          <a:ln xmlns:a="http://schemas.openxmlformats.org/drawingml/2006/main" w="0">
            <a:solidFill>
              <a:srgbClr val="24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6C0FC-EDBA-4EB4-8D81-9F12C451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3335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Phase 1 検証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616F2-770F-4E4B-9E18-7CEC3D38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33500"/>
            <a:ext cx="2400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3367E-12AF-43C9-8BA1-436BA9E5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335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Phase 2 標準化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2F093-0060-47D8-80D7-84270849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333500"/>
            <a:ext cx="2400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C95"/>
          </a:solidFill>
          <a:ln xmlns:a="http://schemas.openxmlformats.org/drawingml/2006/main" w="0">
            <a:solidFill>
              <a:srgbClr val="009C9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F140E-464D-4FE8-B3EE-85AFC0E3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3335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Phase 3 展開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4ED4F-8F39-4B9B-BA8F-2845F9EA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333500"/>
            <a:ext cx="2400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843"/>
          </a:solidFill>
          <a:ln xmlns:a="http://schemas.openxmlformats.org/drawingml/2006/main" w="0">
            <a:solidFill>
              <a:srgbClr val="75B8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37AAF-25CB-4582-BFCE-76932079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3335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Phase 4 定着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679FC-CEBB-48D4-9241-15DB5F29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907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9525">
            <a:solidFill>
              <a:srgbClr val="2474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7616C-6733-497F-BB8A-8D56164D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383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主要成果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64BC9-37DA-46AC-BE4F-1A86A0A0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7907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46BDA6-B74C-4EE2-B725-6A614447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240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{{主要成果1}}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{{期限・完了条件}}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294DC9-846F-4C9F-84ED-61209BDA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9C2A1-5A5E-4160-8D03-E0026D81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{{主要成果2}}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{{期限・完了条件}}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2C04F7-B749-4F9A-984C-4C267FFA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907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FA413D-D464-4FE9-8B83-CA92F288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240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{{主要成果3}}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{{期限・完了条件}}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761371-241B-40F7-8D7A-8334FE61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907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88E6E8-C170-4BEF-8490-172B1ED5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240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{{主要成果4}}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{{期限・完了条件}}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896F07-42EC-4A57-A6D8-A75BE6FD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051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9525">
            <a:solidFill>
              <a:srgbClr val="2474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783AF4-C013-484A-B71E-8FF4E7B8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527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実施事項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B75BCB-8E04-417F-A6BD-4ACDCCD6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051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32D685-5AE9-4B96-BDC1-DCB1438E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384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{{実施事項1}}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{{期限・完了条件}}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875501-E5AA-482A-B5BA-FAE465BA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051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7362ED-3DAE-45AB-85DC-682B3E9F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384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{{実施事項2}}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{{期限・完了条件}}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1B3CE6-3FDE-4041-B101-B8F205A6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051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CD31A3-9B09-467C-88BE-F5107BC8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384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{{実施事項3}}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{{期限・完了条件}}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F9A2CB-8E08-4768-BF7C-0D234B4A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051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516F82-F3FE-4FC2-94A6-4ED1136D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384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{{実施事項4}}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{{期限・完了条件}}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D29BFF-6653-45BC-A4A1-76B2957D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195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9525">
            <a:solidFill>
              <a:srgbClr val="2474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3EA432-2586-475D-9CA4-A8D8048E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671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体制・担当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D510C8-BA54-405F-80B4-9A499BB0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195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5459A2-D381-40C9-826C-BF89C4D8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528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{{体制・担当1}}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{{期限・完了条件}}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628624-8C89-4C6E-972F-372E5355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195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C98791-EC7A-4890-9328-09D76E2A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528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{{体制・担当2}}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{{期限・完了条件}}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AECF4A-482F-4EBB-8E1C-97610090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195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15D3B6-F518-42F0-AEBF-66797EF1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528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{{体制・担当3}}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{{期限・完了条件}}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F7B9CD-A30D-41F1-939B-40CC8CC6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195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63B7DD-A6EC-45E0-A6F7-1664A3F5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{{体制・担当4}}</a:t>
            </a:r>
          </a:p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{{期限・完了条件}}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D29641-38D1-4EDE-B670-274658AA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33900"/>
            <a:ext cx="1504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ED7D3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632790-285C-4FBE-8334-CD89C83D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815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判断ゲート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CBCC5C-1668-4538-AFD9-FDA070D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339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B79611-5354-4CE5-A0D4-E56785EF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672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◆ {{Gate 1}}</a:t>
            </a:r>
          </a:p>
          <a:p xmlns:a="http://schemas.openxmlformats.org/drawingml/2006/main">
            <a:pPr algn="ctr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{{継続／修正／停止条件}}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804CC9-8921-4CF7-AA6A-D1171814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339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E17B35-2520-48EA-BACC-32FEED4E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672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◆ {{Gate 2}}</a:t>
            </a:r>
          </a:p>
          <a:p xmlns:a="http://schemas.openxmlformats.org/drawingml/2006/main">
            <a:pPr algn="ctr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{{継続／修正／停止条件}}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183A7C-512A-45DE-B10B-0E9A2E69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339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49EE28-A363-4355-A74D-B8FEE326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672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◆ {{Gate 3}}</a:t>
            </a:r>
          </a:p>
          <a:p xmlns:a="http://schemas.openxmlformats.org/drawingml/2006/main">
            <a:pPr algn="ctr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{{継続／修正／停止条件}}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AAF403-FFAD-4909-8869-EF7578FA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33900"/>
            <a:ext cx="2400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693B49-E1CE-4700-9BC7-D45FCDB6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672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◆ {{Gate 4}}</a:t>
            </a:r>
          </a:p>
          <a:p xmlns:a="http://schemas.openxmlformats.org/drawingml/2006/main">
            <a:pPr algn="ctr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{{継続／修正／停止条件}}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B6F8399-463F-482A-B751-4B2DD150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257300"/>
            <a:ext cx="190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dash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1743BC-ADF6-4AF0-A1AF-4BC2A381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257300"/>
            <a:ext cx="190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dash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CC872CC-12BA-4719-AA3A-B0834D5D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257300"/>
            <a:ext cx="190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dash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4B10A6-62DF-4BEC-A004-F72E4D8C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91175"/>
            <a:ext cx="11525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AB041B2-3A22-4BBD-BD93-492D164B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676900"/>
            <a:ext cx="1119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依存関係・主要リスク｜{{外部調達／データ準備／承認／人員／法令・セキュリティ}}</a:t>
            </a:r>
          </a:p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回避策｜{{代替経路・先行確認・段階導入・撤退条件}}</a:t>
            </a:r>
          </a:p>
        </p:txBody>
      </p:sp>
      <p:sp>
        <p:nvSpPr>
          <p:cNvPr id="6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5B25481-6C2F-40D7-9176-DDFA9336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注：各Gateの判断者、必要証跡、期限を実計画へ反映。</a:t>
            </a:r>
          </a:p>
        </p:txBody>
      </p:sp>
    </p:spTree>
    <p:extLst>
      <p:ext uri="{BB962C8B-B14F-4D97-AF65-F5344CB8AC3E}">
        <p14:creationId xmlns:p14="http://schemas.microsoft.com/office/powerpoint/2010/main" val="17071003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op-rail">
            <a:extLst xmlns:a="http://schemas.openxmlformats.org/drawingml/2006/main">
              <a:ext uri="{FF2B5EF4-FFF2-40B4-BE49-F238E27FC236}">
                <a16:creationId xmlns:a16="http://schemas.microsoft.com/office/drawing/2014/main" id="{D9A72375-5130-49A7-9025-2556D07F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BCA393F3-018A-4540-8DFE-AA77D60E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データ・引用図表・解釈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657A9-CEAE-4A73-AB67-6CC0805E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38DC0-21DC-4BC3-9A81-BE44EAA4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{{定量根拠}}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11A8D5FA-64CE-4DCF-B4DF-6F5CEE83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F6299-9814-49BA-B7D2-81CFE33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33ED2-2F4F-4A2E-86F9-A9964A95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C0CEF5B7-D916-405B-A8CE-4B1582AD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E9040B-9AA5-44CB-B36B-174370D7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11</a:t>
            </a:r>
          </a:p>
        </p:txBody>
      </p:sp>
      <p:sp>
        <p:nvSpPr>
          <p:cNvPr id="10" name="main-title">
            <a:extLst xmlns:a="http://schemas.openxmlformats.org/drawingml/2006/main">
              <a:ext uri="{FF2B5EF4-FFF2-40B4-BE49-F238E27FC236}">
                <a16:creationId xmlns:a16="http://schemas.microsoft.com/office/drawing/2014/main" id="{1092FBFC-C065-4ED4-8A1B-599D2810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0075"/>
            <a:ext cx="1157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{{主要指標}}は{{期間}}で拡大し、{{判断事項}}への対応を迫る</a:t>
            </a:r>
          </a:p>
        </p:txBody>
      </p:sp>
      <p:sp>
        <p:nvSpPr>
          <p:cNvPr id="11" name="main-subtitle">
            <a:extLst xmlns:a="http://schemas.openxmlformats.org/drawingml/2006/main">
              <a:ext uri="{FF2B5EF4-FFF2-40B4-BE49-F238E27FC236}">
                <a16:creationId xmlns:a16="http://schemas.microsoft.com/office/drawing/2014/main" id="{64E9EB5F-E338-44FB-B089-C8CD8739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90600"/>
            <a:ext cx="1152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rPr>
              <a:t>{{数値、注釈、出所、意思決定への意味を一枚で示す}}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381000" y="1381125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42aa6f939d4beb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1289F-6556-4A4D-B119-F1EE1267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66875"/>
            <a:ext cx="1952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A1F5C-A367-4C2F-B909-D138DD5E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5260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{{転換点・注目値}}</a:t>
            </a:r>
          </a:p>
          <a:p xmlns:a="http://schemas.openxmlformats.org/drawingml/2006/main">
            <a:pPr algn="ctr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{{何が変わったか}}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1A685-9A70-43A1-A200-74D00AC6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905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35523-4007-4A35-B924-C8A95B91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読み取れること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54B50-A6F8-439B-877E-98453DA9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336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CFDF4-0EDA-40E4-808A-9A029830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1927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rPr>
              <a:t>① 変化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63DE5-6FFF-4A32-A1AB-A4CE5024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19275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{{伸び率・転換点・差分}}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CF277-272B-4B39-8118-553ABDCC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147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357A3-1ADD-47EF-8AE2-EA4E3BED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003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rPr>
              <a:t>② 要因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55160-8EB4-48D3-B769-C59A5B74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0325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{{市場・制度・技術・行動}}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D7C792-76D9-4D67-903F-F2847D62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91188B-1351-46CB-B0DC-C4CC2A26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8137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rPr>
              <a:t>③ 影響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2C9900-52C3-405C-A45E-670DF6E6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81375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{{自社・顧客・インフラへの影響}}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F673AA-4F99-4E6A-8CE1-394D707A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768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57C51-2DD1-4E6A-B9FB-FD000031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④ 対応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AE605-9565-4885-8191-41C7A781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62425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{{今決めること・備えること}}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AB2599-8593-4B44-A438-86AA6302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86350"/>
            <a:ext cx="3905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1430">
            <a:solidFill>
              <a:srgbClr val="ED7D3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EE096-4595-4BAE-B7F5-CEAE8293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197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判断｜{{数値を踏まえた推奨方針・確認事項}}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14D60C-E7DC-4EA6-B4F6-A0EA899D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673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注：実績・予測・推計の区分、期間、単位、母数、前提を明記。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C57958-711F-4ED2-BBE7-6EA84E00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19775"/>
            <a:ext cx="1160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40E815-521E-4A59-8693-93CDBA65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19775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E07283-0A3F-40A8-AC2F-3F9AFF5B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6740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含意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8822BB-C35E-4F2E-B26D-CAE724CC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76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{{このデータが投資・設計・運用判断をどう変えるか}}</a:t>
            </a:r>
          </a:p>
        </p:txBody>
      </p:sp>
      <p:sp>
        <p:nvSpPr>
          <p:cNvPr id="3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60F139E9-85E4-4F4B-A2EF-6D57E876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出所：{{機関名「資料名」（公表日）、ページ、URL}}</a:t>
            </a:r>
          </a:p>
        </p:txBody>
      </p:sp>
    </p:spTree>
    <p:extLst>
      <p:ext uri="{BB962C8B-B14F-4D97-AF65-F5344CB8AC3E}">
        <p14:creationId xmlns:p14="http://schemas.microsoft.com/office/powerpoint/2010/main" val="16419229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898E677D-66BF-44EB-828A-4E201E30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207E1925-58F8-4D5D-A24E-538A9484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比較・判断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26FEB-4111-40B3-8ADF-E3FDD759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D030B-5ABE-48FE-98C1-B402F1E4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{{選択肢評価}}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B98213DB-6AC6-49BA-A501-A626C39D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5D1DD-2CD0-4D87-A7B9-8ED330E1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35F48-BD12-4685-93D6-497DA389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12D8978A-B70C-4E3E-BFFD-B1D93EDA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A1DF2A-92FB-4B39-918E-0849AA36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12</a:t>
            </a:r>
          </a:p>
        </p:txBody>
      </p:sp>
      <p:sp>
        <p:nvSpPr>
          <p:cNvPr id="10" name="main-title">
            <a:extLst xmlns:a="http://schemas.openxmlformats.org/drawingml/2006/main">
              <a:ext uri="{FF2B5EF4-FFF2-40B4-BE49-F238E27FC236}">
                <a16:creationId xmlns:a16="http://schemas.microsoft.com/office/drawing/2014/main" id="{11300B51-3539-4C9F-8848-C800ADE7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0075"/>
            <a:ext cx="1157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{{選択肢}}は、効果だけでなく導入条件・リスク・責任で比較する</a:t>
            </a:r>
          </a:p>
        </p:txBody>
      </p:sp>
      <p:sp>
        <p:nvSpPr>
          <p:cNvPr id="11" name="main-subtitle">
            <a:extLst xmlns:a="http://schemas.openxmlformats.org/drawingml/2006/main">
              <a:ext uri="{FF2B5EF4-FFF2-40B4-BE49-F238E27FC236}">
                <a16:creationId xmlns:a16="http://schemas.microsoft.com/office/drawing/2014/main" id="{A6436D3A-7AA0-4B9C-8CC4-C703117E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90600"/>
            <a:ext cx="1152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rPr>
              <a:t>{{推奨案と残る論点を同時に提示}}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333375" y="1381125"/>
          <a:ext xmlns:a="http://schemas.openxmlformats.org/drawingml/2006/main" cx="1152525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428875"/>
                <a:gridCol w="2428875"/>
                <a:gridCol w="2428875"/>
                <a:gridCol w="2428875"/>
              </a:tblGrid>
              <a:tr h="540204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判断基準</a:t>
                      </a:r>
                    </a:p>
                  </a:txBody>
                  <a:tcPr marL="91440" marR="91440" marT="45720" marB="45720">
                    <a:solidFill>
                      <a:srgbClr val="0B5AA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現状維持</a:t>
                      </a:r>
                    </a:p>
                  </a:txBody>
                  <a:tcPr marL="91440" marR="91440" marT="45720" marB="45720">
                    <a:solidFill>
                      <a:srgbClr val="0B5AA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案A</a:t>
                      </a:r>
                    </a:p>
                  </a:txBody>
                  <a:tcPr marL="91440" marR="91440" marT="45720" marB="45720">
                    <a:solidFill>
                      <a:srgbClr val="0B5AA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案B</a:t>
                      </a:r>
                    </a:p>
                  </a:txBody>
                  <a:tcPr marL="91440" marR="91440" marT="45720" marB="45720">
                    <a:solidFill>
                      <a:srgbClr val="0B5AA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推奨案C</a:t>
                      </a:r>
                    </a:p>
                  </a:txBody>
                  <a:tcPr marL="91440" marR="91440" marT="45720" marB="45720">
                    <a:solidFill>
                      <a:srgbClr val="009C95"/>
                    </a:solidFill>
                  </a:tcPr>
                </a:tc>
              </a:tr>
              <a:tr h="540204"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期待効果</a:t>
                      </a:r>
                    </a:p>
                  </a:txBody>
                  <a:tcPr marL="91440" marR="91440" marT="45720" marB="45720">
                    <a:solidFill>
                      <a:srgbClr val="DDEB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{{小}}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{{中}}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{{高}}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{{高}}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540204"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導入速度</a:t>
                      </a:r>
                    </a:p>
                  </a:txBody>
                  <a:tcPr marL="91440" marR="91440" marT="45720" marB="45720">
                    <a:solidFill>
                      <a:srgbClr val="DDEB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{{速}}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{{速}}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{{中}}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{{中}}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540204"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初期負担</a:t>
                      </a:r>
                    </a:p>
                  </a:txBody>
                  <a:tcPr marL="91440" marR="91440" marT="45720" marB="45720">
                    <a:solidFill>
                      <a:srgbClr val="DDEB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{{小}}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{{中}}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{{大}}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{{中}}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540204"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運用責任</a:t>
                      </a:r>
                    </a:p>
                  </a:txBody>
                  <a:tcPr marL="91440" marR="91440" marT="45720" marB="45720">
                    <a:solidFill>
                      <a:srgbClr val="DDEB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{{部門}}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{{部門}}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{{全社}}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{{共同}}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540204"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主要リスク</a:t>
                      </a:r>
                    </a:p>
                  </a:txBody>
                  <a:tcPr marL="91440" marR="91440" marT="45720" marB="45720">
                    <a:solidFill>
                      <a:srgbClr val="DDEB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{{停滞}}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{{分散}}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{{過大}}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{{統制}}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  <a:tr h="540204"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採用条件</a:t>
                      </a:r>
                    </a:p>
                  </a:txBody>
                  <a:tcPr marL="91440" marR="91440" marT="45720" marB="45720">
                    <a:solidFill>
                      <a:srgbClr val="DDEB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{{条件}}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{{条件}}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{{条件}}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{{条件}}</a:t>
                      </a:r>
                    </a:p>
                  </a:txBody>
                  <a:tcPr marL="91440" marR="91440" marT="45720" marB="45720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4BF99-E52F-440A-B600-ED70D654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314950"/>
            <a:ext cx="742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91FEC-AC37-403C-9967-ABC59454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19725"/>
            <a:ext cx="7105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推奨｜{{推奨案と理由を一文で}}</a:t>
            </a:r>
          </a:p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採用条件｜{{承認・体制・予算・検証結果}}</a:t>
            </a:r>
          </a:p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次のアクション｜{{担当・期限・必要証跡}}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1232F-F855-461D-AD59-2A03CC5C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14950"/>
            <a:ext cx="390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1430">
            <a:solidFill>
              <a:srgbClr val="C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4DE80-0055-4501-9475-FE4BADA3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448300"/>
            <a:ext cx="360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残るリスク</a:t>
            </a:r>
          </a:p>
          <a:p xmlns:a="http://schemas.openxmlformats.org/drawingml/2006/main">
            <a:pPr algn="ctr">
              <a:defRPr sz="11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{{採用後も残る不確実性と監視項目}}</a:t>
            </a:r>
          </a:p>
        </p:txBody>
      </p:sp>
      <p:sp>
        <p:nvSpPr>
          <p:cNvPr id="17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4B9B603-3B25-4069-996C-43F32379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注：評価基準の定義と重み付けを合意してから最終判断する。</a:t>
            </a:r>
          </a:p>
        </p:txBody>
      </p:sp>
    </p:spTree>
    <p:extLst>
      <p:ext uri="{BB962C8B-B14F-4D97-AF65-F5344CB8AC3E}">
        <p14:creationId xmlns:p14="http://schemas.microsoft.com/office/powerpoint/2010/main" val="11254124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top-rail">
            <a:extLst xmlns:a="http://schemas.openxmlformats.org/drawingml/2006/main">
              <a:ext uri="{FF2B5EF4-FFF2-40B4-BE49-F238E27FC236}">
                <a16:creationId xmlns:a16="http://schemas.microsoft.com/office/drawing/2014/main" id="{EAA6C777-5C8E-44C1-A739-D29995FA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3280FDDE-7CA9-472E-A716-155C8CAF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原典抜粋・比較・読み解き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D2933-7A7D-4F73-9786-12EA507A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7B4AA-F089-459A-9238-7C276088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{{引用図表}}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0983584F-0743-4E13-8AB7-EFBB61C5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54661-BECA-456B-9E5D-C0729A3D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BA9BB-7520-432B-BAC7-43EB2D33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5066D181-4D53-4998-A686-1FBEE206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3472D9-4B52-40D7-8593-72189F91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D9DE8-2B17-4620-B453-12D86064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0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{{二つの原典}}を並べると、{{共通する構造}}と{{判断差}}が見える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26BF2-2D55-4B05-A710-68918299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906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rPr>
              <a:t>{{引用範囲、加工内容、基準日を明示し、図表だけを独り歩きさせない}}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7ED7E-4164-4F64-AF43-30F6C6D8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1975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00000"/>
            </a:solidFill>
            <a:prstDash val="solid"/>
          </a:ln>
        </p:spPr>
      </p:sp>
      <p:sp>
        <p:nvSpPr>
          <p:cNvPr id="13" name="document-control-badge">
            <a:extLst xmlns:a="http://schemas.openxmlformats.org/drawingml/2006/main">
              <a:ext uri="{FF2B5EF4-FFF2-40B4-BE49-F238E27FC236}">
                <a16:creationId xmlns:a16="http://schemas.microsoft.com/office/drawing/2014/main" id="{357BF4F0-DE11-4281-8087-F67F2AC0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960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資料{{番号}}　{{抜粋・一部加工}}</a:t>
            </a:r>
          </a:p>
          <a:p xmlns:a="http://schemas.openxmlformats.org/drawingml/2006/main">
            <a:pPr algn="ctr">
              <a:def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{{基準日}}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30E12-616F-40B6-B7B6-EC73A9F9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81125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5A928-F26F-4614-A371-8BCB74CB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81125"/>
            <a:ext cx="561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原典A｜{{機関名・資料名}}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50581-689D-4EEC-AC91-B1278D13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676400"/>
            <a:ext cx="561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ADF0E-D3B8-449F-82ED-440A9386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8383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5715">
            <a:solidFill>
              <a:srgbClr val="E7E6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CE9B0-A9A0-4A29-97E4-D34BFD7A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76425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{{原典ページの見出し}}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1AACC-4ACA-4226-B876-D39A6254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38400"/>
            <a:ext cx="1857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B5"/>
          </a:solidFill>
          <a:ln xmlns:a="http://schemas.openxmlformats.org/drawingml/2006/main" w="0">
            <a:solidFill>
              <a:srgbClr val="2474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F27C7-0C66-4DC4-929F-DBCC42E3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19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{{項目1}}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9FB12-F204-4E58-9FBD-283A5F85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62250"/>
            <a:ext cx="2371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B5"/>
          </a:solidFill>
          <a:ln xmlns:a="http://schemas.openxmlformats.org/drawingml/2006/main" w="0">
            <a:solidFill>
              <a:srgbClr val="2474B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12197-6CD3-4F24-997C-2117A302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43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{{項目2}}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687DB-EA24-4112-AABB-82E81E4A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86100"/>
            <a:ext cx="2886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B5"/>
          </a:solidFill>
          <a:ln xmlns:a="http://schemas.openxmlformats.org/drawingml/2006/main" w="0">
            <a:solidFill>
              <a:srgbClr val="2474B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F5E2BE-D167-46E0-AD53-BC439321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67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{{項目3}}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6467A-A758-4EF0-946D-A8C826A9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09950"/>
            <a:ext cx="3400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1E1E58-F857-4EA6-B84A-6DFE4802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90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{{項目4}}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51D754-73B3-4183-AEB7-66E70DBD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solidFill>
              <a:srgbClr val="A6A6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BA9C40-0165-41A5-A686-B9336B04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6227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C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50F0E3-22AA-441B-84BE-AF2629F1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714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8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{{注目箇所A}}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041204-51DC-45A5-8474-64CD83C6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057650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出所：{{機関名「資料名」（公表日）、p.XX、URL}}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2707B-C524-4149-9EF5-20C50AB4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362450"/>
            <a:ext cx="5543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注：{{抜粋範囲／トリミング／強調箇所／翻訳有無}}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93C083-31F0-4EA0-866B-35C58B44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C95"/>
          </a:solidFill>
          <a:ln xmlns:a="http://schemas.openxmlformats.org/drawingml/2006/main" w="0">
            <a:solidFill>
              <a:srgbClr val="009C9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143938-7503-4EFA-8506-ACCBF679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61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原典B｜{{機関名・資料名}}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F194C2-7CBD-42C3-BAB1-316902C8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76400"/>
            <a:ext cx="561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A6A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3F9087-070D-47DB-AA41-4CDAB03B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383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5715">
            <a:solidFill>
              <a:srgbClr val="E7E6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19D87D-D271-45AF-844D-4AB59CAF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76425"/>
            <a:ext cx="508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{{原典ページの見出し}}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D19DCA-C095-4CC8-B804-8701ED7F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1381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5715">
            <a:solidFill>
              <a:srgbClr val="A6A6A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2F7157-304E-4462-813F-4D986699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1304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{{区分A}}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3C0E0C-1176-455F-888B-F5978BC2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09800"/>
            <a:ext cx="1571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6A6A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20A8B0-9D11-4671-B1CE-9029FDC0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286000"/>
            <a:ext cx="1495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{{現状}}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0A0EB7-84E0-4577-95FC-0CEA490E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9800"/>
            <a:ext cx="18573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6A6A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20C56-14BE-481C-B451-C00F857A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{{方向性}}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879E61-2093-4F27-BEF8-B3F3FC0C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09850"/>
            <a:ext cx="1381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5715">
            <a:solidFill>
              <a:srgbClr val="A6A6A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BB532F-58AA-4AAB-8EA0-305E100C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1304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{{区分B}}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E9E7E6-1A03-4BA5-A4CE-958227DA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09850"/>
            <a:ext cx="1571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5715">
            <a:solidFill>
              <a:srgbClr val="A6A6A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FFAC2B-869C-4028-985B-6B73F6D3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6050"/>
            <a:ext cx="1495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{{現状}}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94EA86-2344-4679-AF41-E4D22A28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09850"/>
            <a:ext cx="18573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5715">
            <a:solidFill>
              <a:srgbClr val="A6A6A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96E367-D265-4459-A38F-1601079F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8605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{{方向性}}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6776F8-AC11-4174-8ECA-279F243B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1381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5715">
            <a:solidFill>
              <a:srgbClr val="A6A6A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234F7A-9EDA-4F4F-8F21-5EA84EC7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86100"/>
            <a:ext cx="1304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{{区分C}}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2E44FE-7E88-41D1-B35C-1983D923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09900"/>
            <a:ext cx="1571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6A6A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C15FD3-261A-4B92-AFFB-B7E5F1B5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86100"/>
            <a:ext cx="1495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{{現状}}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69851D-3DC3-4565-A5ED-C343A4C3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9900"/>
            <a:ext cx="18573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6A6A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6FB7AE-0E1A-4A0D-9FCC-9EA21DC5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8610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{{方向性}}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488744-C230-41F2-A124-C6D071F6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13811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5715">
            <a:solidFill>
              <a:srgbClr val="A6A6A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708942-0679-4937-B763-17597911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1304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{{区分D}}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4FCCE2-F942-455F-8D63-7B16BACC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09950"/>
            <a:ext cx="1571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5715">
            <a:solidFill>
              <a:srgbClr val="A6A6A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D58719-3279-4FDD-ADB9-76C51505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86150"/>
            <a:ext cx="1495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{{現状}}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8B5311-1897-4D10-84D5-93B589EE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09950"/>
            <a:ext cx="18573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5715">
            <a:solidFill>
              <a:srgbClr val="A6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0DB8BE-BBE7-435B-A908-93BB0F63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8615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{{方向性}}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85B006-2001-447D-9287-9CF3E876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590800"/>
            <a:ext cx="1809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C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48E619-EE07-49A0-963A-45AA9A6B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2764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8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{{注目箇所B}}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CB672C3-9087-4CD5-8262-062422D0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057650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出所：{{機関名「資料名」（公表日）、p.XX、URL}}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6267BCA-DB85-4A8E-8D3C-F6FC743B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62450"/>
            <a:ext cx="5543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注：{{抜粋範囲／トリミング／強調箇所／翻訳有無}}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70AC89-EEDD-4902-B76C-D1EB6BF2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667250"/>
            <a:ext cx="1152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CEB179-6463-4C6B-845B-21BA46D8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667250"/>
            <a:ext cx="1152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原典から読み取れること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B691F89-5D99-4803-A64E-9ED2481B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04825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0B5AA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4BF215-DF8B-4238-8E37-F816D3C4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12445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0B5AA6"/>
                </a:solidFill>
                <a:latin typeface="BIZ UDPゴシック"/>
                <a:ea typeface="BIZ UDPゴシック"/>
                <a:cs typeface="BIZ UDPゴシック"/>
              </a:rPr>
              <a:t>共通点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F0519F9-3129-43DA-B7DA-5593AB71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05400"/>
            <a:ext cx="2552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{{両資料が共通して示す構造・傾向}}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CFD80FE-4C56-49A2-8948-BE0C77C5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4825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1430">
            <a:solidFill>
              <a:srgbClr val="ED7D3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D2BA662-ACAD-4805-946A-E19F4326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2445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D7D3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ED7D31"/>
                </a:solidFill>
                <a:latin typeface="BIZ UDPゴシック"/>
                <a:ea typeface="BIZ UDPゴシック"/>
                <a:cs typeface="BIZ UDPゴシック"/>
              </a:rPr>
              <a:t>相違点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07A5082-4FBA-4C67-908A-358366BF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105400"/>
            <a:ext cx="2552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{{定義・対象・期間・前提・数値の差}}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ED143F3-0A9A-434F-83A0-26E05B71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1430">
            <a:solidFill>
              <a:srgbClr val="75B84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238D36D-A1C4-4ECF-B2DE-E0A3DEBD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24450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5B843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75B843"/>
                </a:solidFill>
                <a:latin typeface="BIZ UDPゴシック"/>
                <a:ea typeface="BIZ UDPゴシック"/>
                <a:cs typeface="BIZ UDPゴシック"/>
              </a:rPr>
              <a:t>判断への含意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319C664-FAAE-49C6-A114-D1494272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105400"/>
            <a:ext cx="2552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{{自社・案件で採用する解釈と確認事項}}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E1A9F98-B920-48BC-B819-506D7656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48350"/>
            <a:ext cx="1160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F99D3E8-3105-4E65-BA2B-5ED67491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483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1B20B78-C142-4A36-846D-F4A7249A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9597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結論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A10409E-D2C2-4D1E-84A3-D084866B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{{原典の差を踏まえて、今回の資料で採用する定義・数値・方針}}</a:t>
            </a:r>
          </a:p>
        </p:txBody>
      </p:sp>
      <p:sp>
        <p:nvSpPr>
          <p:cNvPr id="8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7D3B81E-E8CE-4916-8408-5FDED08E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注：原典の著作権・利用条件を確認し、引用要件を満たす範囲で使用。</a:t>
            </a:r>
          </a:p>
        </p:txBody>
      </p:sp>
    </p:spTree>
    <p:extLst>
      <p:ext uri="{BB962C8B-B14F-4D97-AF65-F5344CB8AC3E}">
        <p14:creationId xmlns:p14="http://schemas.microsoft.com/office/powerpoint/2010/main" val="13863531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E36B1B5F-59AD-4947-9C6D-95871E6B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2150519A-2611-4175-85FA-05880A81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論点・対応方針・継続審議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C71DB-63E3-4D03-AEE7-E6E6E58D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3A46F-0C8F-49F3-B19E-95F01EFE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{{会議資料}}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9F405516-AC78-4898-9173-CB79E8EC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B6280-0D0B-4E85-AA05-EDCE0CE6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AFDAC-5F51-40A6-A523-87811400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5C65CB62-5771-4AAB-900A-CA557D73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312DF0-ACF6-4814-9B9A-56500B40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B838D-4835-40CA-A5FB-6B6DC166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0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{{案件名}}の論点を、事実・対応・責任・期限まで同じ表で管理する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A7A28-B98E-447C-B21D-5A13BDE2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00000"/>
            </a:solidFill>
            <a:prstDash val="solid"/>
          </a:ln>
        </p:spPr>
      </p:sp>
      <p:sp>
        <p:nvSpPr>
          <p:cNvPr id="12" name="document-control-badge">
            <a:extLst xmlns:a="http://schemas.openxmlformats.org/drawingml/2006/main">
              <a:ext uri="{FF2B5EF4-FFF2-40B4-BE49-F238E27FC236}">
                <a16:creationId xmlns:a16="http://schemas.microsoft.com/office/drawing/2014/main" id="{D5AF9E86-FA66-47BD-A53E-B78E96F3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000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資料{{番号}}　{{会議前案}}</a:t>
            </a:r>
          </a:p>
          <a:p xmlns:a="http://schemas.openxmlformats.org/drawingml/2006/main">
            <a:pPr algn="ctr">
              <a:def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0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{{会議日}}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72A1F-F989-49D6-A82B-0A30FC5A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23950"/>
            <a:ext cx="11525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55712-294D-472A-B738-AF44F5B2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対象範囲｜{{対象組織・業務・期間}}　　基準日｜{{YYYY.MM.DD}}　　前提｜{{確定事項}}　　対象外｜{{除外事項}}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333375" y="1695450"/>
          <a:ext xmlns:a="http://schemas.openxmlformats.org/drawingml/2006/main" cx="115252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1571625"/>
                <a:gridCol w="2333625"/>
                <a:gridCol w="3857625"/>
                <a:gridCol w="1000125"/>
                <a:gridCol w="904875"/>
                <a:gridCol w="1381125"/>
              </a:tblGrid>
              <a:tr h="508000">
                <a:tc>
                  <a:txBody>
                    <a:bodyPr anchor="ctr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No.</a:t>
                      </a:r>
                    </a:p>
                  </a:txBody>
                  <a:tcPr marL="91440" marR="91440" marT="45720" marB="45720">
                    <a:solidFill>
                      <a:srgbClr val="0B5AA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論点</a:t>
                      </a:r>
                    </a:p>
                  </a:txBody>
                  <a:tcPr marL="91440" marR="91440" marT="45720" marB="45720">
                    <a:solidFill>
                      <a:srgbClr val="0B5AA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確認済みの事実</a:t>
                      </a:r>
                    </a:p>
                  </a:txBody>
                  <a:tcPr marL="91440" marR="91440" marT="45720" marB="45720">
                    <a:solidFill>
                      <a:srgbClr val="0B5AA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対応方針・判断条件</a:t>
                      </a:r>
                    </a:p>
                  </a:txBody>
                  <a:tcPr marL="91440" marR="91440" marT="45720" marB="45720">
                    <a:solidFill>
                      <a:srgbClr val="0B5AA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0B5AA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期限</a:t>
                      </a:r>
                    </a:p>
                  </a:txBody>
                  <a:tcPr marL="91440" marR="91440" marT="45720" marB="45720">
                    <a:solidFill>
                      <a:srgbClr val="0B5AA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ステータス</a:t>
                      </a:r>
                    </a:p>
                  </a:txBody>
                  <a:tcPr marL="91440" marR="91440" marT="45720" marB="45720">
                    <a:solidFill>
                      <a:srgbClr val="0B5AA6"/>
                    </a:solidFill>
                  </a:tcPr>
                </a:tc>
              </a:tr>
              <a:tr h="508000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DEB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{{論点1}}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{{事実・根拠・出所}}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25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{{対応案・採否条件}}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{{担当}}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{{期限}}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本日決定</a:t>
                      </a:r>
                    </a:p>
                  </a:txBody>
                  <a:tcPr marL="91440" marR="91440" marT="45720" marB="45720">
                    <a:solidFill>
                      <a:srgbClr val="0B5AA6"/>
                    </a:solidFill>
                  </a:tcPr>
                </a:tc>
              </a:tr>
              <a:tr h="508000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DDEB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{{論点2}}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{{事実／未確認事項}}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25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{{確認方法・代替案}}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{{担当}}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{{期限}}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要確認</a:t>
                      </a:r>
                    </a:p>
                  </a:txBody>
                  <a:tcPr marL="91440" marR="91440" marT="45720" marB="45720">
                    <a:solidFill>
                      <a:srgbClr val="C00000"/>
                    </a:solidFill>
                  </a:tcPr>
                </a:tc>
              </a:tr>
              <a:tr h="508000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DDEB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{{論点3}}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{{選択肢・制約}}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25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{{追加検討・判断者}}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{{担当}}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{{期限}}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継続審議</a:t>
                      </a:r>
                    </a:p>
                  </a:txBody>
                  <a:tcPr marL="91440" marR="91440" marT="45720" marB="45720">
                    <a:solidFill>
                      <a:srgbClr val="ED7D31"/>
                    </a:solidFill>
                  </a:tcPr>
                </a:tc>
              </a:tr>
              <a:tr h="508000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DDEB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{{論点4}}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{{対応状況・証跡}}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25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{{実行内容・完了条件}}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{{担当}}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{{期限}}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対応中</a:t>
                      </a:r>
                    </a:p>
                  </a:txBody>
                  <a:tcPr marL="91440" marR="91440" marT="45720" marB="45720">
                    <a:solidFill>
                      <a:srgbClr val="FFD966"/>
                    </a:solidFill>
                  </a:tcPr>
                </a:tc>
              </a:tr>
              <a:tr h="508000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DDEB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{{論点5}}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{{完了事実・証跡}}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25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{{残課題・監視項目}}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{{担当}}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{{期限}}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完了</a:t>
                      </a:r>
                    </a:p>
                  </a:txBody>
                  <a:tcPr marL="91440" marR="91440" marT="45720" marB="45720">
                    <a:solidFill>
                      <a:srgbClr val="75B843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62AB7-896C-40D6-A459-C881D2C6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914900"/>
            <a:ext cx="552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2383">
            <a:solidFill>
              <a:srgbClr val="2474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63B7C-A725-4B2B-A67F-A15A8672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【本日決定】</a:t>
            </a:r>
          </a:p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{{決定する論点・採用案・承認者・発効条件}}</a:t>
            </a:r>
          </a:p>
          <a:p xmlns:a="http://schemas.openxmlformats.org/drawingml/2006/main">
            <a:pPr algn="l">
              <a:def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証跡：{{議事録／承認記録／更新資料}}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A196B-477D-45F3-9352-8A1A9D80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1490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2383">
            <a:solidFill>
              <a:srgbClr val="C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E96FE-5E71-47C5-A82A-48BDA332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【継続審議・要確認】</a:t>
            </a:r>
          </a:p>
          <a:p xmlns:a="http://schemas.openxmlformats.org/drawingml/2006/main">
            <a:pPr algn="l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{{未確定事項・確認先・担当・期限}}</a:t>
            </a:r>
          </a:p>
          <a:p xmlns:a="http://schemas.openxmlformats.org/drawingml/2006/main">
            <a:pPr algn="l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次回提示物：{{比較表／見積／法務確認／検証結果}}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B0C23-01CE-49A1-9DBD-F6E780FC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48350"/>
            <a:ext cx="1160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CBC0A-4306-4D63-A360-D605516E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483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817EB-1449-431E-928D-965FCE02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9597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次回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86ABB-E46C-4CC5-835B-0B9B619F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{{次回会議日}}までに、{{担当}}が{{必要証跡}}を更新し、{{判断者}}へ再提示する</a:t>
            </a:r>
          </a:p>
        </p:txBody>
      </p:sp>
      <p:sp>
        <p:nvSpPr>
          <p:cNvPr id="2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904EB2D-ACAF-4377-8078-0F34CCD8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出所：{{議事録／調査資料／契約・制度文書}}　注：提案と確定事項を混在させない。</a:t>
            </a:r>
          </a:p>
        </p:txBody>
      </p:sp>
    </p:spTree>
    <p:extLst>
      <p:ext uri="{BB962C8B-B14F-4D97-AF65-F5344CB8AC3E}">
        <p14:creationId xmlns:p14="http://schemas.microsoft.com/office/powerpoint/2010/main" val="11310591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top-rail">
            <a:extLst xmlns:a="http://schemas.openxmlformats.org/drawingml/2006/main">
              <a:ext uri="{FF2B5EF4-FFF2-40B4-BE49-F238E27FC236}">
                <a16:creationId xmlns:a16="http://schemas.microsoft.com/office/drawing/2014/main" id="{55BCE9CB-70B1-489E-9FC0-BCA72F3D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2" name="top-rail-title">
            <a:extLst xmlns:a="http://schemas.openxmlformats.org/drawingml/2006/main">
              <a:ext uri="{FF2B5EF4-FFF2-40B4-BE49-F238E27FC236}">
                <a16:creationId xmlns:a16="http://schemas.microsoft.com/office/drawing/2014/main" id="{88595AAF-4C6F-43AA-9052-312D8817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8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1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外部データの読み解き・判断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002AF-4C6F-45B5-AD7F-A6915DD0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E0"/>
          </a:solidFill>
          <a:ln xmlns:a="http://schemas.openxmlformats.org/drawingml/2006/main" w="0">
            <a:solidFill>
              <a:srgbClr val="00A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6E453-CBF6-41A4-9040-E7220D33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{{定量根拠}}</a:t>
            </a:r>
          </a:p>
        </p:txBody>
      </p:sp>
      <p:sp>
        <p:nvSpPr>
          <p:cNvPr id="5" name="footer-rail">
            <a:extLst xmlns:a="http://schemas.openxmlformats.org/drawingml/2006/main">
              <a:ext uri="{FF2B5EF4-FFF2-40B4-BE49-F238E27FC236}">
                <a16:creationId xmlns:a16="http://schemas.microsoft.com/office/drawing/2014/main" id="{35586C05-692F-4AAE-AB16-8FC73156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3675"/>
            <a:ext cx="5905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3388F-B59F-4673-9F59-59AB79B2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43675"/>
            <a:ext cx="762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1129F-8A8A-40FC-98E0-8B2B2705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43675"/>
            <a:ext cx="28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footer-organization">
            <a:extLst xmlns:a="http://schemas.openxmlformats.org/drawingml/2006/main">
              <a:ext uri="{FF2B5EF4-FFF2-40B4-BE49-F238E27FC236}">
                <a16:creationId xmlns:a16="http://schemas.microsoft.com/office/drawing/2014/main" id="{BFB45F39-6D62-4B5B-9DAD-EA7B333F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81775"/>
            <a:ext cx="461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© {{会社名／部門名}}　{{資料区分}}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EBB5F0-9DF6-483B-A478-DC4C72F6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5722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3BDBE-75BC-4EAD-98AE-4F5AD233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19125"/>
            <a:ext cx="8048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20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{{指標}}の伸びは、{{基準時点}}を境に{{供給・投資判断}}を変える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9D002-8AEF-4A29-B34E-18BA0B1E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96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0" rIns="7620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1" i="0">
                <a:solidFill>
                  <a:srgbClr val="2474B5"/>
                </a:solidFill>
                <a:latin typeface="BIZ UDPゴシック"/>
                <a:ea typeface="BIZ UDPゴシック"/>
                <a:cs typeface="BIZ UDPゴシック"/>
              </a:rPr>
              <a:t>{{実績・予測・供給上限を分け、変化・要因・判断の順で読む}}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D609B-0AFA-4731-9C7D-066DDEB6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09600"/>
            <a:ext cx="33623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12383">
            <a:solidFill>
              <a:srgbClr val="75B8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51452-F1AE-4F99-AE1F-5149EC9C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09600"/>
            <a:ext cx="723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B843"/>
          </a:solidFill>
          <a:ln xmlns:a="http://schemas.openxmlformats.org/drawingml/2006/main" w="0">
            <a:solidFill>
              <a:srgbClr val="75B8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FBE62-160A-4BF1-BCB6-58E3417E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81050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結論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8458C-85A8-4CE2-B217-14D10627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95325"/>
            <a:ext cx="2400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{{将来時点}}には{{現在比}}となり、</a:t>
            </a:r>
          </a:p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{{先行判断}}が必要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2BAE2-0B38-408A-93C8-01AE5182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81125"/>
            <a:ext cx="7839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E38D7-AA3A-407B-92E6-F9C9842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81125"/>
            <a:ext cx="7839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根拠データ｜{{指標名・単位・実績／予測}}</a:t>
            </a:r>
          </a:p>
        </p:txBody>
      </p:sp>
      <p:graphicFrame>
        <p:nvGraphicFramePr>
          <p:cNvPr id="117" name="Chart"/>
          <p:cNvGraphicFramePr/>
          <p:nvPr/>
        </p:nvGraphicFramePr>
        <p:xfrm>
          <a:off xmlns:a="http://schemas.openxmlformats.org/drawingml/2006/main" x="428625" y="1733550"/>
          <a:ext xmlns:a="http://schemas.openxmlformats.org/drawingml/2006/main" cx="7667625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24e8ebf4e4471f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A0802-D2E6-4932-A208-B4A03040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762125"/>
            <a:ext cx="40290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6A6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63F46-4A20-4065-BDAA-5D97069A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833563"/>
            <a:ext cx="19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solidFill>
              <a:srgbClr val="092B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5D298-3751-49F7-86DE-E1DF6D7B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0225"/>
            <a:ext cx="9620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{{基幹需要}}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C58C60-730E-4946-9E70-D2AC529D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33563"/>
            <a:ext cx="19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B5"/>
          </a:solidFill>
          <a:ln xmlns:a="http://schemas.openxmlformats.org/drawingml/2006/main" w="0">
            <a:solidFill>
              <a:srgbClr val="2474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47956-93D2-442F-9CE6-4492E648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800225"/>
            <a:ext cx="9620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{{利用需要}}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CDDC5-497E-4EA9-B08E-B959274D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33563"/>
            <a:ext cx="19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0">
            <a:solidFill>
              <a:srgbClr val="DDEB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CF129-738E-4EB6-B333-A82C0683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00225"/>
            <a:ext cx="9620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{{新規需要}}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836E67-3A13-4B51-8ECA-CBA3E88A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CA5F4E-4564-4070-950E-5B81A80E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148BC1-2193-4DCF-9480-7912F349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E4EC9B-C3F8-4329-AEAD-ABF4882C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955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59B813-EA0A-4EC0-9644-A942B376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098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276300-4BF3-4B99-B5C6-9CFD2FC5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528633-5029-44B9-9200-2A5D2DBB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1A536-A38A-4775-9149-4D3A4348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F6DC3F-2469-4935-B1F0-881276F6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70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048BB8-9ACC-4FEF-A528-E64B1512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813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F439EC-D001-4C7B-BBE6-06C06FB1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7B7129-45B7-43D8-A4E1-DEF17A0D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099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ABF193-A8DE-433E-B502-A895D0C6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1D8D77-C127-423D-9857-F7898C71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5CD9AF-8B85-4C82-8AB0-93D4C286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6700AB-7C9A-4E88-99D7-022EDB33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671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EC5A70-551D-4159-8B2C-7A20307E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814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218C72-17A4-4066-90F9-022FD611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957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D95E05-003E-4EAE-A05F-64113299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100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7BA15A-BE36-4B81-AB85-A592B5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9CECC0-1B1A-4D53-A2EF-72413EE1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386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4611F4-4868-478A-A417-D4CA53F3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529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0622F2-F081-4405-A8D4-49548877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591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27CFDF-9338-4C83-8275-E388F6CE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8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{{予測開始／転換点}}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9C8A8A-0DFC-44FF-AB81-75F65898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29125"/>
            <a:ext cx="1571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750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{{供給上限・判断基準}}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B624A2-45FF-4ED0-9F26-843724EB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9431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FA79AA-4E08-4815-87A7-6A3FE8D2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574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72F750-BFE1-483B-8028-F8A204D3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1717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B43469-EE57-4E88-A9C7-73121175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2860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47B378-9CC5-4892-895C-62F8AA1D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4003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1C489F-1B3F-4B16-842C-A0BDF68C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146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61E8C6-F0F8-4D9E-A03F-1CA2FE18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6289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0F378A-E939-41E7-BA98-0EE7FCF9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7432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A86D18-B8EA-48E2-9690-C0B640C5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575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C7DCC3-0DE6-4C18-9A0E-4996CD20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9718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37FBE9-C088-4D6D-A58E-73300F6B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0861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944E619-CDC1-4175-8F24-D75163E4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2004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A1C072-4E39-433F-B797-96D9330B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3147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1C1035-6009-4900-A2F6-6EE1CEED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4290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0B85B6-EA10-4E22-994F-2EEDA6FF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5433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E31B93A-8D1D-4ED6-8FC5-604B95E8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6576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17A9646-7DC7-4ED8-8E6F-F19966A0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7719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40D52D-6B45-4B52-9283-CFB8E6EE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862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F84474-167D-4602-865F-5188E965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0005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E19F04E-46E2-478F-B9D3-E4F33C10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1148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F1C21AB-6B13-4CFD-B7B8-70CC77F1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2291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B93466B-111B-4BA8-BF9F-E03792A0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3434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35ADA20-691D-4081-A15E-88C3AE53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4577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FA73A9E-BD71-47EC-8B0C-65251D0C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57200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67FA61C-21A8-4F25-9CEB-A3D81C80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95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3141148-D7DD-4FFF-891E-532006CE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91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56657E2-DEE8-4338-8CFA-036C2611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335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82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{{将来時点／目標値}}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BDBFA42-0EA0-49B3-8613-E7B6D784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81125"/>
            <a:ext cx="3505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C95"/>
          </a:solidFill>
          <a:ln xmlns:a="http://schemas.openxmlformats.org/drawingml/2006/main" w="0">
            <a:solidFill>
              <a:srgbClr val="009C9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13003BF-B19C-4FB1-AB6C-3F2A92E8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81125"/>
            <a:ext cx="350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12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読み解き｜事実から判断まで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8899D20-F288-4A84-82DC-45A84AE2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1650"/>
            <a:ext cx="35052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0478">
            <a:solidFill>
              <a:srgbClr val="0B5AA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F06F99-A47C-4DA5-B084-C8043CE7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1650"/>
            <a:ext cx="7810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D792076-6B39-4505-88E7-93CD1359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78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変化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FE48DA0-FD80-45AC-AB14-5365A409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14525"/>
            <a:ext cx="2438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{{伸び率・転換時点・実績と予測の差}}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469837F-7820-4E63-BF4F-7825DB71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52725"/>
            <a:ext cx="35052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0478">
            <a:solidFill>
              <a:srgbClr val="009C9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7A8B366-02A3-4DF0-A9A4-6886D2CF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52725"/>
            <a:ext cx="7810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C95"/>
          </a:solidFill>
          <a:ln xmlns:a="http://schemas.openxmlformats.org/drawingml/2006/main" w="0">
            <a:solidFill>
              <a:srgbClr val="009C9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1BB68D8-A016-4EBA-BEB4-F65ED566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78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要因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BE0837F-636B-46B8-8173-55859BDF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95600"/>
            <a:ext cx="2438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050" b="0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{{需要構造・制度・技術・供給制約}}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E2B108D-A429-4233-8E40-60C49D36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3505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10478">
            <a:solidFill>
              <a:srgbClr val="C0000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B085F0A-E354-4867-B472-5C5A4280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781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A843AD4-2B42-4392-8DEB-42DCB0FA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71925"/>
            <a:ext cx="78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判断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62DB27D-D596-41A3-B5F3-66A96713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7667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{{今決める投資・体制・確認事項}}</a:t>
            </a:r>
          </a:p>
          <a:p xmlns:a="http://schemas.openxmlformats.org/drawingml/2006/main">
            <a:pPr algn="l">
              <a:def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9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期限｜{{判断期限}}　担当｜{{責任者}}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642A53B-F462-4D83-A278-1A4B1A75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086350"/>
            <a:ext cx="771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出所：{{機関名「資料名」（公表日）、p.XX、URL}}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DA7725E-6576-44FB-B667-866826B2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286375"/>
            <a:ext cx="771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1" i="0">
                <a:solidFill>
                  <a:srgbClr val="C00000"/>
                </a:solidFill>
                <a:latin typeface="BIZ UDPゴシック"/>
                <a:ea typeface="BIZ UDPゴシック"/>
                <a:cs typeface="BIZ UDPゴシック"/>
              </a:rPr>
              <a:t>加工注記：{{抜粋／翻訳／強調／注釈追記}}。数値・マーカー位置は原典と照合する。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ED56741-5BCC-4D84-9825-0B90C3CF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67300"/>
            <a:ext cx="350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確認事項｜{{原典の定義・対象・予測条件・母数・実績／予測の境界}}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FF44676-7633-42FD-8EF9-87BB3209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95950"/>
            <a:ext cx="1160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 w="11430">
            <a:solidFill>
              <a:srgbClr val="2474B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61A9752-329E-4417-90F0-4882DE10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959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A6"/>
          </a:solidFill>
          <a:ln xmlns:a="http://schemas.openxmlformats.org/drawingml/2006/main" w="0">
            <a:solidFill>
              <a:srgbClr val="0B5AA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D90C6AB-2AE1-411F-AA24-9D47F2F0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4357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示唆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814E53F-00CB-4B1C-8CEF-9A4C80BF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53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1275" b="1" i="0">
                <a:solidFill>
                  <a:srgbClr val="111111"/>
                </a:solidFill>
                <a:latin typeface="BIZ UDPゴシック"/>
                <a:ea typeface="BIZ UDPゴシック"/>
                <a:cs typeface="BIZ UDPゴシック"/>
              </a:rPr>
              <a:t>{{このデータを踏まえ、誰が・いつまでに・何を判断するか}}</a:t>
            </a:r>
          </a:p>
        </p:txBody>
      </p:sp>
      <p:sp>
        <p:nvSpPr>
          <p:cNvPr id="9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D04B89C-919D-4732-BDB7-2E782680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05550"/>
            <a:ext cx="11001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sz="675" b="0" i="0">
                <a:solidFill>
                  <a:srgbClr val="666666"/>
                </a:solidFill>
                <a:latin typeface="BIZ UDPゴシック"/>
                <a:ea typeface="BIZ UDPゴシック"/>
                <a:cs typeface="BIZ UDPゴシック"/>
              </a:rPr>
              <a:t>テンプレート値は例示。原典の表現・数値・図版を無断で複製せず、引用時は出所と加工内容を明示。</a:t>
            </a:r>
          </a:p>
        </p:txBody>
      </p:sp>
    </p:spTree>
    <p:extLst>
      <p:ext uri="{BB962C8B-B14F-4D97-AF65-F5344CB8AC3E}">
        <p14:creationId xmlns:p14="http://schemas.microsoft.com/office/powerpoint/2010/main" val="1265868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2026-07-23T10:21:40.3760000Z</dcterms:created>
  <dcterms:modified xsi:type="dcterms:W3CDTF">2026-07-23T10:21:40.3760000Z</dcterms:modified>
</coreProperties>
</file>