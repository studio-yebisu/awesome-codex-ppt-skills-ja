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129844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フォント構成と</a:t>
            </a:r>
            <a:br/>
            <a:r>
              <a:rPr>
                <a:ea typeface="BIZ UDPGothic"/>
              </a:rPr>
              <a:t>制作手順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9464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30字体・45ファイル・15プリセットを収録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94176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日本語17字体 ／ 欧文13字体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06824"/>
            <a:ext cx="10058400" cy="310896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2026-10-15更新の実カタログ / Studio Yebisu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言語ごとの字体数を5分類で比べる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1097280"/>
            <a:ext cx="45720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言語ごとの字体数を5分類で比べる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0" y="1143000"/>
            <a:ext cx="182880" cy="1828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7" name="Rectangle 6"/>
          <p:cNvSpPr/>
          <p:nvPr/>
        </p:nvSpPr>
        <p:spPr>
          <a:xfrm>
            <a:off x="9692640" y="1143000"/>
            <a:ext cx="182880" cy="18288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66960" y="1097280"/>
            <a:ext cx="10972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25780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0248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473964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94716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0" y="408432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9184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42900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3652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0" y="277368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198120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211836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1325880"/>
            <a:ext cx="64008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63040" y="1463040"/>
            <a:ext cx="905256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463040" y="5394960"/>
            <a:ext cx="905256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25396" y="1463040"/>
            <a:ext cx="320040" cy="39319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91156" y="1463040"/>
            <a:ext cx="320040" cy="39319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63040" y="5440680"/>
            <a:ext cx="1810512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35908" y="2118360"/>
            <a:ext cx="320040" cy="32766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01668" y="3429000"/>
            <a:ext cx="320040" cy="1965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73552" y="5440680"/>
            <a:ext cx="1810512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46420" y="2773680"/>
            <a:ext cx="320040" cy="262128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84064" y="5440680"/>
            <a:ext cx="1810512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56932" y="4084320"/>
            <a:ext cx="320040" cy="131064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822692" y="4739640"/>
            <a:ext cx="320040" cy="65532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94576" y="5440680"/>
            <a:ext cx="1810512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33204" y="3429000"/>
            <a:ext cx="320040" cy="1965960"/>
          </a:xfrm>
          <a:prstGeom prst="rect">
            <a:avLst/>
          </a:prstGeom>
          <a:solidFill>
            <a:srgbClr val="006B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05088" y="5440680"/>
            <a:ext cx="1810512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5760720"/>
            <a:ext cx="10728655" cy="64008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05840" y="5760720"/>
            <a:ext cx="1371600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集計結果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60320" y="5760720"/>
            <a:ext cx="8625535" cy="64008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日本語17字体・欧文13字体＝計30字体。元5分類をそのまま比較。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 の category・language を集計。縦軸は字体数。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言語別に見ると、装飾は日本語のみ、等幅は欧文のみ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8288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1280160"/>
            <a:ext cx="1005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日本語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280160"/>
            <a:ext cx="1005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欧文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280160"/>
            <a:ext cx="100584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1280160"/>
            <a:ext cx="5882335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代表書体（言語別・先頭）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78308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ゴシック系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7830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78308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Kaku Gothic New</a:t>
            </a:r>
            <a:br/>
            <a:r>
              <a:rPr>
                <a:ea typeface="BIZ UDPGothic"/>
              </a:rPr>
              <a:t>欧文：Manrope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407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40792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明朝・セリフ系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240792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40792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0792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40792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日本語：Shippori Mincho</a:t>
            </a:r>
            <a:br/>
            <a:r>
              <a:rPr>
                <a:ea typeface="BIZ UDPGothic"/>
              </a:rPr>
              <a:t>欧文：Source Serif 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032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03276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装飾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03276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03276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03276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303276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日本語：Dela Gothic One</a:t>
            </a:r>
            <a:br/>
            <a:r>
              <a:rPr>
                <a:ea typeface="BIZ UDPGothic"/>
              </a:rPr>
              <a:t>欧文：該当なし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" y="36576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丸ゴシック系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365760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65760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65760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77840" y="365760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日本語：Zen Maru Gothic</a:t>
            </a:r>
            <a:br/>
            <a:r>
              <a:rPr>
                <a:ea typeface="BIZ UDPGothic"/>
              </a:rPr>
              <a:t>欧文：Nunito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4282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28244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等幅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60320" y="428244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28244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28244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77840" y="428244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日本語：該当なし</a:t>
            </a:r>
            <a:br/>
            <a:r>
              <a:rPr>
                <a:ea typeface="BIZ UDPGothic"/>
              </a:rPr>
              <a:t>欧文：JetBrains Mono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4907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07280"/>
            <a:ext cx="182880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合計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60320" y="49072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66160" y="49072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13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907280"/>
            <a:ext cx="1005840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30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77840" y="4907280"/>
            <a:ext cx="5882335" cy="62484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—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5532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プリセット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収録プリセット15件は、いずれも見出し・本文を日本語書体、英数字を欧文書体で指定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出典：input/oss-font-kit.json（2026-10-15更新）の language・category・family を集計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BIZ UDPGothic"/>
              </a:defRPr>
            </a:pPr>
            <a:r>
              <a:rPr>
                <a:ea typeface="BIZ UDPGothic"/>
              </a:rPr>
              <a:t>制作は五段階で進め、原稿と描画を原典の検査で確かめる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要件整理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brief.md</a:t>
            </a:r>
            <a:br/>
            <a:r>
              <a:rPr>
                <a:ea typeface="BIZ UDPGothic"/>
              </a:rPr>
              <a:t>読者・目的・元資料をまとめる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39507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41259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941259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32699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9899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構成決定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2699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outline.json</a:t>
            </a:r>
            <a:br/>
            <a:r>
              <a:rPr>
                <a:ea typeface="BIZ UDPGothic"/>
              </a:rPr>
              <a:t>頁の主張と版式・項目数を決める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9246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50998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50998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42438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99638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原稿検査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2438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content.json</a:t>
            </a:r>
            <a:br/>
            <a:r>
              <a:rPr>
                <a:ea typeface="BIZ UDPGothic"/>
              </a:rPr>
              <a:t>文言・集計値・出典を記し、原典S3で検査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8985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60737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60737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452177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09377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描画検査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177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deck.pptxと検査JSON</a:t>
            </a:r>
            <a:br/>
            <a:r>
              <a:rPr>
                <a:ea typeface="BIZ UDPGothic"/>
              </a:rPr>
              <a:t>原典S4の合否と実描画を確認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8724" y="3223260"/>
            <a:ext cx="27432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CCCCCC"/>
                </a:solidFill>
                <a:latin typeface="BIZ UDPGothic"/>
              </a:defRPr>
            </a:pPr>
            <a:r>
              <a:rPr>
                <a:ea typeface="BIZ UDPGothic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70476" y="1280160"/>
            <a:ext cx="1889699" cy="4251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570476" y="1280160"/>
            <a:ext cx="1889699" cy="54864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61916" y="1463040"/>
            <a:ext cx="365760" cy="36576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9116" y="1463040"/>
            <a:ext cx="1249619" cy="3657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交付準備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61916" y="2011680"/>
            <a:ext cx="1706819" cy="3429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ctr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成果物と固定経験</a:t>
            </a:r>
            <a:br/>
            <a:r>
              <a:rPr>
                <a:ea typeface="BIZ UDPGothic"/>
              </a:rPr>
              <a:t>今回の修復判断を記録として再生する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669280"/>
            <a:ext cx="10728655" cy="59436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" y="5669280"/>
            <a:ext cx="1645920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BIZ UDPGothic"/>
              </a:defRPr>
            </a:pPr>
            <a:r>
              <a:rPr>
                <a:ea typeface="BIZ UDPGothic"/>
              </a:rPr>
              <a:t>再生範囲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0" y="5669280"/>
            <a:ext cx="8442655" cy="59436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BIZ UDPGothic"/>
              </a:defRPr>
            </a:pPr>
            <a:r>
              <a:rPr>
                <a:ea typeface="BIZ UDPGothic"/>
              </a:rPr>
              <a:t>S3/S4は今回の実行結果。S5は固定した修復記録の再生で、新規の自動判定ではない。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6446520"/>
            <a:ext cx="10058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出典：同梱の専用生成器。S1〜S5の保存ファイルを示す。所要時間は未計測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BIZ UDPGothic"/>
              </a:defRPr>
            </a:pPr>
            <a:r>
              <a:rPr>
                <a:ea typeface="BIZ UDPGothic"/>
              </a:rPr>
              <a:t>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