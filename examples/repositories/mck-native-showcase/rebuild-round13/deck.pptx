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12984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フォント構成と</a:t>
            </a:r>
            <a:br/>
            <a:r>
              <a:rPr>
                <a:ea typeface="BIZ UDPGothic"/>
              </a:rPr>
              <a:t>制作手順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9464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30字体・45ファイル・15プリセットを収録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417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日本語17字体 ／ 欧文13字体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06824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2026-10-15更新の実カタログ / Studio Yebisu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30字体を用途の近い書体群へまとめて比べる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11999"/>
              <a:gd name="adj2" fmla="val 5400000"/>
              <a:gd name="adj3" fmla="val 5200"/>
            </a:avLst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8360000"/>
              <a:gd name="adj2" fmla="val 5400000"/>
              <a:gd name="adj3" fmla="val 52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2600000"/>
              <a:gd name="adj2" fmla="val 18360000"/>
              <a:gd name="adj3" fmla="val 5200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0440000"/>
              <a:gd name="adj2" fmla="val 12600000"/>
              <a:gd name="adj3" fmla="val 5200"/>
            </a:avLst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00000"/>
              <a:gd name="adj2" fmla="val 10440000"/>
              <a:gd name="adj3" fmla="val 5200"/>
            </a:avLst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01752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383280"/>
            <a:ext cx="1645920" cy="2377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収録字体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28216"/>
            <a:ext cx="256032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691640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 12字体  40.0%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41448"/>
            <a:ext cx="256032" cy="25603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404872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 8字体  26.7%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154680"/>
            <a:ext cx="256032" cy="256032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118104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 3字体  10.0%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831336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装飾＋等幅 7字体  23.3%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864608"/>
            <a:ext cx="443484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4864608"/>
            <a:ext cx="4069080" cy="694944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装飾4＋等幅3＝7字体</a:t>
            </a:r>
            <a:br/>
            <a:r>
              <a:rPr>
                <a:ea typeface="BIZ UDPGothic"/>
              </a:rPr>
              <a:t>元の5分類・2言語は次頁で照合。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 のcategoryを集計。装飾と等幅は合算、細目は次頁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言語別に見ると、装飾は日本語のみ、等幅は欧文のみ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280160"/>
            <a:ext cx="1005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280160"/>
            <a:ext cx="1005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欧文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1005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280160"/>
            <a:ext cx="588233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代表書体（言語別・先頭）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830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78308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日本語：Zen Kaku Gothic New</a:t>
            </a:r>
            <a:br/>
            <a:r>
              <a:rPr>
                <a:ea typeface="BIZ UDPGothic"/>
              </a:rPr>
              <a:t>欧文：Manrope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07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0792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40792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0792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0792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40792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日本語：Shippori Mincho</a:t>
            </a:r>
            <a:br/>
            <a:r>
              <a:rPr>
                <a:ea typeface="BIZ UDPGothic"/>
              </a:rPr>
              <a:t>欧文：Source Serif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32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3276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03276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03276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3276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03276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日本語：Dela Gothic One</a:t>
            </a:r>
            <a:br/>
            <a:r>
              <a:rPr>
                <a:ea typeface="BIZ UDPGothic"/>
              </a:rPr>
              <a:t>欧文：該当なし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65760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5760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65760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65760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日本語：Zen Maru Gothic</a:t>
            </a:r>
            <a:br/>
            <a:r>
              <a:rPr>
                <a:ea typeface="BIZ UDPGothic"/>
              </a:rPr>
              <a:t>欧文：Nunito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82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8244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28244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28244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8244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28244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日本語：該当なし</a:t>
            </a:r>
            <a:br/>
            <a:r>
              <a:rPr>
                <a:ea typeface="BIZ UDPGothic"/>
              </a:rPr>
              <a:t>欧文：JetBrains Mono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07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0728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合計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9072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9072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9072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90728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32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プリセット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収録プリセット15件は、いずれも見出し・本文を日本語書体、英数字を欧文書体で指定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出典：input/oss-font-kit.json（2026-10-15更新）の language・category・family を集計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制作は五段階で進め、原稿と描画を原典の検査で確かめる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要件をそろえる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brief.md｜読者・目的・元資料をまとめる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39213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76272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30552"/>
            <a:ext cx="2743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構成を決める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30552"/>
            <a:ext cx="7315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outline.json｜頁の主張と版式・項目数を決める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89605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26664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80944"/>
            <a:ext cx="2743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原稿を検査する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80944"/>
            <a:ext cx="7315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content.json｜文言・集計値・出典を記し、原典S3で検査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39997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877056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31336"/>
            <a:ext cx="2743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描画を検査する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831336"/>
            <a:ext cx="7315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deck.pptxと検査JSON｜原典S4の合否と実描画を確認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9038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727448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81728"/>
            <a:ext cx="2743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交付を準備する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681728"/>
            <a:ext cx="7315200" cy="467715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成果物と固定経験｜今回の修復判断を記録として再生する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40781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再生範囲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S3/S4は今回の実行結果。S5は固定した修復記録の再生で、新規の自動判定ではない。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出典：同梱の専用生成器。S1〜S5の保存ファイルを示す。所要時間は未計測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