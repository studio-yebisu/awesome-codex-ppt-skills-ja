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フォント構成と制作手順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OSSフォントキット30字体の内訳と、資料を作る順序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27248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Studio Yebisu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989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2026-10-15更新のフォントデータ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30字体のうちゴシック系が12字体で最も多い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lock Arc 3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11999"/>
              <a:gd name="adj2" fmla="val 5400000"/>
              <a:gd name="adj3" fmla="val 5200"/>
            </a:avLst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 Arc 4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8360000"/>
              <a:gd name="adj2" fmla="val 5400000"/>
              <a:gd name="adj3" fmla="val 52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12600000"/>
              <a:gd name="adj2" fmla="val 18360000"/>
              <a:gd name="adj3" fmla="val 5200"/>
            </a:avLst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9720000"/>
              <a:gd name="adj2" fmla="val 12600000"/>
              <a:gd name="adj3" fmla="val 5200"/>
            </a:avLst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7560000"/>
              <a:gd name="adj2" fmla="val 9720000"/>
              <a:gd name="adj3" fmla="val 5200"/>
            </a:avLst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Block Arc 8"/>
          <p:cNvSpPr/>
          <p:nvPr/>
        </p:nvSpPr>
        <p:spPr>
          <a:xfrm>
            <a:off x="2075688" y="1828800"/>
            <a:ext cx="2889504" cy="2889504"/>
          </a:xfrm>
          <a:prstGeom prst="blockArc">
            <a:avLst>
              <a:gd name="adj1" fmla="val 5400000"/>
              <a:gd name="adj2" fmla="val 7560000"/>
              <a:gd name="adj3" fmla="val 52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3017520"/>
            <a:ext cx="1371600" cy="4114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383280"/>
            <a:ext cx="1645920" cy="237744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収録字体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728216"/>
            <a:ext cx="256032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67728" y="1691640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 12字体  40.0%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441448"/>
            <a:ext cx="256032" cy="256032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404872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 8字体  26.7%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154680"/>
            <a:ext cx="256032" cy="256032"/>
          </a:xfrm>
          <a:prstGeom prst="rect">
            <a:avLst/>
          </a:prstGeom>
          <a:solidFill>
            <a:srgbClr val="007A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67728" y="3118104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見出し・手書き調 4字体  13.3%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3867912"/>
            <a:ext cx="256032" cy="256032"/>
          </a:xfrm>
          <a:prstGeom prst="rect">
            <a:avLst/>
          </a:prstGeom>
          <a:solidFill>
            <a:srgbClr val="D46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831336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 3字体  10.0%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581144"/>
            <a:ext cx="256032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67728" y="4544568"/>
            <a:ext cx="292608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 3字体  10.0%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864608"/>
            <a:ext cx="4434840" cy="6949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4864608"/>
            <a:ext cx="4069080" cy="694944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和文は見出し・本文に、</a:t>
            </a:r>
            <a:br/>
            <a:r>
              <a:rPr>
                <a:ea typeface="BIZ UDPGothic"/>
              </a:rPr>
              <a:t>欧文は英数字に使う。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出典：data/oss-font-kit.json（2026-10-15更新）の category と presets を集計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言語別に見ると、見出し・手書き調は日本語のみ、等幅は欧文のみ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12801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280160"/>
            <a:ext cx="12801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280160"/>
            <a:ext cx="12801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80160"/>
            <a:ext cx="469361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代表書体（収録順の先頭）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7830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7830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7830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78308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Zen Kaku Gothic New / Manrope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7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0792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0792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40792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40792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40792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Shippori Mincho / Source Serif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32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3276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見出し・手書き調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03276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03276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03276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03276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Dela Gothic 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365760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65760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365760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65760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Zen Maru Gothic / Nunito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82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8244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28244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428244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28244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28244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JetBrains Mono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07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07280"/>
            <a:ext cx="21945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49072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06240" y="49072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907280"/>
            <a:ext cx="128016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907280"/>
            <a:ext cx="469361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プリセット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収録プリセット15件は、いずれも見出し・本文を日本語書体、英数字を欧文書体で指定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出典：data/oss-font-kit.json（2026-10-15更新）の language・category・family を集計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制作は4段階で進め、原稿と描画は検査結果で次へ進む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要件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読み手と目的</a:t>
            </a:r>
            <a:br/>
            <a:r>
              <a:rPr>
                <a:ea typeface="BIZ UDPGothic"/>
              </a:rPr>
              <a:t>元データを</a:t>
            </a:r>
            <a:br/>
            <a:r>
              <a:rPr>
                <a:ea typeface="BIZ UDPGothic"/>
              </a:rPr>
              <a:t>briefに記入</a:t>
            </a:r>
          </a:p>
        </p:txBody>
      </p:sp>
      <p:sp>
        <p:nvSpPr>
          <p:cNvPr id="8" name="Oval 7"/>
          <p:cNvSpPr/>
          <p:nvPr/>
        </p:nvSpPr>
        <p:spPr>
          <a:xfrm>
            <a:off x="424434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68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構成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68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版式と主張を</a:t>
            </a:r>
            <a:br/>
            <a:r>
              <a:rPr>
                <a:ea typeface="BIZ UDPGothic"/>
              </a:rPr>
              <a:t>outlineに</a:t>
            </a:r>
            <a:br/>
            <a:r>
              <a:rPr>
                <a:ea typeface="BIZ UDPGothic"/>
              </a:rPr>
              <a:t>まとめる</a:t>
            </a:r>
          </a:p>
        </p:txBody>
      </p:sp>
      <p:sp>
        <p:nvSpPr>
          <p:cNvPr id="11" name="Oval 10"/>
          <p:cNvSpPr/>
          <p:nvPr/>
        </p:nvSpPr>
        <p:spPr>
          <a:xfrm>
            <a:off x="7505700" y="253746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704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原稿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704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文言と出典</a:t>
            </a:r>
            <a:br/>
            <a:r>
              <a:rPr>
                <a:ea typeface="BIZ UDPGothic"/>
              </a:rPr>
              <a:t>contentに記入</a:t>
            </a:r>
            <a:br/>
            <a:r>
              <a:rPr>
                <a:ea typeface="BIZ UDPGothic"/>
              </a:rPr>
              <a:t>S3で検査</a:t>
            </a:r>
          </a:p>
        </p:txBody>
      </p:sp>
      <p:sp>
        <p:nvSpPr>
          <p:cNvPr id="14" name="Oval 13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出力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PPTX生成</a:t>
            </a:r>
            <a:br/>
            <a:r>
              <a:rPr>
                <a:ea typeface="BIZ UDPGothic"/>
              </a:rPr>
              <a:t>S4で検査</a:t>
            </a:r>
            <a:br/>
            <a:r>
              <a:rPr>
                <a:ea typeface="BIZ UDPGothic"/>
              </a:rPr>
              <a:t>合否を確認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判定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S3はgate_check_s3.py、S4はgate_check.pyが書くJSONのpassedで判定する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出典：tools/build_mck_native_showcase.py の工程。各段階の所要時間は計測していない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