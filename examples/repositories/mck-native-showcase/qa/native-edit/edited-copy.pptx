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1298448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フォント構成と</a:t>
            </a:r>
            <a:br/>
            <a:r>
              <a:rPr>
                <a:ea typeface="BIZ UDPGothic"/>
              </a:rPr>
              <a:t>制作手順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9464"/>
            <a:ext cx="10058400" cy="566928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30字体・45ファイル・15プリセットを収録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94176"/>
            <a:ext cx="10058400" cy="310896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日本語17字体 ／ 欧文13字体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06824"/>
            <a:ext cx="10058400" cy="310896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2026-10-15更新の実カタログ / Studio Yebisu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lIns="45720" tIns="45720" rIns="45720" bIns="45720" anchor="b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BIZ UDPGothic"/>
              </a:defRPr>
            </a:pPr>
            <a:r>
              <a:rPr>
                <a:ea typeface="BIZ UDPGothic"/>
              </a:rPr>
              <a:t>言語ごとの字体数を5分類で比べる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63040" y="1097280"/>
            <a:ext cx="45720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言語ごとの字体数を5分類で比べる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143000"/>
            <a:ext cx="182880" cy="1828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0" y="1097280"/>
            <a:ext cx="109728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日本語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0" y="1143000"/>
            <a:ext cx="182880" cy="18288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66960" y="1097280"/>
            <a:ext cx="109728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欧文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57800"/>
            <a:ext cx="64008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02480"/>
            <a:ext cx="64008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4739640"/>
            <a:ext cx="90525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947160"/>
            <a:ext cx="64008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4084320"/>
            <a:ext cx="90525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64008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3429000"/>
            <a:ext cx="90525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636520"/>
            <a:ext cx="64008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2773680"/>
            <a:ext cx="90525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1981200"/>
            <a:ext cx="64008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2118360"/>
            <a:ext cx="90525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1325880"/>
            <a:ext cx="64008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1463040"/>
            <a:ext cx="90525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463040" y="5394960"/>
            <a:ext cx="905256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025396" y="1463040"/>
            <a:ext cx="320040" cy="3931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391156" y="1463040"/>
            <a:ext cx="320040" cy="393192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63040" y="5440680"/>
            <a:ext cx="1810512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ゴシック系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35908" y="2118360"/>
            <a:ext cx="320040" cy="32766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01668" y="3429000"/>
            <a:ext cx="320040" cy="196596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73552" y="5440680"/>
            <a:ext cx="1810512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明朝・セリフ系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46420" y="2773680"/>
            <a:ext cx="320040" cy="26212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84064" y="5440680"/>
            <a:ext cx="1810512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装飾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6932" y="4084320"/>
            <a:ext cx="320040" cy="1310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822692" y="4739640"/>
            <a:ext cx="320040" cy="65532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94576" y="5440680"/>
            <a:ext cx="1810512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丸ゴシック系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33204" y="3429000"/>
            <a:ext cx="320040" cy="196596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05088" y="5440680"/>
            <a:ext cx="1810512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等幅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760720"/>
            <a:ext cx="10728655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5840" y="5760720"/>
            <a:ext cx="1371600" cy="64008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BIZ UDPGothic"/>
              </a:defRPr>
            </a:pPr>
            <a:r>
              <a:rPr lang="ja-JP" altLang="en-US">
                <a:ea typeface="BIZ UDPGothic"/>
              </a:rPr>
              <a:t>集計確認</a:t>
            </a:r>
            <a:endParaRPr>
              <a:ea typeface="BIZ UDPGothic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560320" y="5760720"/>
            <a:ext cx="8625535" cy="64008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日本語17字体・欧文13字体＝計30字体。元5分類をそのまま比較。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出典：input/oss-font-kit.json の category・language を集計。縦軸は字体数。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lIns="45720" tIns="45720" rIns="45720" bIns="45720" anchor="b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BIZ UDPGothic"/>
              </a:defRPr>
            </a:pPr>
            <a:r>
              <a:rPr>
                <a:ea typeface="BIZ UDPGothic"/>
              </a:rPr>
              <a:t>言語別に見ると、装飾は日本語のみ、等幅は欧文のみ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8288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280160"/>
            <a:ext cx="100584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日本語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280160"/>
            <a:ext cx="100584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欧文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80160"/>
            <a:ext cx="100584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280160"/>
            <a:ext cx="5882335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代表書体（言語別・先頭）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182880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ゴシック系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78308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78308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8308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1783080"/>
            <a:ext cx="5882335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日本語：Zen Kaku Gothic New</a:t>
            </a:r>
            <a:br/>
            <a:r>
              <a:rPr>
                <a:ea typeface="BIZ UDPGothic"/>
              </a:rPr>
              <a:t>欧文：Manrope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4079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407920"/>
            <a:ext cx="182880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明朝・セリフ系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40792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40792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40792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407920"/>
            <a:ext cx="5882335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日本語：Shippori Mincho</a:t>
            </a:r>
            <a:br/>
            <a:r>
              <a:rPr>
                <a:ea typeface="BIZ UDPGothic"/>
              </a:rPr>
              <a:t>欧文：Source Serif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0327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3032760"/>
            <a:ext cx="182880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装飾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03276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03276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03276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032760"/>
            <a:ext cx="5882335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日本語：Dela Gothic One</a:t>
            </a:r>
            <a:br/>
            <a:r>
              <a:rPr>
                <a:ea typeface="BIZ UDPGothic"/>
              </a:rPr>
              <a:t>欧文：該当なし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6576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3657600"/>
            <a:ext cx="182880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丸ゴシック系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365760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65760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65760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3657600"/>
            <a:ext cx="5882335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日本語：Zen Maru Gothic</a:t>
            </a:r>
            <a:br/>
            <a:r>
              <a:rPr>
                <a:ea typeface="BIZ UDPGothic"/>
              </a:rPr>
              <a:t>欧文：Nunito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2824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" y="4282440"/>
            <a:ext cx="182880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等幅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428244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28244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28244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4282440"/>
            <a:ext cx="5882335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日本語：該当なし</a:t>
            </a:r>
            <a:br/>
            <a:r>
              <a:rPr>
                <a:ea typeface="BIZ UDPGothic"/>
              </a:rPr>
              <a:t>欧文：JetBrains Mono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9072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4907280"/>
            <a:ext cx="182880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合計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490728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490728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4907280"/>
            <a:ext cx="1005840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7840" y="4907280"/>
            <a:ext cx="5882335" cy="6248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5321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31520" y="5669280"/>
            <a:ext cx="1072865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05840" y="5669280"/>
            <a:ext cx="1645920" cy="5943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プリセット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0" y="5669280"/>
            <a:ext cx="8442655" cy="5943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収録プリセット15件は、いずれも見出し・本文を日本語書体、英数字を欧文書体で指定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出典：input/oss-font-kit.json（2026-10-15更新）の language・category・family を集計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lIns="45720" tIns="45720" rIns="45720" bIns="45720" anchor="b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BIZ UDPGothic"/>
              </a:defRPr>
            </a:pPr>
            <a:r>
              <a:rPr>
                <a:ea typeface="BIZ UDPGothic"/>
              </a:rPr>
              <a:t>制作は五段階で進め、原稿と描画を原典の検査で確かめる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89699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889699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1463040"/>
            <a:ext cx="365760" cy="36576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63040"/>
            <a:ext cx="1249619" cy="3657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要件整理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706819" cy="34290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brief.md</a:t>
            </a:r>
            <a:br/>
            <a:r>
              <a:rPr>
                <a:ea typeface="BIZ UDPGothic"/>
              </a:rPr>
              <a:t>読者・目的・元資料をまとめる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9507" y="3223260"/>
            <a:ext cx="27432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CCCCCC"/>
                </a:solidFill>
                <a:latin typeface="BIZ UDPGothic"/>
              </a:defRPr>
            </a:pPr>
            <a:r>
              <a:rPr>
                <a:ea typeface="BIZ UDP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1259" y="1280160"/>
            <a:ext cx="1889699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941259" y="1280160"/>
            <a:ext cx="1889699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032699" y="1463040"/>
            <a:ext cx="365760" cy="36576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9899" y="1463040"/>
            <a:ext cx="1249619" cy="3657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構成決定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2699" y="2011680"/>
            <a:ext cx="1706819" cy="34290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outline.json</a:t>
            </a:r>
            <a:br/>
            <a:r>
              <a:rPr>
                <a:ea typeface="BIZ UDPGothic"/>
              </a:rPr>
              <a:t>頁の主張と版式・項目数を決める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9246" y="3223260"/>
            <a:ext cx="27432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CCCCCC"/>
                </a:solidFill>
                <a:latin typeface="BIZ UDPGothic"/>
              </a:defRPr>
            </a:pPr>
            <a:r>
              <a:rPr>
                <a:ea typeface="BIZ UDP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50998" y="1280160"/>
            <a:ext cx="1889699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50998" y="1280160"/>
            <a:ext cx="1889699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242438" y="1463040"/>
            <a:ext cx="365760" cy="36576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99638" y="1463040"/>
            <a:ext cx="1249619" cy="3657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原稿検査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2438" y="2011680"/>
            <a:ext cx="1706819" cy="34290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content.json</a:t>
            </a:r>
            <a:br/>
            <a:r>
              <a:rPr>
                <a:ea typeface="BIZ UDPGothic"/>
              </a:rPr>
              <a:t>文言・集計値・出典を記し、原典S3で検査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8985" y="3223260"/>
            <a:ext cx="27432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CCCCCC"/>
                </a:solidFill>
                <a:latin typeface="BIZ UDPGothic"/>
              </a:defRPr>
            </a:pPr>
            <a:r>
              <a:rPr>
                <a:ea typeface="BIZ UDP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737" y="1280160"/>
            <a:ext cx="1889699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60737" y="1280160"/>
            <a:ext cx="1889699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452177" y="1463040"/>
            <a:ext cx="365760" cy="36576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377" y="1463040"/>
            <a:ext cx="1249619" cy="3657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描画検査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177" y="2011680"/>
            <a:ext cx="1706819" cy="34290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deck.pptxと検査JSON</a:t>
            </a:r>
            <a:br/>
            <a:r>
              <a:rPr>
                <a:ea typeface="BIZ UDPGothic"/>
              </a:rPr>
              <a:t>原典S4の合否と実描画を確認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8724" y="3223260"/>
            <a:ext cx="27432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CCCCCC"/>
                </a:solidFill>
                <a:latin typeface="BIZ UDPGothic"/>
              </a:defRPr>
            </a:pPr>
            <a:r>
              <a:rPr>
                <a:ea typeface="BIZ UDPGothic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70476" y="1280160"/>
            <a:ext cx="1889699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570476" y="1280160"/>
            <a:ext cx="1889699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661916" y="1463040"/>
            <a:ext cx="365760" cy="36576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19116" y="1463040"/>
            <a:ext cx="1249619" cy="3657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交付準備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61916" y="2011680"/>
            <a:ext cx="1706819" cy="34290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成果物と固定経験</a:t>
            </a:r>
            <a:br/>
            <a:r>
              <a:rPr>
                <a:ea typeface="BIZ UDPGothic"/>
              </a:rPr>
              <a:t>今回の修復判断を記録として再生する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669280"/>
            <a:ext cx="1072865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5840" y="5669280"/>
            <a:ext cx="1645920" cy="5943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再生範囲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669280"/>
            <a:ext cx="8442655" cy="594360"/>
          </a:xfrm>
          <a:prstGeom prst="rect">
            <a:avLst/>
          </a:prstGeom>
          <a:noFill/>
        </p:spPr>
        <p:txBody>
          <a:bodyPr wrap="square" lIns="45720" tIns="45720" rIns="45720" bIns="45720" anchor="ctr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S3/S4は今回の実行結果。S5は固定した修復記録の再生で、新規の自動判定ではない。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出典：同梱の専用生成器。S1〜S5の保存ファイルを示す。所要時間は未計測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276</Words>
  <Application>Microsoft Office PowerPoint</Application>
  <PresentationFormat>ワイド画面</PresentationFormat>
  <Paragraphs>88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BIZ UDPGothic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恭彦 笹谷</cp:lastModifiedBy>
  <cp:revision>2</cp:revision>
  <dcterms:created xsi:type="dcterms:W3CDTF">2013-01-27T09:14:16Z</dcterms:created>
  <dcterms:modified xsi:type="dcterms:W3CDTF">2026-10-16T03:44:47Z</dcterms:modified>
  <cp:category/>
</cp:coreProperties>
</file>