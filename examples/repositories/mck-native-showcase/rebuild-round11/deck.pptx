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フォント構成と制作手順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OSSフォントキット30字体の内訳と、資料を作る順序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Studio Yebisu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2026-10-15更新のフォントデータ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30字体を用途の近い書体群へまとめて比べる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11999"/>
              <a:gd name="adj2" fmla="val 5400000"/>
              <a:gd name="adj3" fmla="val 5200"/>
            </a:avLst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8360000"/>
              <a:gd name="adj2" fmla="val 5400000"/>
              <a:gd name="adj3" fmla="val 52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2600000"/>
              <a:gd name="adj2" fmla="val 18360000"/>
              <a:gd name="adj3" fmla="val 5200"/>
            </a:avLst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0440000"/>
              <a:gd name="adj2" fmla="val 12600000"/>
              <a:gd name="adj3" fmla="val 5200"/>
            </a:avLst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00000"/>
              <a:gd name="adj2" fmla="val 10440000"/>
              <a:gd name="adj3" fmla="val 5200"/>
            </a:avLst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3017520"/>
            <a:ext cx="1371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383280"/>
            <a:ext cx="1645920" cy="2377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収録字体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728216"/>
            <a:ext cx="256032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691640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 12字体  40.0%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441448"/>
            <a:ext cx="256032" cy="25603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2404872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明朝・セリフ系 8字体  26.7%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154680"/>
            <a:ext cx="256032" cy="256032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3118104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丸ゴシック系 3字体  10.0%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867912"/>
            <a:ext cx="256032" cy="25603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831336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装飾＋等幅 7字体  23.3%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864608"/>
            <a:ext cx="4434840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4864608"/>
            <a:ext cx="4069080" cy="694944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ゴシック系12字体が最多。</a:t>
            </a:r>
            <a:br/>
            <a:r>
              <a:rPr>
                <a:ea typeface="BIZ UDPGothic"/>
              </a:rPr>
              <a:t>全体の40.0%を占める。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出典：input/oss-font-kit.json のcategoryを集計。装飾と等幅は合算、細目は次頁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言語別に見ると、装飾は日本語のみ、等幅は欧文のみ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12801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日本語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80160"/>
            <a:ext cx="12801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欧文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12801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280160"/>
            <a:ext cx="469361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代表書体（収録順の先頭）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21945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78308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78308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78308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783080"/>
            <a:ext cx="469361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Zen Kaku Gothic New / Manrope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07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07920"/>
            <a:ext cx="21945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明朝・セリフ系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40792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40792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40792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407920"/>
            <a:ext cx="469361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Shippori Mincho / Source Serif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32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32760"/>
            <a:ext cx="21945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装飾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03276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03276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03276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032760"/>
            <a:ext cx="469361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Dela Gothic 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6576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21945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丸ゴシック系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65760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65760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65760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657600"/>
            <a:ext cx="469361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Zen Maru Gothic / Nunito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82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282440"/>
            <a:ext cx="21945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等幅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28244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428244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28244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282440"/>
            <a:ext cx="469361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JetBrains Mono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907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907280"/>
            <a:ext cx="21945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合計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90728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490728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490728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907280"/>
            <a:ext cx="469361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532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プリセット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収録プリセット15件は、いずれも見出し・本文を日本語書体、英数字を欧文書体で指定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出典：input/oss-font-kit.json（2026-10-15更新）の language・category・family を集計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制作は五段階で進め、原稿と描画を原典の検査で確かめる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要件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読者・目的・元資料</a:t>
            </a:r>
            <a:br/>
            <a:r>
              <a:rPr>
                <a:ea typeface="BIZ UDPGothic"/>
              </a:rPr>
              <a:t>brief.md</a:t>
            </a:r>
            <a:br/>
            <a:r>
              <a:rPr>
                <a:ea typeface="BIZ UDPGothic"/>
              </a:rPr>
              <a:t>入力をそろえる</a:t>
            </a:r>
          </a:p>
        </p:txBody>
      </p:sp>
      <p:sp>
        <p:nvSpPr>
          <p:cNvPr id="8" name="Oval 7"/>
          <p:cNvSpPr/>
          <p:nvPr/>
        </p:nvSpPr>
        <p:spPr>
          <a:xfrm>
            <a:off x="342900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034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構成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034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頁の主張と版式</a:t>
            </a:r>
            <a:br/>
            <a:r>
              <a:rPr>
                <a:ea typeface="BIZ UDPGothic"/>
              </a:rPr>
              <a:t>outline.json</a:t>
            </a:r>
            <a:br/>
            <a:r>
              <a:rPr>
                <a:ea typeface="BIZ UDPGothic"/>
              </a:rPr>
              <a:t>項目数を確認</a:t>
            </a:r>
          </a:p>
        </p:txBody>
      </p:sp>
      <p:sp>
        <p:nvSpPr>
          <p:cNvPr id="11" name="Oval 10"/>
          <p:cNvSpPr/>
          <p:nvPr/>
        </p:nvSpPr>
        <p:spPr>
          <a:xfrm>
            <a:off x="587502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原稿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文言・集計値・出典</a:t>
            </a:r>
            <a:br/>
            <a:r>
              <a:rPr>
                <a:ea typeface="BIZ UDPGothic"/>
              </a:rPr>
              <a:t>content.json</a:t>
            </a:r>
            <a:br/>
            <a:r>
              <a:rPr>
                <a:ea typeface="BIZ UDPGothic"/>
              </a:rPr>
              <a:t>S3のJSONで合否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238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描画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238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PPTXを生成</a:t>
            </a:r>
            <a:br/>
            <a:r>
              <a:rPr>
                <a:ea typeface="BIZ UDPGothic"/>
              </a:rPr>
              <a:t>S4のJSONで合否</a:t>
            </a:r>
            <a:br/>
            <a:r>
              <a:rPr>
                <a:ea typeface="BIZ UDPGothic"/>
              </a:rPr>
              <a:t>gate_result.json</a:t>
            </a:r>
          </a:p>
        </p:txBody>
      </p:sp>
      <p:sp>
        <p:nvSpPr>
          <p:cNvPr id="17" name="Oval 16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PPTXと検査を渡す</a:t>
            </a:r>
            <a:br/>
            <a:r>
              <a:rPr>
                <a:ea typeface="BIZ UDPGothic"/>
              </a:rPr>
              <a:t>修正の型を判断</a:t>
            </a:r>
            <a:br/>
            <a:r>
              <a:rPr>
                <a:ea typeface="BIZ UDPGothic"/>
              </a:rPr>
              <a:t>experiencesへ記録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判定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S3はgate_check_s3.py、S4はgate_check.pyが書くJSONのpassedで判定する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出典：source/build_mck_native_showcase.py のS1〜S5。所要時間は計測していない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