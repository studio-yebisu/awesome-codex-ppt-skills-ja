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8CBAEC8-3AE7-4A21-92A5-9CD69E3C7D79}" type="datetimeFigureOut">
              <a:rPr kumimoji="1" lang="ja-JP" altLang="en-US" smtClean="0"/>
              <a:t>2026/10/16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0F699A-B8DA-4E1A-824E-B395315D666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777403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架空の制作例。こもれび商店街｜企画たたき台。一つの入口から、必要な案内にたどり着く。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55722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架空の制作例。SNS・Web・掲示板を行き来する、という課題仮説。既存の発信を生かし、一覧を共通の入口にする。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118586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架空の制作例。日時・場所・費用・雨天時の扱いを同じ順序で掲載。見た目より先に、掲載項目と更新日をそろえる。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2875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架空の制作例。提案する担当分担｜実際の担当者との合意は未取得。誰が直すかまで決めて、案内を古くしない。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86583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架空の制作例。試行期間は2週間という提案｜効果の実測値はまだない。便利さと運用負担の両方を見て、次を決める。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0833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EB1EC68-E3CA-AA7E-BC35-2D5F60AC903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AA973CAC-684F-225C-5E67-8326A1F707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56ECFE8-0186-6EB9-F287-75FEFC1DC5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453FE7-A201-44A5-BB2E-86321C77CA51}" type="datetimeFigureOut">
              <a:rPr kumimoji="1" lang="ja-JP" altLang="en-US" smtClean="0"/>
              <a:t>2026/10/16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12A1A40-0775-BD75-ECEE-4D828E3885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E01EED-9D31-58D8-E5BF-B02AEB60EB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76E3A4-3CBB-4087-8AE5-6CCF17665B6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733651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A57895D-9498-B561-56E2-AA723434C4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E93E52D-C5DE-72F9-2914-6C863E8B80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A8295DD-1288-DA5A-E4FD-0FF3853024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453FE7-A201-44A5-BB2E-86321C77CA51}" type="datetimeFigureOut">
              <a:rPr kumimoji="1" lang="ja-JP" altLang="en-US" smtClean="0"/>
              <a:t>2026/10/16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8E4AE42-E68E-A24D-C175-4A6B4CFDF3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0332841-AF7B-046C-EF8B-FAFB9D9C75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76E3A4-3CBB-4087-8AE5-6CCF17665B6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982025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ED403BC-99F6-57DE-CF14-9A985FAEE7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E07F674-4A50-2357-15B1-C4972AB0CD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166CB3F-49B3-C45A-46AE-E52336D144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453FE7-A201-44A5-BB2E-86321C77CA51}" type="datetimeFigureOut">
              <a:rPr kumimoji="1" lang="ja-JP" altLang="en-US" smtClean="0"/>
              <a:t>2026/10/16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0EA6FC3-5F7F-72E0-468A-192BD7353A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E72815F-6189-7AA3-6EBE-0B87DFFAE2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76E3A4-3CBB-4087-8AE5-6CCF17665B6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249554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332DA13-284A-562B-2986-78B182D1F7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CDEA653-1ED8-813B-57D5-72139EC8785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A4EEF66-4DEC-5C7F-49DB-73CC409B5B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0DDF6C6-C380-18A7-F163-473FC8221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453FE7-A201-44A5-BB2E-86321C77CA51}" type="datetimeFigureOut">
              <a:rPr kumimoji="1" lang="ja-JP" altLang="en-US" smtClean="0"/>
              <a:t>2026/10/16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68F1316-4891-11A2-958D-588A4C2B65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1537BFE-4CE4-625C-2F83-BFF2C7A569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76E3A4-3CBB-4087-8AE5-6CCF17665B6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487861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C0057BB-AF10-F0CC-0ACC-765671B606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DD40A1C-F435-2E38-28A0-CC5BD67F89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5AC50A2-623F-F0AF-3EA8-D5401C4609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DA0833AD-255F-1FAE-BA76-0D6FC8F7FF8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94781330-DB8D-C483-D25A-9416C09C458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1345150A-6DE6-E263-2F13-964DC4C3EF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453FE7-A201-44A5-BB2E-86321C77CA51}" type="datetimeFigureOut">
              <a:rPr kumimoji="1" lang="ja-JP" altLang="en-US" smtClean="0"/>
              <a:t>2026/10/16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3975175E-D165-1CA9-666D-AD28F18122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462EAC6B-D6D3-8450-C8D6-09AE5D3329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76E3A4-3CBB-4087-8AE5-6CCF17665B6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930681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91FE85D-6466-6F72-8F08-CA09805401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127BB42F-9D6B-837E-BE07-9200F622FC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453FE7-A201-44A5-BB2E-86321C77CA51}" type="datetimeFigureOut">
              <a:rPr kumimoji="1" lang="ja-JP" altLang="en-US" smtClean="0"/>
              <a:t>2026/10/16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D0B480A1-E10A-991A-6CA6-DD78B979B0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CF081E2D-DFF8-240B-8E22-B322E6F6FB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76E3A4-3CBB-4087-8AE5-6CCF17665B6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390484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42DAAEB3-9FA5-9F2B-7F6C-F4213E2727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453FE7-A201-44A5-BB2E-86321C77CA51}" type="datetimeFigureOut">
              <a:rPr kumimoji="1" lang="ja-JP" altLang="en-US" smtClean="0"/>
              <a:t>2026/10/16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FD535FCF-B5AD-0B14-AE17-B95A7BDC2B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577495A-186E-2E74-7D72-8E05FEFD29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76E3A4-3CBB-4087-8AE5-6CCF17665B6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634174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D745ABB-DDD7-9C6D-E519-DEDE4A5067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092AA47-E349-384C-B3B3-0D48F5AC4B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A93B441A-ED5F-861B-61D0-7D4E16B2AF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B517D1-CCAE-16B6-2D6F-5E8A60377B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453FE7-A201-44A5-BB2E-86321C77CA51}" type="datetimeFigureOut">
              <a:rPr kumimoji="1" lang="ja-JP" altLang="en-US" smtClean="0"/>
              <a:t>2026/10/16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058B1C5-C2E8-E370-F446-7AA6E89D75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E4B238B-EC4C-4FA9-3446-C1B116753A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76E3A4-3CBB-4087-8AE5-6CCF17665B6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107748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B06F3B2-8617-D2F6-A493-25A1AEDE87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BD326376-10AA-3347-DA78-07B222EE5A5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2A4985CC-2C77-78C6-0125-95205A1B051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1BBB65C-7A88-FF9C-0453-804CFEBBDB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453FE7-A201-44A5-BB2E-86321C77CA51}" type="datetimeFigureOut">
              <a:rPr kumimoji="1" lang="ja-JP" altLang="en-US" smtClean="0"/>
              <a:t>2026/10/16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34DD55D-06E7-262A-0A0C-71EA9F9D4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3D23C4D-24D7-B55D-8AA6-1FEEB3F318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76E3A4-3CBB-4087-8AE5-6CCF17665B6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327391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969EC36-6F9E-48F7-C212-1E45B28720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0462D48-52AF-3F50-3EBB-62854ABB88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E49509F-29C7-0A9A-0F6A-57ED45B617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453FE7-A201-44A5-BB2E-86321C77CA51}" type="datetimeFigureOut">
              <a:rPr kumimoji="1" lang="ja-JP" altLang="en-US" smtClean="0"/>
              <a:t>2026/10/16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725C907-2535-1D0E-2B88-122BDCE841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AE5F849-E42B-3783-4F33-EC80549D68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76E3A4-3CBB-4087-8AE5-6CCF17665B6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7941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6708C6EF-DBA1-746C-AA74-FC0943D9AD2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775C2208-7716-9CD3-92B5-F4273335F6E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267F523-6EA8-E313-22F5-4DE08A9735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453FE7-A201-44A5-BB2E-86321C77CA51}" type="datetimeFigureOut">
              <a:rPr kumimoji="1" lang="ja-JP" altLang="en-US" smtClean="0"/>
              <a:t>2026/10/16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9DE0A8F-275F-D900-7E62-D90C15CA7C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36F81F4-007E-E749-9B83-181EE3F7F0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76E3A4-3CBB-4087-8AE5-6CCF17665B6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6565999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15026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5D08CED3-0358-A011-118C-89C022BF9A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939BEC5-4AFA-3F84-44D6-ACC92D9D68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253B2E8-6EE4-C547-467C-28C74C700CB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F453FE7-A201-44A5-BB2E-86321C77CA51}" type="datetimeFigureOut">
              <a:rPr kumimoji="1" lang="ja-JP" altLang="en-US" smtClean="0"/>
              <a:t>2026/10/16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2DF559F-C932-1AA9-D9EF-4A029BA906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E24F65C-044C-A3B7-03A5-6F8EDCBAC7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176E3A4-3CBB-4087-8AE5-6CCF17665B6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775635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0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ver-accent"/>
          <p:cNvSpPr/>
          <p:nvPr/>
        </p:nvSpPr>
        <p:spPr>
          <a:xfrm>
            <a:off x="517710" y="874559"/>
            <a:ext cx="743752" cy="3644"/>
          </a:xfrm>
          <a:prstGeom prst="line">
            <a:avLst/>
          </a:prstGeom>
          <a:noFill/>
          <a:ln w="20320">
            <a:solidFill>
              <a:srgbClr val="9A5A2E"/>
            </a:solidFill>
            <a:prstDash val="solid"/>
          </a:ln>
        </p:spPr>
      </p:sp>
      <p:sp>
        <p:nvSpPr>
          <p:cNvPr id="3" name="title"/>
          <p:cNvSpPr/>
          <p:nvPr/>
        </p:nvSpPr>
        <p:spPr>
          <a:xfrm>
            <a:off x="488543" y="1166079"/>
            <a:ext cx="8968771" cy="13482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商店街のイベント案内を、</a:t>
            </a:r>
            <a:endParaRPr lang="en-US" sz="4400" dirty="0"/>
          </a:p>
          <a:p>
            <a:pPr marL="0" indent="0" algn="l">
              <a:buNone/>
            </a:pPr>
            <a:r>
              <a:rPr lang="en-US" sz="4400" b="1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一つにまとめる</a:t>
            </a:r>
            <a:endParaRPr lang="en-US" sz="4400" dirty="0"/>
          </a:p>
        </p:txBody>
      </p:sp>
      <p:sp>
        <p:nvSpPr>
          <p:cNvPr id="4" name="subtitle"/>
          <p:cNvSpPr/>
          <p:nvPr/>
        </p:nvSpPr>
        <p:spPr>
          <a:xfrm>
            <a:off x="481251" y="2995365"/>
            <a:ext cx="4739594" cy="36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こもれび商店街｜企画たたき台</a:t>
            </a:r>
            <a:endParaRPr lang="en-US" sz="1900" dirty="0"/>
          </a:p>
        </p:txBody>
      </p:sp>
      <p:sp>
        <p:nvSpPr>
          <p:cNvPr id="5" name="subtitle-rule"/>
          <p:cNvSpPr/>
          <p:nvPr/>
        </p:nvSpPr>
        <p:spPr>
          <a:xfrm>
            <a:off x="495834" y="2827741"/>
            <a:ext cx="3441675" cy="3644"/>
          </a:xfrm>
          <a:prstGeom prst="line">
            <a:avLst/>
          </a:prstGeom>
          <a:noFill/>
          <a:ln w="10160">
            <a:solidFill>
              <a:srgbClr val="B8B6B1"/>
            </a:solidFill>
            <a:prstDash val="solid"/>
          </a:ln>
        </p:spPr>
      </p:sp>
      <p:sp>
        <p:nvSpPr>
          <p:cNvPr id="6" name="page-number"/>
          <p:cNvSpPr/>
          <p:nvPr/>
        </p:nvSpPr>
        <p:spPr>
          <a:xfrm>
            <a:off x="10448983" y="109320"/>
            <a:ext cx="1604170" cy="14575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400" dirty="0">
                <a:solidFill>
                  <a:srgbClr val="9A5A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01</a:t>
            </a:r>
            <a:endParaRPr lang="en-US" sz="9400" dirty="0"/>
          </a:p>
        </p:txBody>
      </p:sp>
      <p:sp>
        <p:nvSpPr>
          <p:cNvPr id="7" name="number-rule"/>
          <p:cNvSpPr/>
          <p:nvPr/>
        </p:nvSpPr>
        <p:spPr>
          <a:xfrm>
            <a:off x="10463566" y="1508614"/>
            <a:ext cx="1239586" cy="3644"/>
          </a:xfrm>
          <a:prstGeom prst="line">
            <a:avLst/>
          </a:prstGeom>
          <a:noFill/>
          <a:ln w="10160">
            <a:solidFill>
              <a:srgbClr val="B8B6B1"/>
            </a:solidFill>
            <a:prstDash val="solid"/>
          </a:ln>
        </p:spPr>
      </p:sp>
      <p:sp>
        <p:nvSpPr>
          <p:cNvPr id="8" name="circle-0"/>
          <p:cNvSpPr/>
          <p:nvPr/>
        </p:nvSpPr>
        <p:spPr>
          <a:xfrm>
            <a:off x="5250012" y="2732997"/>
            <a:ext cx="1239586" cy="1238959"/>
          </a:xfrm>
          <a:prstGeom prst="ellipse">
            <a:avLst/>
          </a:prstGeom>
          <a:solidFill>
            <a:srgbClr val="F4F0E8">
              <a:alpha val="0"/>
            </a:srgbClr>
          </a:solidFill>
          <a:ln w="15240">
            <a:solidFill>
              <a:srgbClr val="9A5A2E"/>
            </a:solidFill>
            <a:prstDash val="solid"/>
          </a:ln>
        </p:spPr>
      </p:sp>
      <p:pic>
        <p:nvPicPr>
          <p:cNvPr id="9" name="icon-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34388" y="3017228"/>
            <a:ext cx="670835" cy="670495"/>
          </a:xfrm>
          <a:prstGeom prst="rect">
            <a:avLst/>
          </a:prstGeom>
        </p:spPr>
      </p:pic>
      <p:sp>
        <p:nvSpPr>
          <p:cNvPr id="10" name="label-0"/>
          <p:cNvSpPr/>
          <p:nvPr/>
        </p:nvSpPr>
        <p:spPr>
          <a:xfrm>
            <a:off x="4892720" y="4117715"/>
            <a:ext cx="1859379" cy="4372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見つける</a:t>
            </a:r>
            <a:endParaRPr lang="en-US" sz="2500" dirty="0"/>
          </a:p>
        </p:txBody>
      </p:sp>
      <p:sp>
        <p:nvSpPr>
          <p:cNvPr id="11" name="circle-1"/>
          <p:cNvSpPr/>
          <p:nvPr/>
        </p:nvSpPr>
        <p:spPr>
          <a:xfrm>
            <a:off x="7678143" y="2732997"/>
            <a:ext cx="1239586" cy="1238959"/>
          </a:xfrm>
          <a:prstGeom prst="ellipse">
            <a:avLst/>
          </a:prstGeom>
          <a:solidFill>
            <a:srgbClr val="F4F0E8">
              <a:alpha val="0"/>
            </a:srgbClr>
          </a:solidFill>
          <a:ln w="15240">
            <a:solidFill>
              <a:srgbClr val="9A5A2E"/>
            </a:solidFill>
            <a:prstDash val="solid"/>
          </a:ln>
        </p:spPr>
      </p:sp>
      <p:pic>
        <p:nvPicPr>
          <p:cNvPr id="12" name="icon-1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962519" y="3017228"/>
            <a:ext cx="670835" cy="670495"/>
          </a:xfrm>
          <a:prstGeom prst="rect">
            <a:avLst/>
          </a:prstGeom>
        </p:spPr>
      </p:pic>
      <p:sp>
        <p:nvSpPr>
          <p:cNvPr id="13" name="label-1"/>
          <p:cNvSpPr/>
          <p:nvPr/>
        </p:nvSpPr>
        <p:spPr>
          <a:xfrm>
            <a:off x="7335434" y="4110427"/>
            <a:ext cx="1859379" cy="4372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選ぶ</a:t>
            </a:r>
            <a:endParaRPr lang="en-US" sz="2500" dirty="0"/>
          </a:p>
        </p:txBody>
      </p:sp>
      <p:sp>
        <p:nvSpPr>
          <p:cNvPr id="14" name="circle-2"/>
          <p:cNvSpPr/>
          <p:nvPr/>
        </p:nvSpPr>
        <p:spPr>
          <a:xfrm>
            <a:off x="10098982" y="2732997"/>
            <a:ext cx="1239586" cy="1238959"/>
          </a:xfrm>
          <a:prstGeom prst="ellipse">
            <a:avLst/>
          </a:prstGeom>
          <a:solidFill>
            <a:srgbClr val="F4F0E8">
              <a:alpha val="0"/>
            </a:srgbClr>
          </a:solidFill>
          <a:ln w="15240">
            <a:solidFill>
              <a:srgbClr val="9A5A2E"/>
            </a:solidFill>
            <a:prstDash val="solid"/>
          </a:ln>
        </p:spPr>
      </p:sp>
      <p:pic>
        <p:nvPicPr>
          <p:cNvPr id="15" name="icon-2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383358" y="3017228"/>
            <a:ext cx="670835" cy="670495"/>
          </a:xfrm>
          <a:prstGeom prst="rect">
            <a:avLst/>
          </a:prstGeom>
        </p:spPr>
      </p:pic>
      <p:sp>
        <p:nvSpPr>
          <p:cNvPr id="16" name="label-2"/>
          <p:cNvSpPr/>
          <p:nvPr/>
        </p:nvSpPr>
        <p:spPr>
          <a:xfrm>
            <a:off x="9821898" y="4117715"/>
            <a:ext cx="1859379" cy="4372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迷わず行く</a:t>
            </a:r>
            <a:endParaRPr lang="en-US" sz="2500" dirty="0"/>
          </a:p>
        </p:txBody>
      </p:sp>
      <p:sp>
        <p:nvSpPr>
          <p:cNvPr id="17" name="arrow-1"/>
          <p:cNvSpPr/>
          <p:nvPr/>
        </p:nvSpPr>
        <p:spPr>
          <a:xfrm>
            <a:off x="6657307" y="3359764"/>
            <a:ext cx="802085" cy="3644"/>
          </a:xfrm>
          <a:prstGeom prst="line">
            <a:avLst/>
          </a:prstGeom>
          <a:noFill/>
          <a:ln w="16510">
            <a:solidFill>
              <a:srgbClr val="9A5A2E"/>
            </a:solidFill>
            <a:prstDash val="solid"/>
            <a:tailEnd type="triangle"/>
          </a:ln>
        </p:spPr>
      </p:sp>
      <p:sp>
        <p:nvSpPr>
          <p:cNvPr id="18" name="arrow-2"/>
          <p:cNvSpPr/>
          <p:nvPr/>
        </p:nvSpPr>
        <p:spPr>
          <a:xfrm>
            <a:off x="9078146" y="3359764"/>
            <a:ext cx="809377" cy="3644"/>
          </a:xfrm>
          <a:prstGeom prst="line">
            <a:avLst/>
          </a:prstGeom>
          <a:noFill/>
          <a:ln w="16510">
            <a:solidFill>
              <a:srgbClr val="9A5A2E"/>
            </a:solidFill>
            <a:prstDash val="solid"/>
            <a:tailEnd type="triangle"/>
          </a:ln>
        </p:spPr>
      </p:sp>
      <p:sp>
        <p:nvSpPr>
          <p:cNvPr id="19" name="bottom-rule"/>
          <p:cNvSpPr/>
          <p:nvPr/>
        </p:nvSpPr>
        <p:spPr>
          <a:xfrm>
            <a:off x="495834" y="5298370"/>
            <a:ext cx="11214610" cy="3644"/>
          </a:xfrm>
          <a:prstGeom prst="line">
            <a:avLst/>
          </a:prstGeom>
          <a:noFill/>
          <a:ln w="10160">
            <a:solidFill>
              <a:srgbClr val="B8B6B1"/>
            </a:solidFill>
            <a:prstDash val="solid"/>
          </a:ln>
        </p:spPr>
      </p:sp>
      <p:sp>
        <p:nvSpPr>
          <p:cNvPr id="20" name="takeaway"/>
          <p:cNvSpPr/>
          <p:nvPr/>
        </p:nvSpPr>
        <p:spPr>
          <a:xfrm>
            <a:off x="2260422" y="5575313"/>
            <a:ext cx="7947935" cy="5393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9A5A2E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一つの入口から、必要な案内にたどり着く。</a:t>
            </a:r>
            <a:endParaRPr lang="en-US" sz="2800" dirty="0"/>
          </a:p>
        </p:txBody>
      </p:sp>
      <p:sp>
        <p:nvSpPr>
          <p:cNvPr id="21" name="footer"/>
          <p:cNvSpPr/>
          <p:nvPr/>
        </p:nvSpPr>
        <p:spPr>
          <a:xfrm>
            <a:off x="291667" y="6559192"/>
            <a:ext cx="11608361" cy="189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14B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架空の企画例。実在の開催情報ではありません。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16585380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0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ge-number"/>
          <p:cNvSpPr/>
          <p:nvPr/>
        </p:nvSpPr>
        <p:spPr>
          <a:xfrm>
            <a:off x="284376" y="357112"/>
            <a:ext cx="379168" cy="357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9A5A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02</a:t>
            </a:r>
            <a:endParaRPr lang="en-US" sz="2000" dirty="0"/>
          </a:p>
        </p:txBody>
      </p:sp>
      <p:sp>
        <p:nvSpPr>
          <p:cNvPr id="3" name="number-rule"/>
          <p:cNvSpPr/>
          <p:nvPr/>
        </p:nvSpPr>
        <p:spPr>
          <a:xfrm>
            <a:off x="743752" y="247792"/>
            <a:ext cx="3646" cy="546599"/>
          </a:xfrm>
          <a:prstGeom prst="line">
            <a:avLst/>
          </a:prstGeom>
          <a:noFill/>
          <a:ln w="10160">
            <a:solidFill>
              <a:srgbClr val="9A5A2E"/>
            </a:solidFill>
            <a:prstDash val="solid"/>
          </a:ln>
        </p:spPr>
      </p:sp>
      <p:sp>
        <p:nvSpPr>
          <p:cNvPr id="4" name="title"/>
          <p:cNvSpPr/>
          <p:nvPr/>
        </p:nvSpPr>
        <p:spPr>
          <a:xfrm>
            <a:off x="991669" y="291520"/>
            <a:ext cx="10645858" cy="5830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まず「探す場所」をそろえる</a:t>
            </a:r>
            <a:endParaRPr lang="en-US" sz="3600" dirty="0"/>
          </a:p>
        </p:txBody>
      </p:sp>
      <p:sp>
        <p:nvSpPr>
          <p:cNvPr id="5" name="subtitle"/>
          <p:cNvSpPr/>
          <p:nvPr/>
        </p:nvSpPr>
        <p:spPr>
          <a:xfrm>
            <a:off x="1057294" y="816255"/>
            <a:ext cx="10791692" cy="327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SNS・Web・掲示板を行き来する、という課題仮説</a:t>
            </a:r>
            <a:endParaRPr lang="en-US" sz="2000" dirty="0"/>
          </a:p>
        </p:txBody>
      </p:sp>
      <p:sp>
        <p:nvSpPr>
          <p:cNvPr id="6" name="header-rule"/>
          <p:cNvSpPr/>
          <p:nvPr/>
        </p:nvSpPr>
        <p:spPr>
          <a:xfrm>
            <a:off x="291667" y="1326414"/>
            <a:ext cx="11608361" cy="3644"/>
          </a:xfrm>
          <a:prstGeom prst="line">
            <a:avLst/>
          </a:prstGeom>
          <a:noFill/>
          <a:ln w="10160">
            <a:solidFill>
              <a:srgbClr val="9A5A2E"/>
            </a:solidFill>
            <a:prstDash val="solid"/>
          </a:ln>
        </p:spPr>
      </p:sp>
      <p:sp>
        <p:nvSpPr>
          <p:cNvPr id="7" name="section"/>
          <p:cNvSpPr/>
          <p:nvPr/>
        </p:nvSpPr>
        <p:spPr>
          <a:xfrm>
            <a:off x="269792" y="1581494"/>
            <a:ext cx="6562515" cy="357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9A5A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案内の入口をそろえる</a:t>
            </a:r>
            <a:endParaRPr lang="en-US" sz="2100" dirty="0"/>
          </a:p>
        </p:txBody>
      </p:sp>
      <p:sp>
        <p:nvSpPr>
          <p:cNvPr id="8" name="current"/>
          <p:cNvSpPr/>
          <p:nvPr/>
        </p:nvSpPr>
        <p:spPr>
          <a:xfrm>
            <a:off x="1115628" y="2215549"/>
            <a:ext cx="2078130" cy="327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現状の仮説</a:t>
            </a:r>
            <a:endParaRPr lang="en-US" sz="2100" dirty="0"/>
          </a:p>
        </p:txBody>
      </p:sp>
      <p:sp>
        <p:nvSpPr>
          <p:cNvPr id="9" name="proposal"/>
          <p:cNvSpPr/>
          <p:nvPr/>
        </p:nvSpPr>
        <p:spPr>
          <a:xfrm>
            <a:off x="5818764" y="2215549"/>
            <a:ext cx="729168" cy="327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9A5A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提案</a:t>
            </a:r>
            <a:endParaRPr lang="en-US" sz="2100" dirty="0"/>
          </a:p>
        </p:txBody>
      </p:sp>
      <p:sp>
        <p:nvSpPr>
          <p:cNvPr id="10" name="keep"/>
          <p:cNvSpPr/>
          <p:nvPr/>
        </p:nvSpPr>
        <p:spPr>
          <a:xfrm>
            <a:off x="9697939" y="2186397"/>
            <a:ext cx="1604170" cy="327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9A5A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残すもの</a:t>
            </a:r>
            <a:endParaRPr lang="en-US" sz="2100" dirty="0"/>
          </a:p>
        </p:txBody>
      </p:sp>
      <p:sp>
        <p:nvSpPr>
          <p:cNvPr id="11" name="source-box-0"/>
          <p:cNvSpPr/>
          <p:nvPr/>
        </p:nvSpPr>
        <p:spPr>
          <a:xfrm>
            <a:off x="532293" y="2630965"/>
            <a:ext cx="2413547" cy="670495"/>
          </a:xfrm>
          <a:prstGeom prst="rect">
            <a:avLst/>
          </a:prstGeom>
          <a:solidFill>
            <a:srgbClr val="F4F0E8">
              <a:alpha val="0"/>
            </a:srgbClr>
          </a:solidFill>
          <a:ln w="15240">
            <a:solidFill>
              <a:srgbClr val="9A5A2E"/>
            </a:solidFill>
            <a:prstDash val="solid"/>
          </a:ln>
        </p:spPr>
      </p:sp>
      <p:sp>
        <p:nvSpPr>
          <p:cNvPr id="12" name="source-label-0"/>
          <p:cNvSpPr/>
          <p:nvPr/>
        </p:nvSpPr>
        <p:spPr>
          <a:xfrm>
            <a:off x="765627" y="2813165"/>
            <a:ext cx="2019796" cy="36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SNS</a:t>
            </a:r>
            <a:endParaRPr lang="en-US" sz="2100" dirty="0"/>
          </a:p>
        </p:txBody>
      </p:sp>
      <p:sp>
        <p:nvSpPr>
          <p:cNvPr id="13" name="source-box-1"/>
          <p:cNvSpPr/>
          <p:nvPr/>
        </p:nvSpPr>
        <p:spPr>
          <a:xfrm>
            <a:off x="532293" y="3483660"/>
            <a:ext cx="2413547" cy="670495"/>
          </a:xfrm>
          <a:prstGeom prst="rect">
            <a:avLst/>
          </a:prstGeom>
          <a:solidFill>
            <a:srgbClr val="F4F0E8">
              <a:alpha val="0"/>
            </a:srgbClr>
          </a:solidFill>
          <a:ln w="15240">
            <a:solidFill>
              <a:srgbClr val="9A5A2E"/>
            </a:solidFill>
            <a:prstDash val="solid"/>
          </a:ln>
        </p:spPr>
      </p:sp>
      <p:sp>
        <p:nvSpPr>
          <p:cNvPr id="14" name="source-label-1"/>
          <p:cNvSpPr/>
          <p:nvPr/>
        </p:nvSpPr>
        <p:spPr>
          <a:xfrm>
            <a:off x="758335" y="3665860"/>
            <a:ext cx="2019796" cy="36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Web</a:t>
            </a:r>
            <a:endParaRPr lang="en-US" sz="2100" dirty="0"/>
          </a:p>
        </p:txBody>
      </p:sp>
      <p:sp>
        <p:nvSpPr>
          <p:cNvPr id="15" name="source-box-2"/>
          <p:cNvSpPr/>
          <p:nvPr/>
        </p:nvSpPr>
        <p:spPr>
          <a:xfrm>
            <a:off x="532293" y="4336355"/>
            <a:ext cx="2413547" cy="670495"/>
          </a:xfrm>
          <a:prstGeom prst="rect">
            <a:avLst/>
          </a:prstGeom>
          <a:solidFill>
            <a:srgbClr val="F4F0E8">
              <a:alpha val="0"/>
            </a:srgbClr>
          </a:solidFill>
          <a:ln w="15240">
            <a:solidFill>
              <a:srgbClr val="9A5A2E"/>
            </a:solidFill>
            <a:prstDash val="solid"/>
          </a:ln>
        </p:spPr>
      </p:sp>
      <p:sp>
        <p:nvSpPr>
          <p:cNvPr id="16" name="source-label-2"/>
          <p:cNvSpPr/>
          <p:nvPr/>
        </p:nvSpPr>
        <p:spPr>
          <a:xfrm>
            <a:off x="758335" y="4511267"/>
            <a:ext cx="2019796" cy="36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掲示板</a:t>
            </a:r>
            <a:endParaRPr lang="en-US" sz="2100" dirty="0"/>
          </a:p>
        </p:txBody>
      </p:sp>
      <p:sp>
        <p:nvSpPr>
          <p:cNvPr id="17" name="list-box"/>
          <p:cNvSpPr/>
          <p:nvPr/>
        </p:nvSpPr>
        <p:spPr>
          <a:xfrm>
            <a:off x="4375010" y="2856893"/>
            <a:ext cx="3441675" cy="1851150"/>
          </a:xfrm>
          <a:prstGeom prst="rect">
            <a:avLst/>
          </a:prstGeom>
          <a:solidFill>
            <a:srgbClr val="F4F0E8">
              <a:alpha val="0"/>
            </a:srgbClr>
          </a:solidFill>
          <a:ln w="15240">
            <a:solidFill>
              <a:srgbClr val="9A5A2E"/>
            </a:solidFill>
            <a:prstDash val="solid"/>
          </a:ln>
        </p:spPr>
      </p:sp>
      <p:sp>
        <p:nvSpPr>
          <p:cNvPr id="18" name="list-label"/>
          <p:cNvSpPr/>
          <p:nvPr/>
        </p:nvSpPr>
        <p:spPr>
          <a:xfrm>
            <a:off x="4739594" y="3520100"/>
            <a:ext cx="3026049" cy="5538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共通のイベント一覧</a:t>
            </a:r>
            <a:endParaRPr lang="en-US" sz="2500" dirty="0"/>
          </a:p>
        </p:txBody>
      </p:sp>
      <p:sp>
        <p:nvSpPr>
          <p:cNvPr id="19" name="details-box"/>
          <p:cNvSpPr/>
          <p:nvPr/>
        </p:nvSpPr>
        <p:spPr>
          <a:xfrm>
            <a:off x="8873979" y="2856893"/>
            <a:ext cx="3026049" cy="1851150"/>
          </a:xfrm>
          <a:prstGeom prst="rect">
            <a:avLst/>
          </a:prstGeom>
          <a:solidFill>
            <a:srgbClr val="F4F0E8">
              <a:alpha val="0"/>
            </a:srgbClr>
          </a:solidFill>
          <a:ln w="15240">
            <a:solidFill>
              <a:srgbClr val="9A5A2E"/>
            </a:solidFill>
            <a:prstDash val="solid"/>
          </a:ln>
        </p:spPr>
      </p:sp>
      <p:sp>
        <p:nvSpPr>
          <p:cNvPr id="20" name="details-label"/>
          <p:cNvSpPr/>
          <p:nvPr/>
        </p:nvSpPr>
        <p:spPr>
          <a:xfrm>
            <a:off x="9041688" y="3425356"/>
            <a:ext cx="2807298" cy="728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各店の詳しい案内</a:t>
            </a:r>
            <a:endParaRPr lang="en-US" sz="1900" dirty="0"/>
          </a:p>
          <a:p>
            <a:pPr marL="0" indent="0" algn="ctr">
              <a:buNone/>
            </a:pPr>
            <a:r>
              <a:rPr lang="en-US" sz="1900" b="1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へのリンク</a:t>
            </a:r>
            <a:endParaRPr lang="en-US" sz="1900" dirty="0"/>
          </a:p>
        </p:txBody>
      </p:sp>
      <p:sp>
        <p:nvSpPr>
          <p:cNvPr id="21" name="route-1"/>
          <p:cNvSpPr/>
          <p:nvPr/>
        </p:nvSpPr>
        <p:spPr>
          <a:xfrm>
            <a:off x="2945840" y="2966213"/>
            <a:ext cx="1421878" cy="532023"/>
          </a:xfrm>
          <a:prstGeom prst="line">
            <a:avLst/>
          </a:prstGeom>
          <a:noFill/>
          <a:ln w="10160">
            <a:solidFill>
              <a:srgbClr val="9A5A2E"/>
            </a:solidFill>
            <a:prstDash val="solid"/>
            <a:tailEnd type="triangle"/>
          </a:ln>
        </p:spPr>
      </p:sp>
      <p:sp>
        <p:nvSpPr>
          <p:cNvPr id="22" name="route-2"/>
          <p:cNvSpPr/>
          <p:nvPr/>
        </p:nvSpPr>
        <p:spPr>
          <a:xfrm>
            <a:off x="2945840" y="3797044"/>
            <a:ext cx="1421878" cy="3644"/>
          </a:xfrm>
          <a:prstGeom prst="line">
            <a:avLst/>
          </a:prstGeom>
          <a:noFill/>
          <a:ln w="10160">
            <a:solidFill>
              <a:srgbClr val="9A5A2E"/>
            </a:solidFill>
            <a:prstDash val="solid"/>
            <a:tailEnd type="triangle"/>
          </a:ln>
        </p:spPr>
      </p:sp>
      <p:sp>
        <p:nvSpPr>
          <p:cNvPr id="23" name="route-3"/>
          <p:cNvSpPr/>
          <p:nvPr/>
        </p:nvSpPr>
        <p:spPr>
          <a:xfrm flipV="1">
            <a:off x="2945840" y="4081275"/>
            <a:ext cx="1421878" cy="568463"/>
          </a:xfrm>
          <a:prstGeom prst="line">
            <a:avLst/>
          </a:prstGeom>
          <a:noFill/>
          <a:ln w="10160">
            <a:solidFill>
              <a:srgbClr val="9A5A2E"/>
            </a:solidFill>
            <a:prstDash val="solid"/>
            <a:tailEnd type="triangle"/>
          </a:ln>
        </p:spPr>
      </p:sp>
      <p:sp>
        <p:nvSpPr>
          <p:cNvPr id="24" name="route-4"/>
          <p:cNvSpPr/>
          <p:nvPr/>
        </p:nvSpPr>
        <p:spPr>
          <a:xfrm>
            <a:off x="7816685" y="3797044"/>
            <a:ext cx="1050002" cy="3644"/>
          </a:xfrm>
          <a:prstGeom prst="line">
            <a:avLst/>
          </a:prstGeom>
          <a:noFill/>
          <a:ln w="10160">
            <a:solidFill>
              <a:srgbClr val="9A5A2E"/>
            </a:solidFill>
            <a:prstDash val="solid"/>
            <a:tailEnd type="triangle"/>
          </a:ln>
        </p:spPr>
      </p:sp>
      <p:sp>
        <p:nvSpPr>
          <p:cNvPr id="25" name="caveat"/>
          <p:cNvSpPr/>
          <p:nvPr/>
        </p:nvSpPr>
        <p:spPr>
          <a:xfrm>
            <a:off x="284376" y="5298370"/>
            <a:ext cx="3645842" cy="26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現地調査は未実施</a:t>
            </a:r>
            <a:endParaRPr lang="en-US" sz="1400" dirty="0"/>
          </a:p>
        </p:txBody>
      </p:sp>
      <p:sp>
        <p:nvSpPr>
          <p:cNvPr id="26" name="bottom-rule"/>
          <p:cNvSpPr/>
          <p:nvPr/>
        </p:nvSpPr>
        <p:spPr>
          <a:xfrm>
            <a:off x="291667" y="5859545"/>
            <a:ext cx="11608361" cy="3644"/>
          </a:xfrm>
          <a:prstGeom prst="line">
            <a:avLst/>
          </a:prstGeom>
          <a:noFill/>
          <a:ln w="10160">
            <a:solidFill>
              <a:srgbClr val="9A5A2E"/>
            </a:solidFill>
            <a:prstDash val="solid"/>
          </a:ln>
        </p:spPr>
      </p:sp>
      <p:sp>
        <p:nvSpPr>
          <p:cNvPr id="27" name="takeaway"/>
          <p:cNvSpPr/>
          <p:nvPr/>
        </p:nvSpPr>
        <p:spPr>
          <a:xfrm>
            <a:off x="291667" y="6078185"/>
            <a:ext cx="9406272" cy="4518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9A5A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既存の発信を生かし、一覧を共通の入口にする。</a:t>
            </a:r>
            <a:endParaRPr lang="en-US" sz="2700" dirty="0"/>
          </a:p>
        </p:txBody>
      </p:sp>
      <p:sp>
        <p:nvSpPr>
          <p:cNvPr id="28" name="footer"/>
          <p:cNvSpPr/>
          <p:nvPr/>
        </p:nvSpPr>
        <p:spPr>
          <a:xfrm>
            <a:off x="291667" y="6559192"/>
            <a:ext cx="11608361" cy="189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14B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架空の企画例。課題は検証前の仮説です。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36502693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0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ge-number"/>
          <p:cNvSpPr/>
          <p:nvPr/>
        </p:nvSpPr>
        <p:spPr>
          <a:xfrm>
            <a:off x="226042" y="269656"/>
            <a:ext cx="444793" cy="371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300" b="1" dirty="0">
                <a:solidFill>
                  <a:srgbClr val="9A5A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03</a:t>
            </a:r>
            <a:endParaRPr lang="en-US" sz="2300" dirty="0"/>
          </a:p>
        </p:txBody>
      </p:sp>
      <p:sp>
        <p:nvSpPr>
          <p:cNvPr id="3" name="number-rule"/>
          <p:cNvSpPr/>
          <p:nvPr/>
        </p:nvSpPr>
        <p:spPr>
          <a:xfrm>
            <a:off x="772918" y="189488"/>
            <a:ext cx="3646" cy="502871"/>
          </a:xfrm>
          <a:prstGeom prst="line">
            <a:avLst/>
          </a:prstGeom>
          <a:noFill/>
          <a:ln w="10160">
            <a:solidFill>
              <a:srgbClr val="9A5A2E"/>
            </a:solidFill>
            <a:prstDash val="solid"/>
          </a:ln>
        </p:spPr>
      </p:sp>
      <p:sp>
        <p:nvSpPr>
          <p:cNvPr id="4" name="title"/>
          <p:cNvSpPr/>
          <p:nvPr/>
        </p:nvSpPr>
        <p:spPr>
          <a:xfrm>
            <a:off x="991669" y="291520"/>
            <a:ext cx="10645858" cy="575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一覧には、比較に必要な項目をそろえる</a:t>
            </a:r>
            <a:endParaRPr lang="en-US" sz="3400" dirty="0"/>
          </a:p>
        </p:txBody>
      </p:sp>
      <p:sp>
        <p:nvSpPr>
          <p:cNvPr id="5" name="subtitle"/>
          <p:cNvSpPr/>
          <p:nvPr/>
        </p:nvSpPr>
        <p:spPr>
          <a:xfrm>
            <a:off x="984377" y="787103"/>
            <a:ext cx="10791692" cy="393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日時・場所・費用・雨天時の扱いを同じ順序で掲載</a:t>
            </a:r>
            <a:endParaRPr lang="en-US" sz="2000" dirty="0"/>
          </a:p>
        </p:txBody>
      </p:sp>
      <p:sp>
        <p:nvSpPr>
          <p:cNvPr id="6" name="table-header"/>
          <p:cNvSpPr/>
          <p:nvPr/>
        </p:nvSpPr>
        <p:spPr>
          <a:xfrm>
            <a:off x="255209" y="1406582"/>
            <a:ext cx="11688569" cy="757951"/>
          </a:xfrm>
          <a:prstGeom prst="rect">
            <a:avLst/>
          </a:prstGeom>
          <a:solidFill>
            <a:srgbClr val="9A5A2E"/>
          </a:solidFill>
          <a:ln w="10160">
            <a:solidFill>
              <a:srgbClr val="B8B6B1">
                <a:alpha val="0"/>
              </a:srgbClr>
            </a:solidFill>
            <a:prstDash val="solid"/>
          </a:ln>
        </p:spPr>
      </p:sp>
      <p:sp>
        <p:nvSpPr>
          <p:cNvPr id="7" name="table-v-0"/>
          <p:cNvSpPr/>
          <p:nvPr/>
        </p:nvSpPr>
        <p:spPr>
          <a:xfrm>
            <a:off x="255209" y="1406582"/>
            <a:ext cx="3646" cy="3797044"/>
          </a:xfrm>
          <a:prstGeom prst="line">
            <a:avLst/>
          </a:prstGeom>
          <a:noFill/>
          <a:ln w="10160">
            <a:solidFill>
              <a:srgbClr val="B8B6B1"/>
            </a:solidFill>
            <a:prstDash val="solid"/>
          </a:ln>
        </p:spPr>
      </p:sp>
      <p:sp>
        <p:nvSpPr>
          <p:cNvPr id="8" name="table-v-1"/>
          <p:cNvSpPr/>
          <p:nvPr/>
        </p:nvSpPr>
        <p:spPr>
          <a:xfrm>
            <a:off x="2617714" y="1406582"/>
            <a:ext cx="3646" cy="3797044"/>
          </a:xfrm>
          <a:prstGeom prst="line">
            <a:avLst/>
          </a:prstGeom>
          <a:noFill/>
          <a:ln w="10160">
            <a:solidFill>
              <a:srgbClr val="B8B6B1"/>
            </a:solidFill>
            <a:prstDash val="solid"/>
          </a:ln>
        </p:spPr>
      </p:sp>
      <p:sp>
        <p:nvSpPr>
          <p:cNvPr id="9" name="table-v-2"/>
          <p:cNvSpPr/>
          <p:nvPr/>
        </p:nvSpPr>
        <p:spPr>
          <a:xfrm>
            <a:off x="4951053" y="1406582"/>
            <a:ext cx="3646" cy="3797044"/>
          </a:xfrm>
          <a:prstGeom prst="line">
            <a:avLst/>
          </a:prstGeom>
          <a:noFill/>
          <a:ln w="10160">
            <a:solidFill>
              <a:srgbClr val="B8B6B1"/>
            </a:solidFill>
            <a:prstDash val="solid"/>
          </a:ln>
        </p:spPr>
      </p:sp>
      <p:sp>
        <p:nvSpPr>
          <p:cNvPr id="10" name="table-v-3"/>
          <p:cNvSpPr/>
          <p:nvPr/>
        </p:nvSpPr>
        <p:spPr>
          <a:xfrm>
            <a:off x="7335434" y="1406582"/>
            <a:ext cx="3646" cy="3797044"/>
          </a:xfrm>
          <a:prstGeom prst="line">
            <a:avLst/>
          </a:prstGeom>
          <a:noFill/>
          <a:ln w="10160">
            <a:solidFill>
              <a:srgbClr val="B8B6B1"/>
            </a:solidFill>
            <a:prstDash val="solid"/>
          </a:ln>
        </p:spPr>
      </p:sp>
      <p:sp>
        <p:nvSpPr>
          <p:cNvPr id="11" name="table-v-4"/>
          <p:cNvSpPr/>
          <p:nvPr/>
        </p:nvSpPr>
        <p:spPr>
          <a:xfrm>
            <a:off x="9617731" y="1406582"/>
            <a:ext cx="3646" cy="3797044"/>
          </a:xfrm>
          <a:prstGeom prst="line">
            <a:avLst/>
          </a:prstGeom>
          <a:noFill/>
          <a:ln w="10160">
            <a:solidFill>
              <a:srgbClr val="B8B6B1"/>
            </a:solidFill>
            <a:prstDash val="solid"/>
          </a:ln>
        </p:spPr>
      </p:sp>
      <p:sp>
        <p:nvSpPr>
          <p:cNvPr id="12" name="table-v-5"/>
          <p:cNvSpPr/>
          <p:nvPr/>
        </p:nvSpPr>
        <p:spPr>
          <a:xfrm>
            <a:off x="11943778" y="1406582"/>
            <a:ext cx="3646" cy="3797044"/>
          </a:xfrm>
          <a:prstGeom prst="line">
            <a:avLst/>
          </a:prstGeom>
          <a:noFill/>
          <a:ln w="10160">
            <a:solidFill>
              <a:srgbClr val="B8B6B1"/>
            </a:solidFill>
            <a:prstDash val="solid"/>
          </a:ln>
        </p:spPr>
      </p:sp>
      <p:sp>
        <p:nvSpPr>
          <p:cNvPr id="13" name="table-h-0"/>
          <p:cNvSpPr/>
          <p:nvPr/>
        </p:nvSpPr>
        <p:spPr>
          <a:xfrm>
            <a:off x="255209" y="1406582"/>
            <a:ext cx="11688569" cy="3644"/>
          </a:xfrm>
          <a:prstGeom prst="line">
            <a:avLst/>
          </a:prstGeom>
          <a:noFill/>
          <a:ln w="10160">
            <a:solidFill>
              <a:srgbClr val="B8B6B1"/>
            </a:solidFill>
            <a:prstDash val="solid"/>
          </a:ln>
        </p:spPr>
      </p:sp>
      <p:sp>
        <p:nvSpPr>
          <p:cNvPr id="14" name="table-h-1"/>
          <p:cNvSpPr/>
          <p:nvPr/>
        </p:nvSpPr>
        <p:spPr>
          <a:xfrm>
            <a:off x="255209" y="2164533"/>
            <a:ext cx="11688569" cy="3644"/>
          </a:xfrm>
          <a:prstGeom prst="line">
            <a:avLst/>
          </a:prstGeom>
          <a:noFill/>
          <a:ln w="10160">
            <a:solidFill>
              <a:srgbClr val="B8B6B1"/>
            </a:solidFill>
            <a:prstDash val="solid"/>
          </a:ln>
        </p:spPr>
      </p:sp>
      <p:sp>
        <p:nvSpPr>
          <p:cNvPr id="15" name="table-h-2"/>
          <p:cNvSpPr/>
          <p:nvPr/>
        </p:nvSpPr>
        <p:spPr>
          <a:xfrm>
            <a:off x="255209" y="3162988"/>
            <a:ext cx="11688569" cy="3644"/>
          </a:xfrm>
          <a:prstGeom prst="line">
            <a:avLst/>
          </a:prstGeom>
          <a:noFill/>
          <a:ln w="10160">
            <a:solidFill>
              <a:srgbClr val="B8B6B1"/>
            </a:solidFill>
            <a:prstDash val="solid"/>
          </a:ln>
        </p:spPr>
      </p:sp>
      <p:sp>
        <p:nvSpPr>
          <p:cNvPr id="16" name="table-h-3"/>
          <p:cNvSpPr/>
          <p:nvPr/>
        </p:nvSpPr>
        <p:spPr>
          <a:xfrm>
            <a:off x="255209" y="4190595"/>
            <a:ext cx="11688569" cy="3644"/>
          </a:xfrm>
          <a:prstGeom prst="line">
            <a:avLst/>
          </a:prstGeom>
          <a:noFill/>
          <a:ln w="10160">
            <a:solidFill>
              <a:srgbClr val="B8B6B1"/>
            </a:solidFill>
            <a:prstDash val="solid"/>
          </a:ln>
        </p:spPr>
      </p:sp>
      <p:sp>
        <p:nvSpPr>
          <p:cNvPr id="17" name="table-h-4"/>
          <p:cNvSpPr/>
          <p:nvPr/>
        </p:nvSpPr>
        <p:spPr>
          <a:xfrm>
            <a:off x="255209" y="5203626"/>
            <a:ext cx="11688569" cy="3644"/>
          </a:xfrm>
          <a:prstGeom prst="line">
            <a:avLst/>
          </a:prstGeom>
          <a:noFill/>
          <a:ln w="10160">
            <a:solidFill>
              <a:srgbClr val="B8B6B1"/>
            </a:solidFill>
            <a:prstDash val="solid"/>
          </a:ln>
        </p:spPr>
      </p:sp>
      <p:sp>
        <p:nvSpPr>
          <p:cNvPr id="18" name="header-0"/>
          <p:cNvSpPr/>
          <p:nvPr/>
        </p:nvSpPr>
        <p:spPr>
          <a:xfrm>
            <a:off x="328126" y="1530478"/>
            <a:ext cx="2216672" cy="5393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イベント</a:t>
            </a:r>
            <a:endParaRPr lang="en-US" sz="2200" dirty="0"/>
          </a:p>
        </p:txBody>
      </p:sp>
      <p:sp>
        <p:nvSpPr>
          <p:cNvPr id="19" name="header-1"/>
          <p:cNvSpPr/>
          <p:nvPr/>
        </p:nvSpPr>
        <p:spPr>
          <a:xfrm>
            <a:off x="2690631" y="1530478"/>
            <a:ext cx="2187505" cy="5393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日時</a:t>
            </a:r>
            <a:endParaRPr lang="en-US" sz="2200" dirty="0"/>
          </a:p>
        </p:txBody>
      </p:sp>
      <p:sp>
        <p:nvSpPr>
          <p:cNvPr id="20" name="header-2"/>
          <p:cNvSpPr/>
          <p:nvPr/>
        </p:nvSpPr>
        <p:spPr>
          <a:xfrm>
            <a:off x="5023970" y="1530478"/>
            <a:ext cx="2238547" cy="5393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場所</a:t>
            </a:r>
            <a:endParaRPr lang="en-US" sz="2200" dirty="0"/>
          </a:p>
        </p:txBody>
      </p:sp>
      <p:sp>
        <p:nvSpPr>
          <p:cNvPr id="21" name="header-3"/>
          <p:cNvSpPr/>
          <p:nvPr/>
        </p:nvSpPr>
        <p:spPr>
          <a:xfrm>
            <a:off x="7408351" y="1530478"/>
            <a:ext cx="2136463" cy="5393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費用</a:t>
            </a:r>
            <a:endParaRPr lang="en-US" sz="2200" dirty="0"/>
          </a:p>
        </p:txBody>
      </p:sp>
      <p:sp>
        <p:nvSpPr>
          <p:cNvPr id="22" name="header-4"/>
          <p:cNvSpPr/>
          <p:nvPr/>
        </p:nvSpPr>
        <p:spPr>
          <a:xfrm>
            <a:off x="9690648" y="1530478"/>
            <a:ext cx="2180213" cy="5393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雨天時</a:t>
            </a:r>
            <a:endParaRPr lang="en-US" sz="2200" dirty="0"/>
          </a:p>
        </p:txBody>
      </p:sp>
      <p:sp>
        <p:nvSpPr>
          <p:cNvPr id="23" name="cell-0-0"/>
          <p:cNvSpPr/>
          <p:nvPr/>
        </p:nvSpPr>
        <p:spPr>
          <a:xfrm>
            <a:off x="444793" y="2295717"/>
            <a:ext cx="2019796" cy="706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朝のパン市</a:t>
            </a:r>
            <a:endParaRPr lang="en-US" sz="2100" dirty="0"/>
          </a:p>
        </p:txBody>
      </p:sp>
      <p:sp>
        <p:nvSpPr>
          <p:cNvPr id="24" name="cell-0-1"/>
          <p:cNvSpPr/>
          <p:nvPr/>
        </p:nvSpPr>
        <p:spPr>
          <a:xfrm>
            <a:off x="2894798" y="2295717"/>
            <a:ext cx="1990630" cy="706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11月7日（土）</a:t>
            </a:r>
            <a:endParaRPr lang="en-US" sz="2100" dirty="0"/>
          </a:p>
          <a:p>
            <a:pPr marL="0" indent="0" algn="l">
              <a:buNone/>
            </a:pPr>
            <a:r>
              <a:rPr lang="en-US" sz="2100" b="1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10–12時</a:t>
            </a:r>
            <a:endParaRPr lang="en-US" sz="2100" dirty="0"/>
          </a:p>
        </p:txBody>
      </p:sp>
      <p:sp>
        <p:nvSpPr>
          <p:cNvPr id="25" name="cell-0-2"/>
          <p:cNvSpPr/>
          <p:nvPr/>
        </p:nvSpPr>
        <p:spPr>
          <a:xfrm>
            <a:off x="5147929" y="2310293"/>
            <a:ext cx="2041671" cy="706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こもれび広場</a:t>
            </a:r>
            <a:endParaRPr lang="en-US" sz="2100" dirty="0"/>
          </a:p>
        </p:txBody>
      </p:sp>
      <p:sp>
        <p:nvSpPr>
          <p:cNvPr id="26" name="cell-0-3"/>
          <p:cNvSpPr/>
          <p:nvPr/>
        </p:nvSpPr>
        <p:spPr>
          <a:xfrm>
            <a:off x="7532309" y="2310293"/>
            <a:ext cx="1939588" cy="706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入場無料／</a:t>
            </a:r>
            <a:endParaRPr lang="en-US" sz="2100" dirty="0"/>
          </a:p>
          <a:p>
            <a:pPr marL="0" indent="0" algn="l">
              <a:buNone/>
            </a:pPr>
            <a:r>
              <a:rPr lang="en-US" sz="2100" b="1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購入は別</a:t>
            </a:r>
            <a:endParaRPr lang="en-US" sz="2100" dirty="0"/>
          </a:p>
        </p:txBody>
      </p:sp>
      <p:sp>
        <p:nvSpPr>
          <p:cNvPr id="27" name="cell-0-4"/>
          <p:cNvSpPr/>
          <p:nvPr/>
        </p:nvSpPr>
        <p:spPr>
          <a:xfrm>
            <a:off x="9814606" y="2310293"/>
            <a:ext cx="1983338" cy="706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小雨実施・</a:t>
            </a:r>
            <a:endParaRPr lang="en-US" sz="2100" dirty="0"/>
          </a:p>
          <a:p>
            <a:pPr marL="0" indent="0" algn="l">
              <a:buNone/>
            </a:pPr>
            <a:r>
              <a:rPr lang="en-US" sz="2100" b="1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荒天中止</a:t>
            </a:r>
            <a:endParaRPr lang="en-US" sz="2100" dirty="0"/>
          </a:p>
        </p:txBody>
      </p:sp>
      <p:sp>
        <p:nvSpPr>
          <p:cNvPr id="28" name="cell-1-0"/>
          <p:cNvSpPr/>
          <p:nvPr/>
        </p:nvSpPr>
        <p:spPr>
          <a:xfrm>
            <a:off x="444793" y="3316036"/>
            <a:ext cx="2019796" cy="7360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路地の音楽会</a:t>
            </a:r>
            <a:endParaRPr lang="en-US" sz="2100" dirty="0"/>
          </a:p>
        </p:txBody>
      </p:sp>
      <p:sp>
        <p:nvSpPr>
          <p:cNvPr id="29" name="cell-1-1"/>
          <p:cNvSpPr/>
          <p:nvPr/>
        </p:nvSpPr>
        <p:spPr>
          <a:xfrm>
            <a:off x="2851048" y="3301460"/>
            <a:ext cx="2078130" cy="7360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11月14日（土）</a:t>
            </a:r>
            <a:endParaRPr lang="en-US" sz="2100" dirty="0"/>
          </a:p>
          <a:p>
            <a:pPr marL="0" indent="0" algn="l">
              <a:buNone/>
            </a:pPr>
            <a:r>
              <a:rPr lang="en-US" sz="2100" b="1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14–16時</a:t>
            </a:r>
            <a:endParaRPr lang="en-US" sz="2100" dirty="0"/>
          </a:p>
        </p:txBody>
      </p:sp>
      <p:sp>
        <p:nvSpPr>
          <p:cNvPr id="30" name="cell-1-2"/>
          <p:cNvSpPr/>
          <p:nvPr/>
        </p:nvSpPr>
        <p:spPr>
          <a:xfrm>
            <a:off x="5257304" y="3330612"/>
            <a:ext cx="2041671" cy="7360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ふれあい会館</a:t>
            </a:r>
            <a:endParaRPr lang="en-US" sz="2100" dirty="0"/>
          </a:p>
        </p:txBody>
      </p:sp>
      <p:sp>
        <p:nvSpPr>
          <p:cNvPr id="31" name="cell-1-3"/>
          <p:cNvSpPr/>
          <p:nvPr/>
        </p:nvSpPr>
        <p:spPr>
          <a:xfrm>
            <a:off x="7532309" y="3308748"/>
            <a:ext cx="1939588" cy="7360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入場無料</a:t>
            </a:r>
            <a:endParaRPr lang="en-US" sz="2100" dirty="0"/>
          </a:p>
        </p:txBody>
      </p:sp>
      <p:sp>
        <p:nvSpPr>
          <p:cNvPr id="32" name="cell-1-4"/>
          <p:cNvSpPr/>
          <p:nvPr/>
        </p:nvSpPr>
        <p:spPr>
          <a:xfrm>
            <a:off x="9814606" y="3308748"/>
            <a:ext cx="1983338" cy="7360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屋内開催</a:t>
            </a:r>
            <a:endParaRPr lang="en-US" sz="2100" dirty="0"/>
          </a:p>
        </p:txBody>
      </p:sp>
      <p:sp>
        <p:nvSpPr>
          <p:cNvPr id="33" name="cell-2-0"/>
          <p:cNvSpPr/>
          <p:nvPr/>
        </p:nvSpPr>
        <p:spPr>
          <a:xfrm>
            <a:off x="437501" y="4336355"/>
            <a:ext cx="2019796" cy="7215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夕暮れ古本交換</a:t>
            </a:r>
            <a:endParaRPr lang="en-US" sz="2100" dirty="0"/>
          </a:p>
        </p:txBody>
      </p:sp>
      <p:sp>
        <p:nvSpPr>
          <p:cNvPr id="34" name="cell-2-1"/>
          <p:cNvSpPr/>
          <p:nvPr/>
        </p:nvSpPr>
        <p:spPr>
          <a:xfrm>
            <a:off x="2851048" y="4329067"/>
            <a:ext cx="2078130" cy="7215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11月21日（土）</a:t>
            </a:r>
            <a:endParaRPr lang="en-US" sz="2100" dirty="0"/>
          </a:p>
          <a:p>
            <a:pPr marL="0" indent="0" algn="l">
              <a:buNone/>
            </a:pPr>
            <a:r>
              <a:rPr lang="en-US" sz="2100" b="1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16–18時</a:t>
            </a:r>
            <a:endParaRPr lang="en-US" sz="2100" dirty="0"/>
          </a:p>
        </p:txBody>
      </p:sp>
      <p:sp>
        <p:nvSpPr>
          <p:cNvPr id="35" name="cell-2-2"/>
          <p:cNvSpPr/>
          <p:nvPr/>
        </p:nvSpPr>
        <p:spPr>
          <a:xfrm>
            <a:off x="5250012" y="4358219"/>
            <a:ext cx="2041671" cy="7215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駅前アーケード</a:t>
            </a:r>
            <a:endParaRPr lang="en-US" sz="2100" dirty="0"/>
          </a:p>
        </p:txBody>
      </p:sp>
      <p:sp>
        <p:nvSpPr>
          <p:cNvPr id="36" name="cell-2-3"/>
          <p:cNvSpPr/>
          <p:nvPr/>
        </p:nvSpPr>
        <p:spPr>
          <a:xfrm>
            <a:off x="7532309" y="4336355"/>
            <a:ext cx="1939588" cy="7215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参加無料</a:t>
            </a:r>
            <a:endParaRPr lang="en-US" sz="2100" dirty="0"/>
          </a:p>
        </p:txBody>
      </p:sp>
      <p:sp>
        <p:nvSpPr>
          <p:cNvPr id="37" name="cell-2-4"/>
          <p:cNvSpPr/>
          <p:nvPr/>
        </p:nvSpPr>
        <p:spPr>
          <a:xfrm>
            <a:off x="9814606" y="4336355"/>
            <a:ext cx="1983338" cy="7215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屋根下で実施</a:t>
            </a:r>
            <a:endParaRPr lang="en-US" sz="2100" dirty="0"/>
          </a:p>
        </p:txBody>
      </p:sp>
      <p:sp>
        <p:nvSpPr>
          <p:cNvPr id="38" name="note-1"/>
          <p:cNvSpPr/>
          <p:nvPr/>
        </p:nvSpPr>
        <p:spPr>
          <a:xfrm>
            <a:off x="342709" y="5342098"/>
            <a:ext cx="10572941" cy="29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追加する管理項目：連絡先／最終更新日</a:t>
            </a:r>
            <a:endParaRPr lang="en-US" sz="1500" dirty="0"/>
          </a:p>
        </p:txBody>
      </p:sp>
      <p:sp>
        <p:nvSpPr>
          <p:cNvPr id="39" name="note-2"/>
          <p:cNvSpPr/>
          <p:nvPr/>
        </p:nvSpPr>
        <p:spPr>
          <a:xfrm>
            <a:off x="342709" y="5691921"/>
            <a:ext cx="10718775" cy="29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掲載例の年は2026年。実在の開催予定ではない。</a:t>
            </a:r>
            <a:endParaRPr lang="en-US" sz="1500" dirty="0"/>
          </a:p>
        </p:txBody>
      </p:sp>
      <p:sp>
        <p:nvSpPr>
          <p:cNvPr id="40" name="bottom-rule"/>
          <p:cNvSpPr/>
          <p:nvPr/>
        </p:nvSpPr>
        <p:spPr>
          <a:xfrm>
            <a:off x="255209" y="6041745"/>
            <a:ext cx="11695861" cy="3644"/>
          </a:xfrm>
          <a:prstGeom prst="line">
            <a:avLst/>
          </a:prstGeom>
          <a:noFill/>
          <a:ln w="10160">
            <a:solidFill>
              <a:srgbClr val="B8B6B1"/>
            </a:solidFill>
            <a:prstDash val="solid"/>
          </a:ln>
        </p:spPr>
      </p:sp>
      <p:sp>
        <p:nvSpPr>
          <p:cNvPr id="41" name="takeaway"/>
          <p:cNvSpPr/>
          <p:nvPr/>
        </p:nvSpPr>
        <p:spPr>
          <a:xfrm>
            <a:off x="240626" y="6121913"/>
            <a:ext cx="11302110" cy="393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9A5A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見た目より先に、掲載項目と更新日をそろえる。</a:t>
            </a:r>
            <a:endParaRPr lang="en-US" sz="2400" dirty="0"/>
          </a:p>
        </p:txBody>
      </p:sp>
      <p:sp>
        <p:nvSpPr>
          <p:cNvPr id="42" name="footer"/>
          <p:cNvSpPr/>
          <p:nvPr/>
        </p:nvSpPr>
        <p:spPr>
          <a:xfrm>
            <a:off x="291667" y="6559192"/>
            <a:ext cx="11608361" cy="189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14B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架空の企画例。開催情報はすべて例示。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7481726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0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ge-number"/>
          <p:cNvSpPr/>
          <p:nvPr/>
        </p:nvSpPr>
        <p:spPr>
          <a:xfrm>
            <a:off x="350001" y="145760"/>
            <a:ext cx="444793" cy="36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300" b="1" dirty="0">
                <a:solidFill>
                  <a:srgbClr val="9A5A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04</a:t>
            </a:r>
            <a:endParaRPr lang="en-US" sz="2300" dirty="0"/>
          </a:p>
        </p:txBody>
      </p:sp>
      <p:sp>
        <p:nvSpPr>
          <p:cNvPr id="3" name="number-rule"/>
          <p:cNvSpPr/>
          <p:nvPr/>
        </p:nvSpPr>
        <p:spPr>
          <a:xfrm>
            <a:off x="875002" y="335248"/>
            <a:ext cx="10973984" cy="3644"/>
          </a:xfrm>
          <a:prstGeom prst="line">
            <a:avLst/>
          </a:prstGeom>
          <a:noFill/>
          <a:ln w="10160">
            <a:solidFill>
              <a:srgbClr val="9A5A2E"/>
            </a:solidFill>
            <a:prstDash val="solid"/>
          </a:ln>
        </p:spPr>
      </p:sp>
      <p:sp>
        <p:nvSpPr>
          <p:cNvPr id="4" name="title"/>
          <p:cNvSpPr/>
          <p:nvPr/>
        </p:nvSpPr>
        <p:spPr>
          <a:xfrm>
            <a:off x="350001" y="583039"/>
            <a:ext cx="11484402" cy="6121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500" b="1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更新の窓口と、公開前の確認を決める</a:t>
            </a:r>
            <a:endParaRPr lang="en-US" sz="3500" dirty="0"/>
          </a:p>
        </p:txBody>
      </p:sp>
      <p:sp>
        <p:nvSpPr>
          <p:cNvPr id="5" name="subtitle"/>
          <p:cNvSpPr/>
          <p:nvPr/>
        </p:nvSpPr>
        <p:spPr>
          <a:xfrm>
            <a:off x="364584" y="1253535"/>
            <a:ext cx="11302110" cy="371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提案する担当分担｜実際の担当者との合意は未取得</a:t>
            </a:r>
            <a:endParaRPr lang="en-US" sz="2000" dirty="0"/>
          </a:p>
        </p:txBody>
      </p:sp>
      <p:sp>
        <p:nvSpPr>
          <p:cNvPr id="6" name="table-header"/>
          <p:cNvSpPr/>
          <p:nvPr/>
        </p:nvSpPr>
        <p:spPr>
          <a:xfrm>
            <a:off x="357293" y="1800134"/>
            <a:ext cx="11477110" cy="597615"/>
          </a:xfrm>
          <a:prstGeom prst="rect">
            <a:avLst/>
          </a:prstGeom>
          <a:solidFill>
            <a:srgbClr val="9A5A2E"/>
          </a:solidFill>
          <a:ln w="10160">
            <a:solidFill>
              <a:srgbClr val="B8B6B1">
                <a:alpha val="0"/>
              </a:srgbClr>
            </a:solidFill>
            <a:prstDash val="solid"/>
          </a:ln>
        </p:spPr>
      </p:sp>
      <p:sp>
        <p:nvSpPr>
          <p:cNvPr id="7" name="table-v-0"/>
          <p:cNvSpPr/>
          <p:nvPr/>
        </p:nvSpPr>
        <p:spPr>
          <a:xfrm>
            <a:off x="357293" y="1800134"/>
            <a:ext cx="3646" cy="3636708"/>
          </a:xfrm>
          <a:prstGeom prst="line">
            <a:avLst/>
          </a:prstGeom>
          <a:noFill/>
          <a:ln w="10160">
            <a:solidFill>
              <a:srgbClr val="B8B6B1"/>
            </a:solidFill>
            <a:prstDash val="solid"/>
          </a:ln>
        </p:spPr>
      </p:sp>
      <p:sp>
        <p:nvSpPr>
          <p:cNvPr id="8" name="table-v-1"/>
          <p:cNvSpPr/>
          <p:nvPr/>
        </p:nvSpPr>
        <p:spPr>
          <a:xfrm>
            <a:off x="3572925" y="1800134"/>
            <a:ext cx="3646" cy="3636708"/>
          </a:xfrm>
          <a:prstGeom prst="line">
            <a:avLst/>
          </a:prstGeom>
          <a:noFill/>
          <a:ln w="10160">
            <a:solidFill>
              <a:srgbClr val="B8B6B1"/>
            </a:solidFill>
            <a:prstDash val="solid"/>
          </a:ln>
        </p:spPr>
      </p:sp>
      <p:sp>
        <p:nvSpPr>
          <p:cNvPr id="9" name="table-v-2"/>
          <p:cNvSpPr/>
          <p:nvPr/>
        </p:nvSpPr>
        <p:spPr>
          <a:xfrm>
            <a:off x="7510434" y="1800134"/>
            <a:ext cx="3646" cy="3636708"/>
          </a:xfrm>
          <a:prstGeom prst="line">
            <a:avLst/>
          </a:prstGeom>
          <a:noFill/>
          <a:ln w="10160">
            <a:solidFill>
              <a:srgbClr val="B8B6B1"/>
            </a:solidFill>
            <a:prstDash val="solid"/>
          </a:ln>
        </p:spPr>
      </p:sp>
      <p:sp>
        <p:nvSpPr>
          <p:cNvPr id="10" name="table-v-3"/>
          <p:cNvSpPr/>
          <p:nvPr/>
        </p:nvSpPr>
        <p:spPr>
          <a:xfrm>
            <a:off x="11834403" y="1800134"/>
            <a:ext cx="3646" cy="3636708"/>
          </a:xfrm>
          <a:prstGeom prst="line">
            <a:avLst/>
          </a:prstGeom>
          <a:noFill/>
          <a:ln w="10160">
            <a:solidFill>
              <a:srgbClr val="B8B6B1"/>
            </a:solidFill>
            <a:prstDash val="solid"/>
          </a:ln>
        </p:spPr>
      </p:sp>
      <p:sp>
        <p:nvSpPr>
          <p:cNvPr id="11" name="table-h-0"/>
          <p:cNvSpPr/>
          <p:nvPr/>
        </p:nvSpPr>
        <p:spPr>
          <a:xfrm>
            <a:off x="357293" y="1800134"/>
            <a:ext cx="11477110" cy="3644"/>
          </a:xfrm>
          <a:prstGeom prst="line">
            <a:avLst/>
          </a:prstGeom>
          <a:noFill/>
          <a:ln w="10160">
            <a:solidFill>
              <a:srgbClr val="B8B6B1"/>
            </a:solidFill>
            <a:prstDash val="solid"/>
          </a:ln>
        </p:spPr>
      </p:sp>
      <p:sp>
        <p:nvSpPr>
          <p:cNvPr id="12" name="table-h-1"/>
          <p:cNvSpPr/>
          <p:nvPr/>
        </p:nvSpPr>
        <p:spPr>
          <a:xfrm>
            <a:off x="357293" y="2397749"/>
            <a:ext cx="11477110" cy="3644"/>
          </a:xfrm>
          <a:prstGeom prst="line">
            <a:avLst/>
          </a:prstGeom>
          <a:noFill/>
          <a:ln w="10160">
            <a:solidFill>
              <a:srgbClr val="B8B6B1"/>
            </a:solidFill>
            <a:prstDash val="solid"/>
          </a:ln>
        </p:spPr>
      </p:sp>
      <p:sp>
        <p:nvSpPr>
          <p:cNvPr id="13" name="table-h-2"/>
          <p:cNvSpPr/>
          <p:nvPr/>
        </p:nvSpPr>
        <p:spPr>
          <a:xfrm>
            <a:off x="357293" y="3403492"/>
            <a:ext cx="11477110" cy="3644"/>
          </a:xfrm>
          <a:prstGeom prst="line">
            <a:avLst/>
          </a:prstGeom>
          <a:noFill/>
          <a:ln w="10160">
            <a:solidFill>
              <a:srgbClr val="B8B6B1"/>
            </a:solidFill>
            <a:prstDash val="solid"/>
          </a:ln>
        </p:spPr>
      </p:sp>
      <p:sp>
        <p:nvSpPr>
          <p:cNvPr id="14" name="table-h-3"/>
          <p:cNvSpPr/>
          <p:nvPr/>
        </p:nvSpPr>
        <p:spPr>
          <a:xfrm>
            <a:off x="357293" y="4409235"/>
            <a:ext cx="11477110" cy="3644"/>
          </a:xfrm>
          <a:prstGeom prst="line">
            <a:avLst/>
          </a:prstGeom>
          <a:noFill/>
          <a:ln w="10160">
            <a:solidFill>
              <a:srgbClr val="B8B6B1"/>
            </a:solidFill>
            <a:prstDash val="solid"/>
          </a:ln>
        </p:spPr>
      </p:sp>
      <p:sp>
        <p:nvSpPr>
          <p:cNvPr id="15" name="table-h-4"/>
          <p:cNvSpPr/>
          <p:nvPr/>
        </p:nvSpPr>
        <p:spPr>
          <a:xfrm>
            <a:off x="357293" y="5436842"/>
            <a:ext cx="11477110" cy="3644"/>
          </a:xfrm>
          <a:prstGeom prst="line">
            <a:avLst/>
          </a:prstGeom>
          <a:noFill/>
          <a:ln w="10160">
            <a:solidFill>
              <a:srgbClr val="B8B6B1"/>
            </a:solidFill>
            <a:prstDash val="solid"/>
          </a:ln>
        </p:spPr>
      </p:sp>
      <p:sp>
        <p:nvSpPr>
          <p:cNvPr id="16" name="header-0"/>
          <p:cNvSpPr/>
          <p:nvPr/>
        </p:nvSpPr>
        <p:spPr>
          <a:xfrm>
            <a:off x="430209" y="1924030"/>
            <a:ext cx="3069799" cy="378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段階</a:t>
            </a:r>
            <a:endParaRPr lang="en-US" sz="2200" dirty="0"/>
          </a:p>
        </p:txBody>
      </p:sp>
      <p:sp>
        <p:nvSpPr>
          <p:cNvPr id="17" name="header-1"/>
          <p:cNvSpPr/>
          <p:nvPr/>
        </p:nvSpPr>
        <p:spPr>
          <a:xfrm>
            <a:off x="3645842" y="1924030"/>
            <a:ext cx="3791676" cy="378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担当案</a:t>
            </a:r>
            <a:endParaRPr lang="en-US" sz="2200" dirty="0"/>
          </a:p>
        </p:txBody>
      </p:sp>
      <p:sp>
        <p:nvSpPr>
          <p:cNvPr id="18" name="header-2"/>
          <p:cNvSpPr/>
          <p:nvPr/>
        </p:nvSpPr>
        <p:spPr>
          <a:xfrm>
            <a:off x="7583351" y="1924030"/>
            <a:ext cx="4178135" cy="378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確認すること</a:t>
            </a:r>
            <a:endParaRPr lang="en-US" sz="2200" dirty="0"/>
          </a:p>
        </p:txBody>
      </p:sp>
      <p:sp>
        <p:nvSpPr>
          <p:cNvPr id="19" name="cell-0-0"/>
          <p:cNvSpPr/>
          <p:nvPr/>
        </p:nvSpPr>
        <p:spPr>
          <a:xfrm>
            <a:off x="1400003" y="2528933"/>
            <a:ext cx="2048963" cy="7142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情報を渡す</a:t>
            </a:r>
            <a:endParaRPr lang="en-US" sz="2000" dirty="0"/>
          </a:p>
        </p:txBody>
      </p:sp>
      <p:sp>
        <p:nvSpPr>
          <p:cNvPr id="20" name="cell-0-1"/>
          <p:cNvSpPr/>
          <p:nvPr/>
        </p:nvSpPr>
        <p:spPr>
          <a:xfrm>
            <a:off x="3915634" y="2550797"/>
            <a:ext cx="3500008" cy="7142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各店・主催者</a:t>
            </a:r>
            <a:endParaRPr lang="en-US" sz="2000" dirty="0"/>
          </a:p>
        </p:txBody>
      </p:sp>
      <p:sp>
        <p:nvSpPr>
          <p:cNvPr id="21" name="cell-0-2"/>
          <p:cNvSpPr/>
          <p:nvPr/>
        </p:nvSpPr>
        <p:spPr>
          <a:xfrm>
            <a:off x="7845852" y="2550797"/>
            <a:ext cx="3886467" cy="7142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日時・費用・雨天対応</a:t>
            </a:r>
            <a:endParaRPr lang="en-US" sz="2000" dirty="0"/>
          </a:p>
        </p:txBody>
      </p:sp>
      <p:sp>
        <p:nvSpPr>
          <p:cNvPr id="22" name="step-disc-0"/>
          <p:cNvSpPr/>
          <p:nvPr/>
        </p:nvSpPr>
        <p:spPr>
          <a:xfrm>
            <a:off x="648960" y="2645541"/>
            <a:ext cx="437501" cy="437279"/>
          </a:xfrm>
          <a:prstGeom prst="ellipse">
            <a:avLst/>
          </a:prstGeom>
          <a:solidFill>
            <a:srgbClr val="9A5A2E"/>
          </a:solidFill>
          <a:ln w="10160">
            <a:solidFill>
              <a:srgbClr val="B8B6B1">
                <a:alpha val="0"/>
              </a:srgbClr>
            </a:solidFill>
            <a:prstDash val="solid"/>
          </a:ln>
        </p:spPr>
      </p:sp>
      <p:sp>
        <p:nvSpPr>
          <p:cNvPr id="23" name="step-number-0"/>
          <p:cNvSpPr/>
          <p:nvPr/>
        </p:nvSpPr>
        <p:spPr>
          <a:xfrm>
            <a:off x="663543" y="2681981"/>
            <a:ext cx="408334" cy="36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2400" dirty="0"/>
          </a:p>
        </p:txBody>
      </p:sp>
      <p:sp>
        <p:nvSpPr>
          <p:cNvPr id="24" name="step-arrow-0"/>
          <p:cNvSpPr/>
          <p:nvPr/>
        </p:nvSpPr>
        <p:spPr>
          <a:xfrm>
            <a:off x="867710" y="3133836"/>
            <a:ext cx="3646" cy="502871"/>
          </a:xfrm>
          <a:prstGeom prst="line">
            <a:avLst/>
          </a:prstGeom>
          <a:noFill/>
          <a:ln w="15240">
            <a:solidFill>
              <a:srgbClr val="9A5A2E"/>
            </a:solidFill>
            <a:prstDash val="solid"/>
            <a:tailEnd type="triangle"/>
          </a:ln>
        </p:spPr>
      </p:sp>
      <p:sp>
        <p:nvSpPr>
          <p:cNvPr id="25" name="cell-1-0"/>
          <p:cNvSpPr/>
          <p:nvPr/>
        </p:nvSpPr>
        <p:spPr>
          <a:xfrm>
            <a:off x="1400003" y="3549252"/>
            <a:ext cx="2048963" cy="7142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確認して掲載</a:t>
            </a:r>
            <a:endParaRPr lang="en-US" sz="2000" dirty="0"/>
          </a:p>
        </p:txBody>
      </p:sp>
      <p:sp>
        <p:nvSpPr>
          <p:cNvPr id="26" name="cell-1-1"/>
          <p:cNvSpPr/>
          <p:nvPr/>
        </p:nvSpPr>
        <p:spPr>
          <a:xfrm>
            <a:off x="3915634" y="3563828"/>
            <a:ext cx="3500008" cy="7142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商店街の編集窓口</a:t>
            </a:r>
            <a:endParaRPr lang="en-US" sz="2000" dirty="0"/>
          </a:p>
        </p:txBody>
      </p:sp>
      <p:sp>
        <p:nvSpPr>
          <p:cNvPr id="27" name="cell-1-2"/>
          <p:cNvSpPr/>
          <p:nvPr/>
        </p:nvSpPr>
        <p:spPr>
          <a:xfrm>
            <a:off x="7853143" y="3556540"/>
            <a:ext cx="3886467" cy="7142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不足情報・リンク先・更新日</a:t>
            </a:r>
            <a:endParaRPr lang="en-US" sz="2000" dirty="0"/>
          </a:p>
        </p:txBody>
      </p:sp>
      <p:sp>
        <p:nvSpPr>
          <p:cNvPr id="28" name="step-disc-1"/>
          <p:cNvSpPr/>
          <p:nvPr/>
        </p:nvSpPr>
        <p:spPr>
          <a:xfrm>
            <a:off x="648960" y="3680436"/>
            <a:ext cx="437501" cy="437279"/>
          </a:xfrm>
          <a:prstGeom prst="ellipse">
            <a:avLst/>
          </a:prstGeom>
          <a:solidFill>
            <a:srgbClr val="9A5A2E"/>
          </a:solidFill>
          <a:ln w="10160">
            <a:solidFill>
              <a:srgbClr val="B8B6B1">
                <a:alpha val="0"/>
              </a:srgbClr>
            </a:solidFill>
            <a:prstDash val="solid"/>
          </a:ln>
        </p:spPr>
      </p:sp>
      <p:sp>
        <p:nvSpPr>
          <p:cNvPr id="29" name="step-number-1"/>
          <p:cNvSpPr/>
          <p:nvPr/>
        </p:nvSpPr>
        <p:spPr>
          <a:xfrm>
            <a:off x="663543" y="3716876"/>
            <a:ext cx="408334" cy="36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2400" dirty="0"/>
          </a:p>
        </p:txBody>
      </p:sp>
      <p:sp>
        <p:nvSpPr>
          <p:cNvPr id="30" name="step-arrow-1"/>
          <p:cNvSpPr/>
          <p:nvPr/>
        </p:nvSpPr>
        <p:spPr>
          <a:xfrm>
            <a:off x="867710" y="4168731"/>
            <a:ext cx="3646" cy="502871"/>
          </a:xfrm>
          <a:prstGeom prst="line">
            <a:avLst/>
          </a:prstGeom>
          <a:noFill/>
          <a:ln w="15240">
            <a:solidFill>
              <a:srgbClr val="9A5A2E"/>
            </a:solidFill>
            <a:prstDash val="solid"/>
            <a:tailEnd type="triangle"/>
          </a:ln>
        </p:spPr>
      </p:sp>
      <p:sp>
        <p:nvSpPr>
          <p:cNvPr id="31" name="cell-2-0"/>
          <p:cNvSpPr/>
          <p:nvPr/>
        </p:nvSpPr>
        <p:spPr>
          <a:xfrm>
            <a:off x="1400003" y="4562283"/>
            <a:ext cx="2048963" cy="7360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変更を反映</a:t>
            </a:r>
            <a:endParaRPr lang="en-US" sz="2000" dirty="0"/>
          </a:p>
        </p:txBody>
      </p:sp>
      <p:sp>
        <p:nvSpPr>
          <p:cNvPr id="32" name="cell-2-1"/>
          <p:cNvSpPr/>
          <p:nvPr/>
        </p:nvSpPr>
        <p:spPr>
          <a:xfrm>
            <a:off x="3915634" y="4576859"/>
            <a:ext cx="3500008" cy="7360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主催者→編集窓口</a:t>
            </a:r>
            <a:endParaRPr lang="en-US" sz="2000" dirty="0"/>
          </a:p>
        </p:txBody>
      </p:sp>
      <p:sp>
        <p:nvSpPr>
          <p:cNvPr id="33" name="cell-2-2"/>
          <p:cNvSpPr/>
          <p:nvPr/>
        </p:nvSpPr>
        <p:spPr>
          <a:xfrm>
            <a:off x="7853143" y="4576859"/>
            <a:ext cx="3886467" cy="7360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変更内容・反映時刻・周知先</a:t>
            </a:r>
            <a:endParaRPr lang="en-US" sz="2000" dirty="0"/>
          </a:p>
        </p:txBody>
      </p:sp>
      <p:sp>
        <p:nvSpPr>
          <p:cNvPr id="34" name="step-disc-2"/>
          <p:cNvSpPr/>
          <p:nvPr/>
        </p:nvSpPr>
        <p:spPr>
          <a:xfrm>
            <a:off x="648960" y="4715330"/>
            <a:ext cx="437501" cy="437279"/>
          </a:xfrm>
          <a:prstGeom prst="ellipse">
            <a:avLst/>
          </a:prstGeom>
          <a:solidFill>
            <a:srgbClr val="9A5A2E"/>
          </a:solidFill>
          <a:ln w="10160">
            <a:solidFill>
              <a:srgbClr val="B8B6B1">
                <a:alpha val="0"/>
              </a:srgbClr>
            </a:solidFill>
            <a:prstDash val="solid"/>
          </a:ln>
        </p:spPr>
      </p:sp>
      <p:sp>
        <p:nvSpPr>
          <p:cNvPr id="35" name="step-number-2"/>
          <p:cNvSpPr/>
          <p:nvPr/>
        </p:nvSpPr>
        <p:spPr>
          <a:xfrm>
            <a:off x="663543" y="4751770"/>
            <a:ext cx="408334" cy="36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2400" dirty="0"/>
          </a:p>
        </p:txBody>
      </p:sp>
      <p:sp>
        <p:nvSpPr>
          <p:cNvPr id="36" name="note-1"/>
          <p:cNvSpPr/>
          <p:nvPr/>
        </p:nvSpPr>
        <p:spPr>
          <a:xfrm>
            <a:off x="364584" y="5633617"/>
            <a:ext cx="11229193" cy="29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掲載済み情報に変更があれば、主催者が窓口へ連絡する。</a:t>
            </a:r>
            <a:endParaRPr lang="en-US" sz="1500" dirty="0"/>
          </a:p>
        </p:txBody>
      </p:sp>
      <p:sp>
        <p:nvSpPr>
          <p:cNvPr id="37" name="bottom-rule"/>
          <p:cNvSpPr/>
          <p:nvPr/>
        </p:nvSpPr>
        <p:spPr>
          <a:xfrm>
            <a:off x="357293" y="6085473"/>
            <a:ext cx="11484402" cy="3644"/>
          </a:xfrm>
          <a:prstGeom prst="line">
            <a:avLst/>
          </a:prstGeom>
          <a:noFill/>
          <a:ln w="10160">
            <a:solidFill>
              <a:srgbClr val="9A5A2E"/>
            </a:solidFill>
            <a:prstDash val="solid"/>
          </a:ln>
        </p:spPr>
      </p:sp>
      <p:sp>
        <p:nvSpPr>
          <p:cNvPr id="38" name="takeaway"/>
          <p:cNvSpPr/>
          <p:nvPr/>
        </p:nvSpPr>
        <p:spPr>
          <a:xfrm>
            <a:off x="2916673" y="6187505"/>
            <a:ext cx="6365640" cy="422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9A5A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誰が直すかまで決めて、案内を古くしない。</a:t>
            </a:r>
            <a:endParaRPr lang="en-US" sz="2400" dirty="0"/>
          </a:p>
        </p:txBody>
      </p:sp>
      <p:sp>
        <p:nvSpPr>
          <p:cNvPr id="39" name="footer"/>
          <p:cNvSpPr/>
          <p:nvPr/>
        </p:nvSpPr>
        <p:spPr>
          <a:xfrm>
            <a:off x="291667" y="6559192"/>
            <a:ext cx="11608361" cy="189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14B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架空の企画例。担当体制は提案であり未合意。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17629575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0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ber-disc"/>
          <p:cNvSpPr/>
          <p:nvPr/>
        </p:nvSpPr>
        <p:spPr>
          <a:xfrm>
            <a:off x="371876" y="320672"/>
            <a:ext cx="780210" cy="779815"/>
          </a:xfrm>
          <a:prstGeom prst="ellipse">
            <a:avLst/>
          </a:prstGeom>
          <a:solidFill>
            <a:srgbClr val="9A5A2E"/>
          </a:solidFill>
          <a:ln w="10160">
            <a:solidFill>
              <a:srgbClr val="B8B6B1">
                <a:alpha val="0"/>
              </a:srgbClr>
            </a:solidFill>
            <a:prstDash val="solid"/>
          </a:ln>
        </p:spPr>
      </p:sp>
      <p:sp>
        <p:nvSpPr>
          <p:cNvPr id="3" name="page-number"/>
          <p:cNvSpPr/>
          <p:nvPr/>
        </p:nvSpPr>
        <p:spPr>
          <a:xfrm>
            <a:off x="466668" y="422704"/>
            <a:ext cx="597918" cy="5393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05</a:t>
            </a:r>
            <a:endParaRPr lang="en-US" sz="3300" dirty="0"/>
          </a:p>
        </p:txBody>
      </p:sp>
      <p:sp>
        <p:nvSpPr>
          <p:cNvPr id="4" name="title"/>
          <p:cNvSpPr/>
          <p:nvPr/>
        </p:nvSpPr>
        <p:spPr>
          <a:xfrm>
            <a:off x="1421878" y="342536"/>
            <a:ext cx="10390649" cy="6850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小さく試し、続けられるかを確かめる</a:t>
            </a:r>
            <a:endParaRPr lang="en-US" sz="3800" dirty="0"/>
          </a:p>
        </p:txBody>
      </p:sp>
      <p:sp>
        <p:nvSpPr>
          <p:cNvPr id="5" name="subtitle"/>
          <p:cNvSpPr/>
          <p:nvPr/>
        </p:nvSpPr>
        <p:spPr>
          <a:xfrm>
            <a:off x="1458337" y="1107775"/>
            <a:ext cx="10354191" cy="386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試行期間は2週間という提案｜効果の実測値はまだない</a:t>
            </a:r>
            <a:endParaRPr lang="en-US" sz="2000" dirty="0"/>
          </a:p>
        </p:txBody>
      </p:sp>
      <p:sp>
        <p:nvSpPr>
          <p:cNvPr id="6" name="table-header"/>
          <p:cNvSpPr/>
          <p:nvPr/>
        </p:nvSpPr>
        <p:spPr>
          <a:xfrm>
            <a:off x="371876" y="1734542"/>
            <a:ext cx="11440652" cy="634055"/>
          </a:xfrm>
          <a:prstGeom prst="rect">
            <a:avLst/>
          </a:prstGeom>
          <a:solidFill>
            <a:srgbClr val="9A5A2E"/>
          </a:solidFill>
          <a:ln w="10160">
            <a:solidFill>
              <a:srgbClr val="B8B6B1">
                <a:alpha val="0"/>
              </a:srgbClr>
            </a:solidFill>
            <a:prstDash val="solid"/>
          </a:ln>
        </p:spPr>
      </p:sp>
      <p:sp>
        <p:nvSpPr>
          <p:cNvPr id="7" name="table-v-0"/>
          <p:cNvSpPr/>
          <p:nvPr/>
        </p:nvSpPr>
        <p:spPr>
          <a:xfrm>
            <a:off x="371876" y="1734542"/>
            <a:ext cx="3646" cy="3046380"/>
          </a:xfrm>
          <a:prstGeom prst="line">
            <a:avLst/>
          </a:prstGeom>
          <a:noFill/>
          <a:ln w="10160">
            <a:solidFill>
              <a:srgbClr val="B8B6B1"/>
            </a:solidFill>
            <a:prstDash val="solid"/>
          </a:ln>
        </p:spPr>
      </p:sp>
      <p:sp>
        <p:nvSpPr>
          <p:cNvPr id="8" name="table-v-1"/>
          <p:cNvSpPr/>
          <p:nvPr/>
        </p:nvSpPr>
        <p:spPr>
          <a:xfrm>
            <a:off x="3682300" y="1734542"/>
            <a:ext cx="3646" cy="3046380"/>
          </a:xfrm>
          <a:prstGeom prst="line">
            <a:avLst/>
          </a:prstGeom>
          <a:noFill/>
          <a:ln w="10160">
            <a:solidFill>
              <a:srgbClr val="B8B6B1"/>
            </a:solidFill>
            <a:prstDash val="solid"/>
          </a:ln>
        </p:spPr>
      </p:sp>
      <p:sp>
        <p:nvSpPr>
          <p:cNvPr id="9" name="table-v-2"/>
          <p:cNvSpPr/>
          <p:nvPr/>
        </p:nvSpPr>
        <p:spPr>
          <a:xfrm>
            <a:off x="7823977" y="1734542"/>
            <a:ext cx="3646" cy="3046380"/>
          </a:xfrm>
          <a:prstGeom prst="line">
            <a:avLst/>
          </a:prstGeom>
          <a:noFill/>
          <a:ln w="10160">
            <a:solidFill>
              <a:srgbClr val="B8B6B1"/>
            </a:solidFill>
            <a:prstDash val="solid"/>
          </a:ln>
        </p:spPr>
      </p:sp>
      <p:sp>
        <p:nvSpPr>
          <p:cNvPr id="10" name="table-v-3"/>
          <p:cNvSpPr/>
          <p:nvPr/>
        </p:nvSpPr>
        <p:spPr>
          <a:xfrm>
            <a:off x="11812528" y="1734542"/>
            <a:ext cx="3646" cy="3046380"/>
          </a:xfrm>
          <a:prstGeom prst="line">
            <a:avLst/>
          </a:prstGeom>
          <a:noFill/>
          <a:ln w="10160">
            <a:solidFill>
              <a:srgbClr val="B8B6B1"/>
            </a:solidFill>
            <a:prstDash val="solid"/>
          </a:ln>
        </p:spPr>
      </p:sp>
      <p:sp>
        <p:nvSpPr>
          <p:cNvPr id="11" name="table-h-0"/>
          <p:cNvSpPr/>
          <p:nvPr/>
        </p:nvSpPr>
        <p:spPr>
          <a:xfrm>
            <a:off x="371876" y="1734542"/>
            <a:ext cx="11440652" cy="3644"/>
          </a:xfrm>
          <a:prstGeom prst="line">
            <a:avLst/>
          </a:prstGeom>
          <a:noFill/>
          <a:ln w="10160">
            <a:solidFill>
              <a:srgbClr val="B8B6B1"/>
            </a:solidFill>
            <a:prstDash val="solid"/>
          </a:ln>
        </p:spPr>
      </p:sp>
      <p:sp>
        <p:nvSpPr>
          <p:cNvPr id="12" name="table-h-1"/>
          <p:cNvSpPr/>
          <p:nvPr/>
        </p:nvSpPr>
        <p:spPr>
          <a:xfrm>
            <a:off x="371876" y="2368597"/>
            <a:ext cx="11440652" cy="3644"/>
          </a:xfrm>
          <a:prstGeom prst="line">
            <a:avLst/>
          </a:prstGeom>
          <a:noFill/>
          <a:ln w="10160">
            <a:solidFill>
              <a:srgbClr val="B8B6B1"/>
            </a:solidFill>
            <a:prstDash val="solid"/>
          </a:ln>
        </p:spPr>
      </p:sp>
      <p:sp>
        <p:nvSpPr>
          <p:cNvPr id="13" name="table-h-2"/>
          <p:cNvSpPr/>
          <p:nvPr/>
        </p:nvSpPr>
        <p:spPr>
          <a:xfrm>
            <a:off x="371876" y="3265020"/>
            <a:ext cx="11440652" cy="3644"/>
          </a:xfrm>
          <a:prstGeom prst="line">
            <a:avLst/>
          </a:prstGeom>
          <a:noFill/>
          <a:ln w="10160">
            <a:solidFill>
              <a:srgbClr val="B8B6B1"/>
            </a:solidFill>
            <a:prstDash val="solid"/>
          </a:ln>
        </p:spPr>
      </p:sp>
      <p:sp>
        <p:nvSpPr>
          <p:cNvPr id="14" name="table-h-3"/>
          <p:cNvSpPr/>
          <p:nvPr/>
        </p:nvSpPr>
        <p:spPr>
          <a:xfrm>
            <a:off x="371876" y="4022971"/>
            <a:ext cx="11440652" cy="3644"/>
          </a:xfrm>
          <a:prstGeom prst="line">
            <a:avLst/>
          </a:prstGeom>
          <a:noFill/>
          <a:ln w="10160">
            <a:solidFill>
              <a:srgbClr val="B8B6B1"/>
            </a:solidFill>
            <a:prstDash val="solid"/>
          </a:ln>
        </p:spPr>
      </p:sp>
      <p:sp>
        <p:nvSpPr>
          <p:cNvPr id="15" name="table-h-4"/>
          <p:cNvSpPr/>
          <p:nvPr/>
        </p:nvSpPr>
        <p:spPr>
          <a:xfrm>
            <a:off x="371876" y="4780922"/>
            <a:ext cx="11440652" cy="3644"/>
          </a:xfrm>
          <a:prstGeom prst="line">
            <a:avLst/>
          </a:prstGeom>
          <a:noFill/>
          <a:ln w="10160">
            <a:solidFill>
              <a:srgbClr val="B8B6B1"/>
            </a:solidFill>
            <a:prstDash val="solid"/>
          </a:ln>
        </p:spPr>
      </p:sp>
      <p:sp>
        <p:nvSpPr>
          <p:cNvPr id="16" name="header-0"/>
          <p:cNvSpPr/>
          <p:nvPr/>
        </p:nvSpPr>
        <p:spPr>
          <a:xfrm>
            <a:off x="444793" y="1858438"/>
            <a:ext cx="3164591" cy="415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確認したいこと</a:t>
            </a:r>
            <a:endParaRPr lang="en-US" sz="2200" dirty="0"/>
          </a:p>
        </p:txBody>
      </p:sp>
      <p:sp>
        <p:nvSpPr>
          <p:cNvPr id="17" name="header-1"/>
          <p:cNvSpPr/>
          <p:nvPr/>
        </p:nvSpPr>
        <p:spPr>
          <a:xfrm>
            <a:off x="3755217" y="1858438"/>
            <a:ext cx="3995843" cy="415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確かめ方</a:t>
            </a:r>
            <a:endParaRPr lang="en-US" sz="2200" dirty="0"/>
          </a:p>
        </p:txBody>
      </p:sp>
      <p:sp>
        <p:nvSpPr>
          <p:cNvPr id="18" name="header-2"/>
          <p:cNvSpPr/>
          <p:nvPr/>
        </p:nvSpPr>
        <p:spPr>
          <a:xfrm>
            <a:off x="7896893" y="1858438"/>
            <a:ext cx="3842717" cy="415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判断の材料</a:t>
            </a:r>
            <a:endParaRPr lang="en-US" sz="2200" dirty="0"/>
          </a:p>
        </p:txBody>
      </p:sp>
      <p:sp>
        <p:nvSpPr>
          <p:cNvPr id="19" name="cell-0-0"/>
          <p:cNvSpPr/>
          <p:nvPr/>
        </p:nvSpPr>
        <p:spPr>
          <a:xfrm>
            <a:off x="670835" y="2499781"/>
            <a:ext cx="2872923" cy="6049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見つけやすさ</a:t>
            </a:r>
            <a:endParaRPr lang="en-US" sz="2000" dirty="0"/>
          </a:p>
        </p:txBody>
      </p:sp>
      <p:sp>
        <p:nvSpPr>
          <p:cNvPr id="20" name="cell-0-1"/>
          <p:cNvSpPr/>
          <p:nvPr/>
        </p:nvSpPr>
        <p:spPr>
          <a:xfrm>
            <a:off x="3966676" y="2521645"/>
            <a:ext cx="3704175" cy="6049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来訪者に目的の案内を</a:t>
            </a:r>
            <a:endParaRPr lang="en-US" sz="2000" dirty="0"/>
          </a:p>
          <a:p>
            <a:pPr marL="0" indent="0" algn="l">
              <a:buNone/>
            </a:pPr>
            <a:r>
              <a:rPr lang="en-US" sz="2000" b="1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探してもらう</a:t>
            </a:r>
            <a:endParaRPr lang="en-US" sz="2000" dirty="0"/>
          </a:p>
        </p:txBody>
      </p:sp>
      <p:sp>
        <p:nvSpPr>
          <p:cNvPr id="21" name="cell-0-2"/>
          <p:cNvSpPr/>
          <p:nvPr/>
        </p:nvSpPr>
        <p:spPr>
          <a:xfrm>
            <a:off x="8101061" y="2528933"/>
            <a:ext cx="3551050" cy="6049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迷った場所・不足した情報</a:t>
            </a:r>
            <a:endParaRPr lang="en-US" sz="2000" dirty="0"/>
          </a:p>
        </p:txBody>
      </p:sp>
      <p:sp>
        <p:nvSpPr>
          <p:cNvPr id="22" name="cell-1-0"/>
          <p:cNvSpPr/>
          <p:nvPr/>
        </p:nvSpPr>
        <p:spPr>
          <a:xfrm>
            <a:off x="670835" y="3410780"/>
            <a:ext cx="2872923" cy="4664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更新のしやすさ</a:t>
            </a:r>
            <a:endParaRPr lang="en-US" sz="2000" dirty="0"/>
          </a:p>
        </p:txBody>
      </p:sp>
      <p:sp>
        <p:nvSpPr>
          <p:cNvPr id="23" name="cell-1-1"/>
          <p:cNvSpPr/>
          <p:nvPr/>
        </p:nvSpPr>
        <p:spPr>
          <a:xfrm>
            <a:off x="3966676" y="3432644"/>
            <a:ext cx="3704175" cy="4664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担当者が掲載と変更を実施する</a:t>
            </a:r>
            <a:endParaRPr lang="en-US" sz="2000" dirty="0"/>
          </a:p>
        </p:txBody>
      </p:sp>
      <p:sp>
        <p:nvSpPr>
          <p:cNvPr id="24" name="cell-1-2"/>
          <p:cNvSpPr/>
          <p:nvPr/>
        </p:nvSpPr>
        <p:spPr>
          <a:xfrm>
            <a:off x="8101061" y="3432644"/>
            <a:ext cx="3551050" cy="4664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作業時間・手戻り・漏れ</a:t>
            </a:r>
            <a:endParaRPr lang="en-US" sz="2000" dirty="0"/>
          </a:p>
        </p:txBody>
      </p:sp>
      <p:sp>
        <p:nvSpPr>
          <p:cNvPr id="25" name="cell-2-0"/>
          <p:cNvSpPr/>
          <p:nvPr/>
        </p:nvSpPr>
        <p:spPr>
          <a:xfrm>
            <a:off x="670835" y="4161443"/>
            <a:ext cx="2872923" cy="4664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紙でも伝わるか</a:t>
            </a:r>
            <a:endParaRPr lang="en-US" sz="2000" dirty="0"/>
          </a:p>
        </p:txBody>
      </p:sp>
      <p:sp>
        <p:nvSpPr>
          <p:cNvPr id="26" name="cell-2-1"/>
          <p:cNvSpPr/>
          <p:nvPr/>
        </p:nvSpPr>
        <p:spPr>
          <a:xfrm>
            <a:off x="3973968" y="4190595"/>
            <a:ext cx="3704175" cy="4664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一覧の印刷版を掲示する</a:t>
            </a:r>
            <a:endParaRPr lang="en-US" sz="2000" dirty="0"/>
          </a:p>
        </p:txBody>
      </p:sp>
      <p:sp>
        <p:nvSpPr>
          <p:cNvPr id="27" name="cell-2-2"/>
          <p:cNvSpPr/>
          <p:nvPr/>
        </p:nvSpPr>
        <p:spPr>
          <a:xfrm>
            <a:off x="7969810" y="4168731"/>
            <a:ext cx="3806259" cy="4664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文字の読みやすさ・問い合わせ</a:t>
            </a:r>
            <a:endParaRPr lang="en-US" sz="2000" dirty="0"/>
          </a:p>
        </p:txBody>
      </p:sp>
      <p:sp>
        <p:nvSpPr>
          <p:cNvPr id="28" name="note-1"/>
          <p:cNvSpPr/>
          <p:nvPr/>
        </p:nvSpPr>
        <p:spPr>
          <a:xfrm>
            <a:off x="364584" y="4984986"/>
            <a:ext cx="11302110" cy="357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試行前：担当者・掲載範囲・確認日を決める</a:t>
            </a:r>
            <a:endParaRPr lang="en-US" sz="1900" dirty="0"/>
          </a:p>
        </p:txBody>
      </p:sp>
      <p:sp>
        <p:nvSpPr>
          <p:cNvPr id="29" name="note-2"/>
          <p:cNvSpPr/>
          <p:nvPr/>
        </p:nvSpPr>
        <p:spPr>
          <a:xfrm>
            <a:off x="364584" y="5363962"/>
            <a:ext cx="11302110" cy="357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試行後：結果を共有し、継続・修正・中止を判断する</a:t>
            </a:r>
            <a:endParaRPr lang="en-US" sz="1900" dirty="0"/>
          </a:p>
        </p:txBody>
      </p:sp>
      <p:sp>
        <p:nvSpPr>
          <p:cNvPr id="30" name="bottom-rule"/>
          <p:cNvSpPr/>
          <p:nvPr/>
        </p:nvSpPr>
        <p:spPr>
          <a:xfrm>
            <a:off x="371876" y="5910561"/>
            <a:ext cx="11447943" cy="3644"/>
          </a:xfrm>
          <a:prstGeom prst="line">
            <a:avLst/>
          </a:prstGeom>
          <a:noFill/>
          <a:ln w="17780">
            <a:solidFill>
              <a:srgbClr val="B8B6B1"/>
            </a:solidFill>
            <a:prstDash val="solid"/>
          </a:ln>
        </p:spPr>
      </p:sp>
      <p:sp>
        <p:nvSpPr>
          <p:cNvPr id="31" name="takeaway"/>
          <p:cNvSpPr/>
          <p:nvPr/>
        </p:nvSpPr>
        <p:spPr>
          <a:xfrm>
            <a:off x="371876" y="6034457"/>
            <a:ext cx="9114605" cy="546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9A5A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便利さと運用負担の両方を見て、次を決める。</a:t>
            </a:r>
            <a:endParaRPr lang="en-US" sz="2900" dirty="0"/>
          </a:p>
        </p:txBody>
      </p:sp>
      <p:sp>
        <p:nvSpPr>
          <p:cNvPr id="32" name="footer"/>
          <p:cNvSpPr/>
          <p:nvPr/>
        </p:nvSpPr>
        <p:spPr>
          <a:xfrm>
            <a:off x="291667" y="6559192"/>
            <a:ext cx="11608361" cy="189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14B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架空の企画例。試行は提案であり未実施。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13407100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297</Words>
  <Application>Microsoft Office PowerPoint</Application>
  <PresentationFormat>ユーザー設定</PresentationFormat>
  <Paragraphs>108</Paragraphs>
  <Slides>5</Slides>
  <Notes>5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12" baseType="lpstr">
      <vt:lpstr>Yu Gothic</vt:lpstr>
      <vt:lpstr>Yu Gothic</vt:lpstr>
      <vt:lpstr>游ゴシック Light</vt:lpstr>
      <vt:lpstr>Yu Mincho</vt:lpstr>
      <vt:lpstr>Arial</vt:lpstr>
      <vt:lpstr>Times New Roman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恭彦 笹谷</dc:creator>
  <cp:lastModifiedBy>恭彦 笹谷</cp:lastModifiedBy>
  <cp:revision>1</cp:revision>
  <dcterms:created xsi:type="dcterms:W3CDTF">2026-10-15T17:33:37Z</dcterms:created>
  <dcterms:modified xsi:type="dcterms:W3CDTF">2026-10-15T17:33:37Z</dcterms:modified>
</cp:coreProperties>
</file>