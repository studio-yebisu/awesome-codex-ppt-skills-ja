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CDB6-39E7-472C-8F74-AF9A5A5C9299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0E0C2-5493-4280-8AB8-7BB20C5934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46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架空の制作例。こもれび商店街｜企画たたき台。一つの入口から、必要な案内にたどり着く。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43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架空の制作例。SNS・Web・掲示板を行き来する、という課題仮説。既存の発信を生かし、一覧を共通の入口にする。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38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架空の制作例。日時・場所・費用・雨天時の扱いを同じ順序で掲載。見た目より先に、掲載項目と更新日をそろえる。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6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架空の制作例。提案する担当分担｜実際の担当者との合意は未取得。誰が直すかまで決めて、案内を古くしない。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01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架空の制作例。試行期間は2週間という提案｜効果の実測値はまだない。便利さと運用負担の両方を見て、次を決める。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3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F85045-30DC-F683-F9AC-D845A46FF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F75B51-8104-55B8-D1FF-5211211FF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3D2298-0215-27AD-086A-EE9ECDCB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6BD33B-288E-34B0-24AA-DF6E28463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5F0628-502E-760E-5787-33A5440B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79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5DF60-390D-3BE7-00F4-993E0F1E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20DA09-CB94-C1B6-4705-9B3FAAC30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2F4536-5AB9-49CC-BD67-D4793D53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727F12-A29F-B6B2-A762-DD85163B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5B00B8-5136-10A6-7A41-78D0EF57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746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3549A-D86D-3785-47A7-271122E5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4C0741-5003-F2AF-F876-0D3E4F67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F89529-31C7-AA9A-17DD-D35B934F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68D382-3061-7840-093B-245B9DFE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C5FE2-3273-2F70-912F-AA7A54BA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07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6A8D0A-383B-D3D9-1CC6-7C79311E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F8E111-280F-98E2-6414-DCE70D271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40B80E-D9D3-F262-FD99-412E63345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5B6741-6A15-A8C5-14B1-A5B4AAC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68BD66-1F0A-D3DC-1E0E-4E75119C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84A61B-5872-462E-8C91-68FD48DE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26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F7E21-582D-EEEB-3EC6-A9829EEEA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E39617-F9A5-4735-0F86-83D7BE96B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4A25268-D6C8-DD07-248D-8BA5CD863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91F4F2-527A-5404-2EB8-6D350E5D5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AE2161-C28D-1CF1-9EDD-3FED84262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EE52CFC-5C5F-02F6-C7EA-4A853EEC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5E6405-98EF-F64D-FAA6-B4B809CF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A90FFC-E5A8-AB53-D608-5AB61A64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36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7BD8E6-26CB-CB93-7AC8-4E1DFCF26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98B9A7-9CDC-7F4F-B9BD-CDC2C5C5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2CBD4F1-DB04-4750-2985-0D770036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06FD4-F287-1D2F-C6AE-C1B3D304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E4D30A8-DBE1-9B5F-FFCA-25FC9A7A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54FDD6-4FE4-35E5-48F3-C4ED4503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C33AA6-6261-DFC1-EFDB-4EFDAC66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8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A43962-5C53-BF7E-83A4-22FF3647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504E77-512A-7F03-CD2B-129CC47C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9EC8EE-C0B3-E78E-46DE-061F5171F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D5EC40-BCC6-9071-A7A4-50D92045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52BE77-C334-C53D-D0D2-AAFAEB95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4AFB5E-6EA8-8FF1-6CC4-2CAF469A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44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DB8D2B-22C4-34F0-C692-B40588E5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D2573B-02F0-F6D6-CE1C-DF697B98F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6E6AB2-81C5-CE6B-D3A9-752CEFD2C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A55E9F-B86C-BF5B-3AF0-5155FFDA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C50659-FC81-0A9C-764B-EA7E5C5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CB60A7-EF0D-7918-86CE-B2EEC51B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234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06002E-BA32-B754-7461-A02C8B160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DA3DD5-2DCE-0250-7071-5399F3C78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312F5-4E7A-EAFA-999F-6122E0ED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EF5034-53A1-80D1-0B31-4E7D691F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A45911-D34C-7B26-DF6E-36ED0AE2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4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552998-8591-05BD-BCFD-78CC5A873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3C84E9-E2F2-9F9E-5CAA-97B903873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FC213-5820-9D3D-2BA5-009301E0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0008A-A10E-B3C7-AF1F-08AD501C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D93158-AD11-B2F7-A56B-CCD0D84B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595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72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062BDD-AABF-1A5D-CBBC-458BB869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64DFA6-CD3D-9E38-E9CF-4F8C01DAF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2B1730-B072-423F-F56E-DC8FC76A6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56192-CA62-4F8B-A14C-F1B97D6B4FED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713A7B-13F9-FC53-9C91-20653A3D8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E9B218-1859-EE05-F9AE-16AB03E5D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76E81-FAC9-485E-B9A7-EC3FC9C9D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"/>
          <p:cNvSpPr/>
          <p:nvPr/>
        </p:nvSpPr>
        <p:spPr>
          <a:xfrm>
            <a:off x="517710" y="874559"/>
            <a:ext cx="743752" cy="3644"/>
          </a:xfrm>
          <a:prstGeom prst="line">
            <a:avLst/>
          </a:prstGeom>
          <a:noFill/>
          <a:ln w="20320">
            <a:solidFill>
              <a:srgbClr val="9A5A2E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95834" y="1144215"/>
            <a:ext cx="8968771" cy="1348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商店街のイベント案内を、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一つにまとめる</a:t>
            </a:r>
            <a:endParaRPr lang="en-US" sz="4400" dirty="0"/>
          </a:p>
        </p:txBody>
      </p:sp>
      <p:sp>
        <p:nvSpPr>
          <p:cNvPr id="4" name="subtitle"/>
          <p:cNvSpPr/>
          <p:nvPr/>
        </p:nvSpPr>
        <p:spPr>
          <a:xfrm>
            <a:off x="495834" y="2988077"/>
            <a:ext cx="473959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こもれび商店街｜企画たたき台</a:t>
            </a:r>
            <a:endParaRPr lang="en-US" sz="1900" dirty="0"/>
          </a:p>
        </p:txBody>
      </p:sp>
      <p:sp>
        <p:nvSpPr>
          <p:cNvPr id="5" name="subtitle-rule"/>
          <p:cNvSpPr/>
          <p:nvPr/>
        </p:nvSpPr>
        <p:spPr>
          <a:xfrm>
            <a:off x="495834" y="2827741"/>
            <a:ext cx="3441675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6" name="page-number"/>
          <p:cNvSpPr/>
          <p:nvPr/>
        </p:nvSpPr>
        <p:spPr>
          <a:xfrm>
            <a:off x="10390649" y="255080"/>
            <a:ext cx="1385420" cy="1166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400" dirty="0">
                <a:solidFill>
                  <a:srgbClr val="9A5A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9400" dirty="0"/>
          </a:p>
        </p:txBody>
      </p:sp>
      <p:sp>
        <p:nvSpPr>
          <p:cNvPr id="7" name="number-rule"/>
          <p:cNvSpPr/>
          <p:nvPr/>
        </p:nvSpPr>
        <p:spPr>
          <a:xfrm>
            <a:off x="10463566" y="1508614"/>
            <a:ext cx="1239586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8" name="circle-0"/>
          <p:cNvSpPr/>
          <p:nvPr/>
        </p:nvSpPr>
        <p:spPr>
          <a:xfrm>
            <a:off x="525001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pic>
        <p:nvPicPr>
          <p:cNvPr id="9" name="icon-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388" y="3017228"/>
            <a:ext cx="670835" cy="670495"/>
          </a:xfrm>
          <a:prstGeom prst="rect">
            <a:avLst/>
          </a:prstGeom>
        </p:spPr>
      </p:pic>
      <p:sp>
        <p:nvSpPr>
          <p:cNvPr id="10" name="label-0"/>
          <p:cNvSpPr/>
          <p:nvPr/>
        </p:nvSpPr>
        <p:spPr>
          <a:xfrm>
            <a:off x="4943762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見つける</a:t>
            </a:r>
            <a:endParaRPr lang="en-US" sz="2500" dirty="0"/>
          </a:p>
        </p:txBody>
      </p:sp>
      <p:sp>
        <p:nvSpPr>
          <p:cNvPr id="11" name="circle-1"/>
          <p:cNvSpPr/>
          <p:nvPr/>
        </p:nvSpPr>
        <p:spPr>
          <a:xfrm>
            <a:off x="7678143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pic>
        <p:nvPicPr>
          <p:cNvPr id="12" name="icon-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2519" y="3017228"/>
            <a:ext cx="670835" cy="670495"/>
          </a:xfrm>
          <a:prstGeom prst="rect">
            <a:avLst/>
          </a:prstGeom>
        </p:spPr>
      </p:pic>
      <p:sp>
        <p:nvSpPr>
          <p:cNvPr id="13" name="label-1"/>
          <p:cNvSpPr/>
          <p:nvPr/>
        </p:nvSpPr>
        <p:spPr>
          <a:xfrm>
            <a:off x="7371892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選ぶ</a:t>
            </a:r>
            <a:endParaRPr lang="en-US" sz="2500" dirty="0"/>
          </a:p>
        </p:txBody>
      </p:sp>
      <p:sp>
        <p:nvSpPr>
          <p:cNvPr id="14" name="circle-2"/>
          <p:cNvSpPr/>
          <p:nvPr/>
        </p:nvSpPr>
        <p:spPr>
          <a:xfrm>
            <a:off x="10098982" y="2732997"/>
            <a:ext cx="1239586" cy="1238959"/>
          </a:xfrm>
          <a:prstGeom prst="ellipse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pic>
        <p:nvPicPr>
          <p:cNvPr id="15" name="icon-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83358" y="3017228"/>
            <a:ext cx="670835" cy="670495"/>
          </a:xfrm>
          <a:prstGeom prst="rect">
            <a:avLst/>
          </a:prstGeom>
        </p:spPr>
      </p:pic>
      <p:sp>
        <p:nvSpPr>
          <p:cNvPr id="16" name="label-2"/>
          <p:cNvSpPr/>
          <p:nvPr/>
        </p:nvSpPr>
        <p:spPr>
          <a:xfrm>
            <a:off x="9792731" y="4103139"/>
            <a:ext cx="1859379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迷わず行く</a:t>
            </a:r>
            <a:endParaRPr lang="en-US" sz="2500" dirty="0"/>
          </a:p>
        </p:txBody>
      </p:sp>
      <p:sp>
        <p:nvSpPr>
          <p:cNvPr id="17" name="arrow-1"/>
          <p:cNvSpPr/>
          <p:nvPr/>
        </p:nvSpPr>
        <p:spPr>
          <a:xfrm>
            <a:off x="6657307" y="3359764"/>
            <a:ext cx="802085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18" name="arrow-2"/>
          <p:cNvSpPr/>
          <p:nvPr/>
        </p:nvSpPr>
        <p:spPr>
          <a:xfrm>
            <a:off x="9078146" y="3359764"/>
            <a:ext cx="809377" cy="3644"/>
          </a:xfrm>
          <a:prstGeom prst="line">
            <a:avLst/>
          </a:prstGeom>
          <a:noFill/>
          <a:ln w="1651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19" name="bottom-rule"/>
          <p:cNvSpPr/>
          <p:nvPr/>
        </p:nvSpPr>
        <p:spPr>
          <a:xfrm>
            <a:off x="495834" y="5298370"/>
            <a:ext cx="112146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20" name="takeaway"/>
          <p:cNvSpPr/>
          <p:nvPr/>
        </p:nvSpPr>
        <p:spPr>
          <a:xfrm>
            <a:off x="2260422" y="5575313"/>
            <a:ext cx="7947935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A5A2E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一つの入口から、必要な案内にたどり着く。</a:t>
            </a:r>
            <a:endParaRPr lang="en-US" sz="2800" dirty="0"/>
          </a:p>
        </p:txBody>
      </p:sp>
      <p:sp>
        <p:nvSpPr>
          <p:cNvPr id="21" name="footer"/>
          <p:cNvSpPr/>
          <p:nvPr/>
        </p:nvSpPr>
        <p:spPr>
          <a:xfrm>
            <a:off x="8881271" y="6376993"/>
            <a:ext cx="2843757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671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架空の企画例。実在の開催情報ではありません。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83833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91667" y="349824"/>
            <a:ext cx="379168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number-rule"/>
          <p:cNvSpPr/>
          <p:nvPr/>
        </p:nvSpPr>
        <p:spPr>
          <a:xfrm>
            <a:off x="743752" y="247792"/>
            <a:ext cx="3646" cy="546599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028127" y="196776"/>
            <a:ext cx="10645858" cy="58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まず「探す場所」をそろえる</a:t>
            </a:r>
            <a:endParaRPr lang="en-US" sz="3600" dirty="0"/>
          </a:p>
        </p:txBody>
      </p:sp>
      <p:sp>
        <p:nvSpPr>
          <p:cNvPr id="5" name="subtitle"/>
          <p:cNvSpPr/>
          <p:nvPr/>
        </p:nvSpPr>
        <p:spPr>
          <a:xfrm>
            <a:off x="1035419" y="838119"/>
            <a:ext cx="1079169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SNS・Web・掲示板を行き来する、という課題仮説</a:t>
            </a:r>
            <a:endParaRPr lang="en-US" sz="2000" dirty="0"/>
          </a:p>
        </p:txBody>
      </p:sp>
      <p:sp>
        <p:nvSpPr>
          <p:cNvPr id="6" name="header-rule"/>
          <p:cNvSpPr/>
          <p:nvPr/>
        </p:nvSpPr>
        <p:spPr>
          <a:xfrm>
            <a:off x="291667" y="1326414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7" name="section"/>
          <p:cNvSpPr/>
          <p:nvPr/>
        </p:nvSpPr>
        <p:spPr>
          <a:xfrm>
            <a:off x="284376" y="1552342"/>
            <a:ext cx="6562515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案内の入口をそろえる</a:t>
            </a:r>
            <a:endParaRPr lang="en-US" sz="2100" dirty="0"/>
          </a:p>
        </p:txBody>
      </p:sp>
      <p:sp>
        <p:nvSpPr>
          <p:cNvPr id="8" name="current"/>
          <p:cNvSpPr/>
          <p:nvPr/>
        </p:nvSpPr>
        <p:spPr>
          <a:xfrm>
            <a:off x="1050002" y="2186397"/>
            <a:ext cx="207813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現状の仮説</a:t>
            </a:r>
            <a:endParaRPr lang="en-US" sz="2100" dirty="0"/>
          </a:p>
        </p:txBody>
      </p:sp>
      <p:sp>
        <p:nvSpPr>
          <p:cNvPr id="9" name="proposal"/>
          <p:cNvSpPr/>
          <p:nvPr/>
        </p:nvSpPr>
        <p:spPr>
          <a:xfrm>
            <a:off x="5760430" y="2186397"/>
            <a:ext cx="729168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2100" dirty="0"/>
          </a:p>
        </p:txBody>
      </p:sp>
      <p:sp>
        <p:nvSpPr>
          <p:cNvPr id="10" name="keep"/>
          <p:cNvSpPr/>
          <p:nvPr/>
        </p:nvSpPr>
        <p:spPr>
          <a:xfrm>
            <a:off x="9697939" y="2186397"/>
            <a:ext cx="160417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残すもの</a:t>
            </a:r>
            <a:endParaRPr lang="en-US" sz="2100" dirty="0"/>
          </a:p>
        </p:txBody>
      </p:sp>
      <p:sp>
        <p:nvSpPr>
          <p:cNvPr id="11" name="source-box-0"/>
          <p:cNvSpPr/>
          <p:nvPr/>
        </p:nvSpPr>
        <p:spPr>
          <a:xfrm>
            <a:off x="532293" y="263096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2" name="source-label-0"/>
          <p:cNvSpPr/>
          <p:nvPr/>
        </p:nvSpPr>
        <p:spPr>
          <a:xfrm>
            <a:off x="729168" y="277672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</a:t>
            </a:r>
            <a:endParaRPr lang="en-US" sz="2100" dirty="0"/>
          </a:p>
        </p:txBody>
      </p:sp>
      <p:sp>
        <p:nvSpPr>
          <p:cNvPr id="13" name="source-box-1"/>
          <p:cNvSpPr/>
          <p:nvPr/>
        </p:nvSpPr>
        <p:spPr>
          <a:xfrm>
            <a:off x="532293" y="3483660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4" name="source-label-1"/>
          <p:cNvSpPr/>
          <p:nvPr/>
        </p:nvSpPr>
        <p:spPr>
          <a:xfrm>
            <a:off x="729168" y="3629420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2100" dirty="0"/>
          </a:p>
        </p:txBody>
      </p:sp>
      <p:sp>
        <p:nvSpPr>
          <p:cNvPr id="15" name="source-box-2"/>
          <p:cNvSpPr/>
          <p:nvPr/>
        </p:nvSpPr>
        <p:spPr>
          <a:xfrm>
            <a:off x="532293" y="4336355"/>
            <a:ext cx="2413547" cy="670495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6" name="source-label-2"/>
          <p:cNvSpPr/>
          <p:nvPr/>
        </p:nvSpPr>
        <p:spPr>
          <a:xfrm>
            <a:off x="729168" y="4482115"/>
            <a:ext cx="20197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掲示板</a:t>
            </a:r>
            <a:endParaRPr lang="en-US" sz="2100" dirty="0"/>
          </a:p>
        </p:txBody>
      </p:sp>
      <p:sp>
        <p:nvSpPr>
          <p:cNvPr id="17" name="list-box"/>
          <p:cNvSpPr/>
          <p:nvPr/>
        </p:nvSpPr>
        <p:spPr>
          <a:xfrm>
            <a:off x="4375010" y="2856893"/>
            <a:ext cx="3441675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18" name="list-label"/>
          <p:cNvSpPr/>
          <p:nvPr/>
        </p:nvSpPr>
        <p:spPr>
          <a:xfrm>
            <a:off x="4681261" y="3527388"/>
            <a:ext cx="2909382" cy="55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共通のイベント一覧</a:t>
            </a:r>
            <a:endParaRPr lang="en-US" sz="2500" dirty="0"/>
          </a:p>
        </p:txBody>
      </p:sp>
      <p:sp>
        <p:nvSpPr>
          <p:cNvPr id="19" name="details-box"/>
          <p:cNvSpPr/>
          <p:nvPr/>
        </p:nvSpPr>
        <p:spPr>
          <a:xfrm>
            <a:off x="8873979" y="2856893"/>
            <a:ext cx="3026049" cy="1851150"/>
          </a:xfrm>
          <a:prstGeom prst="rect">
            <a:avLst/>
          </a:prstGeom>
          <a:solidFill>
            <a:srgbClr val="F4F0E8">
              <a:alpha val="0"/>
            </a:srgbClr>
          </a:solidFill>
          <a:ln w="15240">
            <a:solidFill>
              <a:srgbClr val="9A5A2E"/>
            </a:solidFill>
            <a:prstDash val="solid"/>
          </a:ln>
        </p:spPr>
      </p:sp>
      <p:sp>
        <p:nvSpPr>
          <p:cNvPr id="20" name="details-label"/>
          <p:cNvSpPr/>
          <p:nvPr/>
        </p:nvSpPr>
        <p:spPr>
          <a:xfrm>
            <a:off x="8983354" y="3439932"/>
            <a:ext cx="2807298" cy="728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各店の詳しい案内への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リンク</a:t>
            </a:r>
            <a:endParaRPr lang="en-US" sz="1900" dirty="0"/>
          </a:p>
        </p:txBody>
      </p:sp>
      <p:sp>
        <p:nvSpPr>
          <p:cNvPr id="21" name="route-1"/>
          <p:cNvSpPr/>
          <p:nvPr/>
        </p:nvSpPr>
        <p:spPr>
          <a:xfrm>
            <a:off x="2945840" y="2966213"/>
            <a:ext cx="1421878" cy="53202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2" name="route-2"/>
          <p:cNvSpPr/>
          <p:nvPr/>
        </p:nvSpPr>
        <p:spPr>
          <a:xfrm>
            <a:off x="2945840" y="3797044"/>
            <a:ext cx="1421878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3" name="route-3"/>
          <p:cNvSpPr/>
          <p:nvPr/>
        </p:nvSpPr>
        <p:spPr>
          <a:xfrm flipV="1">
            <a:off x="2945840" y="4081275"/>
            <a:ext cx="1421878" cy="568463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4" name="route-4"/>
          <p:cNvSpPr/>
          <p:nvPr/>
        </p:nvSpPr>
        <p:spPr>
          <a:xfrm>
            <a:off x="7816685" y="3797044"/>
            <a:ext cx="10500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5" name="caveat"/>
          <p:cNvSpPr/>
          <p:nvPr/>
        </p:nvSpPr>
        <p:spPr>
          <a:xfrm>
            <a:off x="284376" y="5312946"/>
            <a:ext cx="3645842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現地調査は未実施</a:t>
            </a:r>
            <a:endParaRPr lang="en-US" sz="1400" dirty="0"/>
          </a:p>
        </p:txBody>
      </p:sp>
      <p:sp>
        <p:nvSpPr>
          <p:cNvPr id="26" name="bottom-rule"/>
          <p:cNvSpPr/>
          <p:nvPr/>
        </p:nvSpPr>
        <p:spPr>
          <a:xfrm>
            <a:off x="291667" y="5859545"/>
            <a:ext cx="11608361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27" name="takeaway"/>
          <p:cNvSpPr/>
          <p:nvPr/>
        </p:nvSpPr>
        <p:spPr>
          <a:xfrm>
            <a:off x="291667" y="6063609"/>
            <a:ext cx="9406272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既存の発信を生かし、一覧を共通の入口にする。</a:t>
            </a:r>
            <a:endParaRPr lang="en-US" sz="2700" dirty="0"/>
          </a:p>
        </p:txBody>
      </p:sp>
      <p:sp>
        <p:nvSpPr>
          <p:cNvPr id="28" name="footer"/>
          <p:cNvSpPr/>
          <p:nvPr/>
        </p:nvSpPr>
        <p:spPr>
          <a:xfrm>
            <a:off x="9829190" y="6376993"/>
            <a:ext cx="2107297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架空の企画例。課題は検証前の仮説です。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6979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226042" y="247792"/>
            <a:ext cx="444793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772918" y="189488"/>
            <a:ext cx="3646" cy="502871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1013544" y="167624"/>
            <a:ext cx="10645858" cy="575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一覧には、比較に必要な項目をそろえる</a:t>
            </a:r>
            <a:endParaRPr lang="en-US" sz="3400" dirty="0"/>
          </a:p>
        </p:txBody>
      </p:sp>
      <p:sp>
        <p:nvSpPr>
          <p:cNvPr id="5" name="subtitle"/>
          <p:cNvSpPr/>
          <p:nvPr/>
        </p:nvSpPr>
        <p:spPr>
          <a:xfrm>
            <a:off x="1020836" y="801679"/>
            <a:ext cx="10791692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日時・場所・費用・雨天時の扱いを同じ順序で掲載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255209" y="1406582"/>
            <a:ext cx="11688569" cy="757951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7" name="table-v-0"/>
          <p:cNvSpPr/>
          <p:nvPr/>
        </p:nvSpPr>
        <p:spPr>
          <a:xfrm>
            <a:off x="255209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8" name="table-v-1"/>
          <p:cNvSpPr/>
          <p:nvPr/>
        </p:nvSpPr>
        <p:spPr>
          <a:xfrm>
            <a:off x="2617714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9" name="table-v-2"/>
          <p:cNvSpPr/>
          <p:nvPr/>
        </p:nvSpPr>
        <p:spPr>
          <a:xfrm>
            <a:off x="4951053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0" name="table-v-3"/>
          <p:cNvSpPr/>
          <p:nvPr/>
        </p:nvSpPr>
        <p:spPr>
          <a:xfrm>
            <a:off x="7335434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1" name="table-v-4"/>
          <p:cNvSpPr/>
          <p:nvPr/>
        </p:nvSpPr>
        <p:spPr>
          <a:xfrm>
            <a:off x="9617731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2" name="table-v-5"/>
          <p:cNvSpPr/>
          <p:nvPr/>
        </p:nvSpPr>
        <p:spPr>
          <a:xfrm>
            <a:off x="11943778" y="1406582"/>
            <a:ext cx="3646" cy="37970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3" name="table-h-0"/>
          <p:cNvSpPr/>
          <p:nvPr/>
        </p:nvSpPr>
        <p:spPr>
          <a:xfrm>
            <a:off x="255209" y="1406582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4" name="table-h-1"/>
          <p:cNvSpPr/>
          <p:nvPr/>
        </p:nvSpPr>
        <p:spPr>
          <a:xfrm>
            <a:off x="255209" y="2164533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5" name="table-h-2"/>
          <p:cNvSpPr/>
          <p:nvPr/>
        </p:nvSpPr>
        <p:spPr>
          <a:xfrm>
            <a:off x="255209" y="3162988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6" name="table-h-3"/>
          <p:cNvSpPr/>
          <p:nvPr/>
        </p:nvSpPr>
        <p:spPr>
          <a:xfrm>
            <a:off x="255209" y="4190595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7" name="table-h-4"/>
          <p:cNvSpPr/>
          <p:nvPr/>
        </p:nvSpPr>
        <p:spPr>
          <a:xfrm>
            <a:off x="255209" y="5203626"/>
            <a:ext cx="11688569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8" name="header-0"/>
          <p:cNvSpPr/>
          <p:nvPr/>
        </p:nvSpPr>
        <p:spPr>
          <a:xfrm>
            <a:off x="328126" y="1530478"/>
            <a:ext cx="2216672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</a:t>
            </a:r>
            <a:endParaRPr lang="en-US" sz="2200" dirty="0"/>
          </a:p>
        </p:txBody>
      </p:sp>
      <p:sp>
        <p:nvSpPr>
          <p:cNvPr id="19" name="header-1"/>
          <p:cNvSpPr/>
          <p:nvPr/>
        </p:nvSpPr>
        <p:spPr>
          <a:xfrm>
            <a:off x="2690631" y="1530478"/>
            <a:ext cx="2187505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</a:t>
            </a:r>
            <a:endParaRPr lang="en-US" sz="2200" dirty="0"/>
          </a:p>
        </p:txBody>
      </p:sp>
      <p:sp>
        <p:nvSpPr>
          <p:cNvPr id="20" name="header-2"/>
          <p:cNvSpPr/>
          <p:nvPr/>
        </p:nvSpPr>
        <p:spPr>
          <a:xfrm>
            <a:off x="5023970" y="1530478"/>
            <a:ext cx="2238547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</a:t>
            </a:r>
            <a:endParaRPr lang="en-US" sz="2200" dirty="0"/>
          </a:p>
        </p:txBody>
      </p:sp>
      <p:sp>
        <p:nvSpPr>
          <p:cNvPr id="21" name="header-3"/>
          <p:cNvSpPr/>
          <p:nvPr/>
        </p:nvSpPr>
        <p:spPr>
          <a:xfrm>
            <a:off x="7408351" y="1530478"/>
            <a:ext cx="2136463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費用</a:t>
            </a:r>
            <a:endParaRPr lang="en-US" sz="2200" dirty="0"/>
          </a:p>
        </p:txBody>
      </p:sp>
      <p:sp>
        <p:nvSpPr>
          <p:cNvPr id="22" name="header-4"/>
          <p:cNvSpPr/>
          <p:nvPr/>
        </p:nvSpPr>
        <p:spPr>
          <a:xfrm>
            <a:off x="9690648" y="1530478"/>
            <a:ext cx="2180213" cy="53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雨天時</a:t>
            </a:r>
            <a:endParaRPr lang="en-US" sz="2200" dirty="0"/>
          </a:p>
        </p:txBody>
      </p:sp>
      <p:sp>
        <p:nvSpPr>
          <p:cNvPr id="23" name="cell-0-0"/>
          <p:cNvSpPr/>
          <p:nvPr/>
        </p:nvSpPr>
        <p:spPr>
          <a:xfrm>
            <a:off x="452084" y="2310293"/>
            <a:ext cx="2019796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朝のパン市</a:t>
            </a:r>
            <a:endParaRPr lang="en-US" sz="1900" dirty="0"/>
          </a:p>
        </p:txBody>
      </p:sp>
      <p:sp>
        <p:nvSpPr>
          <p:cNvPr id="24" name="cell-0-1"/>
          <p:cNvSpPr/>
          <p:nvPr/>
        </p:nvSpPr>
        <p:spPr>
          <a:xfrm>
            <a:off x="2814590" y="2310293"/>
            <a:ext cx="1990630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11月7日（土）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10–12時</a:t>
            </a:r>
            <a:endParaRPr lang="en-US" sz="1900" dirty="0"/>
          </a:p>
        </p:txBody>
      </p:sp>
      <p:sp>
        <p:nvSpPr>
          <p:cNvPr id="25" name="cell-0-2"/>
          <p:cNvSpPr/>
          <p:nvPr/>
        </p:nvSpPr>
        <p:spPr>
          <a:xfrm>
            <a:off x="5147929" y="2310293"/>
            <a:ext cx="2041671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こもれび広場</a:t>
            </a:r>
            <a:endParaRPr lang="en-US" sz="1900" dirty="0"/>
          </a:p>
        </p:txBody>
      </p:sp>
      <p:sp>
        <p:nvSpPr>
          <p:cNvPr id="26" name="cell-0-3"/>
          <p:cNvSpPr/>
          <p:nvPr/>
        </p:nvSpPr>
        <p:spPr>
          <a:xfrm>
            <a:off x="7532309" y="2310293"/>
            <a:ext cx="1939588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入場無料／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購入は別</a:t>
            </a:r>
            <a:endParaRPr lang="en-US" sz="1900" dirty="0"/>
          </a:p>
        </p:txBody>
      </p:sp>
      <p:sp>
        <p:nvSpPr>
          <p:cNvPr id="27" name="cell-0-4"/>
          <p:cNvSpPr/>
          <p:nvPr/>
        </p:nvSpPr>
        <p:spPr>
          <a:xfrm>
            <a:off x="9814606" y="2310293"/>
            <a:ext cx="1983338" cy="70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小雨実施・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荒天中止</a:t>
            </a:r>
            <a:endParaRPr lang="en-US" sz="1900" dirty="0"/>
          </a:p>
        </p:txBody>
      </p:sp>
      <p:sp>
        <p:nvSpPr>
          <p:cNvPr id="28" name="cell-1-0"/>
          <p:cNvSpPr/>
          <p:nvPr/>
        </p:nvSpPr>
        <p:spPr>
          <a:xfrm>
            <a:off x="452084" y="3308748"/>
            <a:ext cx="2019796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路地の音楽会</a:t>
            </a:r>
            <a:endParaRPr lang="en-US" sz="1900" dirty="0"/>
          </a:p>
        </p:txBody>
      </p:sp>
      <p:sp>
        <p:nvSpPr>
          <p:cNvPr id="29" name="cell-1-1"/>
          <p:cNvSpPr/>
          <p:nvPr/>
        </p:nvSpPr>
        <p:spPr>
          <a:xfrm>
            <a:off x="2814590" y="3308748"/>
            <a:ext cx="1990630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11月14日（土）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14–16時</a:t>
            </a:r>
            <a:endParaRPr lang="en-US" sz="1900" dirty="0"/>
          </a:p>
        </p:txBody>
      </p:sp>
      <p:sp>
        <p:nvSpPr>
          <p:cNvPr id="30" name="cell-1-2"/>
          <p:cNvSpPr/>
          <p:nvPr/>
        </p:nvSpPr>
        <p:spPr>
          <a:xfrm>
            <a:off x="5147929" y="3308748"/>
            <a:ext cx="2041671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ふれあい会館</a:t>
            </a:r>
            <a:endParaRPr lang="en-US" sz="1900" dirty="0"/>
          </a:p>
        </p:txBody>
      </p:sp>
      <p:sp>
        <p:nvSpPr>
          <p:cNvPr id="31" name="cell-1-3"/>
          <p:cNvSpPr/>
          <p:nvPr/>
        </p:nvSpPr>
        <p:spPr>
          <a:xfrm>
            <a:off x="7532309" y="3308748"/>
            <a:ext cx="193958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入場無料</a:t>
            </a:r>
            <a:endParaRPr lang="en-US" sz="1900" dirty="0"/>
          </a:p>
        </p:txBody>
      </p:sp>
      <p:sp>
        <p:nvSpPr>
          <p:cNvPr id="32" name="cell-1-4"/>
          <p:cNvSpPr/>
          <p:nvPr/>
        </p:nvSpPr>
        <p:spPr>
          <a:xfrm>
            <a:off x="9814606" y="3308748"/>
            <a:ext cx="198333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屋内開催</a:t>
            </a:r>
            <a:endParaRPr lang="en-US" sz="1900" dirty="0"/>
          </a:p>
        </p:txBody>
      </p:sp>
      <p:sp>
        <p:nvSpPr>
          <p:cNvPr id="33" name="cell-2-0"/>
          <p:cNvSpPr/>
          <p:nvPr/>
        </p:nvSpPr>
        <p:spPr>
          <a:xfrm>
            <a:off x="452084" y="4336355"/>
            <a:ext cx="2019796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夕暮れ古本交換</a:t>
            </a:r>
            <a:endParaRPr lang="en-US" sz="1900" dirty="0"/>
          </a:p>
        </p:txBody>
      </p:sp>
      <p:sp>
        <p:nvSpPr>
          <p:cNvPr id="34" name="cell-2-1"/>
          <p:cNvSpPr/>
          <p:nvPr/>
        </p:nvSpPr>
        <p:spPr>
          <a:xfrm>
            <a:off x="2814590" y="4336355"/>
            <a:ext cx="1990630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11月21日（土）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16–18時</a:t>
            </a:r>
            <a:endParaRPr lang="en-US" sz="1900" dirty="0"/>
          </a:p>
        </p:txBody>
      </p:sp>
      <p:sp>
        <p:nvSpPr>
          <p:cNvPr id="35" name="cell-2-2"/>
          <p:cNvSpPr/>
          <p:nvPr/>
        </p:nvSpPr>
        <p:spPr>
          <a:xfrm>
            <a:off x="5147929" y="4336355"/>
            <a:ext cx="2041671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駅前アーケード</a:t>
            </a:r>
            <a:endParaRPr lang="en-US" sz="1900" dirty="0"/>
          </a:p>
        </p:txBody>
      </p:sp>
      <p:sp>
        <p:nvSpPr>
          <p:cNvPr id="36" name="cell-2-3"/>
          <p:cNvSpPr/>
          <p:nvPr/>
        </p:nvSpPr>
        <p:spPr>
          <a:xfrm>
            <a:off x="7532309" y="4336355"/>
            <a:ext cx="1939588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参加無料</a:t>
            </a:r>
            <a:endParaRPr lang="en-US" sz="1900" dirty="0"/>
          </a:p>
        </p:txBody>
      </p:sp>
      <p:sp>
        <p:nvSpPr>
          <p:cNvPr id="37" name="cell-2-4"/>
          <p:cNvSpPr/>
          <p:nvPr/>
        </p:nvSpPr>
        <p:spPr>
          <a:xfrm>
            <a:off x="9814606" y="4336355"/>
            <a:ext cx="1983338" cy="721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屋根下で実施</a:t>
            </a:r>
            <a:endParaRPr lang="en-US" sz="1900" dirty="0"/>
          </a:p>
        </p:txBody>
      </p:sp>
      <p:sp>
        <p:nvSpPr>
          <p:cNvPr id="38" name="note-1"/>
          <p:cNvSpPr/>
          <p:nvPr/>
        </p:nvSpPr>
        <p:spPr>
          <a:xfrm>
            <a:off x="342709" y="5342098"/>
            <a:ext cx="10572941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追加する管理項目：連絡先／最終更新日</a:t>
            </a:r>
            <a:endParaRPr lang="en-US" sz="1500" dirty="0"/>
          </a:p>
        </p:txBody>
      </p:sp>
      <p:sp>
        <p:nvSpPr>
          <p:cNvPr id="39" name="note-2"/>
          <p:cNvSpPr/>
          <p:nvPr/>
        </p:nvSpPr>
        <p:spPr>
          <a:xfrm>
            <a:off x="342709" y="5691921"/>
            <a:ext cx="1071877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掲載例の年は2026年。実在の開催予定ではない。</a:t>
            </a:r>
            <a:endParaRPr lang="en-US" sz="1500" dirty="0"/>
          </a:p>
        </p:txBody>
      </p:sp>
      <p:sp>
        <p:nvSpPr>
          <p:cNvPr id="40" name="bottom-rule"/>
          <p:cNvSpPr/>
          <p:nvPr/>
        </p:nvSpPr>
        <p:spPr>
          <a:xfrm>
            <a:off x="255209" y="6187505"/>
            <a:ext cx="11695861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41" name="takeaway"/>
          <p:cNvSpPr/>
          <p:nvPr/>
        </p:nvSpPr>
        <p:spPr>
          <a:xfrm>
            <a:off x="255209" y="6289537"/>
            <a:ext cx="8677104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見た目より先に、掲載項目と更新日をそろえる。</a:t>
            </a:r>
            <a:endParaRPr lang="en-US" sz="2400" dirty="0"/>
          </a:p>
        </p:txBody>
      </p:sp>
      <p:sp>
        <p:nvSpPr>
          <p:cNvPr id="42" name="footer"/>
          <p:cNvSpPr/>
          <p:nvPr/>
        </p:nvSpPr>
        <p:spPr>
          <a:xfrm>
            <a:off x="9318772" y="6457160"/>
            <a:ext cx="266146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架空の企画例。開催情報はすべて例示。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3215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357293" y="138472"/>
            <a:ext cx="444793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875002" y="335248"/>
            <a:ext cx="10973984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357293" y="590327"/>
            <a:ext cx="11484402" cy="612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更新の窓口と、公開前の確認を決める</a:t>
            </a:r>
            <a:endParaRPr lang="en-US" sz="3500" dirty="0"/>
          </a:p>
        </p:txBody>
      </p:sp>
      <p:sp>
        <p:nvSpPr>
          <p:cNvPr id="5" name="subtitle"/>
          <p:cNvSpPr/>
          <p:nvPr/>
        </p:nvSpPr>
        <p:spPr>
          <a:xfrm>
            <a:off x="357293" y="1268111"/>
            <a:ext cx="11302110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提案する担当分担｜実際の担当者との合意は未取得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57293" y="1800134"/>
            <a:ext cx="11477110" cy="59761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7" name="table-v-0"/>
          <p:cNvSpPr/>
          <p:nvPr/>
        </p:nvSpPr>
        <p:spPr>
          <a:xfrm>
            <a:off x="35729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8" name="table-v-1"/>
          <p:cNvSpPr/>
          <p:nvPr/>
        </p:nvSpPr>
        <p:spPr>
          <a:xfrm>
            <a:off x="3572925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9" name="table-v-2"/>
          <p:cNvSpPr/>
          <p:nvPr/>
        </p:nvSpPr>
        <p:spPr>
          <a:xfrm>
            <a:off x="7510434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0" name="table-v-3"/>
          <p:cNvSpPr/>
          <p:nvPr/>
        </p:nvSpPr>
        <p:spPr>
          <a:xfrm>
            <a:off x="1183440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1" name="table-h-0"/>
          <p:cNvSpPr/>
          <p:nvPr/>
        </p:nvSpPr>
        <p:spPr>
          <a:xfrm>
            <a:off x="357293" y="1800134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2" name="table-h-1"/>
          <p:cNvSpPr/>
          <p:nvPr/>
        </p:nvSpPr>
        <p:spPr>
          <a:xfrm>
            <a:off x="357293" y="2397749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3" name="table-h-2"/>
          <p:cNvSpPr/>
          <p:nvPr/>
        </p:nvSpPr>
        <p:spPr>
          <a:xfrm>
            <a:off x="357293" y="340349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4" name="table-h-3"/>
          <p:cNvSpPr/>
          <p:nvPr/>
        </p:nvSpPr>
        <p:spPr>
          <a:xfrm>
            <a:off x="357293" y="4409235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5" name="table-h-4"/>
          <p:cNvSpPr/>
          <p:nvPr/>
        </p:nvSpPr>
        <p:spPr>
          <a:xfrm>
            <a:off x="357293" y="543684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6" name="header-0"/>
          <p:cNvSpPr/>
          <p:nvPr/>
        </p:nvSpPr>
        <p:spPr>
          <a:xfrm>
            <a:off x="430209" y="1924030"/>
            <a:ext cx="3069799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645842" y="1924030"/>
            <a:ext cx="3791676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担当案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583351" y="1924030"/>
            <a:ext cx="4178135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確認すること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1378128" y="2543509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情報を渡す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864592" y="2543509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各店・主催者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7802102" y="2543509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日時・費用・雨天対応</a:t>
            </a:r>
            <a:endParaRPr lang="en-US" sz="2000" dirty="0"/>
          </a:p>
        </p:txBody>
      </p:sp>
      <p:sp>
        <p:nvSpPr>
          <p:cNvPr id="22" name="step-disc-0"/>
          <p:cNvSpPr/>
          <p:nvPr/>
        </p:nvSpPr>
        <p:spPr>
          <a:xfrm>
            <a:off x="648960" y="2645541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23" name="step-number-0"/>
          <p:cNvSpPr/>
          <p:nvPr/>
        </p:nvSpPr>
        <p:spPr>
          <a:xfrm>
            <a:off x="663543" y="2681981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step-arrow-0"/>
          <p:cNvSpPr/>
          <p:nvPr/>
        </p:nvSpPr>
        <p:spPr>
          <a:xfrm>
            <a:off x="867710" y="3133836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5" name="cell-1-0"/>
          <p:cNvSpPr/>
          <p:nvPr/>
        </p:nvSpPr>
        <p:spPr>
          <a:xfrm>
            <a:off x="1378128" y="3549252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確認して掲載</a:t>
            </a:r>
            <a:endParaRPr lang="en-US" sz="2000" dirty="0"/>
          </a:p>
        </p:txBody>
      </p:sp>
      <p:sp>
        <p:nvSpPr>
          <p:cNvPr id="26" name="cell-1-1"/>
          <p:cNvSpPr/>
          <p:nvPr/>
        </p:nvSpPr>
        <p:spPr>
          <a:xfrm>
            <a:off x="3864592" y="3549252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商店街の編集窓口</a:t>
            </a:r>
            <a:endParaRPr lang="en-US" sz="2000" dirty="0"/>
          </a:p>
        </p:txBody>
      </p:sp>
      <p:sp>
        <p:nvSpPr>
          <p:cNvPr id="27" name="cell-1-2"/>
          <p:cNvSpPr/>
          <p:nvPr/>
        </p:nvSpPr>
        <p:spPr>
          <a:xfrm>
            <a:off x="7802102" y="3549252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不足情報・リンク先・更新日</a:t>
            </a:r>
            <a:endParaRPr lang="en-US" sz="2000" dirty="0"/>
          </a:p>
        </p:txBody>
      </p:sp>
      <p:sp>
        <p:nvSpPr>
          <p:cNvPr id="28" name="step-disc-1"/>
          <p:cNvSpPr/>
          <p:nvPr/>
        </p:nvSpPr>
        <p:spPr>
          <a:xfrm>
            <a:off x="648960" y="3680436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29" name="step-number-1"/>
          <p:cNvSpPr/>
          <p:nvPr/>
        </p:nvSpPr>
        <p:spPr>
          <a:xfrm>
            <a:off x="663543" y="3716876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30" name="step-arrow-1"/>
          <p:cNvSpPr/>
          <p:nvPr/>
        </p:nvSpPr>
        <p:spPr>
          <a:xfrm>
            <a:off x="867710" y="4168731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31" name="cell-2-0"/>
          <p:cNvSpPr/>
          <p:nvPr/>
        </p:nvSpPr>
        <p:spPr>
          <a:xfrm>
            <a:off x="1378128" y="4554995"/>
            <a:ext cx="2048963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変更を反映</a:t>
            </a:r>
            <a:endParaRPr lang="en-US" sz="2000" dirty="0"/>
          </a:p>
        </p:txBody>
      </p:sp>
      <p:sp>
        <p:nvSpPr>
          <p:cNvPr id="32" name="cell-2-1"/>
          <p:cNvSpPr/>
          <p:nvPr/>
        </p:nvSpPr>
        <p:spPr>
          <a:xfrm>
            <a:off x="3864592" y="4554995"/>
            <a:ext cx="350000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主催者→編集窓口</a:t>
            </a:r>
            <a:endParaRPr lang="en-US" sz="2000" dirty="0"/>
          </a:p>
        </p:txBody>
      </p:sp>
      <p:sp>
        <p:nvSpPr>
          <p:cNvPr id="33" name="cell-2-2"/>
          <p:cNvSpPr/>
          <p:nvPr/>
        </p:nvSpPr>
        <p:spPr>
          <a:xfrm>
            <a:off x="7802102" y="4554995"/>
            <a:ext cx="3886467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変更内容・反映時刻・周知先</a:t>
            </a:r>
            <a:endParaRPr lang="en-US" sz="2000" dirty="0"/>
          </a:p>
        </p:txBody>
      </p:sp>
      <p:sp>
        <p:nvSpPr>
          <p:cNvPr id="34" name="step-disc-2"/>
          <p:cNvSpPr/>
          <p:nvPr/>
        </p:nvSpPr>
        <p:spPr>
          <a:xfrm>
            <a:off x="648960" y="4715330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35" name="step-number-2"/>
          <p:cNvSpPr/>
          <p:nvPr/>
        </p:nvSpPr>
        <p:spPr>
          <a:xfrm>
            <a:off x="663543" y="4751770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note-1"/>
          <p:cNvSpPr/>
          <p:nvPr/>
        </p:nvSpPr>
        <p:spPr>
          <a:xfrm>
            <a:off x="364584" y="5633617"/>
            <a:ext cx="11229193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掲載済み情報に変更があれば、主催者が窓口へ連絡する。</a:t>
            </a:r>
            <a:endParaRPr lang="en-US" sz="1500" dirty="0"/>
          </a:p>
        </p:txBody>
      </p:sp>
      <p:sp>
        <p:nvSpPr>
          <p:cNvPr id="37" name="bottom-rule"/>
          <p:cNvSpPr/>
          <p:nvPr/>
        </p:nvSpPr>
        <p:spPr>
          <a:xfrm>
            <a:off x="357293" y="6085473"/>
            <a:ext cx="114844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38" name="takeaway"/>
          <p:cNvSpPr/>
          <p:nvPr/>
        </p:nvSpPr>
        <p:spPr>
          <a:xfrm>
            <a:off x="2916673" y="6187505"/>
            <a:ext cx="6365640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誰が直すかまで決めて、案内を古くしない。</a:t>
            </a:r>
            <a:endParaRPr lang="en-US" sz="2400" dirty="0"/>
          </a:p>
        </p:txBody>
      </p:sp>
      <p:sp>
        <p:nvSpPr>
          <p:cNvPr id="39" name="footer"/>
          <p:cNvSpPr/>
          <p:nvPr/>
        </p:nvSpPr>
        <p:spPr>
          <a:xfrm>
            <a:off x="9391689" y="6515464"/>
            <a:ext cx="247188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架空の企画例。担当体制は提案であり未合意。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8566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-disc"/>
          <p:cNvSpPr/>
          <p:nvPr/>
        </p:nvSpPr>
        <p:spPr>
          <a:xfrm>
            <a:off x="371876" y="320672"/>
            <a:ext cx="780210" cy="779815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3" name="page-number"/>
          <p:cNvSpPr/>
          <p:nvPr/>
        </p:nvSpPr>
        <p:spPr>
          <a:xfrm>
            <a:off x="466668" y="451855"/>
            <a:ext cx="597918" cy="481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3300" dirty="0"/>
          </a:p>
        </p:txBody>
      </p:sp>
      <p:sp>
        <p:nvSpPr>
          <p:cNvPr id="4" name="title"/>
          <p:cNvSpPr/>
          <p:nvPr/>
        </p:nvSpPr>
        <p:spPr>
          <a:xfrm>
            <a:off x="1414587" y="364400"/>
            <a:ext cx="10390649" cy="685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小さく試し、続けられるかを確かめる</a:t>
            </a:r>
            <a:endParaRPr lang="en-US" sz="3800" dirty="0"/>
          </a:p>
        </p:txBody>
      </p:sp>
      <p:sp>
        <p:nvSpPr>
          <p:cNvPr id="5" name="subtitle"/>
          <p:cNvSpPr/>
          <p:nvPr/>
        </p:nvSpPr>
        <p:spPr>
          <a:xfrm>
            <a:off x="1436462" y="1144215"/>
            <a:ext cx="10354191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試行期間は2週間という提案｜効果の実測値はまだない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71876" y="1734542"/>
            <a:ext cx="11440652" cy="63405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7" name="table-v-0"/>
          <p:cNvSpPr/>
          <p:nvPr/>
        </p:nvSpPr>
        <p:spPr>
          <a:xfrm>
            <a:off x="371876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8" name="table-v-1"/>
          <p:cNvSpPr/>
          <p:nvPr/>
        </p:nvSpPr>
        <p:spPr>
          <a:xfrm>
            <a:off x="3682300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9" name="table-v-2"/>
          <p:cNvSpPr/>
          <p:nvPr/>
        </p:nvSpPr>
        <p:spPr>
          <a:xfrm>
            <a:off x="7823977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0" name="table-v-3"/>
          <p:cNvSpPr/>
          <p:nvPr/>
        </p:nvSpPr>
        <p:spPr>
          <a:xfrm>
            <a:off x="11812528" y="1734542"/>
            <a:ext cx="3646" cy="3046380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1" name="table-h-0"/>
          <p:cNvSpPr/>
          <p:nvPr/>
        </p:nvSpPr>
        <p:spPr>
          <a:xfrm>
            <a:off x="371876" y="173454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2" name="table-h-1"/>
          <p:cNvSpPr/>
          <p:nvPr/>
        </p:nvSpPr>
        <p:spPr>
          <a:xfrm>
            <a:off x="371876" y="2368597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3" name="table-h-2"/>
          <p:cNvSpPr/>
          <p:nvPr/>
        </p:nvSpPr>
        <p:spPr>
          <a:xfrm>
            <a:off x="371876" y="3265020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4" name="table-h-3"/>
          <p:cNvSpPr/>
          <p:nvPr/>
        </p:nvSpPr>
        <p:spPr>
          <a:xfrm>
            <a:off x="371876" y="4022971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5" name="table-h-4"/>
          <p:cNvSpPr/>
          <p:nvPr/>
        </p:nvSpPr>
        <p:spPr>
          <a:xfrm>
            <a:off x="371876" y="4780922"/>
            <a:ext cx="11440652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6" name="header-0"/>
          <p:cNvSpPr/>
          <p:nvPr/>
        </p:nvSpPr>
        <p:spPr>
          <a:xfrm>
            <a:off x="444793" y="1858438"/>
            <a:ext cx="3164591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確認したいこと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755217" y="1858438"/>
            <a:ext cx="3995843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確かめ方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896893" y="1858438"/>
            <a:ext cx="3842717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判断の材料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663543" y="2514357"/>
            <a:ext cx="2872923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見つけやすさ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973968" y="2514357"/>
            <a:ext cx="3704175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来訪者に目的の案内を探して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もらう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8115644" y="2514357"/>
            <a:ext cx="3551050" cy="60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迷った場所・不足した情報</a:t>
            </a:r>
            <a:endParaRPr lang="en-US" sz="2000" dirty="0"/>
          </a:p>
        </p:txBody>
      </p:sp>
      <p:sp>
        <p:nvSpPr>
          <p:cNvPr id="22" name="cell-1-0"/>
          <p:cNvSpPr/>
          <p:nvPr/>
        </p:nvSpPr>
        <p:spPr>
          <a:xfrm>
            <a:off x="663543" y="3410780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更新のしやすさ</a:t>
            </a:r>
            <a:endParaRPr lang="en-US" sz="2000" dirty="0"/>
          </a:p>
        </p:txBody>
      </p:sp>
      <p:sp>
        <p:nvSpPr>
          <p:cNvPr id="23" name="cell-1-1"/>
          <p:cNvSpPr/>
          <p:nvPr/>
        </p:nvSpPr>
        <p:spPr>
          <a:xfrm>
            <a:off x="3973968" y="3410780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担当者が掲載と変更を実施する</a:t>
            </a:r>
            <a:endParaRPr lang="en-US" sz="2000" dirty="0"/>
          </a:p>
        </p:txBody>
      </p:sp>
      <p:sp>
        <p:nvSpPr>
          <p:cNvPr id="24" name="cell-1-2"/>
          <p:cNvSpPr/>
          <p:nvPr/>
        </p:nvSpPr>
        <p:spPr>
          <a:xfrm>
            <a:off x="8115644" y="3410780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作業時間・手戻り・漏れ</a:t>
            </a:r>
            <a:endParaRPr lang="en-US" sz="2000" dirty="0"/>
          </a:p>
        </p:txBody>
      </p:sp>
      <p:sp>
        <p:nvSpPr>
          <p:cNvPr id="25" name="cell-2-0"/>
          <p:cNvSpPr/>
          <p:nvPr/>
        </p:nvSpPr>
        <p:spPr>
          <a:xfrm>
            <a:off x="663543" y="4168731"/>
            <a:ext cx="2872923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紙でも伝わるか</a:t>
            </a:r>
            <a:endParaRPr lang="en-US" sz="2000" dirty="0"/>
          </a:p>
        </p:txBody>
      </p:sp>
      <p:sp>
        <p:nvSpPr>
          <p:cNvPr id="26" name="cell-2-1"/>
          <p:cNvSpPr/>
          <p:nvPr/>
        </p:nvSpPr>
        <p:spPr>
          <a:xfrm>
            <a:off x="3973968" y="4168731"/>
            <a:ext cx="370417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一覧の印刷版を掲示する</a:t>
            </a:r>
            <a:endParaRPr lang="en-US" sz="2000" dirty="0"/>
          </a:p>
        </p:txBody>
      </p:sp>
      <p:sp>
        <p:nvSpPr>
          <p:cNvPr id="27" name="cell-2-2"/>
          <p:cNvSpPr/>
          <p:nvPr/>
        </p:nvSpPr>
        <p:spPr>
          <a:xfrm>
            <a:off x="8115644" y="4168731"/>
            <a:ext cx="355105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文字の読みやすさ・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</a:t>
            </a:r>
            <a:endParaRPr lang="en-US" sz="2000" dirty="0"/>
          </a:p>
        </p:txBody>
      </p:sp>
      <p:sp>
        <p:nvSpPr>
          <p:cNvPr id="28" name="note-1"/>
          <p:cNvSpPr/>
          <p:nvPr/>
        </p:nvSpPr>
        <p:spPr>
          <a:xfrm>
            <a:off x="364584" y="4977698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試行前：担当者・掲載範囲・確認日を決める</a:t>
            </a:r>
            <a:endParaRPr lang="en-US" sz="1900" dirty="0"/>
          </a:p>
        </p:txBody>
      </p:sp>
      <p:sp>
        <p:nvSpPr>
          <p:cNvPr id="29" name="note-2"/>
          <p:cNvSpPr/>
          <p:nvPr/>
        </p:nvSpPr>
        <p:spPr>
          <a:xfrm>
            <a:off x="364584" y="5363962"/>
            <a:ext cx="11302110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試行後：結果を共有し、継続・修正・中止を判断する</a:t>
            </a:r>
            <a:endParaRPr lang="en-US" sz="1900" dirty="0"/>
          </a:p>
        </p:txBody>
      </p:sp>
      <p:sp>
        <p:nvSpPr>
          <p:cNvPr id="30" name="bottom-rule"/>
          <p:cNvSpPr/>
          <p:nvPr/>
        </p:nvSpPr>
        <p:spPr>
          <a:xfrm>
            <a:off x="371876" y="5910561"/>
            <a:ext cx="11447943" cy="3644"/>
          </a:xfrm>
          <a:prstGeom prst="line">
            <a:avLst/>
          </a:prstGeom>
          <a:noFill/>
          <a:ln w="17780">
            <a:solidFill>
              <a:srgbClr val="B8B6B1"/>
            </a:solidFill>
            <a:prstDash val="solid"/>
          </a:ln>
        </p:spPr>
      </p:sp>
      <p:sp>
        <p:nvSpPr>
          <p:cNvPr id="31" name="takeaway"/>
          <p:cNvSpPr/>
          <p:nvPr/>
        </p:nvSpPr>
        <p:spPr>
          <a:xfrm>
            <a:off x="371876" y="6041745"/>
            <a:ext cx="9114605" cy="54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便利さと運用負担の両方を見て、次を決める。</a:t>
            </a:r>
            <a:endParaRPr lang="en-US" sz="2900" dirty="0"/>
          </a:p>
        </p:txBody>
      </p:sp>
      <p:sp>
        <p:nvSpPr>
          <p:cNvPr id="32" name="footer"/>
          <p:cNvSpPr/>
          <p:nvPr/>
        </p:nvSpPr>
        <p:spPr>
          <a:xfrm>
            <a:off x="9479189" y="6376993"/>
            <a:ext cx="2406256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架空の企画例。試行は提案であり未実施。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54899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ユーザー設定</PresentationFormat>
  <Paragraphs>109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游ゴシック</vt:lpstr>
      <vt:lpstr>游ゴシック</vt:lpstr>
      <vt:lpstr>游ゴシック Light</vt:lpstr>
      <vt:lpstr>Yu Mincho</vt:lpstr>
      <vt:lpstr>Arial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恭彦 笹谷</dc:creator>
  <cp:lastModifiedBy>恭彦 笹谷</cp:lastModifiedBy>
  <cp:revision>1</cp:revision>
  <dcterms:created xsi:type="dcterms:W3CDTF">2026-10-13T20:33:12Z</dcterms:created>
  <dcterms:modified xsi:type="dcterms:W3CDTF">2026-10-13T20:33:12Z</dcterms:modified>
</cp:coreProperties>
</file>