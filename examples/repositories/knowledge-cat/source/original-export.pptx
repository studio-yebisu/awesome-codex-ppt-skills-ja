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b64d53bbfb4e66" /><Relationship Type="http://schemas.openxmlformats.org/officeDocument/2006/relationships/extended-properties" Target="/docProps/app.xml" Id="R73c302bc1db64922" /><Relationship Type="http://schemas.openxmlformats.org/officeDocument/2006/relationships/officeDocument" Target="/ppt/presentation.xml" Id="Rdc2b5ec99db242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adbce09c9d4b5c"/>
  </p:sldMasterIdLst>
  <p:notesMasterIdLst>
    <p:notesMasterId xmlns:r="http://schemas.openxmlformats.org/officeDocument/2006/relationships" r:id="R2ae9556bc7994492"/>
  </p:notesMasterIdLst>
  <p:sldIdLst>
    <p:sldId xmlns:r="http://schemas.openxmlformats.org/officeDocument/2006/relationships" id="256" r:id="Rebdfeb3fb1544304"/>
    <p:sldId xmlns:r="http://schemas.openxmlformats.org/officeDocument/2006/relationships" id="257" r:id="R81b21732db0d419e"/>
    <p:sldId xmlns:r="http://schemas.openxmlformats.org/officeDocument/2006/relationships" id="258" r:id="Ra3b8655c6cb84355"/>
    <p:sldId xmlns:r="http://schemas.openxmlformats.org/officeDocument/2006/relationships" id="259" r:id="R3275095672df4297"/>
    <p:sldId xmlns:r="http://schemas.openxmlformats.org/officeDocument/2006/relationships" id="260" r:id="R52dfa615655047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1e1b48702e450d" /><Relationship Type="http://schemas.openxmlformats.org/officeDocument/2006/relationships/slideMaster" Target="/ppt/slideMasters/slideMaster1.xml" Id="Ra6adbce09c9d4b5c" /><Relationship Type="http://schemas.openxmlformats.org/officeDocument/2006/relationships/notesMaster" Target="/ppt/notesMasters/notesMaster1.xml" Id="R2ae9556bc7994492" /><Relationship Type="http://schemas.openxmlformats.org/officeDocument/2006/relationships/presProps" Target="/ppt/presProps.xml" Id="Rbbde9b1db17946e7" /><Relationship Type="http://schemas.openxmlformats.org/officeDocument/2006/relationships/tableStyles" Target="/ppt/tableStyles.xml" Id="Ra009f9150b634af0" /><Relationship Type="http://schemas.openxmlformats.org/officeDocument/2006/relationships/slide" Target="/ppt/slides/slide1.xml" Id="Rebdfeb3fb1544304" /><Relationship Type="http://schemas.openxmlformats.org/officeDocument/2006/relationships/slide" Target="/ppt/slides/slide2.xml" Id="R81b21732db0d419e" /><Relationship Type="http://schemas.openxmlformats.org/officeDocument/2006/relationships/slide" Target="/ppt/slides/slide3.xml" Id="Ra3b8655c6cb84355" /><Relationship Type="http://schemas.openxmlformats.org/officeDocument/2006/relationships/slide" Target="/ppt/slides/slide4.xml" Id="R3275095672df4297" /><Relationship Type="http://schemas.openxmlformats.org/officeDocument/2006/relationships/slide" Target="/ppt/slides/slide5.xml" Id="R52dfa615655047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a054cd911f45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3bc5cf08734281" /><Relationship Type="http://schemas.openxmlformats.org/officeDocument/2006/relationships/notesMaster" Target="/ppt/notesMasters/notesMaster1.xml" Id="R89390a0591fe41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ba76a429234c41" /><Relationship Type="http://schemas.openxmlformats.org/officeDocument/2006/relationships/notesMaster" Target="/ppt/notesMasters/notesMaster1.xml" Id="R575d75c893cf4f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bc2117a4454cc6" /><Relationship Type="http://schemas.openxmlformats.org/officeDocument/2006/relationships/notesMaster" Target="/ppt/notesMasters/notesMaster1.xml" Id="Rbfdc91b52ca441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9859c65a3244e8" /><Relationship Type="http://schemas.openxmlformats.org/officeDocument/2006/relationships/notesMaster" Target="/ppt/notesMasters/notesMaster1.xml" Id="R37486c09760843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9a34d160f242b8" /><Relationship Type="http://schemas.openxmlformats.org/officeDocument/2006/relationships/notesMaster" Target="/ppt/notesMasters/notesMaster1.xml" Id="Rc16c794b74a041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これは架空の青葉企画向けの研修サンプルです。発言を全て書き写すより、決定事項と次の作業が追える記録を目指します。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決まったこと、これから行うこと、まだ決まっていないことを分けます。単なる提案を決定事項として書かないよう、合意の有無を確認します。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人物名と日付は架空です。文案作成の担当と期限が未定なら、勝手に補わず未決として残します。ここでは11月2日までの文案と、11月6日の公開が合意済みと仮定しています。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会議中は簡潔に記録し、終了前に決定と担当と期限を読み上げます。確認後に共有し、修正が入った場合は更新箇所が追えるようにします。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次の会議では、最後に次の行動を一つずつ確認するところから始めてください。未決事項は確認先と次に判断するタイミングも記録します。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7d82b225a444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cf6e38b9e342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25e000cc394a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643f8b434046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db4a8dcc6842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aeb66eca240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9AA8CD-144A-4C1B-A7DF-3C065E034D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404B0E7-2FD2-4F38-90C3-BE22540DA5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7E5FB97-2099-471A-947B-7C98B6AB48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221ADF-2C3E-49A3-9CE6-C0EEF903B7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419FCD2-B6D6-4637-A2C4-6280D5B66C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B618B6-0ACE-42FA-B8F8-173265CD16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4F279B-5820-48C7-956F-6DAC863F49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8D7F2DA-F892-441D-8EE6-FD82BC3E13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FB1F30-AA69-4CB6-889D-1915921E3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24A700-80F8-41E5-AB3E-62E4FEA220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7ac6dd08314755" /><Relationship Type="http://schemas.openxmlformats.org/officeDocument/2006/relationships/slideLayout" Target="/ppt/slideLayouts/slideLayout1.xml" Id="R91965735700b4a4b" /><Relationship Type="http://schemas.openxmlformats.org/officeDocument/2006/relationships/slideLayout" Target="/ppt/slideLayouts/slideLayout2.xml" Id="R346553ab80e84abe" /><Relationship Type="http://schemas.openxmlformats.org/officeDocument/2006/relationships/slideLayout" Target="/ppt/slideLayouts/slideLayout3.xml" Id="Rc67dc2584cba4753" /><Relationship Type="http://schemas.openxmlformats.org/officeDocument/2006/relationships/slideLayout" Target="/ppt/slideLayouts/slideLayout4.xml" Id="R7c73e58c953e42b7" /><Relationship Type="http://schemas.openxmlformats.org/officeDocument/2006/relationships/slideLayout" Target="/ppt/slideLayouts/slideLayout5.xml" Id="Rfb2d73e483e74484" /><Relationship Type="http://schemas.openxmlformats.org/officeDocument/2006/relationships/slideLayout" Target="/ppt/slideLayouts/slideLayout6.xml" Id="Re4e4b82972eb43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965735700b4a4b"/>
    <p:sldLayoutId xmlns:r="http://schemas.openxmlformats.org/officeDocument/2006/relationships" id="2147483650" r:id="R346553ab80e84abe"/>
    <p:sldLayoutId xmlns:r="http://schemas.openxmlformats.org/officeDocument/2006/relationships" id="2147483651" r:id="Rc67dc2584cba4753"/>
    <p:sldLayoutId xmlns:r="http://schemas.openxmlformats.org/officeDocument/2006/relationships" id="2147483652" r:id="R7c73e58c953e42b7"/>
    <p:sldLayoutId xmlns:r="http://schemas.openxmlformats.org/officeDocument/2006/relationships" id="2147483653" r:id="Rfb2d73e483e74484"/>
    <p:sldLayoutId xmlns:r="http://schemas.openxmlformats.org/officeDocument/2006/relationships" id="2147483654" r:id="Re4e4b82972eb43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09bc2e9ce744cf" /><Relationship Type="http://schemas.openxmlformats.org/officeDocument/2006/relationships/notesSlide" Target="/ppt/notesSlides/notesSlide1.xml" Id="Rf239a8dc22c04b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52567e4504341" /><Relationship Type="http://schemas.openxmlformats.org/officeDocument/2006/relationships/notesSlide" Target="/ppt/notesSlides/notesSlide2.xml" Id="R63124b438cdc4f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c0141217864405" /><Relationship Type="http://schemas.openxmlformats.org/officeDocument/2006/relationships/notesSlide" Target="/ppt/notesSlides/notesSlide3.xml" Id="R6be779652df04a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6a5d622a5845e1" /><Relationship Type="http://schemas.openxmlformats.org/officeDocument/2006/relationships/notesSlide" Target="/ppt/notesSlides/notesSlide4.xml" Id="Rce49147714a847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a5744759b24273" /><Relationship Type="http://schemas.openxmlformats.org/officeDocument/2006/relationships/notesSlide" Target="/ppt/notesSlides/notesSlide5.xml" Id="Rf54ba3aaee0d4a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accent-plane">
            <a:extLst xmlns:a="http://schemas.openxmlformats.org/drawingml/2006/main">
              <a:ext uri="{FF2B5EF4-FFF2-40B4-BE49-F238E27FC236}">
                <a16:creationId xmlns:a16="http://schemas.microsoft.com/office/drawing/2014/main" id="{E98A0B02-7BCA-405A-A600-CA249E29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4457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11DB0C8-D021-4A37-9020-3D3B3102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E95D45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E95D45"/>
                </a:solidFill>
              </a:defRPr>
            </a:pPr>
            <a:r>
              <a:rPr sz="1050" b="1" i="0">
                <a:solidFill>
                  <a:srgbClr val="E95D45"/>
                </a:solidFill>
              </a:rPr>
              <a:t>議事録の書き方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D9B59F8-6B3B-4857-A8B8-870122AE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750" b="1" i="0">
                <a:solidFill>
                  <a:srgbClr val="12202F"/>
                </a:solidFill>
              </a:defRPr>
            </a:defPPr>
          </a:lstStyle>
          <a:p xmlns:a="http://schemas.openxmlformats.org/drawingml/2006/main">
            <a:pPr algn="l">
              <a:defRPr sz="3750" b="1" i="0">
                <a:solidFill>
                  <a:srgbClr val="12202F"/>
                </a:solidFill>
              </a:defRPr>
            </a:pPr>
            <a:r>
              <a:rPr sz="3750" b="1" i="0">
                <a:solidFill>
                  <a:srgbClr val="12202F"/>
                </a:solidFill>
              </a:rPr>
              <a:t>議事録には、</a:t>
            </a:r>
          </a:p>
          <a:p xmlns:a="http://schemas.openxmlformats.org/drawingml/2006/main">
            <a:pPr algn="l">
              <a:defRPr sz="3750" b="1" i="0">
                <a:solidFill>
                  <a:srgbClr val="12202F"/>
                </a:solidFill>
              </a:defRPr>
            </a:pPr>
            <a:r>
              <a:rPr sz="3750" b="1" i="0">
                <a:solidFill>
                  <a:srgbClr val="12202F"/>
                </a:solidFill>
              </a:rPr>
              <a:t>次の行動を残す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A224148-A788-4AB5-A1AD-BB2F0DB3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590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 i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5B6875"/>
                </a:solidFill>
              </a:defRPr>
            </a:pPr>
            <a:r>
              <a:rPr sz="1650" b="0" i="0">
                <a:solidFill>
                  <a:srgbClr val="5B6875"/>
                </a:solidFill>
              </a:rPr>
              <a:t>決定・担当・期限が分かれば、</a:t>
            </a:r>
          </a:p>
          <a:p xmlns:a="http://schemas.openxmlformats.org/drawingml/2006/main">
            <a:pPr algn="l">
              <a:defRPr sz="1650" b="0" i="0">
                <a:solidFill>
                  <a:srgbClr val="5B6875"/>
                </a:solidFill>
              </a:defRPr>
            </a:pPr>
            <a:r>
              <a:rPr sz="1650" b="0" i="0">
                <a:solidFill>
                  <a:srgbClr val="5B6875"/>
                </a:solidFill>
              </a:rPr>
              <a:t>会議の後に迷わず動ける。</a:t>
            </a:r>
          </a:p>
        </p:txBody>
      </p:sp>
      <p:sp>
        <p:nvSpPr>
          <p:cNvPr id="5" name="cover-proof">
            <a:extLst xmlns:a="http://schemas.openxmlformats.org/drawingml/2006/main">
              <a:ext uri="{FF2B5EF4-FFF2-40B4-BE49-F238E27FC236}">
                <a16:creationId xmlns:a16="http://schemas.microsoft.com/office/drawing/2014/main" id="{BFC408A7-2EE1-4062-9B19-D47579D3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43050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REAL TEXT</a:t>
            </a:r>
          </a:p>
          <a:p xmlns:a="http://schemas.openxmlformats.org/drawingml/2006/main">
            <a:pPr algn="l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REAL SHAPES</a:t>
            </a:r>
          </a:p>
          <a:p xmlns:a="http://schemas.openxmlformats.org/drawingml/2006/main">
            <a:pPr algn="l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REAL DATA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714C67B7-C08E-4618-9E57-1F5F7525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 i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5B6875"/>
                </a:solidFill>
              </a:defRPr>
            </a:pPr>
            <a:r>
              <a:rPr sz="900" b="0" i="0">
                <a:solidFill>
                  <a:srgbClr val="5B6875"/>
                </a:solidFill>
              </a:rPr>
              <a:t>青葉企画｜社内研修サンプル</a:t>
            </a:r>
          </a:p>
        </p:txBody>
      </p:sp>
    </p:spTree>
    <p:extLst>
      <p:ext uri="{BB962C8B-B14F-4D97-AF65-F5344CB8AC3E}">
        <p14:creationId xmlns:p14="http://schemas.microsoft.com/office/powerpoint/2010/main" val="19267118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2-eyebrow">
            <a:extLst xmlns:a="http://schemas.openxmlformats.org/drawingml/2006/main">
              <a:ext uri="{FF2B5EF4-FFF2-40B4-BE49-F238E27FC236}">
                <a16:creationId xmlns:a16="http://schemas.microsoft.com/office/drawing/2014/main" id="{98235271-D0B8-4EA1-9E0E-8E54CA68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E95D45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E95D45"/>
                </a:solidFill>
              </a:defRPr>
            </a:pPr>
            <a:r>
              <a:rPr sz="900" b="1" i="0">
                <a:solidFill>
                  <a:srgbClr val="E95D45"/>
                </a:solidFill>
              </a:rPr>
              <a:t>整理の軸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EB57877F-9411-4FEC-9E99-0822CDF6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B6875"/>
                </a:solidFill>
              </a:defRPr>
            </a:pPr>
            <a:r>
              <a:rPr sz="825" b="1" i="0">
                <a:solidFill>
                  <a:srgbClr val="5B6875"/>
                </a:solidFill>
              </a:rPr>
              <a:t>02 / 05</a:t>
            </a:r>
          </a:p>
        </p:txBody>
      </p:sp>
      <p:sp>
        <p:nvSpPr>
          <p:cNvPr id="3" name="slide-2-action-title">
            <a:extLst xmlns:a="http://schemas.openxmlformats.org/drawingml/2006/main">
              <a:ext uri="{FF2B5EF4-FFF2-40B4-BE49-F238E27FC236}">
                <a16:creationId xmlns:a16="http://schemas.microsoft.com/office/drawing/2014/main" id="{A2286C34-A710-4B80-B348-1CDC0030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000" b="1" i="0">
                <a:solidFill>
                  <a:srgbClr val="12202F"/>
                </a:solidFill>
              </a:defRPr>
            </a:defPPr>
          </a:lstStyle>
          <a:p xmlns:a="http://schemas.openxmlformats.org/drawingml/2006/main">
            <a:pPr algn="l">
              <a:defRPr sz="3000" b="1" i="0">
                <a:solidFill>
                  <a:srgbClr val="12202F"/>
                </a:solidFill>
              </a:defRPr>
            </a:pPr>
            <a:r>
              <a:rPr sz="3000" b="1" i="0">
                <a:solidFill>
                  <a:srgbClr val="12202F"/>
                </a:solidFill>
              </a:rPr>
              <a:t>記録を3つに分ける</a:t>
            </a:r>
          </a:p>
        </p:txBody>
      </p:sp>
      <p:sp>
        <p:nvSpPr>
          <p:cNvPr id="4" name="slide-2-stat">
            <a:extLst xmlns:a="http://schemas.openxmlformats.org/drawingml/2006/main">
              <a:ext uri="{FF2B5EF4-FFF2-40B4-BE49-F238E27FC236}">
                <a16:creationId xmlns:a16="http://schemas.microsoft.com/office/drawing/2014/main" id="{A2C68704-CEBB-4DD1-8C28-4A6EEED3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600" b="1" i="0">
                <a:solidFill>
                  <a:srgbClr val="E95D45"/>
                </a:solidFill>
              </a:defRPr>
            </a:defPPr>
          </a:lstStyle>
          <a:p xmlns:a="http://schemas.openxmlformats.org/drawingml/2006/main">
            <a:pPr algn="l">
              <a:defRPr sz="6600" b="1" i="0">
                <a:solidFill>
                  <a:srgbClr val="E95D45"/>
                </a:solidFill>
              </a:defRPr>
            </a:pPr>
            <a:r>
              <a:rPr sz="6600" b="1" i="0">
                <a:solidFill>
                  <a:srgbClr val="E95D45"/>
                </a:solidFill>
              </a:rPr>
              <a:t>3</a:t>
            </a:r>
          </a:p>
        </p:txBody>
      </p:sp>
      <p:sp>
        <p:nvSpPr>
          <p:cNvPr id="5" name="slide-2-message">
            <a:extLst xmlns:a="http://schemas.openxmlformats.org/drawingml/2006/main">
              <a:ext uri="{FF2B5EF4-FFF2-40B4-BE49-F238E27FC236}">
                <a16:creationId xmlns:a16="http://schemas.microsoft.com/office/drawing/2014/main" id="{F1EFBC26-5321-4900-A4B3-9B7C74DA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0" i="0">
                <a:solidFill>
                  <a:srgbClr val="12202F"/>
                </a:solidFill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12202F"/>
                </a:solidFill>
              </a:defRPr>
            </a:pPr>
            <a:r>
              <a:rPr sz="2025" b="0" i="0">
                <a:solidFill>
                  <a:srgbClr val="12202F"/>
                </a:solidFill>
              </a:rPr>
              <a:t>発言順ではなく、</a:t>
            </a:r>
          </a:p>
          <a:p xmlns:a="http://schemas.openxmlformats.org/drawingml/2006/main">
            <a:pPr algn="l">
              <a:defRPr sz="2025" b="0" i="0">
                <a:solidFill>
                  <a:srgbClr val="12202F"/>
                </a:solidFill>
              </a:defRPr>
            </a:pPr>
            <a:r>
              <a:rPr sz="2025" b="0" i="0">
                <a:solidFill>
                  <a:srgbClr val="12202F"/>
                </a:solidFill>
              </a:rPr>
              <a:t>読み手の次の行動で分ける。</a:t>
            </a:r>
          </a:p>
        </p:txBody>
      </p:sp>
      <p:sp>
        <p:nvSpPr>
          <p:cNvPr id="6" name="slide-2-rule">
            <a:extLst xmlns:a="http://schemas.openxmlformats.org/drawingml/2006/main">
              <a:ext uri="{FF2B5EF4-FFF2-40B4-BE49-F238E27FC236}">
                <a16:creationId xmlns:a16="http://schemas.microsoft.com/office/drawing/2014/main" id="{9E6414D8-C63E-41A0-ACE6-643CB5B5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00500"/>
            <a:ext cx="723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lide-2-items">
            <a:extLst xmlns:a="http://schemas.openxmlformats.org/drawingml/2006/main">
              <a:ext uri="{FF2B5EF4-FFF2-40B4-BE49-F238E27FC236}">
                <a16:creationId xmlns:a16="http://schemas.microsoft.com/office/drawing/2014/main" id="{10657809-3543-4826-978A-4C3E6731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243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5B6875"/>
                </a:solidFill>
              </a:defRPr>
            </a:pPr>
            <a:r>
              <a:rPr sz="1350" b="0" i="0">
                <a:solidFill>
                  <a:srgbClr val="5B6875"/>
                </a:solidFill>
              </a:rPr>
              <a:t>1. 決定事項：合意したこと</a:t>
            </a:r>
          </a:p>
          <a:p xmlns:a="http://schemas.openxmlformats.org/drawingml/2006/main">
            <a:pPr algn="l">
              <a:defRPr sz="1350" b="0" i="0">
                <a:solidFill>
                  <a:srgbClr val="5B6875"/>
                </a:solidFill>
              </a:defRPr>
            </a:pPr>
            <a:r>
              <a:rPr sz="1350" b="0" i="0">
                <a:solidFill>
                  <a:srgbClr val="5B6875"/>
                </a:solidFill>
              </a:rPr>
              <a:t>2. 次の行動：担当・作業・期限</a:t>
            </a:r>
          </a:p>
          <a:p xmlns:a="http://schemas.openxmlformats.org/drawingml/2006/main">
            <a:pPr algn="l">
              <a:defRPr sz="1350" b="0" i="0">
                <a:solidFill>
                  <a:srgbClr val="5B6875"/>
                </a:solidFill>
              </a:defRPr>
            </a:pPr>
            <a:r>
              <a:rPr sz="1350" b="0" i="0">
                <a:solidFill>
                  <a:srgbClr val="5B6875"/>
                </a:solidFill>
              </a:rPr>
              <a:t>3. 未決事項：確認先と次の判断</a:t>
            </a:r>
          </a:p>
        </p:txBody>
      </p:sp>
    </p:spTree>
    <p:extLst>
      <p:ext uri="{BB962C8B-B14F-4D97-AF65-F5344CB8AC3E}">
        <p14:creationId xmlns:p14="http://schemas.microsoft.com/office/powerpoint/2010/main" val="11597816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3-eyebrow">
            <a:extLst xmlns:a="http://schemas.openxmlformats.org/drawingml/2006/main">
              <a:ext uri="{FF2B5EF4-FFF2-40B4-BE49-F238E27FC236}">
                <a16:creationId xmlns:a16="http://schemas.microsoft.com/office/drawing/2014/main" id="{71DDA4AC-97F6-49F4-9EF8-53F85C76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E95D45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E95D45"/>
                </a:solidFill>
              </a:defRPr>
            </a:pPr>
            <a:r>
              <a:rPr sz="900" b="1" i="0">
                <a:solidFill>
                  <a:srgbClr val="E95D45"/>
                </a:solidFill>
              </a:rPr>
              <a:t>記入例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3E6DB80E-0DB2-48C7-92F2-546571FA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B6875"/>
                </a:solidFill>
              </a:defRPr>
            </a:pPr>
            <a:r>
              <a:rPr sz="825" b="1" i="0">
                <a:solidFill>
                  <a:srgbClr val="5B6875"/>
                </a:solidFill>
              </a:rPr>
              <a:t>03 / 05</a:t>
            </a:r>
          </a:p>
        </p:txBody>
      </p:sp>
      <p:sp>
        <p:nvSpPr>
          <p:cNvPr id="3" name="slide-3-action-title">
            <a:extLst xmlns:a="http://schemas.openxmlformats.org/drawingml/2006/main">
              <a:ext uri="{FF2B5EF4-FFF2-40B4-BE49-F238E27FC236}">
                <a16:creationId xmlns:a16="http://schemas.microsoft.com/office/drawing/2014/main" id="{01486F8B-9EF4-4333-B310-BFFD80E0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81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12202F"/>
                </a:solidFill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12202F"/>
                </a:solidFill>
              </a:defRPr>
            </a:pPr>
            <a:r>
              <a:rPr sz="2850" b="1" i="0">
                <a:solidFill>
                  <a:srgbClr val="12202F"/>
                </a:solidFill>
              </a:rPr>
              <a:t>曖昧なメモを具体的な記録へ</a:t>
            </a:r>
          </a:p>
        </p:txBody>
      </p:sp>
      <p:sp>
        <p:nvSpPr>
          <p:cNvPr id="4" name="slide-3-message">
            <a:extLst xmlns:a="http://schemas.openxmlformats.org/drawingml/2006/main">
              <a:ext uri="{FF2B5EF4-FFF2-40B4-BE49-F238E27FC236}">
                <a16:creationId xmlns:a16="http://schemas.microsoft.com/office/drawing/2014/main" id="{3B8DE800-1F59-4874-B91C-865BB163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5B6875"/>
                </a:solidFill>
              </a:defRPr>
            </a:pPr>
            <a:r>
              <a:rPr sz="1500" b="0" i="0">
                <a:solidFill>
                  <a:srgbClr val="5B6875"/>
                </a:solidFill>
              </a:rPr>
              <a:t>「あとで対応」を、担当と期限がある一文に変える。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B63D7-884F-4B49-A93F-36B4E78DFA5C}"/>
              </a:ext>
            </a:extLst>
          </p:cNvPr>
          <p:cNvGraphicFramePr/>
          <p:nvPr/>
        </p:nvGraphicFramePr>
        <p:xfrm>
          <a:off xmlns:a="http://schemas.openxmlformats.org/drawingml/2006/main" x="723900" y="2590800"/>
          <a:ext xmlns:a="http://schemas.openxmlformats.org/drawingml/2006/main" cx="10744200" cy="20574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81400"/>
                <a:gridCol w="3581400"/>
                <a:gridCol w="3581400"/>
              </a:tblGrid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区分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0C3"/>
                      </a:solidFill>
                      <a:prstDash val="solid"/>
                    </a:lnL>
                    <a:lnR w="9525">
                      <a:solidFill>
                        <a:srgbClr val="D7D0C3"/>
                      </a:solidFill>
                      <a:prstDash val="solid"/>
                    </a:lnR>
                    <a:lnT w="9525">
                      <a:solidFill>
                        <a:srgbClr val="D7D0C3"/>
                      </a:solidFill>
                      <a:prstDash val="solid"/>
                    </a:lnT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1220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記録すること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0C3"/>
                      </a:solidFill>
                      <a:prstDash val="solid"/>
                    </a:lnR>
                    <a:lnT w="9525">
                      <a:solidFill>
                        <a:srgbClr val="D7D0C3"/>
                      </a:solidFill>
                      <a:prstDash val="solid"/>
                    </a:lnT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1220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架空の記入例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0C3"/>
                      </a:solidFill>
                      <a:prstDash val="solid"/>
                    </a:lnR>
                    <a:lnT w="9525">
                      <a:solidFill>
                        <a:srgbClr val="D7D0C3"/>
                      </a:solidFill>
                      <a:prstDash val="solid"/>
                    </a:lnT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12202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F"/>
                          </a:solidFill>
                        </a:rPr>
                        <a:t>決定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0C3"/>
                      </a:solidFill>
                      <a:prstDash val="solid"/>
                    </a:lnL>
                    <a:lnR w="9525">
                      <a:solidFill>
                        <a:srgbClr val="D7D0C3"/>
                      </a:solidFill>
                      <a:prstDash val="solid"/>
                    </a:lnR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F"/>
                          </a:solidFill>
                        </a:rPr>
                        <a:t>何を決めたか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0C3"/>
                      </a:solidFill>
                      <a:prstDash val="solid"/>
                    </a:lnR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F"/>
                          </a:solidFill>
                        </a:rPr>
                        <a:t>公開日は11月6日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0C3"/>
                      </a:solidFill>
                      <a:prstDash val="solid"/>
                    </a:lnR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F"/>
                          </a:solidFill>
                        </a:rPr>
                        <a:t>次の行動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0C3"/>
                      </a:solidFill>
                      <a:prstDash val="solid"/>
                    </a:lnL>
                    <a:lnR w="9525">
                      <a:solidFill>
                        <a:srgbClr val="D7D0C3"/>
                      </a:solidFill>
                      <a:prstDash val="solid"/>
                    </a:lnR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E9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F"/>
                          </a:solidFill>
                        </a:rPr>
                        <a:t>担当・作業・期限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0C3"/>
                      </a:solidFill>
                      <a:prstDash val="solid"/>
                    </a:lnR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E9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F"/>
                          </a:solidFill>
                        </a:rPr>
                        <a:t>佐藤：文案を11/2まで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0C3"/>
                      </a:solidFill>
                      <a:prstDash val="solid"/>
                    </a:lnR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E9E3D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F"/>
                          </a:solidFill>
                        </a:rPr>
                        <a:t>未決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0C3"/>
                      </a:solidFill>
                      <a:prstDash val="solid"/>
                    </a:lnL>
                    <a:lnR w="9525">
                      <a:solidFill>
                        <a:srgbClr val="D7D0C3"/>
                      </a:solidFill>
                      <a:prstDash val="solid"/>
                    </a:lnR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F"/>
                          </a:solidFill>
                        </a:rPr>
                        <a:t>未決内容・確認先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0C3"/>
                      </a:solidFill>
                      <a:prstDash val="solid"/>
                    </a:lnR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2F"/>
                          </a:solidFill>
                        </a:rPr>
                        <a:t>予算：田中へ確認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0C3"/>
                      </a:solidFill>
                      <a:prstDash val="solid"/>
                    </a:lnR>
                    <a:lnB w="9525">
                      <a:solidFill>
                        <a:srgbClr val="D7D0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8246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4-eyebrow">
            <a:extLst xmlns:a="http://schemas.openxmlformats.org/drawingml/2006/main">
              <a:ext uri="{FF2B5EF4-FFF2-40B4-BE49-F238E27FC236}">
                <a16:creationId xmlns:a16="http://schemas.microsoft.com/office/drawing/2014/main" id="{077B08BF-B083-4025-9F6C-FCCA2336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E95D45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E95D45"/>
                </a:solidFill>
              </a:defRPr>
            </a:pPr>
            <a:r>
              <a:rPr sz="900" b="1" i="0">
                <a:solidFill>
                  <a:srgbClr val="E95D45"/>
                </a:solidFill>
              </a:rPr>
              <a:t>進め方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6943EA7D-1E13-4630-B03A-C3A66610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B6875"/>
                </a:solidFill>
              </a:defRPr>
            </a:pPr>
            <a:r>
              <a:rPr sz="825" b="1" i="0">
                <a:solidFill>
                  <a:srgbClr val="5B6875"/>
                </a:solidFill>
              </a:rPr>
              <a:t>04 / 05</a:t>
            </a:r>
          </a:p>
        </p:txBody>
      </p:sp>
      <p:sp>
        <p:nvSpPr>
          <p:cNvPr id="3" name="slide-4-action-title">
            <a:extLst xmlns:a="http://schemas.openxmlformats.org/drawingml/2006/main">
              <a:ext uri="{FF2B5EF4-FFF2-40B4-BE49-F238E27FC236}">
                <a16:creationId xmlns:a16="http://schemas.microsoft.com/office/drawing/2014/main" id="{2CB127F7-9A7B-41AA-92E1-06D15BAA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81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12202F"/>
                </a:solidFill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12202F"/>
                </a:solidFill>
              </a:defRPr>
            </a:pPr>
            <a:r>
              <a:rPr sz="2850" b="1" i="0">
                <a:solidFill>
                  <a:srgbClr val="12202F"/>
                </a:solidFill>
              </a:rPr>
              <a:t>記録して、確認して、共有する</a:t>
            </a:r>
          </a:p>
        </p:txBody>
      </p:sp>
      <p:sp>
        <p:nvSpPr>
          <p:cNvPr id="4" name="slide-4-process-line">
            <a:extLst xmlns:a="http://schemas.openxmlformats.org/drawingml/2006/main">
              <a:ext uri="{FF2B5EF4-FFF2-40B4-BE49-F238E27FC236}">
                <a16:creationId xmlns:a16="http://schemas.microsoft.com/office/drawing/2014/main" id="{D01FD392-3FB2-4D8E-AAD5-BBFC05D1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90850"/>
            <a:ext cx="9829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4-step-1-node">
            <a:extLst xmlns:a="http://schemas.openxmlformats.org/drawingml/2006/main">
              <a:ext uri="{FF2B5EF4-FFF2-40B4-BE49-F238E27FC236}">
                <a16:creationId xmlns:a16="http://schemas.microsoft.com/office/drawing/2014/main" id="{8D81AB8E-A5CE-4EE9-A1EF-854DB083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4-step-1-number">
            <a:extLst xmlns:a="http://schemas.openxmlformats.org/drawingml/2006/main">
              <a:ext uri="{FF2B5EF4-FFF2-40B4-BE49-F238E27FC236}">
                <a16:creationId xmlns:a16="http://schemas.microsoft.com/office/drawing/2014/main" id="{C6DF023B-8D2A-4C5C-A5DA-37B3DEA8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7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slide-4-step-1-title">
            <a:extLst xmlns:a="http://schemas.openxmlformats.org/drawingml/2006/main">
              <a:ext uri="{FF2B5EF4-FFF2-40B4-BE49-F238E27FC236}">
                <a16:creationId xmlns:a16="http://schemas.microsoft.com/office/drawing/2014/main" id="{96F2C712-2CA0-4391-8EAA-AA2039E6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328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2202F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2202F"/>
                </a:solidFill>
              </a:defRPr>
            </a:pPr>
            <a:r>
              <a:rPr sz="1500" b="1" i="0">
                <a:solidFill>
                  <a:srgbClr val="12202F"/>
                </a:solidFill>
              </a:rPr>
              <a:t>記録する</a:t>
            </a:r>
          </a:p>
        </p:txBody>
      </p:sp>
      <p:sp>
        <p:nvSpPr>
          <p:cNvPr id="8" name="slide-4-step-1-detail">
            <a:extLst xmlns:a="http://schemas.openxmlformats.org/drawingml/2006/main">
              <a:ext uri="{FF2B5EF4-FFF2-40B4-BE49-F238E27FC236}">
                <a16:creationId xmlns:a16="http://schemas.microsoft.com/office/drawing/2014/main" id="{7DF7B938-BB4F-484C-B9EB-5F23B647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3289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B6875"/>
                </a:solidFill>
              </a:defRPr>
            </a:pPr>
            <a:r>
              <a:rPr sz="1200" b="0" i="0">
                <a:solidFill>
                  <a:srgbClr val="5B6875"/>
                </a:solidFill>
              </a:rPr>
              <a:t>決定・次の行動・未決を</a:t>
            </a:r>
          </a:p>
          <a:p xmlns:a="http://schemas.openxmlformats.org/drawingml/2006/main">
            <a:pPr algn="l">
              <a:defRPr sz="1200" b="0" i="0">
                <a:solidFill>
                  <a:srgbClr val="5B6875"/>
                </a:solidFill>
              </a:defRPr>
            </a:pPr>
            <a:r>
              <a:rPr sz="1200" b="0" i="0">
                <a:solidFill>
                  <a:srgbClr val="5B6875"/>
                </a:solidFill>
              </a:rPr>
              <a:t>分けてメモする。</a:t>
            </a:r>
          </a:p>
        </p:txBody>
      </p:sp>
      <p:sp>
        <p:nvSpPr>
          <p:cNvPr id="9" name="slide-4-step-2-node">
            <a:extLst xmlns:a="http://schemas.openxmlformats.org/drawingml/2006/main">
              <a:ext uri="{FF2B5EF4-FFF2-40B4-BE49-F238E27FC236}">
                <a16:creationId xmlns:a16="http://schemas.microsoft.com/office/drawing/2014/main" id="{3815C48B-A52B-49F6-8608-F612C98F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7527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4-step-2-number">
            <a:extLst xmlns:a="http://schemas.openxmlformats.org/drawingml/2006/main">
              <a:ext uri="{FF2B5EF4-FFF2-40B4-BE49-F238E27FC236}">
                <a16:creationId xmlns:a16="http://schemas.microsoft.com/office/drawing/2014/main" id="{8B3C35C3-2D67-40CF-B252-D500A462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847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slide-4-step-2-title">
            <a:extLst xmlns:a="http://schemas.openxmlformats.org/drawingml/2006/main">
              <a:ext uri="{FF2B5EF4-FFF2-40B4-BE49-F238E27FC236}">
                <a16:creationId xmlns:a16="http://schemas.microsoft.com/office/drawing/2014/main" id="{E3C74F24-7B5E-4081-86F2-A9EDCB5C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467100"/>
            <a:ext cx="328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2202F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2202F"/>
                </a:solidFill>
              </a:defRPr>
            </a:pPr>
            <a:r>
              <a:rPr sz="1500" b="1" i="0">
                <a:solidFill>
                  <a:srgbClr val="12202F"/>
                </a:solidFill>
              </a:rPr>
              <a:t>確認する</a:t>
            </a:r>
          </a:p>
        </p:txBody>
      </p:sp>
      <p:sp>
        <p:nvSpPr>
          <p:cNvPr id="12" name="slide-4-step-2-detail">
            <a:extLst xmlns:a="http://schemas.openxmlformats.org/drawingml/2006/main">
              <a:ext uri="{FF2B5EF4-FFF2-40B4-BE49-F238E27FC236}">
                <a16:creationId xmlns:a16="http://schemas.microsoft.com/office/drawing/2014/main" id="{4A1AD7AF-F940-41D7-9937-01BD17AF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4133850"/>
            <a:ext cx="3289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B6875"/>
                </a:solidFill>
              </a:defRPr>
            </a:pPr>
            <a:r>
              <a:rPr sz="1200" b="0" i="0">
                <a:solidFill>
                  <a:srgbClr val="5B6875"/>
                </a:solidFill>
              </a:rPr>
              <a:t>会議の最後に</a:t>
            </a:r>
          </a:p>
          <a:p xmlns:a="http://schemas.openxmlformats.org/drawingml/2006/main">
            <a:pPr algn="l">
              <a:defRPr sz="1200" b="0" i="0">
                <a:solidFill>
                  <a:srgbClr val="5B6875"/>
                </a:solidFill>
              </a:defRPr>
            </a:pPr>
            <a:r>
              <a:rPr sz="1200" b="0" i="0">
                <a:solidFill>
                  <a:srgbClr val="5B6875"/>
                </a:solidFill>
              </a:rPr>
              <a:t>担当と期限を読み合わせる。</a:t>
            </a:r>
          </a:p>
        </p:txBody>
      </p:sp>
      <p:sp>
        <p:nvSpPr>
          <p:cNvPr id="13" name="slide-4-step-3-node">
            <a:extLst xmlns:a="http://schemas.openxmlformats.org/drawingml/2006/main">
              <a:ext uri="{FF2B5EF4-FFF2-40B4-BE49-F238E27FC236}">
                <a16:creationId xmlns:a16="http://schemas.microsoft.com/office/drawing/2014/main" id="{F4BA4166-DDD7-4FCC-9A52-64127910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7527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lide-4-step-3-number">
            <a:extLst xmlns:a="http://schemas.openxmlformats.org/drawingml/2006/main">
              <a:ext uri="{FF2B5EF4-FFF2-40B4-BE49-F238E27FC236}">
                <a16:creationId xmlns:a16="http://schemas.microsoft.com/office/drawing/2014/main" id="{C5582942-D313-4C0F-B702-D0124F79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847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slide-4-step-3-title">
            <a:extLst xmlns:a="http://schemas.openxmlformats.org/drawingml/2006/main">
              <a:ext uri="{FF2B5EF4-FFF2-40B4-BE49-F238E27FC236}">
                <a16:creationId xmlns:a16="http://schemas.microsoft.com/office/drawing/2014/main" id="{48242ED0-17E9-4149-A732-B5259BB1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467100"/>
            <a:ext cx="328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2202F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2202F"/>
                </a:solidFill>
              </a:defRPr>
            </a:pPr>
            <a:r>
              <a:rPr sz="1500" b="1" i="0">
                <a:solidFill>
                  <a:srgbClr val="12202F"/>
                </a:solidFill>
              </a:rPr>
              <a:t>共有する</a:t>
            </a:r>
          </a:p>
        </p:txBody>
      </p:sp>
      <p:sp>
        <p:nvSpPr>
          <p:cNvPr id="16" name="slide-4-step-3-detail">
            <a:extLst xmlns:a="http://schemas.openxmlformats.org/drawingml/2006/main">
              <a:ext uri="{FF2B5EF4-FFF2-40B4-BE49-F238E27FC236}">
                <a16:creationId xmlns:a16="http://schemas.microsoft.com/office/drawing/2014/main" id="{2CE19AD9-4C3D-43E3-9878-BB8BABDE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4133850"/>
            <a:ext cx="3289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B6875"/>
                </a:solidFill>
              </a:defRPr>
            </a:pPr>
            <a:r>
              <a:rPr sz="1200" b="0" i="0">
                <a:solidFill>
                  <a:srgbClr val="5B6875"/>
                </a:solidFill>
              </a:rPr>
              <a:t>関係者へ送り、</a:t>
            </a:r>
          </a:p>
          <a:p xmlns:a="http://schemas.openxmlformats.org/drawingml/2006/main">
            <a:pPr algn="l">
              <a:defRPr sz="1200" b="0" i="0">
                <a:solidFill>
                  <a:srgbClr val="5B6875"/>
                </a:solidFill>
              </a:defRPr>
            </a:pPr>
            <a:r>
              <a:rPr sz="1200" b="0" i="0">
                <a:solidFill>
                  <a:srgbClr val="5B6875"/>
                </a:solidFill>
              </a:rPr>
              <a:t>修正点を反映する。</a:t>
            </a:r>
          </a:p>
        </p:txBody>
      </p:sp>
    </p:spTree>
    <p:extLst>
      <p:ext uri="{BB962C8B-B14F-4D97-AF65-F5344CB8AC3E}">
        <p14:creationId xmlns:p14="http://schemas.microsoft.com/office/powerpoint/2010/main" val="1128984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ing-bg">
            <a:extLst xmlns:a="http://schemas.openxmlformats.org/drawingml/2006/main">
              <a:ext uri="{FF2B5EF4-FFF2-40B4-BE49-F238E27FC236}">
                <a16:creationId xmlns:a16="http://schemas.microsoft.com/office/drawing/2014/main" id="{49BFD01E-52CD-4C48-86CF-4D4A5C15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5F826ECF-223B-41EF-B1C6-BD20AFA9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E95D45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E95D45"/>
                </a:solidFill>
              </a:defRPr>
            </a:pPr>
            <a:r>
              <a:rPr sz="1050" b="1" i="0">
                <a:solidFill>
                  <a:srgbClr val="E95D45"/>
                </a:solidFill>
              </a:rPr>
              <a:t>次の会議で実践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C191356B-C7FB-4C60-9CB5-4A823ACE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 i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会議の最後に、</a:t>
            </a:r>
          </a:p>
          <a:p xmlns:a="http://schemas.openxmlformats.org/drawingml/2006/main">
            <a:pPr algn="l"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担当と期限を確かめる</a:t>
            </a:r>
          </a:p>
        </p:txBody>
      </p:sp>
      <p:sp>
        <p:nvSpPr>
          <p:cNvPr id="4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53FE6C37-6186-4410-B464-0E44CDE7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ing-message">
            <a:extLst xmlns:a="http://schemas.openxmlformats.org/drawingml/2006/main">
              <a:ext uri="{FF2B5EF4-FFF2-40B4-BE49-F238E27FC236}">
                <a16:creationId xmlns:a16="http://schemas.microsoft.com/office/drawing/2014/main" id="{65017FC6-2576-426C-B5F5-061C3EE4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D8E0E7"/>
                </a:solidFill>
              </a:defRPr>
            </a:defPPr>
          </a:lstStyle>
          <a:p xmlns:a="http://schemas.openxmlformats.org/drawingml/2006/main">
            <a:pPr algn="l">
              <a:defRPr sz="1725" b="0" i="0">
                <a:solidFill>
                  <a:srgbClr val="D8E0E7"/>
                </a:solidFill>
              </a:defRPr>
            </a:pPr>
            <a:r>
              <a:rPr sz="1725" b="0" i="0">
                <a:solidFill>
                  <a:srgbClr val="D8E0E7"/>
                </a:solidFill>
              </a:rPr>
              <a:t>「誰が・何を・いつまでに」を読み上げる。</a:t>
            </a:r>
          </a:p>
          <a:p xmlns:a="http://schemas.openxmlformats.org/drawingml/2006/main">
            <a:pPr algn="l">
              <a:defRPr sz="1725" b="0" i="0">
                <a:solidFill>
                  <a:srgbClr val="D8E0E7"/>
                </a:solidFill>
              </a:defRPr>
            </a:pPr>
            <a:r>
              <a:rPr sz="1725" b="0" i="0">
                <a:solidFill>
                  <a:srgbClr val="D8E0E7"/>
                </a:solidFill>
              </a:rPr>
              <a:t>決まっていないことは、未決として残す。</a:t>
            </a:r>
          </a:p>
        </p:txBody>
      </p:sp>
      <p:sp>
        <p:nvSpPr>
          <p:cNvPr id="6" name="closing-meta">
            <a:extLst xmlns:a="http://schemas.openxmlformats.org/drawingml/2006/main">
              <a:ext uri="{FF2B5EF4-FFF2-40B4-BE49-F238E27FC236}">
                <a16:creationId xmlns:a16="http://schemas.microsoft.com/office/drawing/2014/main" id="{CFC820F9-82C5-4989-96FF-7BA1CE95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 i="0">
                <a:solidFill>
                  <a:srgbClr val="A9B5C0"/>
                </a:solidFill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A9B5C0"/>
                </a:solidFill>
              </a:defRPr>
            </a:pPr>
            <a:r>
              <a:rPr sz="900" b="0" i="0">
                <a:solidFill>
                  <a:srgbClr val="A9B5C0"/>
                </a:solidFill>
              </a:rPr>
              <a:t>迷わない議事録のまとめ方</a:t>
            </a:r>
          </a:p>
        </p:txBody>
      </p:sp>
    </p:spTree>
    <p:extLst>
      <p:ext uri="{BB962C8B-B14F-4D97-AF65-F5344CB8AC3E}">
        <p14:creationId xmlns:p14="http://schemas.microsoft.com/office/powerpoint/2010/main" val="1434714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2026-10-13T17:07:31.3970000Z</dcterms:created>
  <dcterms:modified xsi:type="dcterms:W3CDTF">2026-10-13T17:07:31.3970000Z</dcterms:modified>
</coreProperties>
</file>