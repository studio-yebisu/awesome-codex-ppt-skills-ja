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社内の資料引き継ぎに使える考え方をまとめた説明例です。実在の会社の規程や、測定済みの運用実績を示すものではありません。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用途・場所・次の行動を別々に書きます。保存先の一覧だけで終わらず、受け取り手が最初にすることまで説明します。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新人案内_v03_確認用.pptxは架空の記入例です。既存の命名ルールがあるチームでは、そのルールを優先してください。v03や確認用の印が、正式承認を証明するわけではありません。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完了と保留の欄は架空の記入例です。この作例の実際の確認状態とは別です。作業した事実と、内容確認や正式承認の有無を書き分ける考え方を示しています。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受け取る側での確認は、資料を実際に配布するときの手順例です。この制作で外部の受け取り手に送信したり、他人のアクセス権を変更したりはしていません。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確認担当者と期日は、その場で合意した内容に置き換えるための記入例です。期日を勝手に決めず、渡す人と受け取る人が次の行動を共有することが目的です。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3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350" y="639514"/>
            <a:ext cx="10871150" cy="0"/>
          </a:xfrm>
          <a:prstGeom prst="line">
            <a:avLst/>
          </a:prstGeom>
          <a:noFill/>
          <a:ln w="9525">
            <a:solidFill>
              <a:srgbClr val="7085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60350" y="317450"/>
            <a:ext cx="1385825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資料を渡す、その前に。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589270" y="317450"/>
            <a:ext cx="961075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説明用の記入例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0350" y="1130201"/>
            <a:ext cx="11088573" cy="17555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912"/>
              </a:lnSpc>
              <a:buNone/>
            </a:pPr>
            <a:r>
              <a:rPr lang="en-US" sz="54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引き継ぎは、</a:t>
            </a:r>
            <a:endParaRPr lang="en-US" sz="5400" dirty="0"/>
          </a:p>
          <a:p>
            <a:pPr algn="l" indent="0" marL="0">
              <a:lnSpc>
                <a:spcPts val="6912"/>
              </a:lnSpc>
              <a:buNone/>
            </a:pPr>
            <a:r>
              <a:rPr lang="en-US" sz="54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次の一手まで。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60350" y="3165128"/>
            <a:ext cx="11088573" cy="865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spcBef>
                <a:spcPts val="2200"/>
              </a:spcBef>
              <a:buNone/>
            </a:pPr>
            <a:r>
              <a:rPr lang="en-US" sz="22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ファイルを渡すだけで終わらせない。</a:t>
            </a:r>
            <a:endParaRPr lang="en-US" sz="2200" dirty="0"/>
          </a:p>
          <a:p>
            <a:pPr algn="l" indent="0" marL="0">
              <a:lnSpc>
                <a:spcPts val="3410"/>
              </a:lnSpc>
              <a:spcBef>
                <a:spcPts val="2200"/>
              </a:spcBef>
              <a:buNone/>
            </a:pPr>
            <a:r>
              <a:rPr lang="en-US" sz="22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次の人が動ける案内を添える。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60350" y="4615160"/>
            <a:ext cx="621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資料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00051" y="4538960"/>
            <a:ext cx="414579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3200" dirty="0">
                <a:solidFill>
                  <a:srgbClr val="B4C7A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336602" y="4615160"/>
            <a:ext cx="621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276302" y="4538960"/>
            <a:ext cx="414579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3200" dirty="0">
                <a:solidFill>
                  <a:srgbClr val="B4C7A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→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012853" y="46151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次の行動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0350" y="6438900"/>
            <a:ext cx="10492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B4C7A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用途・場所・次の行動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39202" y="6438900"/>
            <a:ext cx="29814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B4C7A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350" y="639514"/>
            <a:ext cx="10871150" cy="0"/>
          </a:xfrm>
          <a:prstGeom prst="line">
            <a:avLst/>
          </a:prstGeom>
          <a:noFill/>
          <a:ln w="9525">
            <a:solidFill>
              <a:srgbClr val="7085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60350" y="317450"/>
            <a:ext cx="1385825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資料を渡す、その前に。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589270" y="317450"/>
            <a:ext cx="961075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説明用の記入例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0350" y="1130201"/>
            <a:ext cx="11088573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200" b="1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渡す前に、三つをそろえる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60350" y="2297906"/>
            <a:ext cx="3420517" cy="0"/>
          </a:xfrm>
          <a:prstGeom prst="line">
            <a:avLst/>
          </a:prstGeom>
          <a:noFill/>
          <a:ln w="19050">
            <a:solidFill>
              <a:srgbClr val="70857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0350" y="2561332"/>
            <a:ext cx="348892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何のため？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0350" y="2980432"/>
            <a:ext cx="3488927" cy="462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0"/>
              </a:lnSpc>
              <a:spcBef>
                <a:spcPts val="1200"/>
              </a:spcBef>
              <a:buNone/>
            </a:pPr>
            <a:r>
              <a:rPr lang="en-US" sz="2600" b="1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用途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60350" y="3658493"/>
            <a:ext cx="34889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700"/>
              </a:spcBef>
              <a:buNone/>
            </a:pPr>
            <a:r>
              <a:rPr lang="en-US" sz="18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誰が、何を判断するための</a:t>
            </a:r>
            <a:endParaRPr lang="en-US" sz="1800" dirty="0"/>
          </a:p>
          <a:p>
            <a:pPr algn="l" indent="0" marL="0">
              <a:lnSpc>
                <a:spcPts val="2700"/>
              </a:lnSpc>
              <a:spcBef>
                <a:spcPts val="1700"/>
              </a:spcBef>
              <a:buNone/>
            </a:pPr>
            <a:r>
              <a:rPr lang="en-US" sz="18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資料かを一文で書く。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85667" y="2297906"/>
            <a:ext cx="3420517" cy="0"/>
          </a:xfrm>
          <a:prstGeom prst="line">
            <a:avLst/>
          </a:prstGeom>
          <a:noFill/>
          <a:ln w="19050">
            <a:solidFill>
              <a:srgbClr val="70857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5667" y="2561332"/>
            <a:ext cx="348892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どこにある？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85667" y="2980432"/>
            <a:ext cx="3488927" cy="462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0"/>
              </a:lnSpc>
              <a:spcBef>
                <a:spcPts val="1200"/>
              </a:spcBef>
              <a:buNone/>
            </a:pPr>
            <a:r>
              <a:rPr lang="en-US" sz="2600" b="1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場所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385667" y="3658493"/>
            <a:ext cx="34889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700"/>
              </a:spcBef>
              <a:buNone/>
            </a:pPr>
            <a:r>
              <a:rPr lang="en-US" sz="18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開くファイルと参照資料の</a:t>
            </a:r>
            <a:endParaRPr lang="en-US" sz="1800" dirty="0"/>
          </a:p>
          <a:p>
            <a:pPr algn="l" indent="0" marL="0">
              <a:lnSpc>
                <a:spcPts val="2700"/>
              </a:lnSpc>
              <a:spcBef>
                <a:spcPts val="1700"/>
              </a:spcBef>
              <a:buNone/>
            </a:pPr>
            <a:r>
              <a:rPr lang="en-US" sz="18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置き場所をまとめる。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110984" y="2297906"/>
            <a:ext cx="3420517" cy="0"/>
          </a:xfrm>
          <a:prstGeom prst="line">
            <a:avLst/>
          </a:prstGeom>
          <a:noFill/>
          <a:ln w="19050">
            <a:solidFill>
              <a:srgbClr val="70857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10984" y="2561332"/>
            <a:ext cx="348892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何をする？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10984" y="2980432"/>
            <a:ext cx="3488927" cy="462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0"/>
              </a:lnSpc>
              <a:spcBef>
                <a:spcPts val="1200"/>
              </a:spcBef>
              <a:buNone/>
            </a:pPr>
            <a:r>
              <a:rPr lang="en-US" sz="2600" b="1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次の行動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110984" y="3658493"/>
            <a:ext cx="34889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700"/>
              </a:spcBef>
              <a:buNone/>
            </a:pPr>
            <a:r>
              <a:rPr lang="en-US" sz="18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確認する人と、返してほしい</a:t>
            </a:r>
            <a:endParaRPr lang="en-US" sz="1800" dirty="0"/>
          </a:p>
          <a:p>
            <a:pPr algn="l" indent="0" marL="0">
              <a:lnSpc>
                <a:spcPts val="2700"/>
              </a:lnSpc>
              <a:spcBef>
                <a:spcPts val="1700"/>
              </a:spcBef>
              <a:buNone/>
            </a:pPr>
            <a:r>
              <a:rPr lang="en-US" sz="18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内容・期日を添える。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0350" y="5498902"/>
            <a:ext cx="3922937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受け取った人が、最初に読む順番で並べる。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0350" y="6438900"/>
            <a:ext cx="10492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用途・場所・次の行動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24320" y="6438900"/>
            <a:ext cx="31332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350" y="639514"/>
            <a:ext cx="10871150" cy="0"/>
          </a:xfrm>
          <a:prstGeom prst="line">
            <a:avLst/>
          </a:prstGeom>
          <a:noFill/>
          <a:ln w="9525">
            <a:solidFill>
              <a:srgbClr val="7085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60350" y="317450"/>
            <a:ext cx="1385825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資料を渡す、その前に。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589270" y="317450"/>
            <a:ext cx="961075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説明用の記入例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0350" y="1130201"/>
            <a:ext cx="11088573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200" b="1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ファイル名で、用途と版を伝える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60350" y="1958132"/>
            <a:ext cx="11088573" cy="432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spcBef>
                <a:spcPts val="2200"/>
              </a:spcBef>
              <a:buNone/>
            </a:pPr>
            <a:r>
              <a:rPr lang="en-US" sz="22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同じ資料の「最新版はどれ？」を減らすために。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60350" y="2695873"/>
            <a:ext cx="10871150" cy="980182"/>
          </a:xfrm>
          <a:prstGeom prst="rect">
            <a:avLst/>
          </a:prstGeom>
          <a:solidFill>
            <a:srgbClr val="DDE6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65150" y="2937123"/>
            <a:ext cx="1046678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新人案内_v03_確認用.pptx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60350" y="3990380"/>
            <a:ext cx="3420517" cy="0"/>
          </a:xfrm>
          <a:prstGeom prst="line">
            <a:avLst/>
          </a:prstGeom>
          <a:noFill/>
          <a:ln w="19050">
            <a:solidFill>
              <a:srgbClr val="70857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0350" y="4152305"/>
            <a:ext cx="348892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用途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0350" y="4482405"/>
            <a:ext cx="3488927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500"/>
              </a:spcBef>
              <a:buNone/>
            </a:pPr>
            <a:r>
              <a:rPr lang="en-US" sz="2400" b="1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新人案内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0350" y="5010596"/>
            <a:ext cx="3488927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Bef>
                <a:spcPts val="800"/>
              </a:spcBef>
              <a:buNone/>
            </a:pPr>
            <a:r>
              <a:rPr lang="en-US" sz="16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中身がわかる名前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5667" y="3990380"/>
            <a:ext cx="3420517" cy="0"/>
          </a:xfrm>
          <a:prstGeom prst="line">
            <a:avLst/>
          </a:prstGeom>
          <a:noFill/>
          <a:ln w="19050">
            <a:solidFill>
              <a:srgbClr val="7085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5667" y="4152305"/>
            <a:ext cx="348892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385667" y="4482405"/>
            <a:ext cx="3488927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500"/>
              </a:spcBef>
              <a:buNone/>
            </a:pPr>
            <a:r>
              <a:rPr lang="en-US" sz="2400" b="1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385667" y="5010596"/>
            <a:ext cx="3488927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Bef>
                <a:spcPts val="800"/>
              </a:spcBef>
              <a:buNone/>
            </a:pPr>
            <a:r>
              <a:rPr lang="en-US" sz="16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更新順がわかる印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110984" y="3990380"/>
            <a:ext cx="3420517" cy="0"/>
          </a:xfrm>
          <a:prstGeom prst="line">
            <a:avLst/>
          </a:prstGeom>
          <a:noFill/>
          <a:ln w="19050">
            <a:solidFill>
              <a:srgbClr val="70857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10984" y="4152305"/>
            <a:ext cx="348892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状態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10984" y="4482405"/>
            <a:ext cx="3488927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500"/>
              </a:spcBef>
              <a:buNone/>
            </a:pPr>
            <a:r>
              <a:rPr lang="en-US" sz="2400" b="1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確認用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110984" y="5010596"/>
            <a:ext cx="3488927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Bef>
                <a:spcPts val="800"/>
              </a:spcBef>
              <a:buNone/>
            </a:pPr>
            <a:r>
              <a:rPr lang="en-US" sz="16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公開・配布前とわかる印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0350" y="5498902"/>
            <a:ext cx="4675433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これは記入例。チームで使う命名ルールに合わせる。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60350" y="6438900"/>
            <a:ext cx="10492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用途・場所・次の行動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24320" y="6438900"/>
            <a:ext cx="31332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03E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350" y="639514"/>
            <a:ext cx="10871150" cy="0"/>
          </a:xfrm>
          <a:prstGeom prst="line">
            <a:avLst/>
          </a:prstGeom>
          <a:noFill/>
          <a:ln w="9525">
            <a:solidFill>
              <a:srgbClr val="7085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60350" y="317450"/>
            <a:ext cx="1385825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資料を渡す、その前に。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589270" y="317450"/>
            <a:ext cx="961075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説明用の記入例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0350" y="1130201"/>
            <a:ext cx="11088573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200" b="1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完了と保留を、書き分ける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60350" y="1958132"/>
            <a:ext cx="11088573" cy="432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10"/>
              </a:lnSpc>
              <a:spcBef>
                <a:spcPts val="2200"/>
              </a:spcBef>
              <a:buNone/>
            </a:pPr>
            <a:r>
              <a:rPr lang="en-US" sz="22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次の人が、途中から迷わず続きを始められるように。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60350" y="2832348"/>
            <a:ext cx="5219700" cy="0"/>
          </a:xfrm>
          <a:prstGeom prst="line">
            <a:avLst/>
          </a:prstGeom>
          <a:noFill/>
          <a:ln w="19050">
            <a:solidFill>
              <a:srgbClr val="B4C7A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0350" y="3095774"/>
            <a:ext cx="532409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4C7A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完了の記入例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0350" y="3514874"/>
            <a:ext cx="5324094" cy="462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0"/>
              </a:lnSpc>
              <a:spcBef>
                <a:spcPts val="1200"/>
              </a:spcBef>
              <a:buNone/>
            </a:pPr>
            <a:r>
              <a:rPr lang="en-US" sz="2600" b="1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本文を更新した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60350" y="4192935"/>
            <a:ext cx="5324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700"/>
              </a:spcBef>
              <a:buNone/>
            </a:pPr>
            <a:r>
              <a:rPr lang="en-US" sz="18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変更箇所：2〜4ページ</a:t>
            </a:r>
            <a:endParaRPr lang="en-US" sz="1800" dirty="0"/>
          </a:p>
          <a:p>
            <a:pPr algn="l" indent="0" marL="0">
              <a:lnSpc>
                <a:spcPts val="2700"/>
              </a:lnSpc>
              <a:spcBef>
                <a:spcPts val="1700"/>
              </a:spcBef>
              <a:buNone/>
            </a:pPr>
            <a:r>
              <a:rPr lang="en-US" sz="18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残した根拠：更新メモ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311801" y="2832348"/>
            <a:ext cx="5219700" cy="0"/>
          </a:xfrm>
          <a:prstGeom prst="line">
            <a:avLst/>
          </a:prstGeom>
          <a:noFill/>
          <a:ln w="19050">
            <a:solidFill>
              <a:srgbClr val="B4C7A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11801" y="3095774"/>
            <a:ext cx="532409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4C7A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保留の記入例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11801" y="3514874"/>
            <a:ext cx="5324094" cy="462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0"/>
              </a:lnSpc>
              <a:spcBef>
                <a:spcPts val="1200"/>
              </a:spcBef>
              <a:buNone/>
            </a:pPr>
            <a:r>
              <a:rPr lang="en-US" sz="2600" b="1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担当者の確認待ち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311801" y="4192935"/>
            <a:ext cx="5324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700"/>
              </a:spcBef>
              <a:buNone/>
            </a:pPr>
            <a:r>
              <a:rPr lang="en-US" sz="18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確認事項：問い合わせ先</a:t>
            </a:r>
            <a:endParaRPr lang="en-US" sz="1800" dirty="0"/>
          </a:p>
          <a:p>
            <a:pPr algn="l" indent="0" marL="0">
              <a:lnSpc>
                <a:spcPts val="2700"/>
              </a:lnSpc>
              <a:spcBef>
                <a:spcPts val="1700"/>
              </a:spcBef>
              <a:buNone/>
            </a:pPr>
            <a:r>
              <a:rPr lang="en-US" sz="18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次の対応：窓口へ確認する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0350" y="5498902"/>
            <a:ext cx="4188291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7F5EE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「作った」「確認した」「承認された」を混ぜない。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0350" y="6438900"/>
            <a:ext cx="10492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B4C7A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用途・場所・次の行動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24320" y="6438900"/>
            <a:ext cx="31332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B4C7A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350" y="639514"/>
            <a:ext cx="10871150" cy="0"/>
          </a:xfrm>
          <a:prstGeom prst="line">
            <a:avLst/>
          </a:prstGeom>
          <a:noFill/>
          <a:ln w="9525">
            <a:solidFill>
              <a:srgbClr val="7085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60350" y="317450"/>
            <a:ext cx="1385825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資料を渡す、その前に。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589270" y="317450"/>
            <a:ext cx="961075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説明用の記入例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0350" y="1130201"/>
            <a:ext cx="11088573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200" b="1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受け取る側の画面で、確かめる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60350" y="2161282"/>
            <a:ext cx="3454316" cy="507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60350" y="2859732"/>
            <a:ext cx="345431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1500"/>
              </a:spcBef>
              <a:buNone/>
            </a:pPr>
            <a:r>
              <a:rPr lang="en-US" sz="2400" b="1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開けるか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60350" y="3502223"/>
            <a:ext cx="3454316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spcBef>
                <a:spcPts val="1700"/>
              </a:spcBef>
              <a:buNone/>
            </a:pPr>
            <a:r>
              <a:rPr lang="en-US" sz="17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渡すファイルとリンクを開く。</a:t>
            </a:r>
            <a:endParaRPr lang="en-US" sz="1700" dirty="0"/>
          </a:p>
          <a:p>
            <a:pPr algn="l" indent="0" marL="0">
              <a:lnSpc>
                <a:spcPts val="2550"/>
              </a:lnSpc>
              <a:spcBef>
                <a:spcPts val="1700"/>
              </a:spcBef>
              <a:buNone/>
            </a:pPr>
            <a:r>
              <a:rPr lang="en-US" sz="17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必要なアクセス権も確認する。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402485" y="2161282"/>
            <a:ext cx="3454467" cy="507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402485" y="2859732"/>
            <a:ext cx="3454467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1500"/>
              </a:spcBef>
              <a:buNone/>
            </a:pPr>
            <a:r>
              <a:rPr lang="en-US" sz="2400" b="1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読めるか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402485" y="3502223"/>
            <a:ext cx="3454467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spcBef>
                <a:spcPts val="1700"/>
              </a:spcBef>
              <a:buNone/>
            </a:pPr>
            <a:r>
              <a:rPr lang="en-US" sz="17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全ページの文字・図・表を見る。</a:t>
            </a:r>
            <a:endParaRPr lang="en-US" sz="1700" dirty="0"/>
          </a:p>
          <a:p>
            <a:pPr algn="l" indent="0" marL="0">
              <a:lnSpc>
                <a:spcPts val="2550"/>
              </a:lnSpc>
              <a:spcBef>
                <a:spcPts val="1700"/>
              </a:spcBef>
              <a:buNone/>
            </a:pPr>
            <a:r>
              <a:rPr lang="en-US" sz="17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字体の置き換わりにも気を配る。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44768" y="2161282"/>
            <a:ext cx="3454316" cy="507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2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144768" y="2859732"/>
            <a:ext cx="345431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1500"/>
              </a:spcBef>
              <a:buNone/>
            </a:pPr>
            <a:r>
              <a:rPr lang="en-US" sz="2400" b="1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編集できるか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144768" y="3502223"/>
            <a:ext cx="3454316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spcBef>
                <a:spcPts val="1700"/>
              </a:spcBef>
              <a:buNone/>
            </a:pPr>
            <a:r>
              <a:rPr lang="en-US" sz="17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編集が必要なら、コピーで試す。</a:t>
            </a:r>
            <a:endParaRPr lang="en-US" sz="1700" dirty="0"/>
          </a:p>
          <a:p>
            <a:pPr algn="l" indent="0" marL="0">
              <a:lnSpc>
                <a:spcPts val="2550"/>
              </a:lnSpc>
              <a:spcBef>
                <a:spcPts val="1700"/>
              </a:spcBef>
              <a:buNone/>
            </a:pPr>
            <a:r>
              <a:rPr lang="en-US" sz="17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元の資料を保って確認する。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0350" y="5498902"/>
            <a:ext cx="5908390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自分の端末で成功しただけで、受け取り手にも同じとは決めない。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0350" y="6438900"/>
            <a:ext cx="10492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用途・場所・次の行動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24320" y="6438900"/>
            <a:ext cx="31332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350" y="639514"/>
            <a:ext cx="10871150" cy="0"/>
          </a:xfrm>
          <a:prstGeom prst="line">
            <a:avLst/>
          </a:prstGeom>
          <a:noFill/>
          <a:ln w="9525">
            <a:solidFill>
              <a:srgbClr val="70857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60350" y="317450"/>
            <a:ext cx="1385825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資料を渡す、その前に。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589270" y="317450"/>
            <a:ext cx="961075" cy="1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説明用の記入例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0350" y="1130201"/>
            <a:ext cx="1108857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引き継ぎメッセージの記入例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60350" y="1549301"/>
            <a:ext cx="11088573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8"/>
              </a:lnSpc>
              <a:spcBef>
                <a:spcPts val="1200"/>
              </a:spcBef>
              <a:buNone/>
            </a:pPr>
            <a:r>
              <a:rPr lang="en-US" sz="46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最後に、</a:t>
            </a:r>
            <a:endParaRPr lang="en-US" sz="4600" dirty="0"/>
          </a:p>
          <a:p>
            <a:pPr algn="l" indent="0" marL="0">
              <a:lnSpc>
                <a:spcPts val="5888"/>
              </a:lnSpc>
              <a:spcBef>
                <a:spcPts val="1200"/>
              </a:spcBef>
              <a:buNone/>
            </a:pPr>
            <a:r>
              <a:rPr lang="en-US" sz="46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次の一行を添える。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660350" y="3374827"/>
            <a:ext cx="10871150" cy="1089422"/>
          </a:xfrm>
          <a:prstGeom prst="rect">
            <a:avLst/>
          </a:prstGeom>
          <a:solidFill>
            <a:srgbClr val="DDE6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0350" y="3374827"/>
            <a:ext cx="10871150" cy="1089422"/>
          </a:xfrm>
          <a:prstGeom prst="rect">
            <a:avLst/>
          </a:prstGeom>
          <a:noFill/>
          <a:ln/>
        </p:spPr>
        <p:txBody>
          <a:bodyPr wrap="square" lIns="254000" tIns="177800" rIns="254000" bIns="177800" rtlCol="0" anchor="t"/>
          <a:lstStyle/>
          <a:p>
            <a:pPr algn="l" indent="0" marL="0">
              <a:lnSpc>
                <a:spcPts val="2890"/>
              </a:lnSpc>
              <a:buNone/>
            </a:pPr>
            <a:r>
              <a:rPr lang="en-US" sz="17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確認担当の方へ：問い合わせ先の表記をご確認ください。</a:t>
            </a:r>
            <a:endParaRPr lang="en-US" sz="1700" dirty="0"/>
          </a:p>
          <a:p>
            <a:pPr algn="l" indent="0" marL="0">
              <a:lnSpc>
                <a:spcPts val="2890"/>
              </a:lnSpc>
              <a:buNone/>
            </a:pPr>
            <a:r>
              <a:rPr lang="en-US" sz="17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期日は合意した日付を記入し、修正点を更新メモへお願いします。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0350" y="5498902"/>
            <a:ext cx="3531432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03E31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資料の場所と、次の行動を一緒に渡す。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0350" y="6438900"/>
            <a:ext cx="104927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用途・場所・次の行動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24320" y="6438900"/>
            <a:ext cx="31332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57725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 /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2026-10-13T23:33:58Z</dcterms:created>
  <dcterms:modified xsi:type="dcterms:W3CDTF">2026-10-13T23:33:58Z</dcterms:modified>
</cp:coreProperties>
</file>