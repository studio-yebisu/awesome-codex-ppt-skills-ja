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架空の社内運用を説明する6枚。実際の引継ぎメモを一枚に整える例。実在の会社・社員・実測値ではない。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このnative表が引継ぎメモの一枚の例。実在案件の進捗報告ではない。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企画上の目標。運用効果を測定した結果ではない。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metadata:title-kicker"/>
          <p:cNvSpPr txBox="1"/>
          <p:nvPr/>
        </p:nvSpPr>
        <p:spPr>
          <a:xfrm>
            <a:off x="3657600" y="853821"/>
            <a:ext cx="38514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3AE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9" name="decorative:role-contract-accent:title:heading"/>
          <p:cNvSpPr/>
          <p:nvPr/>
        </p:nvSpPr>
        <p:spPr>
          <a:xfrm>
            <a:off x="3657600" y="1073277"/>
            <a:ext cx="888797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lide-title:title"/>
          <p:cNvSpPr txBox="1"/>
          <p:nvPr/>
        </p:nvSpPr>
        <p:spPr>
          <a:xfrm>
            <a:off x="3657600" y="1183005"/>
            <a:ext cx="4937760" cy="159448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仕事の引き継ぎを、</a:t>
            </a:r>
            <a:endParaRPr lang="en-US" sz="4500" dirty="0"/>
          </a:p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迷わない一枚に。</a:t>
            </a:r>
            <a:endParaRPr lang="en-US" sz="4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188970"/>
            <a:ext cx="45720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必要情報・担当・確認を、一枚にそろえる。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仮想の社内運用 / 人名・会社・実績値は使用していません</a:t>
            </a:r>
            <a:endParaRPr lang="en-US" sz="900" dirty="0"/>
          </a:p>
        </p:txBody>
      </p:sp>
      <p:sp>
        <p:nvSpPr>
          <p:cNvPr id="1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1/6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情報・担当・確認をそろえる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三つがそろって、次の担当が判断できる。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305560"/>
            <a:ext cx="8229600" cy="0"/>
          </a:xfrm>
          <a:prstGeom prst="line">
            <a:avLst/>
          </a:prstGeom>
          <a:noFill/>
          <a:ln w="7620">
            <a:solidFill>
              <a:srgbClr val="DDD6FE"/>
            </a:solidFill>
            <a:prstDash val="solid"/>
          </a:ln>
        </p:spPr>
      </p:sp>
      <p:sp>
        <p:nvSpPr>
          <p:cNvPr id="11" name="flow:0:title"/>
          <p:cNvSpPr txBox="1"/>
          <p:nvPr/>
        </p:nvSpPr>
        <p:spPr>
          <a:xfrm>
            <a:off x="530352" y="1369568"/>
            <a:ext cx="232257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1. 必要情報</a:t>
            </a:r>
            <a:endParaRPr lang="en-US" sz="1600" dirty="0"/>
          </a:p>
        </p:txBody>
      </p:sp>
      <p:sp>
        <p:nvSpPr>
          <p:cNvPr id="12" name="flow:0:detail"/>
          <p:cNvSpPr txBox="1"/>
          <p:nvPr/>
        </p:nvSpPr>
        <p:spPr>
          <a:xfrm>
            <a:off x="3127248" y="1369568"/>
            <a:ext cx="541324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目的・資料の場所・完了条件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922272"/>
            <a:ext cx="8229600" cy="0"/>
          </a:xfrm>
          <a:prstGeom prst="line">
            <a:avLst/>
          </a:prstGeom>
          <a:noFill/>
          <a:ln w="7620">
            <a:solidFill>
              <a:srgbClr val="DDD6FE"/>
            </a:solidFill>
            <a:prstDash val="solid"/>
          </a:ln>
        </p:spPr>
      </p:sp>
      <p:sp>
        <p:nvSpPr>
          <p:cNvPr id="14" name="flow:1:title"/>
          <p:cNvSpPr txBox="1"/>
          <p:nvPr/>
        </p:nvSpPr>
        <p:spPr>
          <a:xfrm>
            <a:off x="530352" y="1986280"/>
            <a:ext cx="232257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2. 担当</a:t>
            </a:r>
            <a:endParaRPr lang="en-US" sz="1600" dirty="0"/>
          </a:p>
        </p:txBody>
      </p:sp>
      <p:sp>
        <p:nvSpPr>
          <p:cNvPr id="15" name="flow:1:detail"/>
          <p:cNvSpPr txBox="1"/>
          <p:nvPr/>
        </p:nvSpPr>
        <p:spPr>
          <a:xfrm>
            <a:off x="3127248" y="1986280"/>
            <a:ext cx="541324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送り手・次の担当・確認役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538984"/>
            <a:ext cx="8229600" cy="0"/>
          </a:xfrm>
          <a:prstGeom prst="line">
            <a:avLst/>
          </a:prstGeom>
          <a:noFill/>
          <a:ln w="7620">
            <a:solidFill>
              <a:srgbClr val="DDD6FE"/>
            </a:solidFill>
            <a:prstDash val="solid"/>
          </a:ln>
        </p:spPr>
      </p:sp>
      <p:sp>
        <p:nvSpPr>
          <p:cNvPr id="17" name="flow:2:title"/>
          <p:cNvSpPr txBox="1"/>
          <p:nvPr/>
        </p:nvSpPr>
        <p:spPr>
          <a:xfrm>
            <a:off x="530352" y="2602992"/>
            <a:ext cx="2322576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3. 確認</a:t>
            </a:r>
            <a:endParaRPr lang="en-US" sz="1600" dirty="0"/>
          </a:p>
        </p:txBody>
      </p:sp>
      <p:sp>
        <p:nvSpPr>
          <p:cNvPr id="18" name="flow:2:detail"/>
          <p:cNvSpPr txBox="1"/>
          <p:nvPr/>
        </p:nvSpPr>
        <p:spPr>
          <a:xfrm>
            <a:off x="3127248" y="2602992"/>
            <a:ext cx="541324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受け取った内容と期限を合わせる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639820"/>
            <a:ext cx="8229600" cy="543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D6FE"/>
            </a:solidFill>
            <a:prstDash val="solid"/>
          </a:ln>
        </p:spPr>
      </p:sp>
      <p:sp>
        <p:nvSpPr>
          <p:cNvPr id="20" name="flow:readout"/>
          <p:cNvSpPr txBox="1"/>
          <p:nvPr/>
        </p:nvSpPr>
        <p:spPr>
          <a:xfrm>
            <a:off x="585216" y="3712972"/>
            <a:ext cx="797356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資料だけを渡さず、「誰が何を確認するか」まで書く。</a:t>
            </a:r>
            <a:endParaRPr lang="en-US" sz="1600" dirty="0"/>
          </a:p>
        </p:txBody>
      </p:sp>
      <p:sp>
        <p:nvSpPr>
          <p:cNvPr id="21" name="caption:flow"/>
          <p:cNvSpPr txBox="1"/>
          <p:nvPr/>
        </p:nvSpPr>
        <p:spPr>
          <a:xfrm>
            <a:off x="457200" y="429310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関係を整理した仮想例。実際の担当分担ではありません。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仮想の社内運用 / 人名・会社・実績値は使用していません</a:t>
            </a:r>
            <a:endParaRPr lang="en-US" sz="900" dirty="0"/>
          </a:p>
        </p:txBody>
      </p:sp>
      <p:sp>
        <p:nvSpPr>
          <p:cNvPr id="2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引き継ぎは、順番を決める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渡す前に、受け手と同じ認識をつくる。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" y="1872488"/>
            <a:ext cx="6345936" cy="0"/>
          </a:xfrm>
          <a:prstGeom prst="line">
            <a:avLst/>
          </a:prstGeom>
          <a:noFill/>
          <a:ln w="10160">
            <a:solidFill>
              <a:srgbClr val="7C3AED"/>
            </a:solidFill>
            <a:prstDash val="solid"/>
          </a:ln>
        </p:spPr>
      </p:sp>
      <p:sp>
        <p:nvSpPr>
          <p:cNvPr id="11" name="metadata:timeline-label-0"/>
          <p:cNvSpPr txBox="1"/>
          <p:nvPr/>
        </p:nvSpPr>
        <p:spPr>
          <a:xfrm>
            <a:off x="457200" y="13512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WRITE</a:t>
            </a:r>
            <a:endParaRPr lang="en-US" sz="1000" dirty="0"/>
          </a:p>
        </p:txBody>
      </p:sp>
      <p:sp>
        <p:nvSpPr>
          <p:cNvPr id="12" name="role-contract-slot:evidence:timeline-0"/>
          <p:cNvSpPr/>
          <p:nvPr/>
        </p:nvSpPr>
        <p:spPr>
          <a:xfrm>
            <a:off x="457200" y="179933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1102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書く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95448"/>
            <a:ext cx="1892808" cy="143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目的・資料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期限を一枚へ</a:t>
            </a:r>
            <a:endParaRPr lang="en-US" sz="1600" dirty="0"/>
          </a:p>
        </p:txBody>
      </p:sp>
      <p:sp>
        <p:nvSpPr>
          <p:cNvPr id="15" name="metadata:timeline-label-1"/>
          <p:cNvSpPr txBox="1"/>
          <p:nvPr/>
        </p:nvSpPr>
        <p:spPr>
          <a:xfrm>
            <a:off x="2569464" y="13512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MATCH</a:t>
            </a:r>
            <a:endParaRPr lang="en-US" sz="1000" dirty="0"/>
          </a:p>
        </p:txBody>
      </p:sp>
      <p:sp>
        <p:nvSpPr>
          <p:cNvPr id="16" name="role-contract-slot:evidence:timeline-1"/>
          <p:cNvSpPr/>
          <p:nvPr/>
        </p:nvSpPr>
        <p:spPr>
          <a:xfrm>
            <a:off x="2569464" y="1799336"/>
            <a:ext cx="146304" cy="14630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69464" y="21102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合わせる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569464" y="2695448"/>
            <a:ext cx="1892808" cy="143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内容を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読み返す</a:t>
            </a:r>
            <a:endParaRPr lang="en-US" sz="1600" dirty="0"/>
          </a:p>
        </p:txBody>
      </p:sp>
      <p:sp>
        <p:nvSpPr>
          <p:cNvPr id="19" name="metadata:timeline-label-2"/>
          <p:cNvSpPr txBox="1"/>
          <p:nvPr/>
        </p:nvSpPr>
        <p:spPr>
          <a:xfrm>
            <a:off x="4681728" y="13512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CONFIRM</a:t>
            </a:r>
            <a:endParaRPr lang="en-US" sz="1000" dirty="0"/>
          </a:p>
        </p:txBody>
      </p:sp>
      <p:sp>
        <p:nvSpPr>
          <p:cNvPr id="20" name="role-contract-slot:evidence:timeline-2"/>
          <p:cNvSpPr/>
          <p:nvPr/>
        </p:nvSpPr>
        <p:spPr>
          <a:xfrm>
            <a:off x="4681728" y="179933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81728" y="21102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確認する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81728" y="2695448"/>
            <a:ext cx="1892808" cy="143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不明点を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送り手へ</a:t>
            </a:r>
            <a:endParaRPr lang="en-US" sz="1600" dirty="0"/>
          </a:p>
        </p:txBody>
      </p:sp>
      <p:sp>
        <p:nvSpPr>
          <p:cNvPr id="23" name="metadata:timeline-label-3"/>
          <p:cNvSpPr txBox="1"/>
          <p:nvPr/>
        </p:nvSpPr>
        <p:spPr>
          <a:xfrm>
            <a:off x="6793992" y="135128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HANDOFF</a:t>
            </a:r>
            <a:endParaRPr lang="en-US" sz="1000" dirty="0"/>
          </a:p>
        </p:txBody>
      </p:sp>
      <p:sp>
        <p:nvSpPr>
          <p:cNvPr id="24" name="role-contract-slot:evidence:timeline-3"/>
          <p:cNvSpPr/>
          <p:nvPr/>
        </p:nvSpPr>
        <p:spPr>
          <a:xfrm>
            <a:off x="6793992" y="1799336"/>
            <a:ext cx="146304" cy="14630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93992" y="21102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渡す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93992" y="2695448"/>
            <a:ext cx="1892808" cy="143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確認後に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担当を変更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仮想の社内運用 / 人名・会社・実績値は使用していません</a:t>
            </a:r>
            <a:endParaRPr lang="en-US" sz="900" dirty="0"/>
          </a:p>
        </p:txBody>
      </p:sp>
      <p:sp>
        <p:nvSpPr>
          <p:cNvPr id="2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3/6</a:t>
            </a:r>
            <a:endParaRPr lang="en-US" sz="900" dirty="0"/>
          </a:p>
        </p:txBody>
      </p:sp>
      <p:sp>
        <p:nvSpPr>
          <p:cNvPr id="30" name="caption:timeline"/>
          <p:cNvSpPr txBox="1"/>
          <p:nvPr/>
        </p:nvSpPr>
        <p:spPr>
          <a:xfrm>
            <a:off x="457200" y="429310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順序を説明する仮の運用案。実際の承認手続ではありません。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期限と状態を、一枚に並べる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空欄を残さず、次の行動も一緒に書く。</a:t>
            </a:r>
            <a:endParaRPr lang="en-US" sz="1300" dirty="0"/>
          </a:p>
        </p:txBody>
      </p:sp>
      <p:sp>
        <p:nvSpPr>
          <p:cNvPr id="10" name="metadata:table-index-label"/>
          <p:cNvSpPr txBox="1"/>
          <p:nvPr/>
        </p:nvSpPr>
        <p:spPr>
          <a:xfrm>
            <a:off x="566928" y="1378712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引き継ぎメモ</a:t>
            </a:r>
            <a:endParaRPr lang="en-US" sz="900" dirty="0"/>
          </a:p>
        </p:txBody>
      </p:sp>
      <p:sp>
        <p:nvSpPr>
          <p:cNvPr id="11" name="metadata:table-index-detail"/>
          <p:cNvSpPr txBox="1"/>
          <p:nvPr/>
        </p:nvSpPr>
        <p:spPr>
          <a:xfrm>
            <a:off x="1645920" y="1378712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4項目 | 項目 | 担当 | 期限（仮） | 状態例 | 次に動く条件</a:t>
            </a:r>
            <a:endParaRPr lang="en-US" sz="900" dirty="0"/>
          </a:p>
        </p:txBody>
      </p:sp>
      <p:graphicFrame>
        <p:nvGraphicFramePr>
          <p:cNvPr id="5" name="Editable table: 期限と状態を、一枚に並べる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3420"/>
          <a:ext cx="8229600" cy="1757680"/>
        </p:xfrm>
        <a:graphic>
          <a:graphicData uri="http://schemas.openxmlformats.org/drawingml/2006/table">
            <a:tbl>
              <a:tblPr/>
              <a:tblGrid>
                <a:gridCol w="1714500"/>
                <a:gridCol w="1257300"/>
                <a:gridCol w="1371600"/>
                <a:gridCol w="1371600"/>
                <a:gridCol w="2514600"/>
              </a:tblGrid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担当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期限（仮）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状態例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次に動く条件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1065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必要資料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送り手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前日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準備済み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保存先を確認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手順の確認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次の担当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開始前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確認待ち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不明点を解消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担当の変更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確認役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開始前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未実施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確認記録を残す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作業の開始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次の担当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当日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未着手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E1065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担当変更を確認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3" name="metadata:table-caption"/>
          <p:cNvSpPr txBox="1"/>
          <p:nvPr/>
        </p:nvSpPr>
        <p:spPr>
          <a:xfrm>
            <a:off x="457200" y="379425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すべて架空の記入例。期限は相対的な仮案、状態は説明用です。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仮想の社内運用 / 人名・会社・実績値は使用していません</a:t>
            </a:r>
            <a:endParaRPr lang="en-US" sz="900" dirty="0"/>
          </a:p>
        </p:txBody>
      </p:sp>
      <p:sp>
        <p:nvSpPr>
          <p:cNvPr id="16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91440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1065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次に動く条件を、明らかに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665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判断に必要な情報を、着手前に確かめる。</a:t>
            </a:r>
            <a:endParaRPr lang="en-US" sz="1300" dirty="0"/>
          </a:p>
        </p:txBody>
      </p:sp>
      <p:sp>
        <p:nvSpPr>
          <p:cNvPr id="10" name="role-contract-slot:comparison:option-0"/>
          <p:cNvSpPr/>
          <p:nvPr/>
        </p:nvSpPr>
        <p:spPr>
          <a:xfrm>
            <a:off x="457200" y="1305560"/>
            <a:ext cx="3785616" cy="2356612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11" name="comparison:0:title"/>
          <p:cNvSpPr txBox="1"/>
          <p:nvPr/>
        </p:nvSpPr>
        <p:spPr>
          <a:xfrm>
            <a:off x="603504" y="1451864"/>
            <a:ext cx="349300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着手できる</a:t>
            </a:r>
            <a:endParaRPr lang="en-US" sz="1600" dirty="0"/>
          </a:p>
        </p:txBody>
      </p:sp>
      <p:sp>
        <p:nvSpPr>
          <p:cNvPr id="12" name="comparison:0:body"/>
          <p:cNvSpPr txBox="1"/>
          <p:nvPr/>
        </p:nvSpPr>
        <p:spPr>
          <a:xfrm>
            <a:off x="603504" y="1940560"/>
            <a:ext cx="3493008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目的が一文で分かる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資料の保存先がある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期限と担当を記載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確認記録が残っている</a:t>
            </a:r>
            <a:endParaRPr lang="en-US" sz="1600" dirty="0"/>
          </a:p>
        </p:txBody>
      </p:sp>
      <p:sp>
        <p:nvSpPr>
          <p:cNvPr id="13" name="role-contract-slot:comparison:option-1"/>
          <p:cNvSpPr/>
          <p:nvPr/>
        </p:nvSpPr>
        <p:spPr>
          <a:xfrm>
            <a:off x="4901184" y="1305560"/>
            <a:ext cx="3785616" cy="2356612"/>
          </a:xfrm>
          <a:prstGeom prst="rect">
            <a:avLst/>
          </a:prstGeom>
          <a:solidFill>
            <a:srgbClr val="FFFFFF"/>
          </a:solidFill>
          <a:ln w="8255">
            <a:solidFill>
              <a:srgbClr val="DDD6FE"/>
            </a:solidFill>
            <a:prstDash val="solid"/>
          </a:ln>
        </p:spPr>
      </p:sp>
      <p:sp>
        <p:nvSpPr>
          <p:cNvPr id="14" name="comparison:1:title"/>
          <p:cNvSpPr txBox="1"/>
          <p:nvPr/>
        </p:nvSpPr>
        <p:spPr>
          <a:xfrm>
            <a:off x="5047488" y="1451864"/>
            <a:ext cx="3493008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送り手へ戻す</a:t>
            </a:r>
            <a:endParaRPr lang="en-US" sz="1600" dirty="0"/>
          </a:p>
        </p:txBody>
      </p:sp>
      <p:sp>
        <p:nvSpPr>
          <p:cNvPr id="15" name="comparison:1:body"/>
          <p:cNvSpPr txBox="1"/>
          <p:nvPr/>
        </p:nvSpPr>
        <p:spPr>
          <a:xfrm>
            <a:off x="5047488" y="1940560"/>
            <a:ext cx="3493008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資料が見つからない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期限が空欄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担当が重複・未定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E106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完了条件が曖昧</a:t>
            </a:r>
            <a:endParaRPr lang="en-US" sz="1600" dirty="0"/>
          </a:p>
        </p:txBody>
      </p:sp>
      <p:sp>
        <p:nvSpPr>
          <p:cNvPr id="16" name="role-contract-slot:comparison:verdict"/>
          <p:cNvSpPr/>
          <p:nvPr/>
        </p:nvSpPr>
        <p:spPr>
          <a:xfrm>
            <a:off x="457200" y="3826764"/>
            <a:ext cx="8229600" cy="658368"/>
          </a:xfrm>
          <a:prstGeom prst="rect">
            <a:avLst/>
          </a:prstGeom>
          <a:solidFill>
            <a:srgbClr val="2E1065"/>
          </a:solidFill>
          <a:ln w="8255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57320"/>
            <a:ext cx="804672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不明点を推測で埋めず、確認してから担当を切り替える。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仮想の社内運用 / 人名・会社・実績値は使用していません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73152"/>
            <a:ext cx="1572768" cy="10058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73152"/>
            <a:ext cx="129844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19856" y="73152"/>
            <a:ext cx="1298448" cy="100584"/>
          </a:xfrm>
          <a:prstGeom prst="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8032" y="73152"/>
            <a:ext cx="1572768" cy="100584"/>
          </a:xfrm>
          <a:prstGeom prst="rect">
            <a:avLst/>
          </a:prstGeom>
          <a:solidFill>
            <a:srgbClr val="DDD6FE">
              <a:alpha val="88000"/>
            </a:srgbClr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4631436"/>
            <a:ext cx="848563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4631436"/>
            <a:ext cx="1444752" cy="146304"/>
          </a:xfrm>
          <a:prstGeom prst="rect">
            <a:avLst/>
          </a:prstGeom>
          <a:solidFill>
            <a:srgbClr val="7C3AED">
              <a:alpha val="94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metadata:section-kicker"/>
          <p:cNvSpPr txBox="1"/>
          <p:nvPr/>
        </p:nvSpPr>
        <p:spPr>
          <a:xfrm>
            <a:off x="3566160" y="596646"/>
            <a:ext cx="39940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7C3AE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SECTION</a:t>
            </a:r>
            <a:endParaRPr lang="en-US" sz="900" dirty="0"/>
          </a:p>
        </p:txBody>
      </p:sp>
      <p:sp>
        <p:nvSpPr>
          <p:cNvPr id="9" name="decorative:role-contract-accent:section:heading"/>
          <p:cNvSpPr/>
          <p:nvPr/>
        </p:nvSpPr>
        <p:spPr>
          <a:xfrm>
            <a:off x="3566160" y="816102"/>
            <a:ext cx="921715" cy="411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lide-title:section"/>
          <p:cNvSpPr txBox="1"/>
          <p:nvPr/>
        </p:nvSpPr>
        <p:spPr>
          <a:xfrm>
            <a:off x="3566160" y="925830"/>
            <a:ext cx="5120640" cy="149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次の担当が、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動ける状態まで。</a:t>
            </a:r>
            <a:endParaRPr lang="en-US" sz="39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861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資料・期限・着手条件を、短い一枚に。</a:t>
            </a:r>
            <a:endParaRPr lang="en-US" sz="1600" dirty="0"/>
          </a:p>
        </p:txBody>
      </p:sp>
      <p:sp>
        <p:nvSpPr>
          <p:cNvPr id="12" name="role-contract-slot:section:cycle"/>
          <p:cNvSpPr/>
          <p:nvPr/>
        </p:nvSpPr>
        <p:spPr>
          <a:xfrm>
            <a:off x="457200" y="822960"/>
            <a:ext cx="2468880" cy="1183005"/>
          </a:xfrm>
          <a:prstGeom prst="rect">
            <a:avLst/>
          </a:prstGeom>
          <a:solidFill>
            <a:srgbClr val="2E1065">
              <a:alpha val="0"/>
            </a:srgbClr>
          </a:solidFill>
          <a:ln w="10795">
            <a:solidFill>
              <a:srgbClr val="DDD6FE"/>
            </a:solidFill>
            <a:prstDash val="solid"/>
          </a:ln>
        </p:spPr>
      </p:sp>
      <p:sp>
        <p:nvSpPr>
          <p:cNvPr id="13" name="decorative:role-contract-accent:section:cycle"/>
          <p:cNvSpPr/>
          <p:nvPr/>
        </p:nvSpPr>
        <p:spPr>
          <a:xfrm>
            <a:off x="457200" y="822960"/>
            <a:ext cx="50292" cy="118300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metadata:section-cycle-label"/>
          <p:cNvSpPr txBox="1"/>
          <p:nvPr/>
        </p:nvSpPr>
        <p:spPr>
          <a:xfrm>
            <a:off x="585216" y="950976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CYCLE</a:t>
            </a:r>
            <a:endParaRPr lang="en-US" sz="900" dirty="0"/>
          </a:p>
        </p:txBody>
      </p:sp>
      <p:sp>
        <p:nvSpPr>
          <p:cNvPr id="15" name="metadata:section-cycle-value"/>
          <p:cNvSpPr txBox="1"/>
          <p:nvPr/>
        </p:nvSpPr>
        <p:spPr>
          <a:xfrm>
            <a:off x="585216" y="1383393"/>
            <a:ext cx="2212848" cy="33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4" b="1" dirty="0">
                <a:solidFill>
                  <a:srgbClr val="7C3AED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01</a:t>
            </a:r>
            <a:endParaRPr lang="en-US" sz="1594" dirty="0"/>
          </a:p>
        </p:txBody>
      </p:sp>
      <p:sp>
        <p:nvSpPr>
          <p:cNvPr id="16" name="role-contract-slot:section:control"/>
          <p:cNvSpPr/>
          <p:nvPr/>
        </p:nvSpPr>
        <p:spPr>
          <a:xfrm>
            <a:off x="457200" y="2828925"/>
            <a:ext cx="2468880" cy="1337310"/>
          </a:xfrm>
          <a:prstGeom prst="rect">
            <a:avLst/>
          </a:prstGeom>
          <a:solidFill>
            <a:srgbClr val="2E1065">
              <a:alpha val="0"/>
            </a:srgbClr>
          </a:solidFill>
          <a:ln w="6985">
            <a:solidFill>
              <a:srgbClr val="0E7490"/>
            </a:solidFill>
            <a:prstDash val="solid"/>
          </a:ln>
        </p:spPr>
      </p:sp>
      <p:sp>
        <p:nvSpPr>
          <p:cNvPr id="17" name="decorative:role-contract-accent:section:control"/>
          <p:cNvSpPr/>
          <p:nvPr/>
        </p:nvSpPr>
        <p:spPr>
          <a:xfrm>
            <a:off x="457200" y="2828925"/>
            <a:ext cx="50292" cy="133731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metadata:section-control-label"/>
          <p:cNvSpPr txBox="1"/>
          <p:nvPr/>
        </p:nvSpPr>
        <p:spPr>
          <a:xfrm>
            <a:off x="585216" y="2956941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CBD5E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CONTROL</a:t>
            </a:r>
            <a:endParaRPr lang="en-US" sz="900" dirty="0"/>
          </a:p>
        </p:txBody>
      </p:sp>
      <p:sp>
        <p:nvSpPr>
          <p:cNvPr id="19" name="metadata:section-control-value"/>
          <p:cNvSpPr txBox="1"/>
          <p:nvPr/>
        </p:nvSpPr>
        <p:spPr>
          <a:xfrm>
            <a:off x="585216" y="3466511"/>
            <a:ext cx="2212848" cy="336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4" b="1" dirty="0">
                <a:solidFill>
                  <a:srgbClr val="0E7490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CONTROL</a:t>
            </a:r>
            <a:endParaRPr lang="en-US" sz="1594" dirty="0"/>
          </a:p>
        </p:txBody>
      </p:sp>
      <p:sp>
        <p:nvSpPr>
          <p:cNvPr id="20" name="Shape 1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DD6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仮想の社内運用 / 人名・会社・実績値は使用していません</a:t>
            </a:r>
            <a:endParaRPr lang="en-US" sz="900" dirty="0"/>
          </a:p>
        </p:txBody>
      </p:sp>
      <p:sp>
        <p:nvSpPr>
          <p:cNvPr id="2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28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6/6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仕事の引き継ぎを、迷わない一枚に。</dc:title>
  <dc:subject>架空の社内運用を図と表で説明する6枚</dc:subject>
  <dc:creator>Presentation Team</dc:creator>
  <cp:lastModifiedBy>Presentation Team</cp:lastModifiedBy>
  <cp:revision>1</cp:revision>
  <dcterms:created xsi:type="dcterms:W3CDTF">2026-10-14T04:48:59Z</dcterms:created>
  <dcterms:modified xsi:type="dcterms:W3CDTF">2026-10-14T04:48:59Z</dcterms:modified>
</cp:coreProperties>
</file>