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1" name="C101"/>
          <p:cNvSpPr/>
          <p:nvPr/>
        </p:nvSpPr>
        <p:spPr>
          <a:xfrm>
            <a:off x="8486775" y="1228725"/>
            <a:ext cx="2266950" cy="2266950"/>
          </a:xfrm>
          <a:prstGeom prst="ellipse">
            <a:avLst/>
          </a:prstGeom>
          <a:solidFill>
            <a:srgbClr val="d62828"/>
          </a:solidFill>
        </p:spPr>
      </p:sp>
      <p:sp>
        <p:nvSpPr>
          <p:cNvPr id="102" name="R102"/>
          <p:cNvSpPr/>
          <p:nvPr/>
        </p:nvSpPr>
        <p:spPr>
          <a:xfrm>
            <a:off x="7943850" y="3829050"/>
            <a:ext cx="2143125" cy="2143125"/>
          </a:xfrm>
          <a:prstGeom prst="rect">
            <a:avLst/>
          </a:prstGeom>
          <a:solidFill>
            <a:srgbClr val="003049"/>
          </a:solidFill>
        </p:spPr>
      </p:sp>
      <p:sp>
        <p:nvSpPr>
          <p:cNvPr id="103" name="P103"/>
          <p:cNvSpPr/>
          <p:nvPr/>
        </p:nvSpPr>
        <p:spPr>
          <a:xfrm>
            <a:off x="9505950" y="3714750"/>
            <a:ext cx="2400300" cy="2152650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50000" y="0"/>
                </a:move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d60a"/>
          </a:solidFill>
        </p:spPr>
      </p:sp>
      <p:sp>
        <p:nvSpPr>
          <p:cNvPr id="104" name="T104"/>
          <p:cNvSpPr txBox="1"/>
          <p:nvPr/>
        </p:nvSpPr>
        <p:spPr>
          <a:xfrm>
            <a:off x="742950" y="1476375"/>
            <a:ext cx="5504705" cy="12287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r>
              <a:rPr lang="zh-CN" dirty="0" sz="6450" b="1">
                <a:solidFill>
                  <a:srgbClr val="1a1a1a"/>
                </a:solidFill>
                <a:latin typeface="Zen Kaku Gothic New"/>
                <a:ea typeface="Zen Kaku Gothic New"/>
              </a:rPr>
              <a:t>小さな展示を、</a:t>
            </a:r>
          </a:p>
        </p:txBody>
      </p:sp>
      <p:sp>
        <p:nvSpPr>
          <p:cNvPr id="105" name="T105"/>
          <p:cNvSpPr txBox="1"/>
          <p:nvPr/>
        </p:nvSpPr>
        <p:spPr>
          <a:xfrm>
            <a:off x="742950" y="2377380"/>
            <a:ext cx="3145631" cy="12287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r>
              <a:rPr lang="zh-CN" dirty="0" sz="6450" b="1">
                <a:solidFill>
                  <a:srgbClr val="1a1a1a"/>
                </a:solidFill>
                <a:latin typeface="Zen Kaku Gothic New"/>
                <a:ea typeface="Zen Kaku Gothic New"/>
              </a:rPr>
              <a:t>ひとつの</a:t>
            </a:r>
          </a:p>
        </p:txBody>
      </p:sp>
      <p:sp>
        <p:nvSpPr>
          <p:cNvPr id="106" name="T106"/>
          <p:cNvSpPr txBox="1"/>
          <p:nvPr/>
        </p:nvSpPr>
        <p:spPr>
          <a:xfrm>
            <a:off x="742950" y="3278385"/>
            <a:ext cx="3145631" cy="12287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r>
              <a:rPr lang="zh-CN" dirty="0" sz="6450" b="1">
                <a:solidFill>
                  <a:srgbClr val="1a1a1a"/>
                </a:solidFill>
                <a:latin typeface="Zen Kaku Gothic New"/>
                <a:ea typeface="Zen Kaku Gothic New"/>
              </a:rPr>
              <a:t>体験に。</a:t>
            </a:r>
          </a:p>
        </p:txBody>
      </p:sp>
      <p:sp>
        <p:nvSpPr>
          <p:cNvPr id="107" name="T107"/>
          <p:cNvSpPr txBox="1"/>
          <p:nvPr/>
        </p:nvSpPr>
        <p:spPr>
          <a:xfrm>
            <a:off x="819150" y="4991100"/>
            <a:ext cx="2014686" cy="4286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r>
              <a:rPr lang="zh-CN" dirty="0" sz="2250">
                <a:solidFill>
                  <a:srgbClr val="1a1a1a"/>
                </a:solidFill>
                <a:latin typeface="BIZ UDPMincho"/>
                <a:ea typeface="BIZ UDPMincho"/>
              </a:rPr>
              <a:t>作品だけでなく、</a:t>
            </a:r>
          </a:p>
        </p:txBody>
      </p:sp>
      <p:sp>
        <p:nvSpPr>
          <p:cNvPr id="108" name="T108"/>
          <p:cNvSpPr txBox="1"/>
          <p:nvPr/>
        </p:nvSpPr>
        <p:spPr>
          <a:xfrm>
            <a:off x="819150" y="5434012"/>
            <a:ext cx="2289125" cy="4286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r>
              <a:rPr lang="zh-CN" dirty="0" sz="2250">
                <a:solidFill>
                  <a:srgbClr val="1a1a1a"/>
                </a:solidFill>
                <a:latin typeface="BIZ UDPMincho"/>
                <a:ea typeface="BIZ UDPMincho"/>
              </a:rPr>
              <a:t>出会い方もつくる。</a:t>
            </a:r>
          </a:p>
        </p:txBody>
      </p:sp>
      <p:sp>
        <p:nvSpPr>
          <p:cNvPr id="109" name="L109"/>
          <p:cNvSpPr/>
          <p:nvPr/>
        </p:nvSpPr>
        <p:spPr>
          <a:xfrm>
            <a:off x="762000" y="266700"/>
            <a:ext cx="10668000" cy="9525"/>
          </a:xfrm>
          <a:prstGeom prst="line">
            <a:avLst/>
          </a:prstGeom>
          <a:noFill/>
          <a:ln w="12700">
            <a:solidFill>
              <a:srgbClr val="1a1a1a"/>
            </a:solidFill>
          </a:ln>
        </p:spPr>
      </p:sp>
      <p:sp>
        <p:nvSpPr>
          <p:cNvPr id="110" name="T110"/>
          <p:cNvSpPr txBox="1"/>
          <p:nvPr/>
        </p:nvSpPr>
        <p:spPr>
          <a:xfrm>
            <a:off x="762000" y="400050"/>
            <a:ext cx="2169021" cy="18573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r>
              <a:rPr lang="zh-CN" dirty="0" sz="975" b="1">
                <a:solidFill>
                  <a:srgbClr val="d62828"/>
                </a:solidFill>
                <a:latin typeface="Manrope"/>
                <a:ea typeface="Manrope"/>
              </a:rPr>
              <a:t>EXHIBITION / CONCEPT</a:t>
            </a:r>
          </a:p>
        </p:txBody>
      </p:sp>
      <p:sp>
        <p:nvSpPr>
          <p:cNvPr id="111" name="T111"/>
          <p:cNvSpPr txBox="1"/>
          <p:nvPr/>
        </p:nvSpPr>
        <p:spPr>
          <a:xfrm>
            <a:off x="9585870" y="400050"/>
            <a:ext cx="1844129" cy="18573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r>
              <a:rPr lang="zh-CN" dirty="0" sz="975">
                <a:solidFill>
                  <a:srgbClr val="1a1a1a"/>
                </a:solidFill>
                <a:latin typeface="Manrope"/>
                <a:ea typeface="Manrope"/>
              </a:rPr>
              <a:t>BAUHAUS BLOCK / JA</a:t>
            </a:r>
          </a:p>
        </p:txBody>
      </p:sp>
      <p:sp>
        <p:nvSpPr>
          <p:cNvPr id="112" name="T112"/>
          <p:cNvSpPr txBox="1"/>
          <p:nvPr/>
        </p:nvSpPr>
        <p:spPr>
          <a:xfrm>
            <a:off x="762000" y="6343650"/>
            <a:ext cx="3061245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r>
              <a:rPr lang="zh-CN" dirty="0" sz="1200">
                <a:solidFill>
                  <a:srgbClr val="5a5a5a"/>
                </a:solidFill>
                <a:latin typeface="BIZ UDPMincho"/>
                <a:ea typeface="BIZ UDPMincho"/>
              </a:rPr>
              <a:t>仮想の展示企画 / 日時・会場・参加条件は未定</a:t>
            </a:r>
          </a:p>
        </p:txBody>
      </p:sp>
      <p:sp>
        <p:nvSpPr>
          <p:cNvPr id="113" name="T113"/>
          <p:cNvSpPr txBox="1"/>
          <p:nvPr/>
        </p:nvSpPr>
        <p:spPr>
          <a:xfrm>
            <a:off x="11150649" y="6324600"/>
            <a:ext cx="279350" cy="3714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r>
              <a:rPr lang="zh-CN" dirty="0" sz="1950" b="1">
                <a:solidFill>
                  <a:srgbClr val="1a1a1a"/>
                </a:solidFill>
                <a:latin typeface="Manrope"/>
                <a:ea typeface="Manrope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14" name="R114"/>
          <p:cNvSpPr/>
          <p:nvPr/>
        </p:nvSpPr>
        <p:spPr>
          <a:xfrm>
            <a:off x="857250" y="2724150"/>
            <a:ext cx="2238375" cy="2238375"/>
          </a:xfrm>
          <a:prstGeom prst="rect">
            <a:avLst/>
          </a:prstGeom>
          <a:solidFill>
            <a:srgbClr val="003049"/>
          </a:solidFill>
        </p:spPr>
      </p:sp>
      <p:sp>
        <p:nvSpPr>
          <p:cNvPr id="115" name="C115"/>
          <p:cNvSpPr/>
          <p:nvPr/>
        </p:nvSpPr>
        <p:spPr>
          <a:xfrm>
            <a:off x="4638675" y="2400300"/>
            <a:ext cx="2876550" cy="2876550"/>
          </a:xfrm>
          <a:prstGeom prst="ellipse">
            <a:avLst/>
          </a:prstGeom>
          <a:solidFill>
            <a:srgbClr val="d62828"/>
          </a:solidFill>
        </p:spPr>
      </p:sp>
      <p:sp>
        <p:nvSpPr>
          <p:cNvPr id="116" name="P116"/>
          <p:cNvSpPr/>
          <p:nvPr/>
        </p:nvSpPr>
        <p:spPr>
          <a:xfrm>
            <a:off x="8524875" y="2647950"/>
            <a:ext cx="2667000" cy="2314575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50000" y="0"/>
                </a:move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d60a"/>
          </a:solidFill>
        </p:spPr>
      </p:sp>
      <p:sp>
        <p:nvSpPr>
          <p:cNvPr id="117" name="L117"/>
          <p:cNvSpPr/>
          <p:nvPr/>
        </p:nvSpPr>
        <p:spPr>
          <a:xfrm>
            <a:off x="3095625" y="3838575"/>
            <a:ext cx="1543050" cy="9525"/>
          </a:xfrm>
          <a:prstGeom prst="line">
            <a:avLst/>
          </a:prstGeom>
          <a:noFill/>
          <a:ln w="25400">
            <a:solidFill>
              <a:srgbClr val="1a1a1a"/>
            </a:solidFill>
          </a:ln>
        </p:spPr>
      </p:sp>
      <p:sp>
        <p:nvSpPr>
          <p:cNvPr id="118" name="L118"/>
          <p:cNvSpPr/>
          <p:nvPr/>
        </p:nvSpPr>
        <p:spPr>
          <a:xfrm>
            <a:off x="7515225" y="3838575"/>
            <a:ext cx="1647825" cy="9525"/>
          </a:xfrm>
          <a:prstGeom prst="line">
            <a:avLst/>
          </a:prstGeom>
          <a:noFill/>
          <a:ln w="25400">
            <a:solidFill>
              <a:srgbClr val="1a1a1a"/>
            </a:solidFill>
          </a:ln>
        </p:spPr>
      </p:sp>
      <p:sp>
        <p:nvSpPr>
          <p:cNvPr id="119" name="T119"/>
          <p:cNvSpPr txBox="1"/>
          <p:nvPr/>
        </p:nvSpPr>
        <p:spPr>
          <a:xfrm>
            <a:off x="762000" y="1247775"/>
            <a:ext cx="6894611" cy="8286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r>
              <a:rPr lang="zh-CN" dirty="0" sz="4350" b="1">
                <a:solidFill>
                  <a:srgbClr val="1a1a1a"/>
                </a:solidFill>
                <a:latin typeface="Zen Kaku Gothic New"/>
                <a:ea typeface="Zen Kaku Gothic New"/>
              </a:rPr>
              <a:t>作品・場所・言葉を、つなぐ</a:t>
            </a:r>
          </a:p>
        </p:txBody>
      </p:sp>
      <p:sp>
        <p:nvSpPr>
          <p:cNvPr id="120" name="T120"/>
          <p:cNvSpPr txBox="1"/>
          <p:nvPr/>
        </p:nvSpPr>
        <p:spPr>
          <a:xfrm>
            <a:off x="1371600" y="3533775"/>
            <a:ext cx="819150" cy="61436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r>
              <a:rPr lang="zh-CN" dirty="0" sz="3225">
                <a:solidFill>
                  <a:srgbClr val="f4f0e8"/>
                </a:solidFill>
                <a:latin typeface="BIZ UDPMincho"/>
                <a:ea typeface="BIZ UDPMincho"/>
              </a:rPr>
              <a:t>場所</a:t>
            </a:r>
          </a:p>
        </p:txBody>
      </p:sp>
      <p:sp>
        <p:nvSpPr>
          <p:cNvPr id="121" name="T121"/>
          <p:cNvSpPr txBox="1"/>
          <p:nvPr/>
        </p:nvSpPr>
        <p:spPr>
          <a:xfrm>
            <a:off x="5629275" y="3543300"/>
            <a:ext cx="819150" cy="61436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r>
              <a:rPr lang="zh-CN" dirty="0" sz="3225">
                <a:solidFill>
                  <a:srgbClr val="f4f0e8"/>
                </a:solidFill>
                <a:latin typeface="BIZ UDPMincho"/>
                <a:ea typeface="BIZ UDPMincho"/>
              </a:rPr>
              <a:t>作品</a:t>
            </a:r>
          </a:p>
        </p:txBody>
      </p:sp>
      <p:sp>
        <p:nvSpPr>
          <p:cNvPr id="122" name="T122"/>
          <p:cNvSpPr txBox="1"/>
          <p:nvPr/>
        </p:nvSpPr>
        <p:spPr>
          <a:xfrm>
            <a:off x="9401175" y="3819525"/>
            <a:ext cx="819150" cy="61436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r>
              <a:rPr lang="zh-CN" dirty="0" sz="3225">
                <a:solidFill>
                  <a:srgbClr val="1a1a1a"/>
                </a:solidFill>
                <a:latin typeface="BIZ UDPMincho"/>
                <a:ea typeface="BIZ UDPMincho"/>
              </a:rPr>
              <a:t>言葉</a:t>
            </a:r>
          </a:p>
        </p:txBody>
      </p:sp>
      <p:sp>
        <p:nvSpPr>
          <p:cNvPr id="123" name="T123"/>
          <p:cNvSpPr txBox="1"/>
          <p:nvPr/>
        </p:nvSpPr>
        <p:spPr>
          <a:xfrm>
            <a:off x="809625" y="5638800"/>
            <a:ext cx="4866382" cy="4429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r>
              <a:rPr lang="zh-CN" dirty="0" sz="2325">
                <a:solidFill>
                  <a:srgbClr val="1a1a1a"/>
                </a:solidFill>
                <a:latin typeface="BIZ UDPMincho"/>
                <a:ea typeface="BIZ UDPMincho"/>
              </a:rPr>
              <a:t>配置と案内が、作品との距離を決める。</a:t>
            </a:r>
          </a:p>
        </p:txBody>
      </p:sp>
      <p:sp>
        <p:nvSpPr>
          <p:cNvPr id="124" name="L124"/>
          <p:cNvSpPr/>
          <p:nvPr/>
        </p:nvSpPr>
        <p:spPr>
          <a:xfrm>
            <a:off x="762000" y="266700"/>
            <a:ext cx="10668000" cy="9525"/>
          </a:xfrm>
          <a:prstGeom prst="line">
            <a:avLst/>
          </a:prstGeom>
          <a:noFill/>
          <a:ln w="12700">
            <a:solidFill>
              <a:srgbClr val="1a1a1a"/>
            </a:solidFill>
          </a:ln>
        </p:spPr>
      </p:sp>
      <p:sp>
        <p:nvSpPr>
          <p:cNvPr id="125" name="T125"/>
          <p:cNvSpPr txBox="1"/>
          <p:nvPr/>
        </p:nvSpPr>
        <p:spPr>
          <a:xfrm>
            <a:off x="762000" y="400050"/>
            <a:ext cx="2169021" cy="18573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r>
              <a:rPr lang="zh-CN" dirty="0" sz="975" b="1">
                <a:solidFill>
                  <a:srgbClr val="d62828"/>
                </a:solidFill>
                <a:latin typeface="Manrope"/>
                <a:ea typeface="Manrope"/>
              </a:rPr>
              <a:t>EXHIBITION / CONCEPT</a:t>
            </a:r>
          </a:p>
        </p:txBody>
      </p:sp>
      <p:sp>
        <p:nvSpPr>
          <p:cNvPr id="126" name="T126"/>
          <p:cNvSpPr txBox="1"/>
          <p:nvPr/>
        </p:nvSpPr>
        <p:spPr>
          <a:xfrm>
            <a:off x="9585870" y="400050"/>
            <a:ext cx="1844129" cy="18573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r>
              <a:rPr lang="zh-CN" dirty="0" sz="975">
                <a:solidFill>
                  <a:srgbClr val="1a1a1a"/>
                </a:solidFill>
                <a:latin typeface="Manrope"/>
                <a:ea typeface="Manrope"/>
              </a:rPr>
              <a:t>BAUHAUS BLOCK / JA</a:t>
            </a:r>
          </a:p>
        </p:txBody>
      </p:sp>
      <p:sp>
        <p:nvSpPr>
          <p:cNvPr id="127" name="T127"/>
          <p:cNvSpPr txBox="1"/>
          <p:nvPr/>
        </p:nvSpPr>
        <p:spPr>
          <a:xfrm>
            <a:off x="762000" y="6343650"/>
            <a:ext cx="3061245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r>
              <a:rPr lang="zh-CN" dirty="0" sz="1200">
                <a:solidFill>
                  <a:srgbClr val="5a5a5a"/>
                </a:solidFill>
                <a:latin typeface="BIZ UDPMincho"/>
                <a:ea typeface="BIZ UDPMincho"/>
              </a:rPr>
              <a:t>仮想の展示企画 / 日時・会場・参加条件は未定</a:t>
            </a:r>
          </a:p>
        </p:txBody>
      </p:sp>
      <p:sp>
        <p:nvSpPr>
          <p:cNvPr id="128" name="T128"/>
          <p:cNvSpPr txBox="1"/>
          <p:nvPr/>
        </p:nvSpPr>
        <p:spPr>
          <a:xfrm>
            <a:off x="11113442" y="6324600"/>
            <a:ext cx="316557" cy="3714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r>
              <a:rPr lang="zh-CN" dirty="0" sz="1950" b="1">
                <a:solidFill>
                  <a:srgbClr val="1a1a1a"/>
                </a:solidFill>
                <a:latin typeface="Manrope"/>
                <a:ea typeface="Manrope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29" name="C129"/>
          <p:cNvSpPr/>
          <p:nvPr/>
        </p:nvSpPr>
        <p:spPr>
          <a:xfrm>
            <a:off x="1009650" y="2486025"/>
            <a:ext cx="1257300" cy="1257300"/>
          </a:xfrm>
          <a:prstGeom prst="ellipse">
            <a:avLst/>
          </a:prstGeom>
          <a:solidFill>
            <a:srgbClr val="d62828"/>
          </a:solidFill>
        </p:spPr>
      </p:sp>
      <p:sp>
        <p:nvSpPr>
          <p:cNvPr id="130" name="R130"/>
          <p:cNvSpPr/>
          <p:nvPr/>
        </p:nvSpPr>
        <p:spPr>
          <a:xfrm>
            <a:off x="3943350" y="2486025"/>
            <a:ext cx="1257300" cy="1257300"/>
          </a:xfrm>
          <a:prstGeom prst="rect">
            <a:avLst/>
          </a:prstGeom>
          <a:solidFill>
            <a:srgbClr val="003049"/>
          </a:solidFill>
        </p:spPr>
      </p:sp>
      <p:sp>
        <p:nvSpPr>
          <p:cNvPr id="131" name="C131"/>
          <p:cNvSpPr/>
          <p:nvPr/>
        </p:nvSpPr>
        <p:spPr>
          <a:xfrm>
            <a:off x="6877050" y="2486025"/>
            <a:ext cx="1257300" cy="1257300"/>
          </a:xfrm>
          <a:prstGeom prst="ellipse">
            <a:avLst/>
          </a:prstGeom>
          <a:solidFill>
            <a:srgbClr val="d62828"/>
          </a:solidFill>
        </p:spPr>
      </p:sp>
      <p:sp>
        <p:nvSpPr>
          <p:cNvPr id="132" name="P132"/>
          <p:cNvSpPr/>
          <p:nvPr/>
        </p:nvSpPr>
        <p:spPr>
          <a:xfrm>
            <a:off x="9553575" y="2390775"/>
            <a:ext cx="1676400" cy="1438275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50000" y="0"/>
                </a:move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d60a"/>
          </a:solidFill>
        </p:spPr>
      </p:sp>
      <p:sp>
        <p:nvSpPr>
          <p:cNvPr id="133" name="L133"/>
          <p:cNvSpPr/>
          <p:nvPr/>
        </p:nvSpPr>
        <p:spPr>
          <a:xfrm>
            <a:off x="2266950" y="3114675"/>
            <a:ext cx="1524000" cy="9525"/>
          </a:xfrm>
          <a:prstGeom prst="line">
            <a:avLst/>
          </a:prstGeom>
          <a:noFill/>
          <a:ln w="25400">
            <a:solidFill>
              <a:srgbClr val="1a1a1a"/>
            </a:solidFill>
          </a:ln>
        </p:spPr>
      </p:sp>
      <p:sp>
        <p:nvSpPr>
          <p:cNvPr id="134" name="P134"/>
          <p:cNvSpPr/>
          <p:nvPr/>
        </p:nvSpPr>
        <p:spPr>
          <a:xfrm>
            <a:off x="3695700" y="3000375"/>
            <a:ext cx="209550" cy="228600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5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1a1a1a"/>
          </a:solidFill>
        </p:spPr>
      </p:sp>
      <p:sp>
        <p:nvSpPr>
          <p:cNvPr id="135" name="L135"/>
          <p:cNvSpPr/>
          <p:nvPr/>
        </p:nvSpPr>
        <p:spPr>
          <a:xfrm>
            <a:off x="5200650" y="3114675"/>
            <a:ext cx="1524000" cy="9525"/>
          </a:xfrm>
          <a:prstGeom prst="line">
            <a:avLst/>
          </a:prstGeom>
          <a:noFill/>
          <a:ln w="25400">
            <a:solidFill>
              <a:srgbClr val="1a1a1a"/>
            </a:solidFill>
          </a:ln>
        </p:spPr>
      </p:sp>
      <p:sp>
        <p:nvSpPr>
          <p:cNvPr id="136" name="P136"/>
          <p:cNvSpPr/>
          <p:nvPr/>
        </p:nvSpPr>
        <p:spPr>
          <a:xfrm>
            <a:off x="6629400" y="3000375"/>
            <a:ext cx="209550" cy="228600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5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1a1a1a"/>
          </a:solidFill>
        </p:spPr>
      </p:sp>
      <p:sp>
        <p:nvSpPr>
          <p:cNvPr id="137" name="L137"/>
          <p:cNvSpPr/>
          <p:nvPr/>
        </p:nvSpPr>
        <p:spPr>
          <a:xfrm>
            <a:off x="8134350" y="3114675"/>
            <a:ext cx="1257300" cy="9525"/>
          </a:xfrm>
          <a:prstGeom prst="line">
            <a:avLst/>
          </a:prstGeom>
          <a:noFill/>
          <a:ln w="25400">
            <a:solidFill>
              <a:srgbClr val="1a1a1a"/>
            </a:solidFill>
          </a:ln>
        </p:spPr>
      </p:sp>
      <p:sp>
        <p:nvSpPr>
          <p:cNvPr id="138" name="P138"/>
          <p:cNvSpPr/>
          <p:nvPr/>
        </p:nvSpPr>
        <p:spPr>
          <a:xfrm>
            <a:off x="9296400" y="3000375"/>
            <a:ext cx="209550" cy="228600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5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1a1a1a"/>
          </a:solidFill>
        </p:spPr>
      </p:sp>
      <p:sp>
        <p:nvSpPr>
          <p:cNvPr id="139" name="T139"/>
          <p:cNvSpPr txBox="1"/>
          <p:nvPr/>
        </p:nvSpPr>
        <p:spPr>
          <a:xfrm>
            <a:off x="762000" y="1238250"/>
            <a:ext cx="6583709" cy="10287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r>
              <a:rPr lang="zh-CN" dirty="0" sz="5400" b="1">
                <a:solidFill>
                  <a:srgbClr val="1a1a1a"/>
                </a:solidFill>
                <a:latin typeface="Zen Kaku Gothic New"/>
                <a:ea typeface="Zen Kaku Gothic New"/>
              </a:rPr>
              <a:t>入口から、余韻まで。</a:t>
            </a:r>
          </a:p>
        </p:txBody>
      </p:sp>
      <p:sp>
        <p:nvSpPr>
          <p:cNvPr id="140" name="T140"/>
          <p:cNvSpPr txBox="1"/>
          <p:nvPr/>
        </p:nvSpPr>
        <p:spPr>
          <a:xfrm>
            <a:off x="704850" y="4171950"/>
            <a:ext cx="386804" cy="50006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r>
              <a:rPr lang="zh-CN" dirty="0" sz="2625" b="1">
                <a:solidFill>
                  <a:srgbClr val="1a1a1a"/>
                </a:solidFill>
                <a:latin typeface="Manrope"/>
                <a:ea typeface="Manrope"/>
              </a:rPr>
              <a:t>01</a:t>
            </a:r>
          </a:p>
        </p:txBody>
      </p:sp>
      <p:sp>
        <p:nvSpPr>
          <p:cNvPr id="141" name="T141"/>
          <p:cNvSpPr txBox="1"/>
          <p:nvPr/>
        </p:nvSpPr>
        <p:spPr>
          <a:xfrm>
            <a:off x="704850" y="4638675"/>
            <a:ext cx="676721" cy="52863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r>
              <a:rPr lang="zh-CN" dirty="0" sz="2775" b="1">
                <a:solidFill>
                  <a:srgbClr val="1a1a1a"/>
                </a:solidFill>
                <a:latin typeface="Zen Kaku Gothic New"/>
                <a:ea typeface="Zen Kaku Gothic New"/>
              </a:rPr>
              <a:t>入口</a:t>
            </a:r>
          </a:p>
        </p:txBody>
      </p:sp>
      <p:sp>
        <p:nvSpPr>
          <p:cNvPr id="142" name="T142"/>
          <p:cNvSpPr txBox="1"/>
          <p:nvPr/>
        </p:nvSpPr>
        <p:spPr>
          <a:xfrm>
            <a:off x="704850" y="5248275"/>
            <a:ext cx="1218455" cy="3429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r>
              <a:rPr lang="zh-CN" dirty="0" sz="1800">
                <a:solidFill>
                  <a:srgbClr val="1a1a1a"/>
                </a:solidFill>
                <a:latin typeface="BIZ UDPMincho"/>
                <a:ea typeface="BIZ UDPMincho"/>
              </a:rPr>
              <a:t>ひとこと案内</a:t>
            </a:r>
          </a:p>
        </p:txBody>
      </p:sp>
      <p:sp>
        <p:nvSpPr>
          <p:cNvPr id="143" name="T143"/>
          <p:cNvSpPr txBox="1"/>
          <p:nvPr/>
        </p:nvSpPr>
        <p:spPr>
          <a:xfrm>
            <a:off x="3638550" y="4171950"/>
            <a:ext cx="386804" cy="50006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r>
              <a:rPr lang="zh-CN" dirty="0" sz="2625" b="1">
                <a:solidFill>
                  <a:srgbClr val="1a1a1a"/>
                </a:solidFill>
                <a:latin typeface="Manrope"/>
                <a:ea typeface="Manrope"/>
              </a:rPr>
              <a:t>02</a:t>
            </a:r>
          </a:p>
        </p:txBody>
      </p:sp>
      <p:sp>
        <p:nvSpPr>
          <p:cNvPr id="144" name="T144"/>
          <p:cNvSpPr txBox="1"/>
          <p:nvPr/>
        </p:nvSpPr>
        <p:spPr>
          <a:xfrm>
            <a:off x="3638550" y="4638675"/>
            <a:ext cx="676721" cy="52863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r>
              <a:rPr lang="zh-CN" dirty="0" sz="2775" b="1">
                <a:solidFill>
                  <a:srgbClr val="1a1a1a"/>
                </a:solidFill>
                <a:latin typeface="Zen Kaku Gothic New"/>
                <a:ea typeface="Zen Kaku Gothic New"/>
              </a:rPr>
              <a:t>見る</a:t>
            </a:r>
          </a:p>
        </p:txBody>
      </p:sp>
      <p:sp>
        <p:nvSpPr>
          <p:cNvPr id="145" name="T145"/>
          <p:cNvSpPr txBox="1"/>
          <p:nvPr/>
        </p:nvSpPr>
        <p:spPr>
          <a:xfrm>
            <a:off x="3638550" y="5248275"/>
            <a:ext cx="1314598" cy="3429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r>
              <a:rPr lang="zh-CN" dirty="0" sz="1800">
                <a:solidFill>
                  <a:srgbClr val="1a1a1a"/>
                </a:solidFill>
                <a:latin typeface="BIZ UDPMincho"/>
                <a:ea typeface="BIZ UDPMincho"/>
              </a:rPr>
              <a:t>作品を比べる</a:t>
            </a:r>
          </a:p>
        </p:txBody>
      </p:sp>
      <p:sp>
        <p:nvSpPr>
          <p:cNvPr id="146" name="T146"/>
          <p:cNvSpPr txBox="1"/>
          <p:nvPr/>
        </p:nvSpPr>
        <p:spPr>
          <a:xfrm>
            <a:off x="6572250" y="4171950"/>
            <a:ext cx="386804" cy="50006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r>
              <a:rPr lang="zh-CN" dirty="0" sz="2625" b="1">
                <a:solidFill>
                  <a:srgbClr val="1a1a1a"/>
                </a:solidFill>
                <a:latin typeface="Manrope"/>
                <a:ea typeface="Manrope"/>
              </a:rPr>
              <a:t>03</a:t>
            </a:r>
          </a:p>
        </p:txBody>
      </p:sp>
      <p:sp>
        <p:nvSpPr>
          <p:cNvPr id="147" name="T147"/>
          <p:cNvSpPr txBox="1"/>
          <p:nvPr/>
        </p:nvSpPr>
        <p:spPr>
          <a:xfrm>
            <a:off x="6572250" y="4638675"/>
            <a:ext cx="676721" cy="52863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r>
              <a:rPr lang="zh-CN" dirty="0" sz="2775" b="1">
                <a:solidFill>
                  <a:srgbClr val="1a1a1a"/>
                </a:solidFill>
                <a:latin typeface="Zen Kaku Gothic New"/>
                <a:ea typeface="Zen Kaku Gothic New"/>
              </a:rPr>
              <a:t>話す</a:t>
            </a:r>
          </a:p>
        </p:txBody>
      </p:sp>
      <p:sp>
        <p:nvSpPr>
          <p:cNvPr id="148" name="T148"/>
          <p:cNvSpPr txBox="1"/>
          <p:nvPr/>
        </p:nvSpPr>
        <p:spPr>
          <a:xfrm>
            <a:off x="6572250" y="5248275"/>
            <a:ext cx="1506587" cy="3429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r>
              <a:rPr lang="zh-CN" dirty="0" sz="1800">
                <a:solidFill>
                  <a:srgbClr val="1a1a1a"/>
                </a:solidFill>
                <a:latin typeface="BIZ UDPMincho"/>
                <a:ea typeface="BIZ UDPMincho"/>
              </a:rPr>
              <a:t>短い問いを置く</a:t>
            </a:r>
          </a:p>
        </p:txBody>
      </p:sp>
      <p:sp>
        <p:nvSpPr>
          <p:cNvPr id="149" name="T149"/>
          <p:cNvSpPr txBox="1"/>
          <p:nvPr/>
        </p:nvSpPr>
        <p:spPr>
          <a:xfrm>
            <a:off x="9505950" y="4171950"/>
            <a:ext cx="386804" cy="50006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r>
              <a:rPr lang="zh-CN" dirty="0" sz="2625" b="1">
                <a:solidFill>
                  <a:srgbClr val="1a1a1a"/>
                </a:solidFill>
                <a:latin typeface="Manrope"/>
                <a:ea typeface="Manrope"/>
              </a:rPr>
              <a:t>04</a:t>
            </a:r>
          </a:p>
        </p:txBody>
      </p:sp>
      <p:sp>
        <p:nvSpPr>
          <p:cNvPr id="150" name="T150"/>
          <p:cNvSpPr txBox="1"/>
          <p:nvPr/>
        </p:nvSpPr>
        <p:spPr>
          <a:xfrm>
            <a:off x="9505950" y="4638675"/>
            <a:ext cx="1353442" cy="52863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r>
              <a:rPr lang="zh-CN" dirty="0" sz="2775" b="1">
                <a:solidFill>
                  <a:srgbClr val="1a1a1a"/>
                </a:solidFill>
                <a:latin typeface="Zen Kaku Gothic New"/>
                <a:ea typeface="Zen Kaku Gothic New"/>
              </a:rPr>
              <a:t>持ち帰る</a:t>
            </a:r>
          </a:p>
        </p:txBody>
      </p:sp>
      <p:sp>
        <p:nvSpPr>
          <p:cNvPr id="151" name="T151"/>
          <p:cNvSpPr txBox="1"/>
          <p:nvPr/>
        </p:nvSpPr>
        <p:spPr>
          <a:xfrm>
            <a:off x="9505950" y="5248275"/>
            <a:ext cx="1746646" cy="3429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r>
              <a:rPr lang="zh-CN" dirty="0" sz="1800">
                <a:solidFill>
                  <a:srgbClr val="1a1a1a"/>
                </a:solidFill>
                <a:latin typeface="BIZ UDPMincho"/>
                <a:ea typeface="BIZ UDPMincho"/>
              </a:rPr>
              <a:t>次の一歩を添える</a:t>
            </a:r>
          </a:p>
        </p:txBody>
      </p:sp>
      <p:sp>
        <p:nvSpPr>
          <p:cNvPr id="152" name="L152"/>
          <p:cNvSpPr/>
          <p:nvPr/>
        </p:nvSpPr>
        <p:spPr>
          <a:xfrm>
            <a:off x="762000" y="266700"/>
            <a:ext cx="10668000" cy="9525"/>
          </a:xfrm>
          <a:prstGeom prst="line">
            <a:avLst/>
          </a:prstGeom>
          <a:noFill/>
          <a:ln w="12700">
            <a:solidFill>
              <a:srgbClr val="1a1a1a"/>
            </a:solidFill>
          </a:ln>
        </p:spPr>
      </p:sp>
      <p:sp>
        <p:nvSpPr>
          <p:cNvPr id="153" name="T153"/>
          <p:cNvSpPr txBox="1"/>
          <p:nvPr/>
        </p:nvSpPr>
        <p:spPr>
          <a:xfrm>
            <a:off x="762000" y="400050"/>
            <a:ext cx="2169021" cy="18573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r>
              <a:rPr lang="zh-CN" dirty="0" sz="975" b="1">
                <a:solidFill>
                  <a:srgbClr val="d62828"/>
                </a:solidFill>
                <a:latin typeface="Manrope"/>
                <a:ea typeface="Manrope"/>
              </a:rPr>
              <a:t>EXHIBITION / CONCEPT</a:t>
            </a:r>
          </a:p>
        </p:txBody>
      </p:sp>
      <p:sp>
        <p:nvSpPr>
          <p:cNvPr id="154" name="T154"/>
          <p:cNvSpPr txBox="1"/>
          <p:nvPr/>
        </p:nvSpPr>
        <p:spPr>
          <a:xfrm>
            <a:off x="9585870" y="400050"/>
            <a:ext cx="1844129" cy="18573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r>
              <a:rPr lang="zh-CN" dirty="0" sz="975">
                <a:solidFill>
                  <a:srgbClr val="1a1a1a"/>
                </a:solidFill>
                <a:latin typeface="Manrope"/>
                <a:ea typeface="Manrope"/>
              </a:rPr>
              <a:t>BAUHAUS BLOCK / JA</a:t>
            </a:r>
          </a:p>
        </p:txBody>
      </p:sp>
      <p:sp>
        <p:nvSpPr>
          <p:cNvPr id="155" name="T155"/>
          <p:cNvSpPr txBox="1"/>
          <p:nvPr/>
        </p:nvSpPr>
        <p:spPr>
          <a:xfrm>
            <a:off x="762000" y="6343650"/>
            <a:ext cx="3061245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r>
              <a:rPr lang="zh-CN" dirty="0" sz="1200">
                <a:solidFill>
                  <a:srgbClr val="5a5a5a"/>
                </a:solidFill>
                <a:latin typeface="BIZ UDPMincho"/>
                <a:ea typeface="BIZ UDPMincho"/>
              </a:rPr>
              <a:t>仮想の展示企画 / 日時・会場・参加条件は未定</a:t>
            </a:r>
          </a:p>
        </p:txBody>
      </p:sp>
      <p:sp>
        <p:nvSpPr>
          <p:cNvPr id="156" name="T156"/>
          <p:cNvSpPr txBox="1"/>
          <p:nvPr/>
        </p:nvSpPr>
        <p:spPr>
          <a:xfrm>
            <a:off x="11116716" y="6324600"/>
            <a:ext cx="313283" cy="3714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r>
              <a:rPr lang="zh-CN" dirty="0" sz="1950" b="1">
                <a:solidFill>
                  <a:srgbClr val="1a1a1a"/>
                </a:solidFill>
                <a:latin typeface="Manrope"/>
                <a:ea typeface="Manrope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57" name="L157"/>
          <p:cNvSpPr/>
          <p:nvPr/>
        </p:nvSpPr>
        <p:spPr>
          <a:xfrm>
            <a:off x="2828925" y="2495550"/>
            <a:ext cx="9525" cy="3143250"/>
          </a:xfrm>
          <a:prstGeom prst="line">
            <a:avLst/>
          </a:prstGeom>
          <a:noFill/>
          <a:ln w="25400">
            <a:solidFill>
              <a:srgbClr val="1a1a1a"/>
            </a:solidFill>
          </a:ln>
        </p:spPr>
      </p:sp>
      <p:sp>
        <p:nvSpPr>
          <p:cNvPr id="158" name="T158"/>
          <p:cNvSpPr txBox="1"/>
          <p:nvPr/>
        </p:nvSpPr>
        <p:spPr>
          <a:xfrm>
            <a:off x="762000" y="1209675"/>
            <a:ext cx="7132439" cy="92868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r>
              <a:rPr lang="zh-CN" dirty="0" sz="4875" b="1">
                <a:solidFill>
                  <a:srgbClr val="1a1a1a"/>
                </a:solidFill>
                <a:latin typeface="Zen Kaku Gothic New"/>
                <a:ea typeface="Zen Kaku Gothic New"/>
              </a:rPr>
              <a:t>準備は、四つの区切りで。</a:t>
            </a:r>
          </a:p>
        </p:txBody>
      </p:sp>
      <p:sp>
        <p:nvSpPr>
          <p:cNvPr id="159" name="R159"/>
          <p:cNvSpPr/>
          <p:nvPr/>
        </p:nvSpPr>
        <p:spPr>
          <a:xfrm>
            <a:off x="2724150" y="2438400"/>
            <a:ext cx="219075" cy="219075"/>
          </a:xfrm>
          <a:prstGeom prst="rect">
            <a:avLst/>
          </a:prstGeom>
          <a:solidFill>
            <a:srgbClr val="d62828"/>
          </a:solidFill>
        </p:spPr>
      </p:sp>
      <p:sp>
        <p:nvSpPr>
          <p:cNvPr id="160" name="T160"/>
          <p:cNvSpPr txBox="1"/>
          <p:nvPr/>
        </p:nvSpPr>
        <p:spPr>
          <a:xfrm>
            <a:off x="742950" y="2419350"/>
            <a:ext cx="854719" cy="6715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r>
              <a:rPr lang="zh-CN" dirty="0" sz="3525" b="1">
                <a:solidFill>
                  <a:srgbClr val="1a1a1a"/>
                </a:solidFill>
                <a:latin typeface="Manrope"/>
                <a:ea typeface="Manrope"/>
              </a:rPr>
              <a:t>-4W</a:t>
            </a:r>
          </a:p>
        </p:txBody>
      </p:sp>
      <p:sp>
        <p:nvSpPr>
          <p:cNvPr id="161" name="T161"/>
          <p:cNvSpPr txBox="1"/>
          <p:nvPr/>
        </p:nvSpPr>
        <p:spPr>
          <a:xfrm>
            <a:off x="3400425" y="2343150"/>
            <a:ext cx="1920329" cy="50006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r>
              <a:rPr lang="zh-CN" dirty="0" sz="2625" b="1">
                <a:solidFill>
                  <a:srgbClr val="1a1a1a"/>
                </a:solidFill>
                <a:latin typeface="Zen Kaku Gothic New"/>
                <a:ea typeface="Zen Kaku Gothic New"/>
              </a:rPr>
              <a:t>作品とテーマ</a:t>
            </a:r>
          </a:p>
        </p:txBody>
      </p:sp>
      <p:sp>
        <p:nvSpPr>
          <p:cNvPr id="162" name="T162"/>
          <p:cNvSpPr txBox="1"/>
          <p:nvPr/>
        </p:nvSpPr>
        <p:spPr>
          <a:xfrm>
            <a:off x="3400425" y="2762250"/>
            <a:ext cx="2784574" cy="3429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r>
              <a:rPr lang="zh-CN" dirty="0" sz="1800">
                <a:solidFill>
                  <a:srgbClr val="1a1a1a"/>
                </a:solidFill>
                <a:latin typeface="BIZ UDPMincho"/>
                <a:ea typeface="BIZ UDPMincho"/>
              </a:rPr>
              <a:t>展示する理由をひとつに絞る</a:t>
            </a:r>
          </a:p>
        </p:txBody>
      </p:sp>
      <p:sp>
        <p:nvSpPr>
          <p:cNvPr id="163" name="R163"/>
          <p:cNvSpPr/>
          <p:nvPr/>
        </p:nvSpPr>
        <p:spPr>
          <a:xfrm>
            <a:off x="2724150" y="3314700"/>
            <a:ext cx="219075" cy="219075"/>
          </a:xfrm>
          <a:prstGeom prst="rect">
            <a:avLst/>
          </a:prstGeom>
          <a:solidFill>
            <a:srgbClr val="003049"/>
          </a:solidFill>
        </p:spPr>
      </p:sp>
      <p:sp>
        <p:nvSpPr>
          <p:cNvPr id="164" name="T164"/>
          <p:cNvSpPr txBox="1"/>
          <p:nvPr/>
        </p:nvSpPr>
        <p:spPr>
          <a:xfrm>
            <a:off x="742950" y="3295650"/>
            <a:ext cx="854719" cy="6715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r>
              <a:rPr lang="zh-CN" dirty="0" sz="3525" b="1">
                <a:solidFill>
                  <a:srgbClr val="1a1a1a"/>
                </a:solidFill>
                <a:latin typeface="Manrope"/>
                <a:ea typeface="Manrope"/>
              </a:rPr>
              <a:t>-3W</a:t>
            </a:r>
          </a:p>
        </p:txBody>
      </p:sp>
      <p:sp>
        <p:nvSpPr>
          <p:cNvPr id="165" name="T165"/>
          <p:cNvSpPr txBox="1"/>
          <p:nvPr/>
        </p:nvSpPr>
        <p:spPr>
          <a:xfrm>
            <a:off x="3400425" y="3219450"/>
            <a:ext cx="1920329" cy="50006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r>
              <a:rPr lang="zh-CN" dirty="0" sz="2625" b="1">
                <a:solidFill>
                  <a:srgbClr val="1a1a1a"/>
                </a:solidFill>
                <a:latin typeface="Zen Kaku Gothic New"/>
                <a:ea typeface="Zen Kaku Gothic New"/>
              </a:rPr>
              <a:t>配置とことば</a:t>
            </a:r>
          </a:p>
        </p:txBody>
      </p:sp>
      <p:sp>
        <p:nvSpPr>
          <p:cNvPr id="166" name="T166"/>
          <p:cNvSpPr txBox="1"/>
          <p:nvPr/>
        </p:nvSpPr>
        <p:spPr>
          <a:xfrm>
            <a:off x="3400425" y="3638550"/>
            <a:ext cx="2828032" cy="3429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r>
              <a:rPr lang="zh-CN" dirty="0" sz="1800">
                <a:solidFill>
                  <a:srgbClr val="1a1a1a"/>
                </a:solidFill>
                <a:latin typeface="BIZ UDPMincho"/>
                <a:ea typeface="BIZ UDPMincho"/>
              </a:rPr>
              <a:t>見せる順番と案内を合わせる</a:t>
            </a:r>
          </a:p>
        </p:txBody>
      </p:sp>
      <p:sp>
        <p:nvSpPr>
          <p:cNvPr id="167" name="R167"/>
          <p:cNvSpPr/>
          <p:nvPr/>
        </p:nvSpPr>
        <p:spPr>
          <a:xfrm>
            <a:off x="2724150" y="4191000"/>
            <a:ext cx="219075" cy="219075"/>
          </a:xfrm>
          <a:prstGeom prst="rect">
            <a:avLst/>
          </a:prstGeom>
          <a:solidFill>
            <a:srgbClr val="d62828"/>
          </a:solidFill>
        </p:spPr>
      </p:sp>
      <p:sp>
        <p:nvSpPr>
          <p:cNvPr id="168" name="T168"/>
          <p:cNvSpPr txBox="1"/>
          <p:nvPr/>
        </p:nvSpPr>
        <p:spPr>
          <a:xfrm>
            <a:off x="742950" y="4171950"/>
            <a:ext cx="854719" cy="6715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r>
              <a:rPr lang="zh-CN" dirty="0" sz="3525" b="1">
                <a:solidFill>
                  <a:srgbClr val="1a1a1a"/>
                </a:solidFill>
                <a:latin typeface="Manrope"/>
                <a:ea typeface="Manrope"/>
              </a:rPr>
              <a:t>-1W</a:t>
            </a:r>
          </a:p>
        </p:txBody>
      </p:sp>
      <p:sp>
        <p:nvSpPr>
          <p:cNvPr id="169" name="T169"/>
          <p:cNvSpPr txBox="1"/>
          <p:nvPr/>
        </p:nvSpPr>
        <p:spPr>
          <a:xfrm>
            <a:off x="3400425" y="4095750"/>
            <a:ext cx="1600348" cy="50006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r>
              <a:rPr lang="zh-CN" dirty="0" sz="2625" b="1">
                <a:solidFill>
                  <a:srgbClr val="1a1a1a"/>
                </a:solidFill>
                <a:latin typeface="Zen Kaku Gothic New"/>
                <a:ea typeface="Zen Kaku Gothic New"/>
              </a:rPr>
              <a:t>実物で通す</a:t>
            </a:r>
          </a:p>
        </p:txBody>
      </p:sp>
      <p:sp>
        <p:nvSpPr>
          <p:cNvPr id="170" name="T170"/>
          <p:cNvSpPr txBox="1"/>
          <p:nvPr/>
        </p:nvSpPr>
        <p:spPr>
          <a:xfrm>
            <a:off x="3400425" y="4514850"/>
            <a:ext cx="2860030" cy="3429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r>
              <a:rPr lang="zh-CN" dirty="0" sz="1800">
                <a:solidFill>
                  <a:srgbClr val="1a1a1a"/>
                </a:solidFill>
                <a:latin typeface="BIZ UDPMincho"/>
                <a:ea typeface="BIZ UDPMincho"/>
              </a:rPr>
              <a:t>作品・照明・導線を並べて歩く</a:t>
            </a:r>
          </a:p>
        </p:txBody>
      </p:sp>
      <p:sp>
        <p:nvSpPr>
          <p:cNvPr id="171" name="R171"/>
          <p:cNvSpPr/>
          <p:nvPr/>
        </p:nvSpPr>
        <p:spPr>
          <a:xfrm>
            <a:off x="2724150" y="5067300"/>
            <a:ext cx="219075" cy="219075"/>
          </a:xfrm>
          <a:prstGeom prst="rect">
            <a:avLst/>
          </a:prstGeom>
          <a:solidFill>
            <a:srgbClr val="ffd60a"/>
          </a:solidFill>
        </p:spPr>
      </p:sp>
      <p:sp>
        <p:nvSpPr>
          <p:cNvPr id="172" name="T172"/>
          <p:cNvSpPr txBox="1"/>
          <p:nvPr/>
        </p:nvSpPr>
        <p:spPr>
          <a:xfrm>
            <a:off x="742950" y="5048250"/>
            <a:ext cx="1129605" cy="6715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r>
              <a:rPr lang="zh-CN" dirty="0" sz="3525" b="1">
                <a:solidFill>
                  <a:srgbClr val="1a1a1a"/>
                </a:solidFill>
                <a:latin typeface="Manrope"/>
                <a:ea typeface="Manrope"/>
              </a:rPr>
              <a:t>DAY 0</a:t>
            </a:r>
          </a:p>
        </p:txBody>
      </p:sp>
      <p:sp>
        <p:nvSpPr>
          <p:cNvPr id="173" name="T173"/>
          <p:cNvSpPr txBox="1"/>
          <p:nvPr/>
        </p:nvSpPr>
        <p:spPr>
          <a:xfrm>
            <a:off x="3400425" y="4972050"/>
            <a:ext cx="1600348" cy="50006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r>
              <a:rPr lang="zh-CN" dirty="0" sz="2625" b="1">
                <a:solidFill>
                  <a:srgbClr val="1a1a1a"/>
                </a:solidFill>
                <a:latin typeface="Zen Kaku Gothic New"/>
                <a:ea typeface="Zen Kaku Gothic New"/>
              </a:rPr>
              <a:t>小さく開く</a:t>
            </a:r>
          </a:p>
        </p:txBody>
      </p:sp>
      <p:sp>
        <p:nvSpPr>
          <p:cNvPr id="174" name="T174"/>
          <p:cNvSpPr txBox="1"/>
          <p:nvPr/>
        </p:nvSpPr>
        <p:spPr>
          <a:xfrm>
            <a:off x="3400425" y="5391150"/>
            <a:ext cx="2800350" cy="3429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r>
              <a:rPr lang="zh-CN" dirty="0" sz="1800">
                <a:solidFill>
                  <a:srgbClr val="1a1a1a"/>
                </a:solidFill>
                <a:latin typeface="BIZ UDPMincho"/>
                <a:ea typeface="BIZ UDPMincho"/>
              </a:rPr>
              <a:t>反応を聞き、次の展示へ残す</a:t>
            </a:r>
          </a:p>
        </p:txBody>
      </p:sp>
      <p:sp>
        <p:nvSpPr>
          <p:cNvPr id="175" name="T175"/>
          <p:cNvSpPr txBox="1"/>
          <p:nvPr/>
        </p:nvSpPr>
        <p:spPr>
          <a:xfrm>
            <a:off x="762000" y="5886450"/>
            <a:ext cx="3491210" cy="3143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r>
              <a:rPr lang="zh-CN" dirty="0" sz="1650">
                <a:solidFill>
                  <a:srgbClr val="1a1a1a"/>
                </a:solidFill>
                <a:latin typeface="BIZ UDPMincho"/>
                <a:ea typeface="BIZ UDPMincho"/>
              </a:rPr>
              <a:t>開場日から逆算した、相対的な準備案。</a:t>
            </a:r>
          </a:p>
        </p:txBody>
      </p:sp>
      <p:sp>
        <p:nvSpPr>
          <p:cNvPr id="176" name="L176"/>
          <p:cNvSpPr/>
          <p:nvPr/>
        </p:nvSpPr>
        <p:spPr>
          <a:xfrm>
            <a:off x="762000" y="266700"/>
            <a:ext cx="10668000" cy="9525"/>
          </a:xfrm>
          <a:prstGeom prst="line">
            <a:avLst/>
          </a:prstGeom>
          <a:noFill/>
          <a:ln w="12700">
            <a:solidFill>
              <a:srgbClr val="1a1a1a"/>
            </a:solidFill>
          </a:ln>
        </p:spPr>
      </p:sp>
      <p:sp>
        <p:nvSpPr>
          <p:cNvPr id="177" name="T177"/>
          <p:cNvSpPr txBox="1"/>
          <p:nvPr/>
        </p:nvSpPr>
        <p:spPr>
          <a:xfrm>
            <a:off x="762000" y="400050"/>
            <a:ext cx="2169021" cy="18573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r>
              <a:rPr lang="zh-CN" dirty="0" sz="975" b="1">
                <a:solidFill>
                  <a:srgbClr val="d62828"/>
                </a:solidFill>
                <a:latin typeface="Manrope"/>
                <a:ea typeface="Manrope"/>
              </a:rPr>
              <a:t>EXHIBITION / CONCEPT</a:t>
            </a:r>
          </a:p>
        </p:txBody>
      </p:sp>
      <p:sp>
        <p:nvSpPr>
          <p:cNvPr id="178" name="T178"/>
          <p:cNvSpPr txBox="1"/>
          <p:nvPr/>
        </p:nvSpPr>
        <p:spPr>
          <a:xfrm>
            <a:off x="9585870" y="400050"/>
            <a:ext cx="1844129" cy="18573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r>
              <a:rPr lang="zh-CN" dirty="0" sz="975">
                <a:solidFill>
                  <a:srgbClr val="1a1a1a"/>
                </a:solidFill>
                <a:latin typeface="Manrope"/>
                <a:ea typeface="Manrope"/>
              </a:rPr>
              <a:t>BAUHAUS BLOCK / JA</a:t>
            </a:r>
          </a:p>
        </p:txBody>
      </p:sp>
      <p:sp>
        <p:nvSpPr>
          <p:cNvPr id="179" name="T179"/>
          <p:cNvSpPr txBox="1"/>
          <p:nvPr/>
        </p:nvSpPr>
        <p:spPr>
          <a:xfrm>
            <a:off x="762000" y="6343650"/>
            <a:ext cx="3061245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r>
              <a:rPr lang="zh-CN" dirty="0" sz="1200">
                <a:solidFill>
                  <a:srgbClr val="5a5a5a"/>
                </a:solidFill>
                <a:latin typeface="BIZ UDPMincho"/>
                <a:ea typeface="BIZ UDPMincho"/>
              </a:rPr>
              <a:t>仮想の展示企画 / 日時・会場・参加条件は未定</a:t>
            </a:r>
          </a:p>
        </p:txBody>
      </p:sp>
      <p:sp>
        <p:nvSpPr>
          <p:cNvPr id="180" name="T180"/>
          <p:cNvSpPr txBox="1"/>
          <p:nvPr/>
        </p:nvSpPr>
        <p:spPr>
          <a:xfrm>
            <a:off x="11110763" y="6324600"/>
            <a:ext cx="319236" cy="3714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r>
              <a:rPr lang="zh-CN" dirty="0" sz="1950" b="1">
                <a:solidFill>
                  <a:srgbClr val="1a1a1a"/>
                </a:solidFill>
                <a:latin typeface="Manrope"/>
                <a:ea typeface="Manrope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81" name="R181"/>
          <p:cNvSpPr/>
          <p:nvPr/>
        </p:nvSpPr>
        <p:spPr>
          <a:xfrm>
            <a:off x="8382000" y="1800225"/>
            <a:ext cx="2847975" cy="2847975"/>
          </a:xfrm>
          <a:prstGeom prst="rect">
            <a:avLst/>
          </a:prstGeom>
          <a:solidFill>
            <a:srgbClr val="ffd60a"/>
          </a:solidFill>
        </p:spPr>
      </p:sp>
      <p:sp>
        <p:nvSpPr>
          <p:cNvPr id="182" name="C182"/>
          <p:cNvSpPr/>
          <p:nvPr/>
        </p:nvSpPr>
        <p:spPr>
          <a:xfrm>
            <a:off x="8305800" y="3762375"/>
            <a:ext cx="1847850" cy="1847850"/>
          </a:xfrm>
          <a:prstGeom prst="ellipse">
            <a:avLst/>
          </a:prstGeom>
          <a:solidFill>
            <a:srgbClr val="d62828"/>
          </a:solidFill>
        </p:spPr>
      </p:sp>
      <p:sp>
        <p:nvSpPr>
          <p:cNvPr id="183" name="R183"/>
          <p:cNvSpPr/>
          <p:nvPr/>
        </p:nvSpPr>
        <p:spPr>
          <a:xfrm>
            <a:off x="10382250" y="3857625"/>
            <a:ext cx="1123950" cy="1762125"/>
          </a:xfrm>
          <a:prstGeom prst="rect">
            <a:avLst/>
          </a:prstGeom>
          <a:solidFill>
            <a:srgbClr val="003049"/>
          </a:solidFill>
        </p:spPr>
      </p:sp>
      <p:sp>
        <p:nvSpPr>
          <p:cNvPr id="184" name="T184"/>
          <p:cNvSpPr txBox="1"/>
          <p:nvPr/>
        </p:nvSpPr>
        <p:spPr>
          <a:xfrm>
            <a:off x="762000" y="1304925"/>
            <a:ext cx="3611909" cy="11287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r>
              <a:rPr lang="zh-CN" dirty="0" sz="5925" b="1">
                <a:solidFill>
                  <a:srgbClr val="1a1a1a"/>
                </a:solidFill>
                <a:latin typeface="Zen Kaku Gothic New"/>
                <a:ea typeface="Zen Kaku Gothic New"/>
              </a:rPr>
              <a:t>開く前に、</a:t>
            </a:r>
          </a:p>
        </p:txBody>
      </p:sp>
      <p:sp>
        <p:nvSpPr>
          <p:cNvPr id="185" name="T185"/>
          <p:cNvSpPr txBox="1"/>
          <p:nvPr/>
        </p:nvSpPr>
        <p:spPr>
          <a:xfrm>
            <a:off x="762000" y="2132558"/>
            <a:ext cx="5056733" cy="11287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r>
              <a:rPr lang="zh-CN" dirty="0" sz="5925" b="1">
                <a:solidFill>
                  <a:srgbClr val="1a1a1a"/>
                </a:solidFill>
                <a:latin typeface="Zen Kaku Gothic New"/>
                <a:ea typeface="Zen Kaku Gothic New"/>
              </a:rPr>
              <a:t>一度だけ歩く。</a:t>
            </a:r>
          </a:p>
        </p:txBody>
      </p:sp>
      <p:sp>
        <p:nvSpPr>
          <p:cNvPr id="186" name="T186"/>
          <p:cNvSpPr txBox="1"/>
          <p:nvPr/>
        </p:nvSpPr>
        <p:spPr>
          <a:xfrm>
            <a:off x="819150" y="3838575"/>
            <a:ext cx="1906637" cy="5143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r>
              <a:rPr lang="zh-CN" dirty="0" sz="2700">
                <a:solidFill>
                  <a:srgbClr val="1a1a1a"/>
                </a:solidFill>
                <a:latin typeface="BIZ UDPMincho"/>
                <a:ea typeface="BIZ UDPMincho"/>
              </a:rPr>
              <a:t>入口の言葉。</a:t>
            </a:r>
          </a:p>
        </p:txBody>
      </p:sp>
      <p:sp>
        <p:nvSpPr>
          <p:cNvPr id="187" name="T187"/>
          <p:cNvSpPr txBox="1"/>
          <p:nvPr/>
        </p:nvSpPr>
        <p:spPr>
          <a:xfrm>
            <a:off x="819150" y="4370040"/>
            <a:ext cx="1532929" cy="5143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r>
              <a:rPr lang="zh-CN" dirty="0" sz="2700">
                <a:solidFill>
                  <a:srgbClr val="1a1a1a"/>
                </a:solidFill>
                <a:latin typeface="BIZ UDPMincho"/>
                <a:ea typeface="BIZ UDPMincho"/>
              </a:rPr>
              <a:t>見る順番。</a:t>
            </a:r>
          </a:p>
        </p:txBody>
      </p:sp>
      <p:sp>
        <p:nvSpPr>
          <p:cNvPr id="188" name="T188"/>
          <p:cNvSpPr txBox="1"/>
          <p:nvPr/>
        </p:nvSpPr>
        <p:spPr>
          <a:xfrm>
            <a:off x="819150" y="4901505"/>
            <a:ext cx="2362646" cy="5143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r>
              <a:rPr lang="zh-CN" dirty="0" sz="2700">
                <a:solidFill>
                  <a:srgbClr val="1a1a1a"/>
                </a:solidFill>
                <a:latin typeface="BIZ UDPMincho"/>
                <a:ea typeface="BIZ UDPMincho"/>
              </a:rPr>
              <a:t>出口のひとこと。</a:t>
            </a:r>
          </a:p>
        </p:txBody>
      </p:sp>
      <p:sp>
        <p:nvSpPr>
          <p:cNvPr id="189" name="L189"/>
          <p:cNvSpPr/>
          <p:nvPr/>
        </p:nvSpPr>
        <p:spPr>
          <a:xfrm>
            <a:off x="762000" y="266700"/>
            <a:ext cx="10668000" cy="9525"/>
          </a:xfrm>
          <a:prstGeom prst="line">
            <a:avLst/>
          </a:prstGeom>
          <a:noFill/>
          <a:ln w="12700">
            <a:solidFill>
              <a:srgbClr val="1a1a1a"/>
            </a:solidFill>
          </a:ln>
        </p:spPr>
      </p:sp>
      <p:sp>
        <p:nvSpPr>
          <p:cNvPr id="190" name="T190"/>
          <p:cNvSpPr txBox="1"/>
          <p:nvPr/>
        </p:nvSpPr>
        <p:spPr>
          <a:xfrm>
            <a:off x="762000" y="400050"/>
            <a:ext cx="2169021" cy="18573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r>
              <a:rPr lang="zh-CN" dirty="0" sz="975" b="1">
                <a:solidFill>
                  <a:srgbClr val="d62828"/>
                </a:solidFill>
                <a:latin typeface="Manrope"/>
                <a:ea typeface="Manrope"/>
              </a:rPr>
              <a:t>EXHIBITION / CONCEPT</a:t>
            </a:r>
          </a:p>
        </p:txBody>
      </p:sp>
      <p:sp>
        <p:nvSpPr>
          <p:cNvPr id="191" name="T191"/>
          <p:cNvSpPr txBox="1"/>
          <p:nvPr/>
        </p:nvSpPr>
        <p:spPr>
          <a:xfrm>
            <a:off x="9585870" y="400050"/>
            <a:ext cx="1844129" cy="18573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r>
              <a:rPr lang="zh-CN" dirty="0" sz="975">
                <a:solidFill>
                  <a:srgbClr val="1a1a1a"/>
                </a:solidFill>
                <a:latin typeface="Manrope"/>
                <a:ea typeface="Manrope"/>
              </a:rPr>
              <a:t>BAUHAUS BLOCK / JA</a:t>
            </a:r>
          </a:p>
        </p:txBody>
      </p:sp>
      <p:sp>
        <p:nvSpPr>
          <p:cNvPr id="192" name="T192"/>
          <p:cNvSpPr txBox="1"/>
          <p:nvPr/>
        </p:nvSpPr>
        <p:spPr>
          <a:xfrm>
            <a:off x="762000" y="6343650"/>
            <a:ext cx="3061245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r>
              <a:rPr lang="zh-CN" dirty="0" sz="1200">
                <a:solidFill>
                  <a:srgbClr val="5a5a5a"/>
                </a:solidFill>
                <a:latin typeface="BIZ UDPMincho"/>
                <a:ea typeface="BIZ UDPMincho"/>
              </a:rPr>
              <a:t>仮想の展示企画 / 日時・会場・参加条件は未定</a:t>
            </a:r>
          </a:p>
        </p:txBody>
      </p:sp>
      <p:sp>
        <p:nvSpPr>
          <p:cNvPr id="193" name="T193"/>
          <p:cNvSpPr txBox="1"/>
          <p:nvPr/>
        </p:nvSpPr>
        <p:spPr>
          <a:xfrm>
            <a:off x="11117163" y="6324600"/>
            <a:ext cx="312836" cy="3714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r>
              <a:rPr lang="zh-CN" dirty="0" sz="1950" b="1">
                <a:solidFill>
                  <a:srgbClr val="1a1a1a"/>
                </a:solidFill>
                <a:latin typeface="Manrope"/>
                <a:ea typeface="Manrope"/>
              </a:rPr>
              <a:t>05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