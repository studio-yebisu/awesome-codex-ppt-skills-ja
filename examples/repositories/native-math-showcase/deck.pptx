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017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1件目</c:v>
                  </c:pt>
                  <c:pt idx="1">
                    <c:v>2件目</c:v>
                  </c:pt>
                  <c:pt idx="2">
                    <c:v>3件目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DE8F0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1件目</c:v>
                  </c:pt>
                  <c:pt idx="1">
                    <c:v>2件目</c:v>
                  </c:pt>
                  <c:pt idx="2">
                    <c:v>3件目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0</c:v>
                </c:pt>
                <c:pt idx="2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BIZ UDPGothic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5555"/>
              </a:solidFill>
              <a:latin typeface="BIZ UDPGothic"/>
              <a:cs typeface="BIZ UDPGothi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標準偏差</c:v>
                </c:pt>
              </c:strCache>
            </c:strRef>
          </c:tx>
          <c:spPr>
            <a:solidFill>
              <a:srgbClr val="017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173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E8F0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0.8164965809</c:v>
                </c:pt>
                <c:pt idx="1">
                  <c:v>4.082482905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BIZ UDPGothic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SLIDE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43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_YOU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B15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/ 5分の学習ノート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平均の、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その先。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30352" y="3063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同じ「5」に、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違う散らばり。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0B5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321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4   5   6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B45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3212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0   5   10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532120" y="2011680"/>
            <a:ext cx="2834640" cy="0"/>
          </a:xfrm>
          <a:prstGeom prst="line">
            <a:avLst/>
          </a:prstGeom>
          <a:noFill/>
          <a:ln w="8890">
            <a:solidFill>
              <a:srgbClr val="7580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6540" y="1952244"/>
            <a:ext cx="118872" cy="118872"/>
          </a:xfrm>
          <a:prstGeom prst="ellipse">
            <a:avLst/>
          </a:prstGeom>
          <a:solidFill>
            <a:srgbClr val="60B5E2"/>
          </a:solidFill>
          <a:ln w="12700">
            <a:solidFill>
              <a:srgbClr val="60B5E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90004" y="1952244"/>
            <a:ext cx="118872" cy="118872"/>
          </a:xfrm>
          <a:prstGeom prst="ellipse">
            <a:avLst/>
          </a:prstGeom>
          <a:solidFill>
            <a:srgbClr val="60B5E2"/>
          </a:solidFill>
          <a:ln w="12700">
            <a:solidFill>
              <a:srgbClr val="60B5E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3468" y="1952244"/>
            <a:ext cx="118872" cy="118872"/>
          </a:xfrm>
          <a:prstGeom prst="ellipse">
            <a:avLst/>
          </a:prstGeom>
          <a:solidFill>
            <a:srgbClr val="60B5E2"/>
          </a:solidFill>
          <a:ln w="12700">
            <a:solidFill>
              <a:srgbClr val="60B5E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3154680"/>
            <a:ext cx="2834640" cy="0"/>
          </a:xfrm>
          <a:prstGeom prst="line">
            <a:avLst/>
          </a:prstGeom>
          <a:noFill/>
          <a:ln w="8890">
            <a:solidFill>
              <a:srgbClr val="7580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72684" y="3095244"/>
            <a:ext cx="118872" cy="118872"/>
          </a:xfrm>
          <a:prstGeom prst="ellipse">
            <a:avLst/>
          </a:prstGeom>
          <a:solidFill>
            <a:srgbClr val="F5B451"/>
          </a:solidFill>
          <a:ln w="12700">
            <a:solidFill>
              <a:srgbClr val="F5B45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90004" y="3095244"/>
            <a:ext cx="118872" cy="118872"/>
          </a:xfrm>
          <a:prstGeom prst="ellipse">
            <a:avLst/>
          </a:prstGeom>
          <a:solidFill>
            <a:srgbClr val="F5B451"/>
          </a:solidFill>
          <a:ln w="12700">
            <a:solidFill>
              <a:srgbClr val="F5B45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7324" y="3095244"/>
            <a:ext cx="118872" cy="118872"/>
          </a:xfrm>
          <a:prstGeom prst="ellipse">
            <a:avLst/>
          </a:prstGeom>
          <a:solidFill>
            <a:srgbClr val="F5B451"/>
          </a:solidFill>
          <a:ln w="12700">
            <a:solidFill>
              <a:srgbClr val="F5B45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5CDD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74152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27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学習用の仮想データ / 調査結果ではありません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平均は、中心を表す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3件ずつの得点。どちらが、中心に集まっている？</a:t>
            </a:r>
            <a:endParaRPr lang="en-US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78408"/>
                <a:gridCol w="978408"/>
                <a:gridCol w="96926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データ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1件目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2件目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3件目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937760" y="153619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acc>
                    <m:accPr>
                      <m:chr m:val="‾"/>
                    </m:accPr>
                    <m:e>
                      <m:r>
                        <m:t>x</m:t>
                      </m:r>
                    </m:e>
                  </m:acc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n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i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</m:sub>
                    <m:sup>
                      <m:r>
                        <m:t>n</m:t>
                      </m:r>
                    </m:sup>
                    <m:e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e>
                  </m:nary>
                </m:oMath>
              </m:oMathPara>
            </a14:m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344728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</m:e>
                    <m:sub>
                      <m:r>
                        <m:t>A</m:t>
                      </m:r>
                    </m:sub>
                  </m:sSub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4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5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6</m:t>
                      </m:r>
                    </m:num>
                    <m:den>
                      <m:r>
                        <m:t>3</m:t>
                      </m:r>
                    </m:den>
                  </m:f>
                  <m:r>
                    <m:rPr>
                      <m:sty m:val="p"/>
                    </m:rPr>
                    <m:t>=</m:t>
                  </m:r>
                  <m:r>
                    <m:t>5</m:t>
                  </m:r>
                </m:oMath>
              </m:oMathPara>
            </a14:m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800600" y="34472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</m:e>
                    <m:sub>
                      <m:r>
                        <m:t>B</m:t>
                      </m:r>
                    </m:sub>
                  </m:sSub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0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5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10</m:t>
                      </m:r>
                    </m:num>
                    <m:den>
                      <m:r>
                        <m:t>3</m:t>
                      </m:r>
                    </m:den>
                  </m:f>
                  <m:r>
                    <m:rPr>
                      <m:sty m:val="p"/>
                    </m:rPr>
                    <m:t>=</m:t>
                  </m:r>
                  <m:r>
                    <m:t>5</m:t>
                  </m:r>
                </m:oMath>
              </m:oMathPara>
            </a14:m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94360" y="44165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足して、件数で割る。平均だけでは、散らばりは見えない。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727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学習用の仮想データ / 調査結果ではありません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分散は、ずれを二乗して平均する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平均からのずれ。二乗すると、正負が打ち消し合わない。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p>
                    <m:e>
                      <m:r>
                        <m:t>σ</m:t>
                      </m:r>
                    </m:e>
                    <m:sup>
                      <m:r>
                        <m:t>2</m:t>
                      </m:r>
                    </m:sup>
                  </m:sSup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n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i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</m:sub>
                    <m:sup>
                      <m:r>
                        <m:t>n</m:t>
                      </m:r>
                    </m:sup>
                    <m:e>
                      <m:r>
                        <m:rPr>
                          <m:sty m:val="p"/>
                        </m:rPr>
                        <m:t>(</m:t>
                      </m:r>
                    </m:e>
                  </m:nary>
                  <m:sSub>
                    <m:e>
                      <m:r>
                        <m:t>x</m:t>
                      </m:r>
                    </m:e>
                    <m:sub>
                      <m:r>
                        <m:t>i</m:t>
                      </m:r>
                    </m:sub>
                  </m:sSub>
                  <m:r>
                    <m:rPr>
                      <m:sty m:val="p"/>
                    </m:rPr>
                    <m:t>−</m:t>
                  </m:r>
                  <m:acc>
                    <m:accPr>
                      <m:chr m:val="‾"/>
                    </m:accPr>
                    <m:e>
                      <m:r>
                        <m:t>x</m:t>
                      </m:r>
                    </m:e>
                  </m:acc>
                  <m:sSup>
                    <m:e>
                      <m:r>
                        <m:rPr>
                          <m:sty m:val="p"/>
                        </m:rPr>
                        <m:t>)</m:t>
                      </m:r>
                    </m:e>
                    <m:sup>
                      <m:r>
                        <m:t>2</m:t>
                      </m:r>
                    </m:sup>
                  </m:sSup>
                </m:oMath>
              </m:oMathPara>
            </a14:m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514600"/>
          <a:ext cx="4114800" cy="1618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1513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二乗したずれの大きさ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0" y="258775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Sup>
                    <m:e>
                      <m:r>
                        <m:t>σ</m:t>
                      </m:r>
                    </m:e>
                    <m:sub>
                      <m:r>
                        <m:t>A</m:t>
                      </m:r>
                    </m:sub>
                    <m:sup>
                      <m:r>
                        <m:t>2</m:t>
                      </m:r>
                    </m:sup>
                  </m:sSubSup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</m:t>
                      </m:r>
                    </m:num>
                    <m:den>
                      <m:r>
                        <m:t>3</m:t>
                      </m:r>
                    </m:den>
                  </m:f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2</m:t>
                      </m:r>
                    </m:num>
                    <m:den>
                      <m:r>
                        <m:t>3</m:t>
                      </m:r>
                    </m:den>
                  </m:f>
                </m:oMath>
              </m:oMathPara>
            </a14:m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846320" y="358444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Sup>
                    <m:e>
                      <m:r>
                        <m:t>σ</m:t>
                      </m:r>
                    </m:e>
                    <m:sub>
                      <m:r>
                        <m:t>B</m:t>
                      </m:r>
                    </m:sub>
                    <m:sup>
                      <m:r>
                        <m:t>2</m:t>
                      </m:r>
                    </m:sup>
                  </m:sSubSup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25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25</m:t>
                      </m:r>
                    </m:num>
                    <m:den>
                      <m:r>
                        <m:t>3</m:t>
                      </m:r>
                    </m:den>
                  </m:f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50</m:t>
                      </m:r>
                    </m:num>
                    <m:den>
                      <m:r>
                        <m:t>3</m:t>
                      </m:r>
                    </m:den>
                  </m:f>
                </m:oMath>
              </m:oMathPara>
            </a14:m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4425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全3件を「全体」として計算。分母はn（ここでは3）。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727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学習用の仮想データ / 調査結果ではありません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標準偏差で、元の単位に戻す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869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分散の単位は「点の二乗」。平方根で「点」に戻す。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t>σ</m:t>
                  </m:r>
                  <m:r>
                    <m:rPr>
                      <m:sty m:val="p"/>
                    </m:rPr>
                    <m:t>=</m:t>
                  </m:r>
                  <m:rad>
                    <m:radPr>
                      <m:degHide m:val="on"/>
                    </m:radPr>
                    <m:deg/>
                    <m:e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e>
                  </m:rad>
                </m:oMath>
              </m:oMathPara>
            </a14:m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4297680" y="15544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平均からの広がりを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同じ単位で比べる目安。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m:t>σ</m:t>
                      </m:r>
                    </m:e>
                    <m:sub>
                      <m:r>
                        <m:t>A</m:t>
                      </m:r>
                    </m:sub>
                  </m:sSub>
                  <m:r>
                    <m:rPr>
                      <m:sty m:val="p"/>
                    </m:rPr>
                    <m:t>=</m:t>
                  </m:r>
                  <m:rad>
                    <m:radPr>
                      <m:degHide m:val="on"/>
                    </m:radPr>
                    <m:deg/>
                    <m:e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3</m:t>
                          </m:r>
                        </m:den>
                      </m:f>
                    </m:e>
                  </m:rad>
                  <m:r>
                    <m:rPr>
                      <m:sty m:val="p"/>
                    </m:rPr>
                    <m:t>≈</m:t>
                  </m:r>
                  <m:r>
                    <m:t>0.82</m:t>
                  </m:r>
                </m:oMath>
              </m:oMathPara>
            </a14:m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0" y="26517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m:t>σ</m:t>
                      </m:r>
                    </m:e>
                    <m:sub>
                      <m:r>
                        <m:t>B</m:t>
                      </m:r>
                    </m:sub>
                  </m:sSub>
                  <m:r>
                    <m:rPr>
                      <m:sty m:val="p"/>
                    </m:rPr>
                    <m:t>=</m:t>
                  </m:r>
                  <m:rad>
                    <m:radPr>
                      <m:degHide m:val="on"/>
                    </m:radPr>
                    <m:deg/>
                    <m:e>
                      <m:f>
                        <m:fPr>
                          <m:type m:val="bar"/>
                        </m:fPr>
                        <m:num>
                          <m:r>
                            <m:t>50</m:t>
                          </m:r>
                        </m:num>
                        <m:den>
                          <m:r>
                            <m:t>3</m:t>
                          </m:r>
                        </m:den>
                      </m:f>
                    </m:e>
                  </m:rad>
                  <m:r>
                    <m:rPr>
                      <m:sty m:val="p"/>
                    </m:rPr>
                    <m:t>≈</m:t>
                  </m:r>
                  <m:r>
                    <m:t>4.08</m:t>
                  </m:r>
                </m:oMath>
              </m:oMathPara>
            </a14:m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3721608"/>
          <a:ext cx="786384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27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学習用の仮想データ / 調査結果ではありません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平均と散らばりを、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一緒に読む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1752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中心の位置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2770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標準偏差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17520" y="2770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中心からの広がり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511296"/>
          <a:ext cx="78638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03120"/>
                <a:gridCol w="2103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0B5E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B45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B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平均（点）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標準偏差（点）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0.82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4.08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1713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全体の分散を使用。標本から推定する不偏分散とは区別。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727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学習用の仮想データ / 調査結果ではありません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平均の、その先。</dc:title>
  <dc:subject>PptxGenJS Presentation</dc:subject>
  <dc:creator>Studio Yebisu</dc:creator>
  <cp:lastModifiedBy>Studio Yebisu</cp:lastModifiedBy>
  <cp:revision>1</cp:revision>
  <dcterms:created xsi:type="dcterms:W3CDTF">2026-10-14T03:03:12Z</dcterms:created>
  <dcterms:modified xsi:type="dcterms:W3CDTF">2026-10-14T03:03:12Z</dcterms:modified>
</cp:coreProperties>
</file>