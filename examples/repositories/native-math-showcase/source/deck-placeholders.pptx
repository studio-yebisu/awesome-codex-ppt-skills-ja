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006B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D34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1件目</c:v>
                  </c:pt>
                  <c:pt idx="1">
                    <c:v>2件目</c:v>
                  </c:pt>
                  <c:pt idx="2">
                    <c:v>3件目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0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</c:v>
                </c:pt>
              </c:strCache>
            </c:strRef>
          </c:tx>
          <c:spPr>
            <a:solidFill>
              <a:srgbClr val="A65A0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D34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1件目</c:v>
                  </c:pt>
                  <c:pt idx="1">
                    <c:v>2件目</c:v>
                  </c:pt>
                  <c:pt idx="2">
                    <c:v>3件目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</c:v>
                </c:pt>
                <c:pt idx="1">
                  <c:v>0</c:v>
                </c:pt>
                <c:pt idx="2">
                  <c:v>25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2D343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BIZ UDP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0D0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BIZ UDPGothic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55555"/>
              </a:solidFill>
              <a:latin typeface="BIZ UDPGothic"/>
              <a:cs typeface="BIZ UDPGothic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標準偏差</c:v>
                </c:pt>
              </c:strCache>
            </c:strRef>
          </c:tx>
          <c:spPr>
            <a:solidFill>
              <a:srgbClr val="006B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6B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65A0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</c:v>
                  </c:pt>
                  <c:pt idx="1">
                    <c:v>B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0.8164965809</c:v>
                </c:pt>
                <c:pt idx="1">
                  <c:v>4.082482905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Manrop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5"/>
          <c:min val="0"/>
        </c:scaling>
        <c:delete val="0"/>
        <c:axPos val="b"/>
        <c:majorGridlines>
          <c:spPr>
            <a:ln w="12700" cap="flat">
              <a:solidFill>
                <a:srgbClr val="D0D0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BIZ UDPGothic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2D3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SLIDE">
    <p:bg>
      <p:bgPr>
        <a:solidFill>
          <a:srgbClr val="2D3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2D3436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_YOU">
    <p:bg>
      <p:bgPr>
        <a:solidFill>
          <a:srgbClr val="2D3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3B15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DATA / 5分の学習ノート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1024128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平均の、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その先。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30352" y="30632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同じ「5」に、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違う散らばり。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029200" y="1508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60B5E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53212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4   5   6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0" y="2651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5B4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32120" y="2651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0   5   10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532120" y="2011680"/>
            <a:ext cx="2834640" cy="0"/>
          </a:xfrm>
          <a:prstGeom prst="line">
            <a:avLst/>
          </a:prstGeom>
          <a:noFill/>
          <a:ln w="8890">
            <a:solidFill>
              <a:srgbClr val="75808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06540" y="1952244"/>
            <a:ext cx="118872" cy="118872"/>
          </a:xfrm>
          <a:prstGeom prst="ellipse">
            <a:avLst/>
          </a:prstGeom>
          <a:solidFill>
            <a:srgbClr val="60B5E2"/>
          </a:solidFill>
          <a:ln w="12700">
            <a:solidFill>
              <a:srgbClr val="60B5E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0004" y="1952244"/>
            <a:ext cx="118872" cy="118872"/>
          </a:xfrm>
          <a:prstGeom prst="ellipse">
            <a:avLst/>
          </a:prstGeom>
          <a:solidFill>
            <a:srgbClr val="60B5E2"/>
          </a:solidFill>
          <a:ln w="12700">
            <a:solidFill>
              <a:srgbClr val="60B5E2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73468" y="1952244"/>
            <a:ext cx="118872" cy="118872"/>
          </a:xfrm>
          <a:prstGeom prst="ellipse">
            <a:avLst/>
          </a:prstGeom>
          <a:solidFill>
            <a:srgbClr val="60B5E2"/>
          </a:solidFill>
          <a:ln w="12700">
            <a:solidFill>
              <a:srgbClr val="60B5E2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532120" y="3154680"/>
            <a:ext cx="2834640" cy="0"/>
          </a:xfrm>
          <a:prstGeom prst="line">
            <a:avLst/>
          </a:prstGeom>
          <a:noFill/>
          <a:ln w="8890">
            <a:solidFill>
              <a:srgbClr val="75808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72684" y="3095244"/>
            <a:ext cx="118872" cy="118872"/>
          </a:xfrm>
          <a:prstGeom prst="ellipse">
            <a:avLst/>
          </a:prstGeom>
          <a:solidFill>
            <a:srgbClr val="F5B451"/>
          </a:solidFill>
          <a:ln w="12700">
            <a:solidFill>
              <a:srgbClr val="F5B451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90004" y="3095244"/>
            <a:ext cx="118872" cy="118872"/>
          </a:xfrm>
          <a:prstGeom prst="ellipse">
            <a:avLst/>
          </a:prstGeom>
          <a:solidFill>
            <a:srgbClr val="F5B451"/>
          </a:solidFill>
          <a:ln w="12700">
            <a:solidFill>
              <a:srgbClr val="F5B451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07324" y="3095244"/>
            <a:ext cx="118872" cy="118872"/>
          </a:xfrm>
          <a:prstGeom prst="ellipse">
            <a:avLst/>
          </a:prstGeom>
          <a:solidFill>
            <a:srgbClr val="F5B451"/>
          </a:solidFill>
          <a:ln w="12700">
            <a:solidFill>
              <a:srgbClr val="F5B451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49824" y="3657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5CDD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74152" y="3657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5CD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10点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727448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C5CD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学習用の仮想データ / 調査結果ではありません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229600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平均は、中心を表す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3件ずつの得点。どちらが、中心に集まっている？</a:t>
            </a:r>
            <a:endParaRPr lang="en-US" sz="1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55648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78408"/>
                <a:gridCol w="978408"/>
                <a:gridCol w="96926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データ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1件目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2件目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3件目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2D3436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A</a:t>
                      </a:r>
                      <a:endParaRPr lang="en-US" sz="22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2D3436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4</a:t>
                      </a:r>
                      <a:endParaRPr lang="en-US" sz="22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2D3436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5</a:t>
                      </a:r>
                      <a:endParaRPr lang="en-US" sz="22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2D3436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6</a:t>
                      </a:r>
                      <a:endParaRPr lang="en-US" sz="22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2D3436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B</a:t>
                      </a:r>
                      <a:endParaRPr lang="en-US" sz="22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2D3436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0</a:t>
                      </a:r>
                      <a:endParaRPr lang="en-US" sz="22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2D3436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5</a:t>
                      </a:r>
                      <a:endParaRPr lang="en-US" sz="22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2D3436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10</a:t>
                      </a:r>
                      <a:endParaRPr lang="en-US" sz="22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937760" y="1627632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{{MATH:mean}}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94360" y="3374136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dirty="0">
                <a:solidFill>
                  <a:srgbClr val="006B9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{{MATH:mean-a}}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4937760" y="3300984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A65A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Bも合計15点。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A65A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3件で割ると平均は5点。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94360" y="43434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足して、件数で割る。平均だけでは、散らばりは見えない。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727448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学習用の仮想データ / 調査結果ではありません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0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分散は、ずれを二乗して平均する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平均からのずれ。二乗すると、正負が打ち消し合わない。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平均との差を二乗 → 足す → 件数で割る</a:t>
            </a:r>
            <a:endParaRPr lang="en-US" sz="2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514600"/>
          <a:ext cx="4114800" cy="16184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234086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二乗したずれ：A=1,0,1 ／ B=25,0,25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846320" y="2587752"/>
            <a:ext cx="3703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006B9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{{MATH:var-a}}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846320" y="3584448"/>
            <a:ext cx="3703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A65A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{{MATH:var-b}}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4425696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全3件を「全体」として計算。分母はn（ここでは3）。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4727448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学習用の仮想データ / 調査結果ではありません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29600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標準偏差で、元の単位に戻す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88696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分散の単位は「点の二乗」。平方根で「点」に戻す。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94360" y="15544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分散の平方根をとる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754880" y="1554480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平均からの広がりを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同じ単位で比べる目安。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94360" y="2651760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600" dirty="0">
                <a:solidFill>
                  <a:srgbClr val="006B9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{{MATH:sd-a}}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754880" y="2651760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600" dirty="0">
                <a:solidFill>
                  <a:srgbClr val="A65A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{{MATH:sd-b}}</a:t>
            </a:r>
            <a:endParaRPr lang="en-US" sz="26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3721608"/>
          <a:ext cx="7863840" cy="777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4727448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学習用の仮想データ / 調査結果ではありません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0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30352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平均と散らばりを、</a:t>
            </a:r>
            <a:endParaRPr lang="en-US" sz="3500" dirty="0"/>
          </a:p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一緒に読む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54864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C5CD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平均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017520" y="2103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中心の位置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27706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C5CD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標準偏差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017520" y="2770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中心からの広がり</a:t>
            </a:r>
            <a:endParaRPr lang="en-US" sz="2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401568"/>
          <a:ext cx="78638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103120"/>
                <a:gridCol w="21031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8100" marR="38100" marT="38100" marB="38100">
                    <a:lnL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60B5E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A</a:t>
                      </a:r>
                      <a:endParaRPr lang="en-US" sz="15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8100" marR="38100" marT="38100" marB="38100">
                    <a:lnL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5B451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B</a:t>
                      </a:r>
                      <a:endParaRPr lang="en-US" sz="15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8100" marR="38100" marT="38100" marB="38100">
                    <a:lnL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平均（点）</a:t>
                      </a:r>
                      <a:endParaRPr lang="en-US" sz="15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8100" marR="38100" marT="38100" marB="38100">
                    <a:lnL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</a:t>
                      </a:r>
                      <a:endParaRPr lang="en-US" sz="15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8100" marR="38100" marT="38100" marB="38100">
                    <a:lnL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</a:t>
                      </a:r>
                      <a:endParaRPr lang="en-US" sz="15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8100" marR="38100" marT="38100" marB="38100">
                    <a:lnL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標準偏差（点）</a:t>
                      </a:r>
                      <a:endParaRPr lang="en-US" sz="15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8100" marR="38100" marT="38100" marB="38100">
                    <a:lnL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0.82</a:t>
                      </a:r>
                      <a:endParaRPr lang="en-US" sz="15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8100" marR="38100" marT="38100" marB="38100">
                    <a:lnL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4.08</a:t>
                      </a:r>
                      <a:endParaRPr lang="en-US" sz="15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8100" marR="38100" marT="38100" marB="38100">
                    <a:lnL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443984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5CD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※ 全体の分散を使用。標本から推定する不偏分散とは区別。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4727448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C5CD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学習用の仮想データ / 調査結果ではありません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0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平均の、その先。</dc:title>
  <dc:subject>PptxGenJS Presentation</dc:subject>
  <dc:creator>Studio Yebisu</dc:creator>
  <cp:lastModifiedBy>Studio Yebisu</cp:lastModifiedBy>
  <cp:revision>1</cp:revision>
  <dcterms:created xsi:type="dcterms:W3CDTF">2026-10-15T11:32:34Z</dcterms:created>
  <dcterms:modified xsi:type="dcterms:W3CDTF">2026-10-15T11:32:34Z</dcterms:modified>
</cp:coreProperties>
</file>