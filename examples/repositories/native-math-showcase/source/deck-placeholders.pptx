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spPr>
            <a:solidFill>
              <a:srgbClr val="017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1件目</c:v>
                  </c:pt>
                  <c:pt idx="1">
                    <c:v>2件目</c:v>
                  </c:pt>
                  <c:pt idx="2">
                    <c:v>3件目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spPr>
            <a:solidFill>
              <a:srgbClr val="DE8F0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1件目</c:v>
                  </c:pt>
                  <c:pt idx="1">
                    <c:v>2件目</c:v>
                  </c:pt>
                  <c:pt idx="2">
                    <c:v>3件目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BIZ UDP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BIZ UDPGothic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55555"/>
              </a:solidFill>
              <a:latin typeface="BIZ UDPGothic"/>
              <a:cs typeface="BIZ UDPGothic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標準偏差</c:v>
                </c:pt>
              </c:strCache>
            </c:strRef>
          </c:tx>
          <c:spPr>
            <a:solidFill>
              <a:srgbClr val="0173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17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E8F0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0.8164965809</c:v>
                </c:pt>
                <c:pt idx="1">
                  <c:v>4.082482905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Manrop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1270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55555"/>
                </a:solidFill>
                <a:latin typeface="BIZ UDPGothic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LIDE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343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_YOU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3B15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DATA / 5分の学習ノート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平均の、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その先。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30352" y="3063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同じ「5」に、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違う散らばり。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0" y="1508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60B5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532120" y="1508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4   5   6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0" y="2651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B451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32120" y="2651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0   5   10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532120" y="2011680"/>
            <a:ext cx="2834640" cy="0"/>
          </a:xfrm>
          <a:prstGeom prst="line">
            <a:avLst/>
          </a:prstGeom>
          <a:noFill/>
          <a:ln w="8890">
            <a:solidFill>
              <a:srgbClr val="75808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06540" y="1952244"/>
            <a:ext cx="118872" cy="118872"/>
          </a:xfrm>
          <a:prstGeom prst="ellipse">
            <a:avLst/>
          </a:prstGeom>
          <a:solidFill>
            <a:srgbClr val="60B5E2"/>
          </a:solidFill>
          <a:ln w="12700">
            <a:solidFill>
              <a:srgbClr val="60B5E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90004" y="1952244"/>
            <a:ext cx="118872" cy="118872"/>
          </a:xfrm>
          <a:prstGeom prst="ellipse">
            <a:avLst/>
          </a:prstGeom>
          <a:solidFill>
            <a:srgbClr val="60B5E2"/>
          </a:solidFill>
          <a:ln w="12700">
            <a:solidFill>
              <a:srgbClr val="60B5E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73468" y="1952244"/>
            <a:ext cx="118872" cy="118872"/>
          </a:xfrm>
          <a:prstGeom prst="ellipse">
            <a:avLst/>
          </a:prstGeom>
          <a:solidFill>
            <a:srgbClr val="60B5E2"/>
          </a:solidFill>
          <a:ln w="12700">
            <a:solidFill>
              <a:srgbClr val="60B5E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32120" y="3154680"/>
            <a:ext cx="2834640" cy="0"/>
          </a:xfrm>
          <a:prstGeom prst="line">
            <a:avLst/>
          </a:prstGeom>
          <a:noFill/>
          <a:ln w="8890">
            <a:solidFill>
              <a:srgbClr val="75808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72684" y="3095244"/>
            <a:ext cx="118872" cy="118872"/>
          </a:xfrm>
          <a:prstGeom prst="ellipse">
            <a:avLst/>
          </a:prstGeom>
          <a:solidFill>
            <a:srgbClr val="F5B451"/>
          </a:solidFill>
          <a:ln w="12700">
            <a:solidFill>
              <a:srgbClr val="F5B45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90004" y="3095244"/>
            <a:ext cx="118872" cy="118872"/>
          </a:xfrm>
          <a:prstGeom prst="ellipse">
            <a:avLst/>
          </a:prstGeom>
          <a:solidFill>
            <a:srgbClr val="F5B451"/>
          </a:solidFill>
          <a:ln w="12700">
            <a:solidFill>
              <a:srgbClr val="F5B45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7324" y="3095244"/>
            <a:ext cx="118872" cy="118872"/>
          </a:xfrm>
          <a:prstGeom prst="ellipse">
            <a:avLst/>
          </a:prstGeom>
          <a:solidFill>
            <a:srgbClr val="F5B451"/>
          </a:solidFill>
          <a:ln w="12700">
            <a:solidFill>
              <a:srgbClr val="F5B451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9824" y="3657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5CDD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74152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10点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平均は、中心を表す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2920" y="941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3件ずつの得点。どちらが、中心に集まっている？</a:t>
            </a:r>
            <a:endParaRPr lang="en-US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55648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78408"/>
                <a:gridCol w="978408"/>
                <a:gridCol w="969264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データ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1件目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2件目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3件目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A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4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6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B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0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5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2D3436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10</a:t>
                      </a:r>
                      <a:endParaRPr lang="en-US" sz="22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937760" y="1536192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{{MATH:mean}}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344728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0173B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{{MATH:mean-a}}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4800600" y="344728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dirty="0">
                <a:solidFill>
                  <a:srgbClr val="DE8F0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{{MATH:mean-b}}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94360" y="44165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足して、件数で割る。平均だけでは、散らばりは見えない。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分散は、ずれを二乗して平均する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平均からのずれ。二乗すると、正負が打ち消し合わない。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{{MATH:variance}}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514600"/>
          <a:ext cx="4114800" cy="16184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15137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二乗したずれの大きさ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846320" y="2587752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173B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{{MATH:var-a}}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846320" y="3584448"/>
            <a:ext cx="3703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DE8F0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{{MATH:var-b}}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48640" y="4425696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全3件を「全体」として計算。分母はn（ここでは3）。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標準偏差で、元の単位に戻す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886968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分散の単位は「点の二乗」。平方根で「点」に戻す。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{{MATH:sd}}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4297680" y="155448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平均からの広がりを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同じ単位で比べる目安。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94360" y="26517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0173B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{{MATH:sd-a}}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754880" y="265176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dirty="0">
                <a:solidFill>
                  <a:srgbClr val="DE8F0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{{MATH:sd-b}}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" y="3721608"/>
          <a:ext cx="786384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C8C8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3035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平均と散らばりを、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Shippori Mincho" pitchFamily="34" charset="0"/>
                <a:ea typeface="Shippori Mincho" pitchFamily="34" charset="-122"/>
                <a:cs typeface="Shippori Mincho" pitchFamily="34" charset="-120"/>
              </a:rPr>
              <a:t>一緒に読む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平均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017520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中心の位置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770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標準偏差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17520" y="277063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中心からの広がり</a:t>
            </a:r>
            <a:endParaRPr lang="en-US" sz="2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11296"/>
          <a:ext cx="78638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103120"/>
                <a:gridCol w="21031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0B5E2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A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5B451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B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平均（点）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5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標準偏差（点）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0.82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BIZ UDPGothic" pitchFamily="34" charset="0"/>
                          <a:ea typeface="BIZ UDPGothic" pitchFamily="34" charset="-122"/>
                          <a:cs typeface="BIZ UDPGothic" pitchFamily="34" charset="-120"/>
                        </a:rPr>
                        <a:t>4.08</a:t>
                      </a:r>
                      <a:endParaRPr lang="en-US" sz="1600" dirty="0">
                        <a:latin typeface="BIZ UDPGothic" charset="0"/>
                        <a:ea typeface="BIZ UDPGothic" charset="0"/>
                        <a:cs typeface="BIZ UDPGothic" charset="0"/>
                      </a:endParaRPr>
                    </a:p>
                  </a:txBody>
                  <a:tcPr marL="63500" marR="63500" marT="63500" marB="63500">
                    <a:lnL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6772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17136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全体の分散を使用。標本から推定する不偏分散とは区別。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7274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5CD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学習用の仮想データ / 調査結果ではありません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0" y="46817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平均の、その先。</dc:title>
  <dc:subject>PptxGenJS Presentation</dc:subject>
  <dc:creator>Studio Yebisu</dc:creator>
  <cp:lastModifiedBy>Studio Yebisu</cp:lastModifiedBy>
  <cp:revision>1</cp:revision>
  <dcterms:created xsi:type="dcterms:W3CDTF">2026-10-14T03:03:12Z</dcterms:created>
  <dcterms:modified xsi:type="dcterms:W3CDTF">2026-10-14T03:03:12Z</dcterms:modified>
</cp:coreProperties>
</file>