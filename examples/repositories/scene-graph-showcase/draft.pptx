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00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1828800"/>
            <a:ext cx="1096639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600" lang="ja-JP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遠くの席へ、
伝わる資料。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4206240"/>
            <a:ext cx="1096639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lang="ja-JP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会場で読む資料の、構成案。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5303520"/>
            <a:ext cx="27432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9848" y="1051560"/>
            <a:ext cx="1828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0" lang="ja-JP" b="1">
                <a:solidFill>
                  <a:srgbClr val="E60012"/>
                </a:solidFill>
                <a:latin typeface="BIZ UDPGothic"/>
                <a:ea typeface="BIZ UDPGothic"/>
                <a:cs typeface="BIZ UDPGothic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3429000"/>
            <a:ext cx="1096639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lang="ja-JP">
                <a:solidFill>
                  <a:srgbClr val="8A1A1A"/>
                </a:solidFill>
                <a:latin typeface="BIZ UDPGothic"/>
                <a:ea typeface="BIZ UDPGothic"/>
                <a:cs typeface="BIZ UDPGothic"/>
              </a:rPr>
              <a:t>一頁に、一つの問い。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411480"/>
            <a:ext cx="107835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lang="ja-JP" b="1">
                <a:solidFill>
                  <a:srgbClr val="8A1A1A"/>
                </a:solidFill>
                <a:latin typeface="BIZ UDPGothic"/>
                <a:ea typeface="BIZ UDPGothic"/>
                <a:cs typeface="BIZ UDPGothic"/>
              </a:rPr>
              <a:t>見出しは、ひと息で。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1234440"/>
            <a:ext cx="2286000" cy="4572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1508760"/>
            <a:ext cx="106006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3200" lang="ja-JP">
                <a:solidFill>
                  <a:srgbClr val="2D2D2D"/>
                </a:solidFill>
                <a:latin typeface="BIZ UDPGothic"/>
                <a:ea typeface="BIZ UDPGothic"/>
                <a:cs typeface="BIZ UDPGothic"/>
              </a:rPr>
              <a:t>例：読み方の検討を行う。</a:t>
            </a:r>
          </a:p>
          <a:p>
            <a:pPr>
              <a:spcAft>
                <a:spcPts val="1200"/>
              </a:spcAft>
            </a:pPr>
            <a:r>
              <a:rPr sz="3200" lang="ja-JP">
                <a:solidFill>
                  <a:srgbClr val="2D2D2D"/>
                </a:solidFill>
                <a:latin typeface="BIZ UDPGothic"/>
                <a:ea typeface="BIZ UDPGothic"/>
                <a:cs typeface="BIZ UDPGothic"/>
              </a:rPr>
              <a:t>短くすると：まず、読み方を決める。</a:t>
            </a:r>
          </a:p>
          <a:p>
            <a:pPr>
              <a:spcAft>
                <a:spcPts val="1200"/>
              </a:spcAft>
            </a:pPr>
            <a:r>
              <a:rPr sz="3200" lang="ja-JP">
                <a:solidFill>
                  <a:srgbClr val="2D2D2D"/>
                </a:solidFill>
                <a:latin typeface="BIZ UDPGothic"/>
                <a:ea typeface="BIZ UDPGothic"/>
                <a:cs typeface="BIZ UDPGothic"/>
              </a:rPr>
              <a:t>説明を詰める前に、言葉を選ぶ。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411480"/>
            <a:ext cx="107835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lang="ja-JP" b="1">
                <a:solidFill>
                  <a:srgbClr val="8A1A1A"/>
                </a:solidFill>
                <a:latin typeface="BIZ UDPGothic"/>
                <a:ea typeface="BIZ UDPGothic"/>
                <a:cs typeface="BIZ UDPGothic"/>
              </a:rPr>
              <a:t>強い文字を、少なく。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1234440"/>
            <a:ext cx="2286000" cy="4572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1508760"/>
            <a:ext cx="106006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3200" lang="ja-JP">
                <a:solidFill>
                  <a:srgbClr val="2D2D2D"/>
                </a:solidFill>
                <a:latin typeface="BIZ UDPGothic"/>
                <a:ea typeface="BIZ UDPGothic"/>
                <a:cs typeface="BIZ UDPGothic"/>
              </a:rPr>
              <a:t>見出しを太く、本文を軽く。</a:t>
            </a:r>
          </a:p>
          <a:p>
            <a:pPr>
              <a:spcAft>
                <a:spcPts val="1200"/>
              </a:spcAft>
            </a:pPr>
            <a:r>
              <a:rPr sz="3200" lang="ja-JP">
                <a:solidFill>
                  <a:srgbClr val="2D2D2D"/>
                </a:solidFill>
                <a:latin typeface="BIZ UDPGothic"/>
                <a:ea typeface="BIZ UDPGothic"/>
                <a:cs typeface="BIZ UDPGothic"/>
              </a:rPr>
              <a:t>目立たせる言葉を、先に決める。</a:t>
            </a:r>
          </a:p>
          <a:p>
            <a:pPr>
              <a:spcAft>
                <a:spcPts val="1200"/>
              </a:spcAft>
            </a:pPr>
            <a:r>
              <a:rPr sz="3200" lang="ja-JP">
                <a:solidFill>
                  <a:srgbClr val="2D2D2D"/>
                </a:solidFill>
                <a:latin typeface="BIZ UDPGothic"/>
                <a:ea typeface="BIZ UDPGothic"/>
                <a:cs typeface="BIZ UDPGothic"/>
              </a:rPr>
              <a:t>すべてを強める前に、役割を分ける。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411480"/>
            <a:ext cx="107835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lang="ja-JP" b="1">
                <a:solidFill>
                  <a:srgbClr val="8A1A1A"/>
                </a:solidFill>
                <a:latin typeface="BIZ UDPGothic"/>
                <a:ea typeface="BIZ UDPGothic"/>
                <a:cs typeface="BIZ UDPGothic"/>
              </a:rPr>
              <a:t>色には、役割を。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1234440"/>
            <a:ext cx="2286000" cy="4572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1508760"/>
            <a:ext cx="106006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3200" lang="ja-JP">
                <a:solidFill>
                  <a:srgbClr val="2D2D2D"/>
                </a:solidFill>
                <a:latin typeface="BIZ UDPGothic"/>
                <a:ea typeface="BIZ UDPGothic"/>
                <a:cs typeface="BIZ UDPGothic"/>
              </a:rPr>
              <a:t>見出しは、紺。</a:t>
            </a:r>
          </a:p>
          <a:p>
            <a:pPr>
              <a:spcAft>
                <a:spcPts val="1200"/>
              </a:spcAft>
            </a:pPr>
            <a:r>
              <a:rPr sz="3200" lang="ja-JP">
                <a:solidFill>
                  <a:srgbClr val="2D2D2D"/>
                </a:solidFill>
                <a:latin typeface="BIZ UDPGothic"/>
                <a:ea typeface="BIZ UDPGothic"/>
                <a:cs typeface="BIZ UDPGothic"/>
              </a:rPr>
              <a:t>本文は、濃い灰色。</a:t>
            </a:r>
          </a:p>
          <a:p>
            <a:pPr>
              <a:spcAft>
                <a:spcPts val="1200"/>
              </a:spcAft>
            </a:pPr>
            <a:r>
              <a:rPr sz="3200" lang="ja-JP">
                <a:solidFill>
                  <a:srgbClr val="2D2D2D"/>
                </a:solidFill>
                <a:latin typeface="BIZ UDPGothic"/>
                <a:ea typeface="BIZ UDPGothic"/>
                <a:cs typeface="BIZ UDPGothic"/>
              </a:rPr>
              <a:t>枠は、話の区切りを支える。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00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lang="ja-JP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最後に、何を残す？</a:t>
            </a:r>
          </a:p>
          <a:p>
            <a:pPr algn="ctr">
              <a:spcBef>
                <a:spcPts val="2400"/>
              </a:spcBef>
            </a:pPr>
            <a:r>
              <a:rPr sz="3200" lang="ja-JP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Q&amp;A / 次に直す、一つの場所。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