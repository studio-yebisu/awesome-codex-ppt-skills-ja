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架空の朝凪カフェで、通常10時開店前の8時から10時まで朝営業を試す提案です。2週間の平日10日間に限り、開始前に担当と準備量を決めます。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商品はコーヒーとトーストのセット1種類、仮価格650円です。調理と会計の役割を分け、通常営業の仕込みを圧迫しない方法を試します。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1日の販売数を15・25・35セットと仮定して売上を比較しています。価格650円を掛けた試算で、原価や追加人件費を引いた利益ではありません。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来店数・販売数・待ち時間・廃棄数を毎日記録する計画です。表の空欄は未収集を意味し、ゼロや達成済みという意味ではありません。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10日分を振り返り、需要と現場負担の両方を見て継続・変更・終了を選びます。数値の採否基準は開始前に店内で決め、今回の資料では未合意と明記します。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朝の2時間を、2週間だけ試す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1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通勤前に、ひと息つける場所を。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通常10時開店の前に、
朝の来店需要と現場の負担を確かめる。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8:00–10:00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朝の営業時間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709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10日間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349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2週間の平日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47091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650円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5349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セットの仮価格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2514600"/>
            <a:ext cx="2468880" cy="2468880"/>
          </a:xfrm>
          <a:prstGeom prst="ellipse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3246120"/>
            <a:ext cx="685800" cy="777240"/>
          </a:xfrm>
          <a:prstGeom prst="ellipse">
            <a:avLst/>
          </a:prstGeom>
          <a:solidFill>
            <a:srgbClr val="FBF5F0"/>
          </a:solidFill>
          <a:ln w="12700">
            <a:solidFill>
              <a:srgbClr val="8B6B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2971800"/>
            <a:ext cx="1554480" cy="1234440"/>
          </a:xfrm>
          <a:prstGeom prst="round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2971800"/>
            <a:ext cx="1554480" cy="164592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5349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朝凪カフェ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メニューと役割を、小さく始める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37560" cy="54864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商品を絞る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コーヒー＋トースト
1セット 650円（仮）
追加メニューは設けない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377440"/>
            <a:ext cx="3337560" cy="54864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役割を分ける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5196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調理担当：セットを準備
会計担当：注文と提供
開始前に担当者を決める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377440"/>
            <a:ext cx="3337560" cy="54864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697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通常営業につなぐ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25196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9:45に追加仕込みを判断
10:00に通常営業へ切替
片づけ時間も記録する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売上は仮定を変えて比べる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セット価格 650円 × 1日の販売数（仮定）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920240" y="2761488"/>
            <a:ext cx="6931152" cy="411480"/>
            <a:chOff x="1920240" y="2761488"/>
            <a:chExt cx="6931152" cy="411480"/>
          </a:xfrm>
        </p:grpSpPr>
        <p:sp>
          <p:nvSpPr>
            <p:cNvPr id="11" name="Rounded Rectangle 10"/>
            <p:cNvSpPr/>
            <p:nvPr/>
          </p:nvSpPr>
          <p:spPr>
            <a:xfrm>
              <a:off x="2743200" y="2788920"/>
              <a:ext cx="5486400" cy="384048"/>
            </a:xfrm>
            <a:prstGeom prst="roundRect">
              <a:avLst/>
            </a:prstGeom>
            <a:solidFill>
              <a:srgbClr val="F0E0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743200" y="2788920"/>
              <a:ext cx="2351314" cy="384048"/>
            </a:xfrm>
            <a:prstGeom prst="roundRect">
              <a:avLst/>
            </a:prstGeom>
            <a:solidFill>
              <a:srgbClr val="C470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20240" y="2761488"/>
              <a:ext cx="7772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 lang="ja-JP">
                  <a:solidFill>
                    <a:srgbClr val="3D2B1F"/>
                  </a:solidFill>
                  <a:latin typeface="Noto Sans JP"/>
                  <a:ea typeface="Noto Sans JP"/>
                  <a:cs typeface="Noto Sans JP"/>
                </a:rPr>
                <a:t/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02752" y="2761488"/>
              <a:ext cx="5486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lang="ja-JP">
                  <a:solidFill>
                    <a:srgbClr val="3D2B1F"/>
                  </a:solidFill>
                  <a:latin typeface="Noto Sans JP"/>
                  <a:ea typeface="Noto Sans JP"/>
                  <a:cs typeface="Noto Sans JP"/>
                </a:rPr>
                <a:t/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77240" y="2734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15セット / 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974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9,750円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920240" y="3621024"/>
            <a:ext cx="6931152" cy="411480"/>
            <a:chOff x="1920240" y="3621024"/>
            <a:chExt cx="6931152" cy="411480"/>
          </a:xfrm>
        </p:grpSpPr>
        <p:sp>
          <p:nvSpPr>
            <p:cNvPr id="18" name="Rounded Rectangle 17"/>
            <p:cNvSpPr/>
            <p:nvPr/>
          </p:nvSpPr>
          <p:spPr>
            <a:xfrm>
              <a:off x="2743200" y="3648456"/>
              <a:ext cx="5486400" cy="384048"/>
            </a:xfrm>
            <a:prstGeom prst="roundRect">
              <a:avLst/>
            </a:prstGeom>
            <a:solidFill>
              <a:srgbClr val="F0E0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743200" y="3648456"/>
              <a:ext cx="3918857" cy="384048"/>
            </a:xfrm>
            <a:prstGeom prst="roundRect">
              <a:avLst/>
            </a:prstGeom>
            <a:solidFill>
              <a:srgbClr val="C470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20240" y="3621024"/>
              <a:ext cx="7772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 lang="ja-JP">
                  <a:solidFill>
                    <a:srgbClr val="3D2B1F"/>
                  </a:solidFill>
                  <a:latin typeface="Noto Sans JP"/>
                  <a:ea typeface="Noto Sans JP"/>
                  <a:cs typeface="Noto Sans JP"/>
                </a:rPr>
                <a:t/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02752" y="3621024"/>
              <a:ext cx="5486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lang="ja-JP">
                  <a:solidFill>
                    <a:srgbClr val="3D2B1F"/>
                  </a:solidFill>
                  <a:latin typeface="Noto Sans JP"/>
                  <a:ea typeface="Noto Sans JP"/>
                  <a:cs typeface="Noto Sans JP"/>
                </a:rPr>
                <a:t/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77240" y="359359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25セット / 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557015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16,250円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920240" y="4480559"/>
            <a:ext cx="6931152" cy="411481"/>
            <a:chOff x="1920240" y="4480559"/>
            <a:chExt cx="6931152" cy="411481"/>
          </a:xfrm>
        </p:grpSpPr>
        <p:sp>
          <p:nvSpPr>
            <p:cNvPr id="25" name="Rounded Rectangle 24"/>
            <p:cNvSpPr/>
            <p:nvPr/>
          </p:nvSpPr>
          <p:spPr>
            <a:xfrm>
              <a:off x="2743200" y="4507992"/>
              <a:ext cx="5486400" cy="384048"/>
            </a:xfrm>
            <a:prstGeom prst="roundRect">
              <a:avLst/>
            </a:prstGeom>
            <a:solidFill>
              <a:srgbClr val="F0E0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743200" y="4507992"/>
              <a:ext cx="5486400" cy="384048"/>
            </a:xfrm>
            <a:prstGeom prst="roundRect">
              <a:avLst/>
            </a:prstGeom>
            <a:solidFill>
              <a:srgbClr val="C470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920240" y="4480559"/>
              <a:ext cx="7772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 lang="ja-JP">
                  <a:solidFill>
                    <a:srgbClr val="3D2B1F"/>
                  </a:solidFill>
                  <a:latin typeface="Noto Sans JP"/>
                  <a:ea typeface="Noto Sans JP"/>
                  <a:cs typeface="Noto Sans JP"/>
                </a:rPr>
                <a:t/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02752" y="4480559"/>
              <a:ext cx="5486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lang="ja-JP">
                  <a:solidFill>
                    <a:srgbClr val="3D2B1F"/>
                  </a:solidFill>
                  <a:latin typeface="Noto Sans JP"/>
                  <a:ea typeface="Noto Sans JP"/>
                  <a:cs typeface="Noto Sans JP"/>
                </a:rPr>
                <a:t/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77240" y="4453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35セット / 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4165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22,750円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売上の試算です。原価・追加人件費などの費用は含まず、利益を示していません。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毎日、需要と負担を同じ表で残す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記録項目を先に決め、営業のたびに同じ形式で残す。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1645920" cy="59436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008376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日付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880360"/>
            <a:ext cx="2103120" cy="59436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3008376"/>
            <a:ext cx="1883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来店数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2880360"/>
            <a:ext cx="2103120" cy="59436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3008376"/>
            <a:ext cx="1883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販売数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399" y="2880360"/>
            <a:ext cx="2560320" cy="59436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7" y="3008376"/>
            <a:ext cx="23408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待ち時間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2880360"/>
            <a:ext cx="2103120" cy="59436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7" y="3008376"/>
            <a:ext cx="1883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廃棄数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20440"/>
            <a:ext cx="16459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68503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第1日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520440"/>
            <a:ext cx="21031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2888" y="3685032"/>
            <a:ext cx="1883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3520440"/>
            <a:ext cx="21031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685032"/>
            <a:ext cx="1883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399" y="3520440"/>
            <a:ext cx="25603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7" y="3685032"/>
            <a:ext cx="23408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19" y="3520440"/>
            <a:ext cx="21031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7" y="3685032"/>
            <a:ext cx="1883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43400"/>
            <a:ext cx="16459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507992"/>
            <a:ext cx="1426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第2日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4343400"/>
            <a:ext cx="21031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2888" y="4507992"/>
            <a:ext cx="1883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79" y="4343400"/>
            <a:ext cx="21031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7" y="4507992"/>
            <a:ext cx="1883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399" y="4343400"/>
            <a:ext cx="25603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9127" y="4507992"/>
            <a:ext cx="23408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19" y="4343400"/>
            <a:ext cx="2103120" cy="749808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7" y="4507992"/>
            <a:ext cx="1883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未収集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04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待ち時間の測り方・集計単位は開始前に統一。空欄や未収集を「0」と扱わない。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2週間後に、続ける条件を確かめる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Noto Sans JP"/>
                <a:ea typeface="Noto Sans JP"/>
                <a:cs typeface="Noto Sans JP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需要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231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販売数と来店の時間帯から
朝に開く意味があるか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36391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負担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6440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待ち時間・片づけ・仕込みから
無理なく続けられるか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77639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056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ja-JP">
                <a:solidFill>
                  <a:srgbClr val="3D2B1F"/>
                </a:solidFill>
                <a:latin typeface="Noto Serif JP"/>
                <a:ea typeface="Noto Serif JP"/>
                <a:cs typeface="Noto Sans JP"/>
              </a:rPr>
              <a:t>廃棄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0565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余りの数と準備量から
少量運用に調整できるか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1888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230368"/>
            <a:ext cx="10607040" cy="786384"/>
          </a:xfrm>
          <a:prstGeom prst="round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36752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ja-JP">
                <a:solidFill>
                  <a:srgbClr val="3D2B1F"/>
                </a:solidFill>
                <a:latin typeface="Noto Sans JP"/>
                <a:ea typeface="Noto Sans JP"/>
                <a:cs typeface="Noto Sans JP"/>
              </a:rPr>
              <a:t>開始前に判断基準を合意  →  10日分を確認  →  継続・変更・終了を選ぶ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