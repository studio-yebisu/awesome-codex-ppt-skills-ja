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2025年9月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広告</c:v>
                </c:pt>
                <c:pt idx="1">
                  <c:v>自然検索</c:v>
                </c:pt>
                <c:pt idx="2">
                  <c:v>メール</c:v>
                </c:pt>
                <c:pt idx="3">
                  <c:v>リピート直訪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220.0</c:v>
                </c:pt>
                <c:pt idx="1">
                  <c:v>300.0</c:v>
                </c:pt>
                <c:pt idx="2">
                  <c:v>160.0</c:v>
                </c:pt>
                <c:pt idx="3">
                  <c:v>320.0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2026年9月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広告</c:v>
                </c:pt>
                <c:pt idx="1">
                  <c:v>自然検索</c:v>
                </c:pt>
                <c:pt idx="2">
                  <c:v>メール</c:v>
                </c:pt>
                <c:pt idx="3">
                  <c:v>リピート直訪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240.0</c:v>
                </c:pt>
                <c:pt idx="1">
                  <c:v>390.0</c:v>
                </c:pt>
                <c:pt idx="2">
                  <c:v>210.0</c:v>
                </c:pt>
                <c:pt idx="3">
                  <c:v>360.0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万円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架空のEC事業の月次報告です。2026年9月と前年同月を比較し、商品説明の修正と粗利分析を先行する判断を求めます。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売上は1,200万円、前年比20%増。粗利率は38%から36%へ2ポイント低下し、返品率は4%から6%へ2ポイント上昇しました。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広告20万円、自然検索90万円、メール50万円、リピート直訪40万円の増加で、合計200万円です。構成比と増加額を混同しません。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前年粗利は1,000万円×38%=380万円、当月は1,200万円×36%=432万円。52万円の増加です。値引きと商品構成は原因の仮説で、商品別に確認します。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10月9日までにCSが返品理由を分類。16日までに商品担当が説明を改稿し、販売担当が粗利差分を分析します。担当名は架空です。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広告増額は分析結果を見てから決めます。次回会議には施策の完了、返品内訳、商品別粗利の差分を持ち寄ります。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Noto Sans JP"/>
                <a:ea typeface="Noto Sans JP"/>
              </a:rPr>
              <a:t>くらし便 EC事業 9月報告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lang="ja-JP">
                <a:solidFill>
                  <a:srgbClr val="1C6796"/>
                </a:solidFill>
                <a:latin typeface="Noto Sans JP"/>
                <a:ea typeface="Noto Sans JP"/>
              </a:rPr>
              <a:t>売上は伸長。</a:t>
            </a:r>
          </a:p>
          <a:p>
            <a:r>
              <a:rPr sz="3600" b="1" lang="ja-JP">
                <a:solidFill>
                  <a:srgbClr val="1C6796"/>
                </a:solidFill>
                <a:latin typeface="Noto Sans JP"/>
                <a:ea typeface="Noto Sans JP"/>
              </a:rPr>
              <a:t>次月は商品説明と粗利分析を先行。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lang="ja-JP">
                <a:solidFill>
                  <a:srgbClr val="202C39"/>
                </a:solidFill>
                <a:latin typeface="Noto Sans JP"/>
                <a:ea typeface="Noto Sans JP"/>
              </a:rPr>
              <a:t>2026年9月／比較：2025年9月</a:t>
            </a:r>
          </a:p>
          <a:p>
            <a:r>
              <a:rPr sz="2300" b="0" lang="ja-JP">
                <a:solidFill>
                  <a:srgbClr val="202C39"/>
                </a:solidFill>
                <a:latin typeface="Noto Sans JP"/>
                <a:ea typeface="Noto Sans JP"/>
              </a:rPr>
              <a:t>事業責任者・販売・商品・CSの月次会議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Noto Sans JP"/>
                <a:ea typeface="Noto Sans JP"/>
              </a:rPr>
              <a:t>売上増と粗利率低下を同時に見る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2 /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Noto Sans JP"/>
                          <a:ea typeface="Noto Sans JP"/>
                        </a:rPr>
                        <a:t>指標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Noto Sans JP"/>
                          <a:ea typeface="Noto Sans JP"/>
                        </a:rPr>
                        <a:t>当月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Noto Sans JP"/>
                          <a:ea typeface="Noto Sans JP"/>
                        </a:rPr>
                        <a:t>前年同月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Noto Sans JP"/>
                          <a:ea typeface="Noto Sans JP"/>
                        </a:rPr>
                        <a:t>変化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売上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1,200万円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1,000万円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+20%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注文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4,000件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3,500件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+500件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粗利率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36%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38%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−2ポイント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返品率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4%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Noto Sans JP"/>
                          <a:ea typeface="Noto Sans JP"/>
                        </a:rPr>
                        <a:t>+2ポイント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lang="ja-JP">
                <a:solidFill>
                  <a:srgbClr val="202C39"/>
                </a:solidFill>
                <a:latin typeface="Noto Sans JP"/>
                <a:ea typeface="Noto Sans JP"/>
              </a:rPr>
              <a:t>粗利額は432万円。売上だけで次の施策を判断しない。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Noto Sans JP"/>
                <a:ea typeface="Noto Sans JP"/>
              </a:rPr>
              <a:t>売上増200万円の中心は自然検索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ja-JP">
                <a:solidFill>
                  <a:srgbClr val="202C39"/>
                </a:solidFill>
                <a:latin typeface="Noto Sans JP"/>
                <a:ea typeface="Noto Sans JP"/>
              </a:rPr>
              <a:t>青：2025年9月　赤：2026年9月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874519"/>
          <a:ext cx="106984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ja-JP">
                <a:solidFill>
                  <a:srgbClr val="202C39"/>
                </a:solidFill>
                <a:latin typeface="Noto Sans JP"/>
                <a:ea typeface="Noto Sans JP"/>
              </a:rPr>
              <a:t>前年差：広告 +20／自然検索 +90／メール +50／直訪 +40万円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Noto Sans JP"/>
                <a:ea typeface="Noto Sans JP"/>
              </a:rPr>
              <a:t>粗利額は増え、率は2ポイント低下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lang="ja-JP">
                <a:solidFill>
                  <a:srgbClr val="202C39"/>
                </a:solidFill>
                <a:latin typeface="Noto Sans JP"/>
                <a:ea typeface="Noto Sans JP"/>
              </a:rPr>
              <a:t>前年 380万円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lang="ja-JP">
                <a:solidFill>
                  <a:srgbClr val="202C39"/>
                </a:solidFill>
                <a:latin typeface="Noto Sans JP"/>
                <a:ea typeface="Noto Sans JP"/>
              </a:rPr>
              <a:t>1,000万円 × 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lang="ja-JP">
                <a:solidFill>
                  <a:srgbClr val="1C6796"/>
                </a:solidFill>
                <a:latin typeface="Noto Sans JP"/>
                <a:ea typeface="Noto Sans JP"/>
              </a:rPr>
              <a:t>当月 432万円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lang="ja-JP">
                <a:solidFill>
                  <a:srgbClr val="202C39"/>
                </a:solidFill>
                <a:latin typeface="Noto Sans JP"/>
                <a:ea typeface="Noto Sans JP"/>
              </a:rPr>
              <a:t>1,200万円 × 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 lang="ja-JP">
                <a:solidFill>
                  <a:srgbClr val="202C39"/>
                </a:solidFill>
                <a:latin typeface="Noto Sans JP"/>
                <a:ea typeface="Noto Sans JP"/>
              </a:rPr>
              <a:t>粗利額は52万円増加。</a:t>
            </a:r>
          </a:p>
          <a:p>
            <a:r>
              <a:rPr sz="2500" b="0" lang="ja-JP">
                <a:solidFill>
                  <a:srgbClr val="202C39"/>
                </a:solidFill>
                <a:latin typeface="Noto Sans JP"/>
                <a:ea typeface="Noto Sans JP"/>
              </a:rPr>
              <a:t>値引き・商品構成の影響は、商品別に確認する。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Noto Sans JP"/>
                <a:ea typeface="Noto Sans JP"/>
              </a:rPr>
              <a:t>返品理由の分類と商品説明を先行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5 /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2000" b="1" lang="ja-JP">
                          <a:latin typeface="Noto Sans JP"/>
                          <a:ea typeface="Noto Sans JP"/>
                        </a:rPr>
                        <a:t>期限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lang="ja-JP">
                          <a:latin typeface="Noto Sans JP"/>
                          <a:ea typeface="Noto Sans JP"/>
                        </a:rPr>
                        <a:t>担当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lang="ja-JP">
                          <a:latin typeface="Noto Sans JP"/>
                          <a:ea typeface="Noto Sans JP"/>
                        </a:rPr>
                        <a:t>確認する作業</a:t>
                      </a:r>
                    </a:p>
                  </a:txBody>
                  <a:tcPr>
                    <a:solidFill>
                      <a:srgbClr val="1C679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10/09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CS・森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上位20商品の返品理由を分類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10/16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商品・青木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返品上位5商品の説明を改稿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10/16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販売・山田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Noto Sans JP"/>
                          <a:ea typeface="Noto Sans JP"/>
                        </a:rPr>
                        <a:t>粗利率の差分を商品別に分析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Noto Sans JP"/>
                <a:ea typeface="Noto Sans JP"/>
              </a:rPr>
              <a:t>次回は施策の完了と利益要因を確認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lang="ja-JP">
                <a:solidFill>
                  <a:srgbClr val="202C39"/>
                </a:solidFill>
                <a:latin typeface="Noto Sans JP"/>
                <a:ea typeface="Noto Sans JP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lang="ja-JP">
                <a:solidFill>
                  <a:srgbClr val="1C6796"/>
                </a:solidFill>
                <a:latin typeface="Noto Sans JP"/>
                <a:ea typeface="Noto Sans JP"/>
              </a:rPr>
              <a:t>商品説明の修正と粗利分析を進める。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 lang="ja-JP">
                <a:solidFill>
                  <a:srgbClr val="202C39"/>
                </a:solidFill>
                <a:latin typeface="Noto Sans JP"/>
                <a:ea typeface="Noto Sans JP"/>
              </a:rPr>
              <a:t>次回に確認するもの</a:t>
            </a:r>
          </a:p>
          <a:p/>
          <a:p>
            <a:r>
              <a:rPr sz="2500" b="0" lang="ja-JP">
                <a:solidFill>
                  <a:srgbClr val="202C39"/>
                </a:solidFill>
                <a:latin typeface="Noto Sans JP"/>
                <a:ea typeface="Noto Sans JP"/>
              </a:rPr>
              <a:t>施策の完了／返品の内訳／商品別の粗利差分</a:t>
            </a:r>
          </a:p>
          <a:p/>
          <a:p>
            <a:r>
              <a:rPr sz="2500" b="0" lang="ja-JP">
                <a:solidFill>
                  <a:srgbClr val="202C39"/>
                </a:solidFill>
                <a:latin typeface="Noto Sans JP"/>
                <a:ea typeface="Noto Sans JP"/>
              </a:rPr>
              <a:t>広告増額は、その結果を確認して判断する。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