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2025年9月</c:v>
                </c:pt>
              </c:strCache>
            </c:strRef>
          </c:tx>
          <c:spPr>
            <a:pattFill prst="dkDnDiag">
              <a:fgClr>
                <a:srgbClr val="215D85"/>
              </a:fgClr>
              <a:bgClr>
                <a:srgbClr val="FFFFFF"/>
              </a:bgClr>
            </a:pattFill>
          </c:spPr>
          <c:cat>
            <c:strRef>
              <c:f>Sheet1!$A$2:$A$5</c:f>
              <c:strCache>
                <c:ptCount val="4"/>
                <c:pt idx="0">
                  <c:v>広告</c:v>
                </c:pt>
                <c:pt idx="1">
                  <c:v>自然検索</c:v>
                </c:pt>
                <c:pt idx="2">
                  <c:v>メール</c:v>
                </c:pt>
                <c:pt idx="3">
                  <c:v>リピート直訪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221</c:v>
                </c:pt>
                <c:pt idx="1">
                  <c:v>300.0</c:v>
                </c:pt>
                <c:pt idx="2">
                  <c:v>160.0</c:v>
                </c:pt>
                <c:pt idx="3">
                  <c:v>320.0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2026年9月</c:v>
                </c:pt>
              </c:strCache>
            </c:strRef>
          </c:tx>
          <c:spPr>
            <a:solidFill>
              <a:srgbClr val="128278"/>
            </a:solidFill>
          </c:spPr>
          <c:cat>
            <c:strRef>
              <c:f>Sheet1!$A$2:$A$5</c:f>
              <c:strCache>
                <c:ptCount val="4"/>
                <c:pt idx="0">
                  <c:v>広告</c:v>
                </c:pt>
                <c:pt idx="1">
                  <c:v>自然検索</c:v>
                </c:pt>
                <c:pt idx="2">
                  <c:v>メール</c:v>
                </c:pt>
                <c:pt idx="3">
                  <c:v>リピート直訪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240.0</c:v>
                </c:pt>
                <c:pt idx="1">
                  <c:v>390.0</c:v>
                </c:pt>
                <c:pt idx="2">
                  <c:v>210.0</c:v>
                </c:pt>
                <c:pt idx="3">
                  <c:v>360.0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lang="ja-JP">
                  <a:latin typeface="BIZ UDPGothic"/>
                  <a:ea typeface="BIZ UDP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 lang="ja-JP">
                <a:latin typeface="BIZ UDPGothic"/>
                <a:ea typeface="BIZ UDP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万円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 lang="ja-JP">
                <a:latin typeface="BIZ UDPGothic"/>
                <a:ea typeface="BIZ UDPGothic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 lang="ja-JP">
              <a:latin typeface="BIZ UDPGothic"/>
              <a:ea typeface="BIZ UDPGothic"/>
            </a:defRPr>
          </a:pPr>
        </a:p>
      </c:txPr>
    </c:legend>
    <c:dispBlanksAs val="gap"/>
  </c:chart>
  <c:txPr>
    <a:bodyPr/>
    <a:lstStyle/>
    <a:p>
      <a:pPr>
        <a:defRPr sz="1800" lang="ja-JP">
          <a:latin typeface="BIZ UDPGothic"/>
          <a:ea typeface="BIZ UDPGothic"/>
        </a:defRPr>
      </a:pPr>
      <a:endParaRPr lang="ja-JP">
        <a:latin typeface="BIZ UDPGothic"/>
        <a:ea typeface="BIZ UDPGothic"/>
      </a:endParaR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当月−前年（万円）</c:v>
                </c:pt>
              </c:strCache>
            </c:strRef>
          </c:tx>
          <c:spPr>
            <a:solidFill>
              <a:srgbClr val="128278"/>
            </a:solidFill>
          </c:spPr>
          <c:cat>
            <c:strRef>
              <c:f>Sheet1!$A$2:$A$3</c:f>
              <c:strCache>
                <c:ptCount val="2"/>
                <c:pt idx="0">
                  <c:v>売上差</c:v>
                </c:pt>
                <c:pt idx="1">
                  <c:v>粗利額差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200.0</c:v>
                </c:pt>
                <c:pt idx="1">
                  <c:v>52.0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lang="ja-JP">
                  <a:latin typeface="BIZ UDPGothic"/>
                  <a:ea typeface="BIZ UDP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 lang="ja-JP">
                <a:latin typeface="BIZ UDPGothic"/>
                <a:ea typeface="BIZ UDP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 lang="ja-JP">
                <a:latin typeface="BIZ UDPGothic"/>
                <a:ea typeface="BIZ UDPGothi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 lang="ja-JP">
          <a:latin typeface="BIZ UDPGothic"/>
          <a:ea typeface="BIZ UDPGothic"/>
        </a:defRPr>
      </a:pPr>
      <a:endParaRPr lang="ja-JP">
        <a:latin typeface="BIZ UDPGothic"/>
        <a:ea typeface="BIZ UDPGothic"/>
      </a:endParaR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架空のEC事業の月次報告です。2026年9月と前年同月を比較し、商品説明の修正と粗利分析を先行する判断を求めます。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売上は1,200万円、前年比20%増。粗利率は38%から36%へ2ポイント低下し、返品率は4%から6%へ2ポイント上昇しました。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広告20万円、自然検索90万円、メール50万円、リピート直訪40万円の増加で、合計200万円です。構成比と増加額を混同しません。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前年粗利は1,000万円×38%=380万円、当月は1,200万円×36%=432万円。52万円の増加です。値引きと商品構成は原因の仮説で、商品別に確認します。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10月9日までにCSが返品理由を分類。16日までに商品担当が説明を改稿し、販売担当が粗利差分を分析します。担当名は架空です。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広告増額は分析結果を見てから決めます。次回会議には施策の完了、返品内訳、商品別粗利の差分を持ち寄ります。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800">
                <a:latin typeface="BIZ UDPGothic"/>
              </a:rPr>
              <a:t>編集検証用：本文を書き換え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881360" cy="32004"/>
          </a:xfrm>
          <a:prstGeom prst="rect">
            <a:avLst/>
          </a:prstGeom>
          <a:solidFill>
            <a:srgbClr val="1C6796"/>
          </a:solidFill>
          <a:ln>
            <a:solidFill>
              <a:srgbClr val="1C6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lang="ja-JP">
                <a:solidFill>
                  <a:srgbClr val="202C39"/>
                </a:solidFill>
                <a:latin typeface="BIZ UDPGothic"/>
                <a:ea typeface="BIZ UDPGothic"/>
              </a:rPr>
              <a:t>架空の組織・数値による制作サンプル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825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lang="ja-JP">
                <a:solidFill>
                  <a:srgbClr val="202C39"/>
                </a:solidFill>
                <a:latin typeface="BIZ UDPGothic"/>
                <a:ea typeface="BIZ UDPGothic"/>
              </a:rPr>
              <a:t>1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lang="ja-JP">
                <a:solidFill>
                  <a:srgbClr val="1C6796"/>
                </a:solidFill>
                <a:latin typeface="BIZ UDPGothic"/>
                <a:ea typeface="BIZ UDPGothic"/>
              </a:rPr>
              <a:t>売上は伸長。</a:t>
            </a:r>
          </a:p>
          <a:p>
            <a:r>
              <a:rPr sz="3600" b="1" lang="ja-JP">
                <a:solidFill>
                  <a:srgbClr val="1C6796"/>
                </a:solidFill>
                <a:latin typeface="BIZ UDPGothic"/>
                <a:ea typeface="BIZ UDPGothic"/>
              </a:rPr>
              <a:t>次月は商品説明と粗利分析を先行。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lang="ja-JP">
                <a:solidFill>
                  <a:srgbClr val="202C39"/>
                </a:solidFill>
                <a:latin typeface="BIZ UDPGothic"/>
                <a:ea typeface="BIZ UDPGothic"/>
              </a:rPr>
              <a:t>2026年9月／比較：2025年9月</a:t>
            </a:r>
          </a:p>
          <a:p>
            <a:r>
              <a:rPr sz="2300" b="0" lang="ja-JP">
                <a:solidFill>
                  <a:srgbClr val="202C39"/>
                </a:solidFill>
                <a:latin typeface="BIZ UDPGothic"/>
                <a:ea typeface="BIZ UDPGothic"/>
              </a:rPr>
              <a:t>事業責任者・販売・商品・CSの月次会議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lang="ja-JP">
                <a:solidFill>
                  <a:srgbClr val="202C39"/>
                </a:solidFill>
                <a:latin typeface="BIZ UDPGothic"/>
                <a:ea typeface="BIZ UDPGothic"/>
              </a:rPr>
              <a:t>売上増と粗利率低下を同時に見る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881360" cy="32004"/>
          </a:xfrm>
          <a:prstGeom prst="rect">
            <a:avLst/>
          </a:prstGeom>
          <a:solidFill>
            <a:srgbClr val="1C6796"/>
          </a:solidFill>
          <a:ln>
            <a:solidFill>
              <a:srgbClr val="1C6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lang="ja-JP">
                <a:solidFill>
                  <a:srgbClr val="202C39"/>
                </a:solidFill>
                <a:latin typeface="BIZ UDPGothic"/>
                <a:ea typeface="BIZ UDPGothic"/>
              </a:rPr>
              <a:t>架空の組織・数値による制作サンプル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825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lang="ja-JP">
                <a:solidFill>
                  <a:srgbClr val="202C39"/>
                </a:solidFill>
                <a:latin typeface="BIZ UDPGothic"/>
                <a:ea typeface="BIZ UDPGothic"/>
              </a:rPr>
              <a:t>2 / 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698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2100" b="1" lang="ja-JP">
                          <a:latin typeface="BIZ UDPGothic"/>
                          <a:ea typeface="BIZ UDPGothic"/>
                        </a:rPr>
                        <a:t>指標</a:t>
                      </a:r>
                    </a:p>
                  </a:txBody>
                  <a:tcPr anchor="ctr">
                    <a:solidFill>
                      <a:srgbClr val="1C67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 lang="ja-JP">
                          <a:latin typeface="BIZ UDPGothic"/>
                          <a:ea typeface="BIZ UDPGothic"/>
                        </a:rPr>
                        <a:t>当月</a:t>
                      </a:r>
                    </a:p>
                  </a:txBody>
                  <a:tcPr anchor="ctr">
                    <a:solidFill>
                      <a:srgbClr val="1C67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 lang="ja-JP">
                          <a:latin typeface="BIZ UDPGothic"/>
                          <a:ea typeface="BIZ UDPGothic"/>
                        </a:rPr>
                        <a:t>前年同月</a:t>
                      </a:r>
                    </a:p>
                  </a:txBody>
                  <a:tcPr anchor="ctr">
                    <a:solidFill>
                      <a:srgbClr val="1C67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 lang="ja-JP">
                          <a:latin typeface="BIZ UDPGothic"/>
                          <a:ea typeface="BIZ UDPGothic"/>
                        </a:rPr>
                        <a:t>変化</a:t>
                      </a:r>
                    </a:p>
                  </a:txBody>
                  <a:tcPr anchor="ctr">
                    <a:solidFill>
                      <a:srgbClr val="1C679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BIZ UDPGothic"/>
                          <a:ea typeface="BIZ UDPGothic"/>
                        </a:rPr>
                        <a:t>売上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BIZ UDPGothic"/>
                          <a:ea typeface="BIZ UDPGothic"/>
                        </a:rPr>
                        <a:t>1,200万円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BIZ UDPGothic"/>
                          <a:ea typeface="BIZ UDPGothic"/>
                        </a:rPr>
                        <a:t>1,000万円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BIZ UDPGothic"/>
                          <a:ea typeface="BIZ UDPGothic"/>
                        </a:rPr>
                        <a:t>+20%</a:t>
                      </a:r>
                    </a:p>
                  </a:txBody>
                  <a:tcPr anchor="ctr"/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BIZ UDPGothic"/>
                          <a:ea typeface="BIZ UDPGothic"/>
                        </a:rPr>
                        <a:t>注文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BIZ UDPGothic"/>
                          <a:ea typeface="BIZ UDPGothic"/>
                        </a:rPr>
                        <a:t>4,000件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BIZ UDPGothic"/>
                          <a:ea typeface="BIZ UDPGothic"/>
                        </a:rPr>
                        <a:t>3,500件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BIZ UDPGothic"/>
                          <a:ea typeface="BIZ UDPGothic"/>
                        </a:rPr>
                        <a:t>+500件</a:t>
                      </a:r>
                    </a:p>
                  </a:txBody>
                  <a:tcPr anchor="ctr"/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BIZ UDPGothic"/>
                          <a:ea typeface="BIZ UDPGothic"/>
                        </a:rPr>
                        <a:t>粗利率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BIZ UDPGothic"/>
                          <a:ea typeface="BIZ UDPGothic"/>
                        </a:rPr>
                        <a:t>36%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BIZ UDPGothic"/>
                          <a:ea typeface="BIZ UDPGothic"/>
                        </a:rPr>
                        <a:t>38%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BIZ UDPGothic"/>
                          <a:ea typeface="BIZ UDPGothic"/>
                        </a:rPr>
                        <a:t>−2ポイント</a:t>
                      </a:r>
                    </a:p>
                  </a:txBody>
                  <a:tcPr anchor="ctr"/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BIZ UDPGothic"/>
                          <a:ea typeface="BIZ UDPGothic"/>
                        </a:rPr>
                        <a:t>返品率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BIZ UDPGothic"/>
                          <a:ea typeface="BIZ UDPGothic"/>
                        </a:rPr>
                        <a:t>6%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BIZ UDPGothic"/>
                          <a:ea typeface="BIZ UDPGothic"/>
                        </a:rPr>
                        <a:t>4%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2000" lang="ja-JP">
                          <a:latin typeface="BIZ UDPGothic"/>
                          <a:ea typeface="BIZ UDPGothic"/>
                        </a:rPr>
                        <a:t>+2ポイント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212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lang="ja-JP">
                <a:solidFill>
                  <a:srgbClr val="202C39"/>
                </a:solidFill>
                <a:latin typeface="BIZ UDPGothic"/>
                <a:ea typeface="BIZ UDPGothic"/>
              </a:rPr>
              <a:t>粗利額は432万円。売上だけで次の施策を判断しない。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lang="ja-JP">
                <a:solidFill>
                  <a:srgbClr val="202C39"/>
                </a:solidFill>
                <a:latin typeface="BIZ UDPGothic"/>
                <a:ea typeface="BIZ UDPGothic"/>
              </a:rPr>
              <a:t>売上増200万円の中心は自然検索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881360" cy="32004"/>
          </a:xfrm>
          <a:prstGeom prst="rect">
            <a:avLst/>
          </a:prstGeom>
          <a:solidFill>
            <a:srgbClr val="1C6796"/>
          </a:solidFill>
          <a:ln>
            <a:solidFill>
              <a:srgbClr val="1C6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lang="ja-JP">
                <a:solidFill>
                  <a:srgbClr val="202C39"/>
                </a:solidFill>
                <a:latin typeface="BIZ UDPGothic"/>
                <a:ea typeface="BIZ UDPGothic"/>
              </a:rPr>
              <a:t>架空の組織・数値による制作サンプル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825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lang="ja-JP">
                <a:solidFill>
                  <a:srgbClr val="202C39"/>
                </a:solidFill>
                <a:latin typeface="BIZ UDPGothic"/>
                <a:ea typeface="BIZ UDPGothic"/>
              </a:rPr>
              <a:t>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9047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lang="ja-JP">
                <a:solidFill>
                  <a:srgbClr val="202C39"/>
                </a:solidFill>
                <a:latin typeface="BIZ UDPGothic"/>
                <a:ea typeface="BIZ UDPGothic"/>
              </a:rPr>
              <a:t>自然検索が売上増加額の45%を占める（90÷200）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874519"/>
          <a:ext cx="1069848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8978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lang="ja-JP">
                <a:solidFill>
                  <a:srgbClr val="202C39"/>
                </a:solidFill>
                <a:latin typeface="BIZ UDPGothic"/>
                <a:ea typeface="BIZ UDPGothic"/>
              </a:rPr>
              <a:t>前年差：広告 +20／自然検索 +90／メール +50／直訪 +40万円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100" b="1" i="0" u="none" lang="ja-JP">
                <a:solidFill>
                  <a:srgbClr val="202C39"/>
                </a:solidFill>
                <a:latin typeface="BIZ UDPGothic"/>
                <a:ea typeface="BIZ UDPGothic"/>
              </a:rPr>
              <a:t>粗利額は増え、率は2ポイント低下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1536192"/>
            <a:ext cx="48766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u="none" lang="ja-JP">
                <a:solidFill>
                  <a:srgbClr val="282828"/>
                </a:solidFill>
                <a:latin typeface="BIZ UDPGothic"/>
                <a:ea typeface="BIZ UDPGothic"/>
              </a:rPr>
              <a:t>2025年9月（架空）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103120"/>
            <a:ext cx="487667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 lang="ja-JP">
                <a:solidFill>
                  <a:srgbClr val="202C39"/>
                </a:solidFill>
                <a:latin typeface="BIZ UDPGothic"/>
                <a:ea typeface="BIZ UDPGothic"/>
              </a:rPr>
              <a:t>売上 1,000万円</a:t>
            </a:r>
          </a:p>
          <a:p>
            <a:r>
              <a:rPr b="1" sz="3000" lang="ja-JP">
                <a:solidFill>
                  <a:srgbClr val="202C39"/>
                </a:solidFill>
                <a:latin typeface="BIZ UDPGothic"/>
                <a:ea typeface="BIZ UDPGothic"/>
              </a:rPr>
              <a:t>粗利率 38%</a:t>
            </a:r>
          </a:p>
          <a:p>
            <a:r>
              <a:rPr b="1" sz="3000" lang="ja-JP">
                <a:solidFill>
                  <a:srgbClr val="202C39"/>
                </a:solidFill>
                <a:latin typeface="BIZ UDPGothic"/>
                <a:ea typeface="BIZ UDPGothic"/>
              </a:rPr>
              <a:t>粗利額 380万円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432" y="1536192"/>
            <a:ext cx="48766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u="none" lang="ja-JP">
                <a:solidFill>
                  <a:srgbClr val="0078D7"/>
                </a:solidFill>
                <a:latin typeface="BIZ UDPGothic"/>
                <a:ea typeface="BIZ UDPGothic"/>
              </a:rPr>
              <a:t>2026年9月（架空）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432" y="2103120"/>
            <a:ext cx="487667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 lang="ja-JP">
                <a:solidFill>
                  <a:srgbClr val="202C39"/>
                </a:solidFill>
                <a:latin typeface="BIZ UDPGothic"/>
                <a:ea typeface="BIZ UDPGothic"/>
              </a:rPr>
              <a:t>売上 1,200万円</a:t>
            </a:r>
          </a:p>
          <a:p>
            <a:r>
              <a:rPr b="1" sz="3000" lang="ja-JP">
                <a:solidFill>
                  <a:srgbClr val="202C39"/>
                </a:solidFill>
                <a:latin typeface="BIZ UDPGothic"/>
                <a:ea typeface="BIZ UDPGothic"/>
              </a:rPr>
              <a:t>粗利率 36%</a:t>
            </a:r>
          </a:p>
          <a:p>
            <a:r>
              <a:rPr b="1" sz="3000" lang="ja-JP">
                <a:solidFill>
                  <a:srgbClr val="202C39"/>
                </a:solidFill>
                <a:latin typeface="BIZ UDPGothic"/>
                <a:ea typeface="BIZ UDPGothic"/>
              </a:rPr>
              <a:t>粗利額 432万円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338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2100" lang="ja-JP">
                <a:solidFill>
                  <a:srgbClr val="1C4A67"/>
                </a:solidFill>
                <a:latin typeface="BIZ UDPGothic"/>
                <a:ea typeface="BIZ UDPGothic"/>
              </a:rPr>
              <a:t>額+52万円／率−2ポイント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18" y="3794760"/>
            <a:ext cx="104848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lang="ja-JP">
                <a:solidFill>
                  <a:srgbClr val="202C39"/>
                </a:solidFill>
                <a:latin typeface="BIZ UDPGothic"/>
                <a:ea typeface="BIZ UDPGothic"/>
              </a:rPr>
              <a:t>前年差（万円）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853418" y="4114800"/>
          <a:ext cx="10484857" cy="1325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79" y="1298448"/>
            <a:ext cx="10881359" cy="32004"/>
          </a:xfrm>
          <a:prstGeom prst="rect">
            <a:avLst/>
          </a:prstGeom>
          <a:solidFill>
            <a:srgbClr val="1C6796"/>
          </a:solidFill>
          <a:ln>
            <a:solidFill>
              <a:srgbClr val="1C6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9" y="6382512"/>
            <a:ext cx="91439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lang="ja-JP">
                <a:solidFill>
                  <a:srgbClr val="202C39"/>
                </a:solidFill>
                <a:latin typeface="BIZ UDPGothic"/>
                <a:ea typeface="BIZ UDPGothic"/>
              </a:rPr>
              <a:t>架空の組織・数値による制作サンプル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79" y="6382512"/>
            <a:ext cx="731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lang="ja-JP">
                <a:solidFill>
                  <a:srgbClr val="202C39"/>
                </a:solidFill>
                <a:latin typeface="BIZ UDPGothic"/>
                <a:ea typeface="BIZ UDPGothic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lang="ja-JP">
                <a:solidFill>
                  <a:srgbClr val="202C39"/>
                </a:solidFill>
                <a:latin typeface="BIZ UDPGothic"/>
                <a:ea typeface="BIZ UDPGothic"/>
              </a:rPr>
              <a:t>返品理由の分類と商品説明を先行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881360" cy="32004"/>
          </a:xfrm>
          <a:prstGeom prst="rect">
            <a:avLst/>
          </a:prstGeom>
          <a:solidFill>
            <a:srgbClr val="1C6796"/>
          </a:solidFill>
          <a:ln>
            <a:solidFill>
              <a:srgbClr val="1C6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lang="ja-JP">
                <a:solidFill>
                  <a:srgbClr val="202C39"/>
                </a:solidFill>
                <a:latin typeface="BIZ UDPGothic"/>
                <a:ea typeface="BIZ UDPGothic"/>
              </a:rPr>
              <a:t>架空の組織・数値による制作サンプル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825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lang="ja-JP">
                <a:solidFill>
                  <a:srgbClr val="202C39"/>
                </a:solidFill>
                <a:latin typeface="BIZ UDPGothic"/>
                <a:ea typeface="BIZ UDPGothic"/>
              </a:rPr>
              <a:t>5 / 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2000" b="1" lang="ja-JP">
                          <a:latin typeface="BIZ UDPGothic"/>
                          <a:ea typeface="BIZ UDPGothic"/>
                        </a:rPr>
                        <a:t>期限</a:t>
                      </a:r>
                    </a:p>
                  </a:txBody>
                  <a:tcPr anchor="ctr">
                    <a:solidFill>
                      <a:srgbClr val="1C67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lang="ja-JP">
                          <a:latin typeface="BIZ UDPGothic"/>
                          <a:ea typeface="BIZ UDPGothic"/>
                        </a:rPr>
                        <a:t>担当</a:t>
                      </a:r>
                    </a:p>
                  </a:txBody>
                  <a:tcPr anchor="ctr">
                    <a:solidFill>
                      <a:srgbClr val="1C67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lang="ja-JP">
                          <a:latin typeface="BIZ UDPGothic"/>
                          <a:ea typeface="BIZ UDPGothic"/>
                        </a:rPr>
                        <a:t>確認する作業</a:t>
                      </a:r>
                    </a:p>
                  </a:txBody>
                  <a:tcPr anchor="ctr">
                    <a:solidFill>
                      <a:srgbClr val="1C679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BIZ UDPGothic"/>
                          <a:ea typeface="BIZ UDPGothic"/>
                        </a:rPr>
                        <a:t>10/09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BIZ UDPGothic"/>
                          <a:ea typeface="BIZ UDPGothic"/>
                        </a:rPr>
                        <a:t>CS・森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BIZ UDPGothic"/>
                          <a:ea typeface="BIZ UDPGothic"/>
                        </a:rPr>
                        <a:t>上位20商品の返品理由を分類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BIZ UDPGothic"/>
                          <a:ea typeface="BIZ UDPGothic"/>
                        </a:rPr>
                        <a:t>10/16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BIZ UDPGothic"/>
                          <a:ea typeface="BIZ UDPGothic"/>
                        </a:rPr>
                        <a:t>商品・青木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BIZ UDPGothic"/>
                          <a:ea typeface="BIZ UDPGothic"/>
                        </a:rPr>
                        <a:t>返品上位5商品の説明を改稿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BIZ UDPGothic"/>
                          <a:ea typeface="BIZ UDPGothic"/>
                        </a:rPr>
                        <a:t>10/16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BIZ UDPGothic"/>
                          <a:ea typeface="BIZ UDPGothic"/>
                        </a:rPr>
                        <a:t>販売・山田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800" lang="ja-JP">
                          <a:latin typeface="BIZ UDPGothic"/>
                          <a:ea typeface="BIZ UDPGothic"/>
                        </a:rPr>
                        <a:t>粗利率の差分を商品別に分析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5778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lang="ja-JP">
                <a:solidFill>
                  <a:srgbClr val="1C6796"/>
                </a:solidFill>
                <a:latin typeface="BIZ UDPGothic"/>
                <a:ea typeface="BIZ UDPGothic"/>
              </a:rPr>
              <a:t>分類結果を商品担当へ渡し、改稿対象を決める。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lang="ja-JP">
                <a:solidFill>
                  <a:srgbClr val="202C39"/>
                </a:solidFill>
                <a:latin typeface="BIZ UDPGothic"/>
                <a:ea typeface="BIZ UDPGothic"/>
              </a:rPr>
              <a:t>次回は施策の完了と利益要因を確認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881360" cy="32004"/>
          </a:xfrm>
          <a:prstGeom prst="rect">
            <a:avLst/>
          </a:prstGeom>
          <a:solidFill>
            <a:srgbClr val="1C6796"/>
          </a:solidFill>
          <a:ln>
            <a:solidFill>
              <a:srgbClr val="1C6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lang="ja-JP">
                <a:solidFill>
                  <a:srgbClr val="202C39"/>
                </a:solidFill>
                <a:latin typeface="BIZ UDPGothic"/>
                <a:ea typeface="BIZ UDPGothic"/>
              </a:rPr>
              <a:t>架空の組織・数値による制作サンプル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3825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lang="ja-JP">
                <a:solidFill>
                  <a:srgbClr val="202C39"/>
                </a:solidFill>
                <a:latin typeface="BIZ UDPGothic"/>
                <a:ea typeface="BIZ UDPGothic"/>
              </a:rPr>
              <a:t>6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lang="ja-JP">
                <a:solidFill>
                  <a:srgbClr val="1C6796"/>
                </a:solidFill>
                <a:latin typeface="BIZ UDPGothic"/>
                <a:ea typeface="BIZ UDPGothic"/>
              </a:rPr>
              <a:t>次回は、3つの成果物で判断する。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lang="ja-JP">
                <a:solidFill>
                  <a:srgbClr val="1C6796"/>
                </a:solidFill>
                <a:latin typeface="BIZ UDPGothic"/>
                <a:ea typeface="BIZ UDPGothic"/>
              </a:rPr>
              <a:t>施策の完了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75887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lang="ja-JP">
                <a:solidFill>
                  <a:srgbClr val="202C39"/>
                </a:solidFill>
                <a:latin typeface="BIZ UDPGothic"/>
                <a:ea typeface="BIZ UDPGothic"/>
              </a:rPr>
              <a:t>担当者ごとの完了・未完了</a:t>
            </a:r>
          </a:p>
          <a:p>
            <a:r>
              <a:rPr sz="2200" b="0" lang="ja-JP">
                <a:solidFill>
                  <a:srgbClr val="202C39"/>
                </a:solidFill>
                <a:latin typeface="BIZ UDPGothic"/>
                <a:ea typeface="BIZ UDPGothic"/>
              </a:rPr>
              <a:t>未完了なら次の期限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27889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lang="ja-JP">
                <a:solidFill>
                  <a:srgbClr val="1C6796"/>
                </a:solidFill>
                <a:latin typeface="BIZ UDPGothic"/>
                <a:ea typeface="BIZ UDPGothic"/>
              </a:rPr>
              <a:t>返品の内訳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3675887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lang="ja-JP">
                <a:solidFill>
                  <a:srgbClr val="202C39"/>
                </a:solidFill>
                <a:latin typeface="BIZ UDPGothic"/>
                <a:ea typeface="BIZ UDPGothic"/>
              </a:rPr>
              <a:t>理由の分類と件数</a:t>
            </a:r>
          </a:p>
          <a:p>
            <a:r>
              <a:rPr sz="2200" b="0" lang="ja-JP">
                <a:solidFill>
                  <a:srgbClr val="202C39"/>
                </a:solidFill>
                <a:latin typeface="BIZ UDPGothic"/>
                <a:ea typeface="BIZ UDPGothic"/>
              </a:rPr>
              <a:t>商品説明に足りない情報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4464" y="27889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lang="ja-JP">
                <a:solidFill>
                  <a:srgbClr val="1C6796"/>
                </a:solidFill>
                <a:latin typeface="BIZ UDPGothic"/>
                <a:ea typeface="BIZ UDPGothic"/>
              </a:rPr>
              <a:t>商品別の粗利差分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3675887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lang="ja-JP">
                <a:solidFill>
                  <a:srgbClr val="202C39"/>
                </a:solidFill>
                <a:latin typeface="BIZ UDPGothic"/>
                <a:ea typeface="BIZ UDPGothic"/>
              </a:rPr>
              <a:t>値引き・原価・商品構成</a:t>
            </a:r>
          </a:p>
          <a:p>
            <a:r>
              <a:rPr sz="2200" b="0" lang="ja-JP">
                <a:solidFill>
                  <a:srgbClr val="202C39"/>
                </a:solidFill>
                <a:latin typeface="BIZ UDPGothic"/>
                <a:ea typeface="BIZ UDPGothic"/>
              </a:rPr>
              <a:t>前年差を分けて確認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138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lang="ja-JP">
                <a:solidFill>
                  <a:srgbClr val="202C39"/>
                </a:solidFill>
                <a:latin typeface="BIZ UDPGothic"/>
                <a:ea typeface="BIZ UDPGothic"/>
              </a:rPr>
              <a:t>広告増額は、この結果を確認してから判断する。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ja-JP</dc:language>
</cp:coreProperties>
</file>