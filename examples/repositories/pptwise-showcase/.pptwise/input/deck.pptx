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同梱input/oss-font-kit.jsonは2026-10-15の実カタログ。30書体、45個のフォントファイル、15組のプリセット、4種類の配布bundleを含む。カタログの分類は収録文字範囲や品質を測ったものではない。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familiesの件数30、各families.filesの合計45、presetsの件数15を実集計。すべてlicense=OFL-1.1。利用条件は各配布のOFLと元配布へ戻って確かめる。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元カタログにはcategory、language、use_jaと、presetsのheading/body/latin/instructionがある。この頁は制作担当がそれらを確認する手順を示す。
下の2例は実presets editorial/friendlyのheading/body。品質順位や最適性の測定ではない。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family/category/use_ja、official_url/commit、license/license_url/license_file、presetsのheading/body/latinを対応させる。原典hub_spokeは順序のない中央関係に用いる。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30件のfamiliesをlanguageで集計：ja17、latin13。合計30。原典allotmentは1カテゴリの横積み上げ棒と任意の2〜3icon_cardsを受ける。元データを図に合わせて作った数値ではない。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候補決定後も、必要な文字・版面の読みやすさ・配布元OFL・フォント登録・他環境への持ち出しを確認する。15プリセットは候補の入口で、最適性や品質の測定結果ではない。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8984707" y="5239573"/>
            <a:ext cx="93284" cy="83950"/>
          </a:xfrm>
          <a:custGeom>
            <a:avLst/>
            <a:gdLst/>
            <a:ahLst/>
            <a:cxnLst/>
            <a:rect l="l" t="t" r="r" b="b"/>
            <a:pathLst>
              <a:path w="93284" h="83950">
                <a:moveTo>
                  <a:pt x="34325" y="2892"/>
                </a:moveTo>
                <a:lnTo>
                  <a:pt x="87569" y="42992"/>
                </a:lnTo>
                <a:arcTo hR="14288" wR="14288" stAng="18412194" swAng="5400000"/>
                <a:lnTo>
                  <a:pt x="78902" y="78235"/>
                </a:lnTo>
                <a:arcTo hR="14288" wR="14288" stAng="2212194" swAng="5400000"/>
                <a:lnTo>
                  <a:pt x="5654" y="40897"/>
                </a:lnTo>
                <a:arcTo hR="14288" wR="14288" stAng="7630501" swAng="5395493"/>
                <a:lnTo>
                  <a:pt x="14322" y="5654"/>
                </a:lnTo>
                <a:arcTo hR="14288" wR="14288" stAng="13030501" swAng="5395493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54357" y="5069110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14288" y="0"/>
                </a:moveTo>
                <a:lnTo>
                  <a:pt x="42863" y="0"/>
                </a:lnTo>
                <a:arcTo hR="14288" wR="14288" stAng="16200000" swAng="5400000"/>
                <a:lnTo>
                  <a:pt x="57150" y="33338"/>
                </a:lnTo>
                <a:arcTo hR="14288" wR="14288" stAng="0" swAng="5400000"/>
                <a:lnTo>
                  <a:pt x="14288" y="47625"/>
                </a:lnTo>
                <a:arcTo hR="14288" wR="14288" stAng="5400000" swAng="5400000"/>
                <a:lnTo>
                  <a:pt x="0" y="14288"/>
                </a:lnTo>
                <a:arcTo hR="14288" wR="14288" stAng="10800000" swAng="5400000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32205" y="3691941"/>
            <a:ext cx="101676" cy="126866"/>
          </a:xfrm>
          <a:custGeom>
            <a:avLst/>
            <a:gdLst/>
            <a:ahLst/>
            <a:cxnLst/>
            <a:rect l="l" t="t" r="r" b="b"/>
            <a:pathLst>
              <a:path w="101676" h="126866">
                <a:moveTo>
                  <a:pt x="2330" y="94341"/>
                </a:moveTo>
                <a:lnTo>
                  <a:pt x="59385" y="6521"/>
                </a:lnTo>
                <a:arcTo hR="14288" wR="14288" stAng="12775710" swAng="5415279"/>
                <a:lnTo>
                  <a:pt x="95199" y="12712"/>
                </a:lnTo>
                <a:arcTo hR="14288" wR="14288" stAng="18188200" swAng="5383575"/>
                <a:lnTo>
                  <a:pt x="42335" y="120345"/>
                </a:lnTo>
                <a:arcTo hR="14288" wR="14288" stAng="1975710" swAng="5415279"/>
                <a:lnTo>
                  <a:pt x="6521" y="114153"/>
                </a:lnTo>
                <a:arcTo hR="14288" wR="14288" stAng="7375710" swAng="5415279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21723" y="5086069"/>
            <a:ext cx="129487" cy="96003"/>
          </a:xfrm>
          <a:custGeom>
            <a:avLst/>
            <a:gdLst/>
            <a:ahLst/>
            <a:cxnLst/>
            <a:rect l="l" t="t" r="r" b="b"/>
            <a:pathLst>
              <a:path w="129487" h="96003">
                <a:moveTo>
                  <a:pt x="30453" y="1805"/>
                </a:moveTo>
                <a:lnTo>
                  <a:pt x="122084" y="52574"/>
                </a:lnTo>
                <a:arcTo hR="14288" wR="14288" stAng="17928453" swAng="5407410"/>
                <a:lnTo>
                  <a:pt x="118464" y="88673"/>
                </a:lnTo>
                <a:arcTo hR="14288" wR="14288" stAng="1748493" swAng="5398472"/>
                <a:lnTo>
                  <a:pt x="7403" y="43430"/>
                </a:lnTo>
                <a:arcTo hR="14288" wR="14288" stAng="7128453" swAng="5407410"/>
                <a:lnTo>
                  <a:pt x="11022" y="7330"/>
                </a:lnTo>
                <a:arcTo hR="14288" wR="14288" stAng="12548493" swAng="5398472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73158" y="4060497"/>
            <a:ext cx="78412" cy="95843"/>
          </a:xfrm>
          <a:custGeom>
            <a:avLst/>
            <a:gdLst/>
            <a:ahLst/>
            <a:cxnLst/>
            <a:rect l="l" t="t" r="r" b="b"/>
            <a:pathLst>
              <a:path w="78412" h="95843">
                <a:moveTo>
                  <a:pt x="43159" y="7155"/>
                </a:moveTo>
                <a:lnTo>
                  <a:pt x="76497" y="64876"/>
                </a:lnTo>
                <a:arcTo hR="14288" wR="14288" stAng="19799192" swAng="5403820"/>
                <a:lnTo>
                  <a:pt x="54780" y="93927"/>
                </a:lnTo>
                <a:arcTo hR="14288" wR="14288" stAng="3599192" swAng="5403820"/>
                <a:lnTo>
                  <a:pt x="1916" y="30967"/>
                </a:lnTo>
                <a:arcTo hR="14288" wR="14288" stAng="8999192" swAng="5403820"/>
                <a:lnTo>
                  <a:pt x="23633" y="1916"/>
                </a:lnTo>
                <a:arcTo hR="14288" wR="14288" stAng="14399192" swAng="5403820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66155" y="3670007"/>
            <a:ext cx="97409" cy="57878"/>
          </a:xfrm>
          <a:custGeom>
            <a:avLst/>
            <a:gdLst/>
            <a:ahLst/>
            <a:cxnLst/>
            <a:rect l="l" t="t" r="r" b="b"/>
            <a:pathLst>
              <a:path w="97409" h="57878">
                <a:moveTo>
                  <a:pt x="19502" y="166"/>
                </a:moveTo>
                <a:lnTo>
                  <a:pt x="85415" y="10644"/>
                </a:lnTo>
                <a:arcTo hR="14288" wR="14288" stAng="16754189" swAng="5396944"/>
                <a:lnTo>
                  <a:pt x="94273" y="45791"/>
                </a:lnTo>
                <a:arcTo hR="14288" wR="14288" stAng="531563" swAng="5415966"/>
                <a:lnTo>
                  <a:pt x="12072" y="47220"/>
                </a:lnTo>
                <a:arcTo hR="14288" wR="14288" stAng="5935123" swAng="5389763"/>
                <a:lnTo>
                  <a:pt x="3214" y="12072"/>
                </a:lnTo>
                <a:arcTo hR="14288" wR="14288" stAng="11335123" swAng="5389763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50639" y="5470888"/>
            <a:ext cx="120420" cy="120490"/>
          </a:xfrm>
          <a:custGeom>
            <a:avLst/>
            <a:gdLst/>
            <a:ahLst/>
            <a:cxnLst/>
            <a:rect l="l" t="t" r="r" b="b"/>
            <a:pathLst>
              <a:path w="120420" h="120490">
                <a:moveTo>
                  <a:pt x="57188" y="2177"/>
                </a:moveTo>
                <a:lnTo>
                  <a:pt x="113672" y="37514"/>
                </a:lnTo>
                <a:arcTo hR="14288" wR="14288" stAng="18110841" swAng="5411688"/>
                <a:lnTo>
                  <a:pt x="82906" y="113810"/>
                </a:lnTo>
                <a:arcTo hR="14288" wR="14288" stAng="1930246" swAng="5404431"/>
                <a:lnTo>
                  <a:pt x="6706" y="82949"/>
                </a:lnTo>
                <a:arcTo hR="14288" wR="14288" stAng="7322945" swAng="5380137"/>
                <a:lnTo>
                  <a:pt x="37472" y="6749"/>
                </a:lnTo>
                <a:arcTo hR="14288" wR="14288" stAng="12710841" swAng="5411688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89140" y="4454445"/>
            <a:ext cx="57669" cy="39567"/>
          </a:xfrm>
          <a:custGeom>
            <a:avLst/>
            <a:gdLst/>
            <a:ahLst/>
            <a:cxnLst/>
            <a:rect l="l" t="t" r="r" b="b"/>
            <a:pathLst>
              <a:path w="57669" h="39567">
                <a:moveTo>
                  <a:pt x="15547" y="16"/>
                </a:moveTo>
                <a:lnTo>
                  <a:pt x="44122" y="1445"/>
                </a:lnTo>
                <a:arcTo hR="14288" wR="14288" stAng="16378284" swAng="5409778"/>
                <a:lnTo>
                  <a:pt x="57171" y="26020"/>
                </a:lnTo>
                <a:arcTo hR="14288" wR="14288" stAng="178284" swAng="5409778"/>
                <a:lnTo>
                  <a:pt x="13547" y="38021"/>
                </a:lnTo>
                <a:arcTo hR="14288" wR="14288" stAng="5578284" swAng="5409778"/>
                <a:lnTo>
                  <a:pt x="593" y="13542"/>
                </a:lnTo>
                <a:arcTo hR="14288" wR="14288" stAng="10979461" swAng="5385714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69067" y="4914614"/>
            <a:ext cx="123776" cy="106870"/>
          </a:xfrm>
          <a:custGeom>
            <a:avLst/>
            <a:gdLst/>
            <a:ahLst/>
            <a:cxnLst/>
            <a:rect l="l" t="t" r="r" b="b"/>
            <a:pathLst>
              <a:path w="123776" h="106870">
                <a:moveTo>
                  <a:pt x="34431" y="2857"/>
                </a:moveTo>
                <a:lnTo>
                  <a:pt x="118061" y="65913"/>
                </a:lnTo>
                <a:arcTo hR="14288" wR="14288" stAng="18412194" swAng="5400000"/>
                <a:lnTo>
                  <a:pt x="109393" y="101156"/>
                </a:lnTo>
                <a:arcTo hR="14288" wR="14288" stAng="2212194" swAng="5400000"/>
                <a:lnTo>
                  <a:pt x="5761" y="40957"/>
                </a:lnTo>
                <a:arcTo hR="14288" wR="14288" stAng="7598394" swAng="5432163"/>
                <a:lnTo>
                  <a:pt x="14429" y="5715"/>
                </a:lnTo>
                <a:arcTo hR="14288" wR="14288" stAng="13012194" swAng="5400000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98580" y="4417746"/>
            <a:ext cx="100013" cy="88913"/>
          </a:xfrm>
          <a:custGeom>
            <a:avLst/>
            <a:gdLst/>
            <a:ahLst/>
            <a:cxnLst/>
            <a:rect l="l" t="t" r="r" b="b"/>
            <a:pathLst>
              <a:path w="100013" h="88913">
                <a:moveTo>
                  <a:pt x="82201" y="6521"/>
                </a:moveTo>
                <a:lnTo>
                  <a:pt x="97727" y="30524"/>
                </a:lnTo>
                <a:arcTo hR="14288" wR="14288" stAng="19628225" swAng="5383575"/>
                <a:lnTo>
                  <a:pt x="37624" y="86626"/>
                </a:lnTo>
                <a:arcTo hR="14288" wR="14288" stAng="3428225" swAng="5383575"/>
                <a:lnTo>
                  <a:pt x="2286" y="58432"/>
                </a:lnTo>
                <a:arcTo hR="14288" wR="14288" stAng="8828225" swAng="5383575"/>
                <a:lnTo>
                  <a:pt x="62389" y="2330"/>
                </a:lnTo>
                <a:arcTo hR="14288" wR="14288" stAng="14209011" swAng="5415279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81574" y="4823871"/>
            <a:ext cx="122490" cy="92158"/>
          </a:xfrm>
          <a:custGeom>
            <a:avLst/>
            <a:gdLst/>
            <a:ahLst/>
            <a:cxnLst/>
            <a:rect l="l" t="t" r="r" b="b"/>
            <a:pathLst>
              <a:path w="122490" h="92158">
                <a:moveTo>
                  <a:pt x="26873" y="2161"/>
                </a:moveTo>
                <a:lnTo>
                  <a:pt x="115741" y="57596"/>
                </a:lnTo>
                <a:arcTo hR="14288" wR="14288" stAng="18110841" swAng="5411688"/>
                <a:lnTo>
                  <a:pt x="115265" y="85409"/>
                </a:lnTo>
                <a:arcTo hR="14288" wR="14288" stAng="1910841" swAng="5411688"/>
                <a:lnTo>
                  <a:pt x="6680" y="34450"/>
                </a:lnTo>
                <a:arcTo hR="14288" wR="14288" stAng="7330246" swAng="5404431"/>
                <a:lnTo>
                  <a:pt x="7252" y="6637"/>
                </a:lnTo>
                <a:arcTo hR="14288" wR="14288" stAng="12742420" swAng="5372880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960023" y="5330896"/>
            <a:ext cx="62839" cy="59643"/>
          </a:xfrm>
          <a:custGeom>
            <a:avLst/>
            <a:gdLst/>
            <a:ahLst/>
            <a:cxnLst/>
            <a:rect l="l" t="t" r="r" b="b"/>
            <a:pathLst>
              <a:path w="62839" h="59643">
                <a:moveTo>
                  <a:pt x="31446" y="2056"/>
                </a:moveTo>
                <a:lnTo>
                  <a:pt x="55926" y="16724"/>
                </a:lnTo>
                <a:arcTo hR="14288" wR="14288" stAng="18064270" swAng="5402827"/>
                <a:lnTo>
                  <a:pt x="50973" y="52729"/>
                </a:lnTo>
                <a:arcTo hR="14288" wR="14288" stAng="1864270" swAng="5402827"/>
                <a:lnTo>
                  <a:pt x="6872" y="42823"/>
                </a:lnTo>
                <a:arcTo hR="14288" wR="14288" stAng="7276058" swAng="5371428"/>
                <a:lnTo>
                  <a:pt x="11825" y="6914"/>
                </a:lnTo>
                <a:arcTo hR="14288" wR="14288" stAng="12664270" swAng="5402827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3882466"/>
            <a:ext cx="115824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資料に使うフォントを選ぶ</a:t>
            </a:r>
            <a:endParaRPr lang="en-US" sz="54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4797400"/>
            <a:ext cx="11582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実カタログの書体・構成・利用条件</a:t>
            </a:r>
            <a:endParaRPr lang="en-US" sz="19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8"/>
          </a:solidFill>
          <a:ln/>
        </p:spPr>
      </p:sp>
      <p:sp>
        <p:nvSpPr>
          <p:cNvPr id="3" name="Shape 1"/>
          <p:cNvSpPr/>
          <p:nvPr/>
        </p:nvSpPr>
        <p:spPr>
          <a:xfrm>
            <a:off x="11140440" y="1394044"/>
            <a:ext cx="76295" cy="87509"/>
          </a:xfrm>
          <a:custGeom>
            <a:avLst/>
            <a:gdLst/>
            <a:ahLst/>
            <a:cxnLst/>
            <a:rect l="l" t="t" r="r" b="b"/>
            <a:pathLst>
              <a:path w="76295" h="87509">
                <a:moveTo>
                  <a:pt x="2857" y="58899"/>
                </a:moveTo>
                <a:lnTo>
                  <a:pt x="43053" y="5654"/>
                </a:lnTo>
                <a:arcTo hR="14288" wR="14288" stAng="13030501" swAng="5395493"/>
                <a:lnTo>
                  <a:pt x="70580" y="8607"/>
                </a:lnTo>
                <a:arcTo hR="14288" wR="14288" stAng="18412194" swAng="5400000"/>
                <a:lnTo>
                  <a:pt x="33337" y="81854"/>
                </a:lnTo>
                <a:arcTo hR="14288" wR="14288" stAng="2230501" swAng="5395493"/>
                <a:lnTo>
                  <a:pt x="5715" y="78902"/>
                </a:lnTo>
                <a:arcTo hR="14288" wR="14288" stAng="7612194" swAng="5400000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34235" y="580166"/>
            <a:ext cx="62481" cy="62011"/>
          </a:xfrm>
          <a:custGeom>
            <a:avLst/>
            <a:gdLst/>
            <a:ahLst/>
            <a:cxnLst/>
            <a:rect l="l" t="t" r="r" b="b"/>
            <a:pathLst>
              <a:path w="62481" h="62011">
                <a:moveTo>
                  <a:pt x="37003" y="3812"/>
                </a:moveTo>
                <a:lnTo>
                  <a:pt x="57958" y="23338"/>
                </a:lnTo>
                <a:arcTo hR="14288" wR="14288" stAng="18786798" swAng="5399465"/>
                <a:lnTo>
                  <a:pt x="45671" y="57438"/>
                </a:lnTo>
                <a:arcTo hR="14288" wR="14288" stAng="2570030" swAng="5400611"/>
                <a:lnTo>
                  <a:pt x="4523" y="38673"/>
                </a:lnTo>
                <a:arcTo hR="14288" wR="14288" stAng="7986798" swAng="5399465"/>
                <a:lnTo>
                  <a:pt x="16810" y="4574"/>
                </a:lnTo>
                <a:arcTo hR="14288" wR="14288" stAng="13370030" swAng="5400611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56786" y="581707"/>
            <a:ext cx="99806" cy="89599"/>
          </a:xfrm>
          <a:custGeom>
            <a:avLst/>
            <a:gdLst/>
            <a:ahLst/>
            <a:cxnLst/>
            <a:rect l="l" t="t" r="r" b="b"/>
            <a:pathLst>
              <a:path w="99806" h="89599">
                <a:moveTo>
                  <a:pt x="2491" y="29988"/>
                </a:moveTo>
                <a:lnTo>
                  <a:pt x="18398" y="6366"/>
                </a:lnTo>
                <a:arcTo hR="14288" wR="14288" stAng="12820239" swAng="5427655"/>
                <a:lnTo>
                  <a:pt x="93550" y="39799"/>
                </a:lnTo>
                <a:arcTo hR="14288" wR="14288" stAng="18252063" swAng="5389610"/>
                <a:lnTo>
                  <a:pt x="81453" y="83233"/>
                </a:lnTo>
                <a:arcTo hR="14288" wR="14288" stAng="2020239" swAng="5427655"/>
                <a:lnTo>
                  <a:pt x="6301" y="49896"/>
                </a:lnTo>
                <a:arcTo hR="14288" wR="14288" stAng="7439186" swAng="5421467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23690" y="865619"/>
            <a:ext cx="68353" cy="99198"/>
          </a:xfrm>
          <a:custGeom>
            <a:avLst/>
            <a:gdLst/>
            <a:ahLst/>
            <a:cxnLst/>
            <a:rect l="l" t="t" r="r" b="b"/>
            <a:pathLst>
              <a:path w="68353" h="99198">
                <a:moveTo>
                  <a:pt x="11840" y="5157"/>
                </a:moveTo>
                <a:lnTo>
                  <a:pt x="40034" y="204"/>
                </a:lnTo>
                <a:arcTo hR="14288" wR="14288" stAng="15618638" swAng="5385714"/>
                <a:lnTo>
                  <a:pt x="68133" y="77452"/>
                </a:lnTo>
                <a:arcTo hR="14288" wR="14288" stAng="20996060" swAng="5412223"/>
                <a:lnTo>
                  <a:pt x="28414" y="98978"/>
                </a:lnTo>
                <a:arcTo hR="14288" wR="14288" stAng="4796060" swAng="5412223"/>
                <a:lnTo>
                  <a:pt x="220" y="21730"/>
                </a:lnTo>
                <a:arcTo hR="14288" wR="14288" stAng="10196060" swAng="5412223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062301" y="999996"/>
            <a:ext cx="58463" cy="49503"/>
          </a:xfrm>
          <a:custGeom>
            <a:avLst/>
            <a:gdLst/>
            <a:ahLst/>
            <a:cxnLst/>
            <a:rect l="l" t="t" r="r" b="b"/>
            <a:pathLst>
              <a:path w="58463" h="49503">
                <a:moveTo>
                  <a:pt x="13369" y="2034"/>
                </a:moveTo>
                <a:lnTo>
                  <a:pt x="41849" y="34"/>
                </a:lnTo>
                <a:arcTo hR="14288" wR="14288" stAng="15961966" swAng="5393965"/>
                <a:lnTo>
                  <a:pt x="58422" y="32229"/>
                </a:lnTo>
                <a:arcTo hR="14288" wR="14288" stAng="21339105" swAng="5418488"/>
                <a:lnTo>
                  <a:pt x="16607" y="49469"/>
                </a:lnTo>
                <a:arcTo hR="14288" wR="14288" stAng="5161966" swAng="5393965"/>
                <a:lnTo>
                  <a:pt x="34" y="17274"/>
                </a:lnTo>
                <a:arcTo hR="14288" wR="14288" stAng="10563516" swAng="5415279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31940" y="1347358"/>
            <a:ext cx="134870" cy="72392"/>
          </a:xfrm>
          <a:custGeom>
            <a:avLst/>
            <a:gdLst/>
            <a:ahLst/>
            <a:cxnLst/>
            <a:rect l="l" t="t" r="r" b="b"/>
            <a:pathLst>
              <a:path w="134870" h="72392">
                <a:moveTo>
                  <a:pt x="10902" y="25766"/>
                </a:moveTo>
                <a:lnTo>
                  <a:pt x="112533" y="430"/>
                </a:lnTo>
                <a:arcTo hR="14288" wR="14288" stAng="15354855" swAng="5400382"/>
                <a:lnTo>
                  <a:pt x="134441" y="29290"/>
                </a:lnTo>
                <a:arcTo hR="14288" wR="14288" stAng="20754855" swAng="5400382"/>
                <a:lnTo>
                  <a:pt x="22427" y="71962"/>
                </a:lnTo>
                <a:arcTo hR="14288" wR="14288" stAng="4554855" swAng="5400382"/>
                <a:lnTo>
                  <a:pt x="424" y="43102"/>
                </a:lnTo>
                <a:arcTo hR="14288" wR="14288" stAng="9960359" swAng="5417112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76525" y="870931"/>
            <a:ext cx="53375" cy="57089"/>
          </a:xfrm>
          <a:custGeom>
            <a:avLst/>
            <a:gdLst/>
            <a:ahLst/>
            <a:cxnLst/>
            <a:rect l="l" t="t" r="r" b="b"/>
            <a:pathLst>
              <a:path w="53375" h="57089">
                <a:moveTo>
                  <a:pt x="33277" y="5654"/>
                </a:moveTo>
                <a:lnTo>
                  <a:pt x="50517" y="28514"/>
                </a:lnTo>
                <a:arcTo hR="14288" wR="14288" stAng="19387806" swAng="5400000"/>
                <a:lnTo>
                  <a:pt x="40040" y="54232"/>
                </a:lnTo>
                <a:arcTo hR="14288" wR="14288" stAng="3187806" swAng="5400000"/>
                <a:lnTo>
                  <a:pt x="2892" y="28610"/>
                </a:lnTo>
                <a:arcTo hR="14288" wR="14288" stAng="8574006" swAng="5395493"/>
                <a:lnTo>
                  <a:pt x="13274" y="2892"/>
                </a:lnTo>
                <a:arcTo hR="14288" wR="14288" stAng="13974006" swAng="5395493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770084" y="576504"/>
            <a:ext cx="80816" cy="94818"/>
          </a:xfrm>
          <a:custGeom>
            <a:avLst/>
            <a:gdLst/>
            <a:ahLst/>
            <a:cxnLst/>
            <a:rect l="l" t="t" r="r" b="b"/>
            <a:pathLst>
              <a:path w="80816" h="94818">
                <a:moveTo>
                  <a:pt x="2286" y="62433"/>
                </a:moveTo>
                <a:lnTo>
                  <a:pt x="38577" y="6521"/>
                </a:lnTo>
                <a:arcTo hR="14288" wR="14288" stAng="12775710" swAng="5415279"/>
                <a:lnTo>
                  <a:pt x="74295" y="12617"/>
                </a:lnTo>
                <a:arcTo hR="14288" wR="14288" stAng="18175710" swAng="5415279"/>
                <a:lnTo>
                  <a:pt x="42196" y="88341"/>
                </a:lnTo>
                <a:arcTo hR="14288" wR="14288" stAng="1988200" swAng="5383575"/>
                <a:lnTo>
                  <a:pt x="6477" y="82149"/>
                </a:lnTo>
                <a:arcTo hR="14288" wR="14288" stAng="7388200" swAng="5383575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492549" y="953309"/>
            <a:ext cx="72370" cy="100205"/>
          </a:xfrm>
          <a:custGeom>
            <a:avLst/>
            <a:gdLst/>
            <a:ahLst/>
            <a:cxnLst/>
            <a:rect l="l" t="t" r="r" b="b"/>
            <a:pathLst>
              <a:path w="72370" h="100205">
                <a:moveTo>
                  <a:pt x="10812" y="7383"/>
                </a:moveTo>
                <a:lnTo>
                  <a:pt x="38530" y="430"/>
                </a:lnTo>
                <a:arcTo hR="14288" wR="14288" stAng="15354855" swAng="5400382"/>
                <a:lnTo>
                  <a:pt x="71962" y="75582"/>
                </a:lnTo>
                <a:arcTo hR="14288" wR="14288" stAng="20777081" swAng="5372651"/>
                <a:lnTo>
                  <a:pt x="33862" y="99775"/>
                </a:lnTo>
                <a:arcTo hR="14288" wR="14288" stAng="4554855" swAng="5400382"/>
                <a:lnTo>
                  <a:pt x="430" y="24718"/>
                </a:lnTo>
                <a:arcTo hR="14288" wR="14288" stAng="9954855" swAng="5400382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758442" y="1512268"/>
            <a:ext cx="136722" cy="100617"/>
          </a:xfrm>
          <a:custGeom>
            <a:avLst/>
            <a:gdLst/>
            <a:ahLst/>
            <a:cxnLst/>
            <a:rect l="l" t="t" r="r" b="b"/>
            <a:pathLst>
              <a:path w="136722" h="100617">
                <a:moveTo>
                  <a:pt x="13547" y="5446"/>
                </a:moveTo>
                <a:lnTo>
                  <a:pt x="118227" y="16"/>
                </a:lnTo>
                <a:arcTo hR="14288" wR="14288" stAng="16034825" swAng="5385714"/>
                <a:lnTo>
                  <a:pt x="136705" y="80122"/>
                </a:lnTo>
                <a:arcTo hR="14288" wR="14288" stAng="21434825" swAng="5385714"/>
                <a:lnTo>
                  <a:pt x="18500" y="100600"/>
                </a:lnTo>
                <a:arcTo hR="14288" wR="14288" stAng="5234825" swAng="5385714"/>
                <a:lnTo>
                  <a:pt x="21" y="20495"/>
                </a:lnTo>
                <a:arcTo hR="14288" wR="14288" stAng="10611938" swAng="5409778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79320" y="1408604"/>
            <a:ext cx="60867" cy="54003"/>
          </a:xfrm>
          <a:custGeom>
            <a:avLst/>
            <a:gdLst/>
            <a:ahLst/>
            <a:cxnLst/>
            <a:rect l="l" t="t" r="r" b="b"/>
            <a:pathLst>
              <a:path w="60867" h="54003">
                <a:moveTo>
                  <a:pt x="10812" y="7288"/>
                </a:moveTo>
                <a:lnTo>
                  <a:pt x="38530" y="430"/>
                </a:lnTo>
                <a:arcTo hR="14288" wR="14288" stAng="15354855" swAng="5400382"/>
                <a:lnTo>
                  <a:pt x="60437" y="29290"/>
                </a:lnTo>
                <a:arcTo hR="14288" wR="14288" stAng="20754855" swAng="5400382"/>
                <a:lnTo>
                  <a:pt x="22337" y="53579"/>
                </a:lnTo>
                <a:arcTo hR="14288" wR="14288" stAng="4560359" swAng="5417112"/>
                <a:lnTo>
                  <a:pt x="430" y="24623"/>
                </a:lnTo>
                <a:arcTo hR="14288" wR="14288" stAng="9954855" swAng="5400382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0745" y="1358534"/>
            <a:ext cx="96140" cy="51092"/>
          </a:xfrm>
          <a:custGeom>
            <a:avLst/>
            <a:gdLst/>
            <a:ahLst/>
            <a:cxnLst/>
            <a:rect l="l" t="t" r="r" b="b"/>
            <a:pathLst>
              <a:path w="96140" h="51092">
                <a:moveTo>
                  <a:pt x="13542" y="3541"/>
                </a:moveTo>
                <a:lnTo>
                  <a:pt x="80122" y="16"/>
                </a:lnTo>
                <a:arcTo hR="14288" wR="14288" stAng="16034825" swAng="5385714"/>
                <a:lnTo>
                  <a:pt x="96124" y="32592"/>
                </a:lnTo>
                <a:arcTo hR="14288" wR="14288" stAng="21434825" swAng="5385714"/>
                <a:lnTo>
                  <a:pt x="16018" y="51070"/>
                </a:lnTo>
                <a:arcTo hR="14288" wR="14288" stAng="5211938" swAng="5409778"/>
                <a:lnTo>
                  <a:pt x="16" y="18495"/>
                </a:lnTo>
                <a:arcTo hR="14288" wR="14288" stAng="10634825" swAng="5385714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69048" y="910010"/>
            <a:ext cx="97091" cy="55644"/>
          </a:xfrm>
          <a:custGeom>
            <a:avLst/>
            <a:gdLst/>
            <a:ahLst/>
            <a:cxnLst/>
            <a:rect l="l" t="t" r="r" b="b"/>
            <a:pathLst>
              <a:path w="97091" h="55644">
                <a:moveTo>
                  <a:pt x="18298" y="104"/>
                </a:moveTo>
                <a:lnTo>
                  <a:pt x="84497" y="8200"/>
                </a:lnTo>
                <a:arcTo hR="14288" wR="14288" stAng="16608549" swAng="5429412"/>
                <a:lnTo>
                  <a:pt x="94593" y="43062"/>
                </a:lnTo>
                <a:arcTo hR="14288" wR="14288" stAng="411386" swAng="5403820"/>
                <a:lnTo>
                  <a:pt x="12488" y="47348"/>
                </a:lnTo>
                <a:arcTo hR="14288" wR="14288" stAng="5834136" swAng="5383881"/>
                <a:lnTo>
                  <a:pt x="2391" y="12582"/>
                </a:lnTo>
                <a:arcTo hR="14288" wR="14288" stAng="11211386" swAng="5403820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648215" y="951497"/>
            <a:ext cx="138690" cy="104114"/>
          </a:xfrm>
          <a:custGeom>
            <a:avLst/>
            <a:gdLst/>
            <a:ahLst/>
            <a:cxnLst/>
            <a:rect l="l" t="t" r="r" b="b"/>
            <a:pathLst>
              <a:path w="138690" h="104114">
                <a:moveTo>
                  <a:pt x="21291" y="51"/>
                </a:moveTo>
                <a:lnTo>
                  <a:pt x="125685" y="9195"/>
                </a:lnTo>
                <a:arcTo hR="14288" wR="14288" stAng="16509111" swAng="5380137"/>
                <a:lnTo>
                  <a:pt x="132829" y="91110"/>
                </a:lnTo>
                <a:arcTo hR="14288" wR="14288" stAng="309111" swAng="5380137"/>
                <a:lnTo>
                  <a:pt x="13005" y="94920"/>
                </a:lnTo>
                <a:arcTo hR="14288" wR="14288" stAng="5709111" swAng="5380137"/>
                <a:lnTo>
                  <a:pt x="5861" y="13005"/>
                </a:lnTo>
                <a:arcTo hR="14288" wR="14288" stAng="11109111" swAng="5380137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136018" y="6415190"/>
            <a:ext cx="58671" cy="47241"/>
          </a:xfrm>
          <a:custGeom>
            <a:avLst/>
            <a:gdLst/>
            <a:ahLst/>
            <a:cxnLst/>
            <a:rect l="l" t="t" r="r" b="b"/>
            <a:pathLst>
              <a:path w="58671" h="47241">
                <a:moveTo>
                  <a:pt x="9422" y="10661"/>
                </a:moveTo>
                <a:lnTo>
                  <a:pt x="36283" y="850"/>
                </a:lnTo>
                <a:arcTo hR="14288" wR="14288" stAng="15008265" swAng="5397250"/>
                <a:lnTo>
                  <a:pt x="57809" y="18376"/>
                </a:lnTo>
                <a:arcTo hR="14288" wR="14288" stAng="20400394" swAng="5383575"/>
                <a:lnTo>
                  <a:pt x="22472" y="46379"/>
                </a:lnTo>
                <a:arcTo hR="14288" wR="14288" stAng="4200394" swAng="5383575"/>
                <a:lnTo>
                  <a:pt x="850" y="28949"/>
                </a:lnTo>
                <a:arcTo hR="14288" wR="14288" stAng="9608265" swAng="5397250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794808" y="6122657"/>
            <a:ext cx="140640" cy="152737"/>
          </a:xfrm>
          <a:custGeom>
            <a:avLst/>
            <a:gdLst/>
            <a:ahLst/>
            <a:cxnLst/>
            <a:rect l="l" t="t" r="r" b="b"/>
            <a:pathLst>
              <a:path w="140640" h="152737">
                <a:moveTo>
                  <a:pt x="82933" y="6680"/>
                </a:moveTo>
                <a:lnTo>
                  <a:pt x="138463" y="95548"/>
                </a:lnTo>
                <a:arcTo hR="14288" wR="14288" stAng="19677471" swAng="5411688"/>
                <a:lnTo>
                  <a:pt x="77313" y="150603"/>
                </a:lnTo>
                <a:arcTo hR="14288" wR="14288" stAng="3496917" swAng="5380137"/>
                <a:lnTo>
                  <a:pt x="2161" y="57163"/>
                </a:lnTo>
                <a:arcTo hR="14288" wR="14288" stAng="8884701" swAng="5372880"/>
                <a:lnTo>
                  <a:pt x="63216" y="2203"/>
                </a:lnTo>
                <a:arcTo hR="14288" wR="14288" stAng="14265323" swAng="5404431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339635" y="5950567"/>
            <a:ext cx="59868" cy="62889"/>
          </a:xfrm>
          <a:custGeom>
            <a:avLst/>
            <a:gdLst/>
            <a:ahLst/>
            <a:cxnLst/>
            <a:rect l="l" t="t" r="r" b="b"/>
            <a:pathLst>
              <a:path w="59868" h="62889">
                <a:moveTo>
                  <a:pt x="2134" y="31037"/>
                </a:moveTo>
                <a:lnTo>
                  <a:pt x="17279" y="6749"/>
                </a:lnTo>
                <a:arcTo hR="14288" wR="14288" stAng="12710841" swAng="5411688"/>
                <a:lnTo>
                  <a:pt x="53188" y="12273"/>
                </a:lnTo>
                <a:arcTo hR="14288" wR="14288" stAng="18130246" swAng="5404431"/>
                <a:lnTo>
                  <a:pt x="42520" y="56183"/>
                </a:lnTo>
                <a:arcTo hR="14288" wR="14288" stAng="1922945" swAng="5380137"/>
                <a:lnTo>
                  <a:pt x="6706" y="50659"/>
                </a:lnTo>
                <a:arcTo hR="14288" wR="14288" stAng="7322945" swAng="5380137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13257" y="6333653"/>
            <a:ext cx="58632" cy="48569"/>
          </a:xfrm>
          <a:custGeom>
            <a:avLst/>
            <a:gdLst/>
            <a:ahLst/>
            <a:cxnLst/>
            <a:rect l="l" t="t" r="r" b="b"/>
            <a:pathLst>
              <a:path w="58632" h="48569">
                <a:moveTo>
                  <a:pt x="23584" y="1139"/>
                </a:moveTo>
                <a:lnTo>
                  <a:pt x="49873" y="12283"/>
                </a:lnTo>
                <a:arcTo hR="14288" wR="14288" stAng="17565918" swAng="5415966"/>
                <a:lnTo>
                  <a:pt x="53778" y="39810"/>
                </a:lnTo>
                <a:arcTo hR="14288" wR="14288" stAng="1365918" swAng="5415966"/>
                <a:lnTo>
                  <a:pt x="8725" y="36191"/>
                </a:lnTo>
                <a:arcTo hR="14288" wR="14288" stAng="6774820" swAng="5385943"/>
                <a:lnTo>
                  <a:pt x="4820" y="8759"/>
                </a:lnTo>
                <a:arcTo hR="14288" wR="14288" stAng="12165918" swAng="5415966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642682" y="5648401"/>
            <a:ext cx="96416" cy="76660"/>
          </a:xfrm>
          <a:custGeom>
            <a:avLst/>
            <a:gdLst/>
            <a:ahLst/>
            <a:cxnLst/>
            <a:rect l="l" t="t" r="r" b="b"/>
            <a:pathLst>
              <a:path w="96416" h="76660">
                <a:moveTo>
                  <a:pt x="29872" y="1639"/>
                </a:moveTo>
                <a:lnTo>
                  <a:pt x="88832" y="32881"/>
                </a:lnTo>
                <a:arcTo hR="14288" wR="14288" stAng="17878956" swAng="5404049"/>
                <a:lnTo>
                  <a:pt x="85784" y="69076"/>
                </a:lnTo>
                <a:arcTo hR="14288" wR="14288" stAng="1678956" swAng="5404049"/>
                <a:lnTo>
                  <a:pt x="7584" y="43644"/>
                </a:lnTo>
                <a:arcTo hR="14288" wR="14288" stAng="7078956" swAng="5404049"/>
                <a:lnTo>
                  <a:pt x="10632" y="7544"/>
                </a:lnTo>
                <a:arcTo hR="14288" wR="14288" stAng="12489674" swAng="5373109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09600" y="6560515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実カタログ / 2026-10-15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3" name="pptwise-slidenum-s0001"/>
          <p:cNvSpPr/>
          <p:nvPr/>
        </p:nvSpPr>
        <p:spPr>
          <a:xfrm>
            <a:off x="0" y="6560515"/>
            <a:ext cx="113858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fld id="{B6F15528-21DE-4FAA-801E-634DDDAF4B2B}" type="slidenum"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2</a:t>
            </a:fld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25809" y="6560515"/>
            <a:ext cx="76619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/ 6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9600" y="2463241"/>
            <a:ext cx="115824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候補の範囲を、元データで確かめる</a:t>
            </a:r>
            <a:endParaRPr lang="en-US" sz="54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9600" y="4762500"/>
            <a:ext cx="10972800" cy="9525"/>
          </a:xfrm>
          <a:prstGeom prst="rect">
            <a:avLst/>
          </a:prstGeom>
          <a:solidFill>
            <a:srgbClr val="665E52"/>
          </a:solidFill>
          <a:ln/>
        </p:spPr>
      </p:sp>
      <p:sp>
        <p:nvSpPr>
          <p:cNvPr id="27" name="Text 25"/>
          <p:cNvSpPr/>
          <p:nvPr/>
        </p:nvSpPr>
        <p:spPr>
          <a:xfrm>
            <a:off x="609600" y="5069967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実カタログには30書体・45ファイルを収録。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9600" y="5355717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15組のプリセットから、用途に合う組合せを探せます。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9600" y="6208090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出典：input/oss-font-kit.json（2026-10-15）。掲載候補の品質順位ではありません。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8"/>
          </a:solidFill>
          <a:ln/>
        </p:spPr>
      </p:sp>
      <p:sp>
        <p:nvSpPr>
          <p:cNvPr id="3" name="Shape 1"/>
          <p:cNvSpPr/>
          <p:nvPr/>
        </p:nvSpPr>
        <p:spPr>
          <a:xfrm>
            <a:off x="10842990" y="351393"/>
            <a:ext cx="60739" cy="53600"/>
          </a:xfrm>
          <a:custGeom>
            <a:avLst/>
            <a:gdLst/>
            <a:ahLst/>
            <a:cxnLst/>
            <a:rect l="l" t="t" r="r" b="b"/>
            <a:pathLst>
              <a:path w="60739" h="53600">
                <a:moveTo>
                  <a:pt x="11129" y="6843"/>
                </a:moveTo>
                <a:lnTo>
                  <a:pt x="38942" y="366"/>
                </a:lnTo>
                <a:arcTo hR="14288" wR="14288" stAng="15420726" swAng="5412911"/>
                <a:lnTo>
                  <a:pt x="60373" y="29703"/>
                </a:lnTo>
                <a:arcTo hR="14288" wR="14288" stAng="20820726" swAng="5412911"/>
                <a:lnTo>
                  <a:pt x="21797" y="53229"/>
                </a:lnTo>
                <a:arcTo hR="14288" wR="14288" stAng="4615587" swAng="5395722"/>
                <a:lnTo>
                  <a:pt x="366" y="23988"/>
                </a:lnTo>
                <a:arcTo hR="14288" wR="14288" stAng="10020726" swAng="5412911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6421" y="51856"/>
            <a:ext cx="98844" cy="128156"/>
          </a:xfrm>
          <a:custGeom>
            <a:avLst/>
            <a:gdLst/>
            <a:ahLst/>
            <a:cxnLst/>
            <a:rect l="l" t="t" r="r" b="b"/>
            <a:pathLst>
              <a:path w="98844" h="128156">
                <a:moveTo>
                  <a:pt x="2056" y="96734"/>
                </a:moveTo>
                <a:lnTo>
                  <a:pt x="55967" y="6914"/>
                </a:lnTo>
                <a:arcTo hR="14288" wR="14288" stAng="12664270" swAng="5402827"/>
                <a:lnTo>
                  <a:pt x="91972" y="11867"/>
                </a:lnTo>
                <a:arcTo hR="14288" wR="14288" stAng="18076058" swAng="5371428"/>
                <a:lnTo>
                  <a:pt x="42823" y="121214"/>
                </a:lnTo>
                <a:arcTo hR="14288" wR="14288" stAng="1856350" swAng="5379297"/>
                <a:lnTo>
                  <a:pt x="6914" y="116356"/>
                </a:lnTo>
                <a:arcTo hR="14288" wR="14288" stAng="7264270" swAng="5402827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73163" y="219019"/>
            <a:ext cx="152702" cy="139723"/>
          </a:xfrm>
          <a:custGeom>
            <a:avLst/>
            <a:gdLst/>
            <a:ahLst/>
            <a:cxnLst/>
            <a:rect l="l" t="t" r="r" b="b"/>
            <a:pathLst>
              <a:path w="152702" h="139723">
                <a:moveTo>
                  <a:pt x="55967" y="2056"/>
                </a:moveTo>
                <a:lnTo>
                  <a:pt x="145788" y="55967"/>
                </a:lnTo>
                <a:arcTo hR="14288" wR="14288" stAng="18064270" swAng="5402827"/>
                <a:lnTo>
                  <a:pt x="116356" y="132739"/>
                </a:lnTo>
                <a:arcTo hR="14288" wR="14288" stAng="1844629" swAng="5410695"/>
                <a:lnTo>
                  <a:pt x="6914" y="83685"/>
                </a:lnTo>
                <a:arcTo hR="14288" wR="14288" stAng="7264270" swAng="5402827"/>
                <a:lnTo>
                  <a:pt x="36346" y="6914"/>
                </a:lnTo>
                <a:arcTo hR="14288" wR="14288" stAng="12664270" swAng="5402827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742794" y="337210"/>
            <a:ext cx="94184" cy="61291"/>
          </a:xfrm>
          <a:custGeom>
            <a:avLst/>
            <a:gdLst/>
            <a:ahLst/>
            <a:cxnLst/>
            <a:rect l="l" t="t" r="r" b="b"/>
            <a:pathLst>
              <a:path w="94184" h="61291">
                <a:moveTo>
                  <a:pt x="22771" y="927"/>
                </a:moveTo>
                <a:lnTo>
                  <a:pt x="85065" y="24835"/>
                </a:lnTo>
                <a:arcTo hR="14288" wR="14288" stAng="17472507" swAng="5372880"/>
                <a:lnTo>
                  <a:pt x="89827" y="52172"/>
                </a:lnTo>
                <a:arcTo hR="14288" wR="14288" stAng="1272507" swAng="5372880"/>
                <a:lnTo>
                  <a:pt x="9151" y="36456"/>
                </a:lnTo>
                <a:arcTo hR="14288" wR="14288" stAng="6664318" swAng="5402445"/>
                <a:lnTo>
                  <a:pt x="4388" y="9119"/>
                </a:lnTo>
                <a:arcTo hR="14288" wR="14288" stAng="12072507" swAng="5372880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6492" y="498555"/>
            <a:ext cx="139702" cy="105886"/>
          </a:xfrm>
          <a:custGeom>
            <a:avLst/>
            <a:gdLst/>
            <a:ahLst/>
            <a:cxnLst/>
            <a:rect l="l" t="t" r="r" b="b"/>
            <a:pathLst>
              <a:path w="139702" h="105886">
                <a:moveTo>
                  <a:pt x="22750" y="79"/>
                </a:moveTo>
                <a:lnTo>
                  <a:pt x="126953" y="11033"/>
                </a:lnTo>
                <a:arcTo hR="14288" wR="14288" stAng="16571030" swAng="5393430"/>
                <a:lnTo>
                  <a:pt x="132668" y="93043"/>
                </a:lnTo>
                <a:arcTo hR="14288" wR="14288" stAng="348239" swAng="5413827"/>
                <a:lnTo>
                  <a:pt x="12748" y="94853"/>
                </a:lnTo>
                <a:arcTo hR="14288" wR="14288" stAng="5771030" swAng="5393430"/>
                <a:lnTo>
                  <a:pt x="7033" y="12843"/>
                </a:lnTo>
                <a:arcTo hR="14288" wR="14288" stAng="11148239" swAng="5413827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06396" y="428231"/>
            <a:ext cx="56612" cy="54184"/>
          </a:xfrm>
          <a:custGeom>
            <a:avLst/>
            <a:gdLst/>
            <a:ahLst/>
            <a:cxnLst/>
            <a:rect l="l" t="t" r="r" b="b"/>
            <a:pathLst>
              <a:path w="56612" h="54184">
                <a:moveTo>
                  <a:pt x="5108" y="21635"/>
                </a:moveTo>
                <a:lnTo>
                  <a:pt x="27016" y="3347"/>
                </a:lnTo>
                <a:arcTo hR="14288" wR="14288" stAng="13798480" swAng="5388159"/>
                <a:lnTo>
                  <a:pt x="53305" y="12395"/>
                </a:lnTo>
                <a:arcTo hR="14288" wR="14288" stAng="19213235" swAng="5390985"/>
                <a:lnTo>
                  <a:pt x="29587" y="50876"/>
                </a:lnTo>
                <a:arcTo hR="14288" wR="14288" stAng="3013235" swAng="5390985"/>
                <a:lnTo>
                  <a:pt x="3394" y="41828"/>
                </a:lnTo>
                <a:arcTo hR="14288" wR="14288" stAng="8380949" swAng="5420474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05970" y="152150"/>
            <a:ext cx="110524" cy="121096"/>
          </a:xfrm>
          <a:custGeom>
            <a:avLst/>
            <a:gdLst/>
            <a:ahLst/>
            <a:cxnLst/>
            <a:rect l="l" t="t" r="r" b="b"/>
            <a:pathLst>
              <a:path w="110524" h="121096">
                <a:moveTo>
                  <a:pt x="39874" y="5108"/>
                </a:moveTo>
                <a:lnTo>
                  <a:pt x="107216" y="85404"/>
                </a:lnTo>
                <a:arcTo hR="14288" wR="14288" stAng="19213235" swAng="5390985"/>
                <a:lnTo>
                  <a:pt x="90833" y="117789"/>
                </a:lnTo>
                <a:arcTo hR="14288" wR="14288" stAng="3013235" swAng="5390985"/>
                <a:lnTo>
                  <a:pt x="3394" y="35779"/>
                </a:lnTo>
                <a:arcTo hR="14288" wR="14288" stAng="8380949" swAng="5420474"/>
                <a:lnTo>
                  <a:pt x="19681" y="3394"/>
                </a:lnTo>
                <a:arcTo hR="14288" wR="14288" stAng="13780949" swAng="5420474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6560515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実カタログ / 2026-10-15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1" name="pptwise-slidenum-s0002"/>
          <p:cNvSpPr/>
          <p:nvPr/>
        </p:nvSpPr>
        <p:spPr>
          <a:xfrm>
            <a:off x="0" y="6560515"/>
            <a:ext cx="113858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fld id="{B6F15528-21DE-4FAA-801E-634DDDAF4B2B}" type="slidenum"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3</a:t>
            </a:fld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25809" y="6560515"/>
            <a:ext cx="76619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/ 6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1239926"/>
            <a:ext cx="115824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条件から選び、実際の文面で確かめる</a:t>
            </a:r>
            <a:endParaRPr lang="en-US" sz="25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6744" y="1950244"/>
            <a:ext cx="2586038" cy="938213"/>
          </a:xfrm>
          <a:custGeom>
            <a:avLst/>
            <a:gdLst/>
            <a:ahLst/>
            <a:cxnLst/>
            <a:rect l="l" t="t" r="r" b="b"/>
            <a:pathLst>
              <a:path w="2586038" h="938213">
                <a:moveTo>
                  <a:pt x="0" y="209550"/>
                </a:moveTo>
                <a:lnTo>
                  <a:pt x="2052637" y="209550"/>
                </a:lnTo>
                <a:lnTo>
                  <a:pt x="2052637" y="0"/>
                </a:lnTo>
                <a:lnTo>
                  <a:pt x="2586038" y="469106"/>
                </a:lnTo>
                <a:lnTo>
                  <a:pt x="2052637" y="938213"/>
                </a:lnTo>
                <a:lnTo>
                  <a:pt x="2052637" y="728663"/>
                </a:lnTo>
                <a:lnTo>
                  <a:pt x="0" y="728663"/>
                </a:lnTo>
                <a:close/>
              </a:path>
            </a:pathLst>
          </a:custGeom>
          <a:noFill/>
          <a:ln w="14288">
            <a:solidFill>
              <a:srgbClr val="1717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2343379"/>
            <a:ext cx="1943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01</a:t>
            </a:r>
            <a:endParaRPr lang="en-US" sz="120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76350" y="2298192"/>
            <a:ext cx="10915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条件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600" y="3095854"/>
            <a:ext cx="11582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用途と必要な文字を決める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07569" y="1950244"/>
            <a:ext cx="2586038" cy="938213"/>
          </a:xfrm>
          <a:custGeom>
            <a:avLst/>
            <a:gdLst/>
            <a:ahLst/>
            <a:cxnLst/>
            <a:rect l="l" t="t" r="r" b="b"/>
            <a:pathLst>
              <a:path w="2586038" h="938213">
                <a:moveTo>
                  <a:pt x="0" y="209550"/>
                </a:moveTo>
                <a:lnTo>
                  <a:pt x="2052637" y="209550"/>
                </a:lnTo>
                <a:lnTo>
                  <a:pt x="2052637" y="0"/>
                </a:lnTo>
                <a:lnTo>
                  <a:pt x="2586038" y="469106"/>
                </a:lnTo>
                <a:lnTo>
                  <a:pt x="2052637" y="938213"/>
                </a:lnTo>
                <a:lnTo>
                  <a:pt x="2052637" y="728663"/>
                </a:lnTo>
                <a:lnTo>
                  <a:pt x="0" y="728663"/>
                </a:lnTo>
                <a:close/>
              </a:path>
            </a:pathLst>
          </a:custGeom>
          <a:noFill/>
          <a:ln w="14288">
            <a:solidFill>
              <a:srgbClr val="1717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2343379"/>
            <a:ext cx="75247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02</a:t>
            </a:r>
            <a:endParaRPr lang="en-US" sz="120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67175" y="2298192"/>
            <a:ext cx="81248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候補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00425" y="3095854"/>
            <a:ext cx="87915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分類と用途説明を読む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98394" y="1950244"/>
            <a:ext cx="2586038" cy="938213"/>
          </a:xfrm>
          <a:custGeom>
            <a:avLst/>
            <a:gdLst/>
            <a:ahLst/>
            <a:cxnLst/>
            <a:rect l="l" t="t" r="r" b="b"/>
            <a:pathLst>
              <a:path w="2586038" h="938213">
                <a:moveTo>
                  <a:pt x="0" y="209550"/>
                </a:moveTo>
                <a:lnTo>
                  <a:pt x="2052637" y="209550"/>
                </a:lnTo>
                <a:lnTo>
                  <a:pt x="2052637" y="0"/>
                </a:lnTo>
                <a:lnTo>
                  <a:pt x="2586038" y="469106"/>
                </a:lnTo>
                <a:lnTo>
                  <a:pt x="2052637" y="938213"/>
                </a:lnTo>
                <a:lnTo>
                  <a:pt x="2052637" y="728663"/>
                </a:lnTo>
                <a:lnTo>
                  <a:pt x="0" y="728663"/>
                </a:lnTo>
                <a:close/>
              </a:path>
            </a:pathLst>
          </a:custGeom>
          <a:noFill/>
          <a:ln w="14288">
            <a:solidFill>
              <a:srgbClr val="1717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343379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03</a:t>
            </a:r>
            <a:endParaRPr lang="en-US" sz="120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58000" y="2298192"/>
            <a:ext cx="533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組合せ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91250" y="3095854"/>
            <a:ext cx="60007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見出しと本文を試す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989219" y="1950244"/>
            <a:ext cx="2586038" cy="938213"/>
          </a:xfrm>
          <a:custGeom>
            <a:avLst/>
            <a:gdLst/>
            <a:ahLst/>
            <a:cxnLst/>
            <a:rect l="l" t="t" r="r" b="b"/>
            <a:pathLst>
              <a:path w="2586038" h="938213">
                <a:moveTo>
                  <a:pt x="0" y="209550"/>
                </a:moveTo>
                <a:lnTo>
                  <a:pt x="2052637" y="209550"/>
                </a:lnTo>
                <a:lnTo>
                  <a:pt x="2052637" y="0"/>
                </a:lnTo>
                <a:lnTo>
                  <a:pt x="2586038" y="469106"/>
                </a:lnTo>
                <a:lnTo>
                  <a:pt x="2052637" y="938213"/>
                </a:lnTo>
                <a:lnTo>
                  <a:pt x="2052637" y="728663"/>
                </a:lnTo>
                <a:lnTo>
                  <a:pt x="0" y="728663"/>
                </a:lnTo>
                <a:close/>
              </a:path>
            </a:pathLst>
          </a:custGeom>
          <a:noFill/>
          <a:ln w="14288">
            <a:solidFill>
              <a:srgbClr val="1717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6050" y="2343379"/>
            <a:ext cx="56959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04</a:t>
            </a:r>
            <a:endParaRPr lang="en-US" sz="120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48825" y="2298192"/>
            <a:ext cx="2543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確認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982075" y="3095854"/>
            <a:ext cx="320992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実文面と利用条件を確認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23900" y="3429000"/>
            <a:ext cx="5257800" cy="0"/>
          </a:xfrm>
          <a:prstGeom prst="line">
            <a:avLst/>
          </a:prstGeom>
          <a:noFill/>
          <a:ln w="9525">
            <a:solidFill>
              <a:srgbClr val="665E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52800" y="3774678"/>
            <a:ext cx="11013" cy="205581"/>
          </a:xfrm>
          <a:custGeom>
            <a:avLst/>
            <a:gdLst/>
            <a:ahLst/>
            <a:cxnLst/>
            <a:rect l="l" t="t" r="r" b="b"/>
            <a:pathLst>
              <a:path w="11013" h="205581">
                <a:moveTo>
                  <a:pt x="0" y="0"/>
                </a:moveTo>
                <a:lnTo>
                  <a:pt x="0" y="205581"/>
                </a:lnTo>
              </a:path>
            </a:pathLst>
          </a:custGeom>
          <a:noFill/>
          <a:ln w="29369">
            <a:solidFill>
              <a:srgbClr val="1717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5956" y="3715941"/>
            <a:ext cx="293688" cy="264319"/>
          </a:xfrm>
          <a:custGeom>
            <a:avLst/>
            <a:gdLst/>
            <a:ahLst/>
            <a:cxnLst/>
            <a:rect l="l" t="t" r="r" b="b"/>
            <a:pathLst>
              <a:path w="293688" h="264319">
                <a:moveTo>
                  <a:pt x="14684" y="220266"/>
                </a:moveTo>
                <a:arcTo hR="14684" wR="14684" stAng="5400000" swAng="5400000"/>
                <a:lnTo>
                  <a:pt x="0" y="14684"/>
                </a:lnTo>
                <a:arcTo hR="14684" wR="14684" stAng="10800000" swAng="5400000"/>
                <a:lnTo>
                  <a:pt x="88106" y="0"/>
                </a:lnTo>
                <a:arcTo hR="58737" wR="58737" stAng="16200000" swAng="5400000"/>
                <a:arcTo hR="58737" wR="58737" stAng="10800000" swAng="5400000"/>
                <a:lnTo>
                  <a:pt x="279003" y="0"/>
                </a:lnTo>
                <a:arcTo hR="14684" wR="14684" stAng="16200000" swAng="5400000"/>
                <a:lnTo>
                  <a:pt x="293688" y="205581"/>
                </a:lnTo>
                <a:arcTo hR="14684" wR="14684" stAng="0" swAng="5400000"/>
                <a:lnTo>
                  <a:pt x="190897" y="220266"/>
                </a:lnTo>
                <a:arcTo hR="44053" wR="44053" stAng="16200000" swAng="-5400000"/>
                <a:arcTo hR="44053" wR="44053" stAng="0" swAng="-5400000"/>
                <a:close/>
              </a:path>
            </a:pathLst>
          </a:custGeom>
          <a:noFill/>
          <a:ln w="29369">
            <a:solidFill>
              <a:srgbClr val="1717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4465570"/>
            <a:ext cx="6705600" cy="504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12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誌面とブランド</a:t>
            </a:r>
            <a:endParaRPr lang="en-US" sz="3312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0" y="5140602"/>
            <a:ext cx="6705600" cy="302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87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見出し Shippori Mincho</a:t>
            </a:r>
            <a:endParaRPr lang="en-US" sz="1987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0" y="5493027"/>
            <a:ext cx="6705600" cy="302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87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本文 Zen Kaku Gothic New</a:t>
            </a:r>
            <a:endParaRPr lang="en-US" sz="1987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10300" y="3429000"/>
            <a:ext cx="5257800" cy="0"/>
          </a:xfrm>
          <a:prstGeom prst="line">
            <a:avLst/>
          </a:prstGeom>
          <a:noFill/>
          <a:ln w="9525">
            <a:solidFill>
              <a:srgbClr val="665E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51094" y="3701256"/>
            <a:ext cx="176213" cy="176213"/>
          </a:xfrm>
          <a:custGeom>
            <a:avLst/>
            <a:gdLst/>
            <a:ahLst/>
            <a:cxnLst/>
            <a:rect l="l" t="t" r="r" b="b"/>
            <a:pathLst>
              <a:path w="176213" h="176213">
                <a:moveTo>
                  <a:pt x="132159" y="176213"/>
                </a:moveTo>
                <a:cubicBezTo>
                  <a:pt x="135096" y="161528"/>
                  <a:pt x="142438" y="151249"/>
                  <a:pt x="154186" y="139502"/>
                </a:cubicBezTo>
                <a:cubicBezTo>
                  <a:pt x="168870" y="126286"/>
                  <a:pt x="176213" y="107196"/>
                  <a:pt x="176213" y="88106"/>
                </a:cubicBezTo>
                <a:arcTo hR="88106" wR="88106" stAng="0" swAng="-10800000"/>
                <a:cubicBezTo>
                  <a:pt x="0" y="102791"/>
                  <a:pt x="2937" y="120412"/>
                  <a:pt x="22027" y="139502"/>
                </a:cubicBezTo>
                <a:cubicBezTo>
                  <a:pt x="32306" y="149781"/>
                  <a:pt x="41116" y="161528"/>
                  <a:pt x="44053" y="176213"/>
                </a:cubicBezTo>
              </a:path>
            </a:pathLst>
          </a:custGeom>
          <a:noFill/>
          <a:ln w="29369">
            <a:solidFill>
              <a:srgbClr val="17171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95147" y="3936206"/>
            <a:ext cx="88106" cy="11013"/>
          </a:xfrm>
          <a:custGeom>
            <a:avLst/>
            <a:gdLst/>
            <a:ahLst/>
            <a:cxnLst/>
            <a:rect l="l" t="t" r="r" b="b"/>
            <a:pathLst>
              <a:path w="88106" h="11013">
                <a:moveTo>
                  <a:pt x="0" y="0"/>
                </a:moveTo>
                <a:lnTo>
                  <a:pt x="88106" y="0"/>
                </a:lnTo>
              </a:path>
            </a:pathLst>
          </a:custGeom>
          <a:noFill/>
          <a:ln w="29369">
            <a:solidFill>
              <a:srgbClr val="1717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09831" y="3994944"/>
            <a:ext cx="58737" cy="11013"/>
          </a:xfrm>
          <a:custGeom>
            <a:avLst/>
            <a:gdLst/>
            <a:ahLst/>
            <a:cxnLst/>
            <a:rect l="l" t="t" r="r" b="b"/>
            <a:pathLst>
              <a:path w="58737" h="11013">
                <a:moveTo>
                  <a:pt x="0" y="0"/>
                </a:moveTo>
                <a:lnTo>
                  <a:pt x="58737" y="0"/>
                </a:lnTo>
              </a:path>
            </a:pathLst>
          </a:custGeom>
          <a:noFill/>
          <a:ln w="29369">
            <a:solidFill>
              <a:srgbClr val="1717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4465570"/>
            <a:ext cx="6705600" cy="504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12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やさしい教材</a:t>
            </a:r>
            <a:endParaRPr lang="en-US" sz="3312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486400" y="5140602"/>
            <a:ext cx="6705600" cy="302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87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見出し Zen Maru Gothic</a:t>
            </a:r>
            <a:endParaRPr lang="en-US" sz="1987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486400" y="5493027"/>
            <a:ext cx="6705600" cy="302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87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本文 Zen Kaku Gothic New</a:t>
            </a:r>
            <a:endParaRPr lang="en-US" sz="1987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09600" y="6208090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出典：input/oss-font-kit.jsonのeditorial/friendly。プリセットは組合せの候補。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8"/>
          </a:solidFill>
          <a:ln/>
        </p:spPr>
      </p:sp>
      <p:sp>
        <p:nvSpPr>
          <p:cNvPr id="3" name="Shape 1"/>
          <p:cNvSpPr/>
          <p:nvPr/>
        </p:nvSpPr>
        <p:spPr>
          <a:xfrm>
            <a:off x="10839513" y="155704"/>
            <a:ext cx="133412" cy="56161"/>
          </a:xfrm>
          <a:custGeom>
            <a:avLst/>
            <a:gdLst/>
            <a:ahLst/>
            <a:cxnLst/>
            <a:rect l="l" t="t" r="r" b="b"/>
            <a:pathLst>
              <a:path w="133412" h="56161">
                <a:moveTo>
                  <a:pt x="11748" y="18413"/>
                </a:moveTo>
                <a:lnTo>
                  <a:pt x="114999" y="220"/>
                </a:lnTo>
                <a:arcTo hR="14288" wR="14288" stAng="15596060" swAng="5412223"/>
                <a:lnTo>
                  <a:pt x="133192" y="21175"/>
                </a:lnTo>
                <a:arcTo hR="14288" wR="14288" stAng="20996060" swAng="5412223"/>
                <a:lnTo>
                  <a:pt x="18416" y="55941"/>
                </a:lnTo>
                <a:arcTo hR="14288" wR="14288" stAng="4796060" swAng="5412223"/>
                <a:lnTo>
                  <a:pt x="223" y="34986"/>
                </a:lnTo>
                <a:arcTo hR="14288" wR="14288" stAng="10192061" swAng="5393659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10440" y="143909"/>
            <a:ext cx="133412" cy="56148"/>
          </a:xfrm>
          <a:custGeom>
            <a:avLst/>
            <a:gdLst/>
            <a:ahLst/>
            <a:cxnLst/>
            <a:rect l="l" t="t" r="r" b="b"/>
            <a:pathLst>
              <a:path w="133412" h="56148">
                <a:moveTo>
                  <a:pt x="18413" y="204"/>
                </a:moveTo>
                <a:lnTo>
                  <a:pt x="121664" y="18397"/>
                </a:lnTo>
                <a:arcTo hR="14288" wR="14288" stAng="16814280" swAng="5393659"/>
                <a:lnTo>
                  <a:pt x="131570" y="44400"/>
                </a:lnTo>
                <a:arcTo hR="14288" wR="14288" stAng="614280" swAng="5393659"/>
                <a:lnTo>
                  <a:pt x="11840" y="37732"/>
                </a:lnTo>
                <a:arcTo hR="14288" wR="14288" stAng="5991717" swAng="5412223"/>
                <a:lnTo>
                  <a:pt x="1934" y="11824"/>
                </a:lnTo>
                <a:arcTo hR="14288" wR="14288" stAng="11395648" swAng="5385714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20415" y="322685"/>
            <a:ext cx="93066" cy="65444"/>
          </a:xfrm>
          <a:custGeom>
            <a:avLst/>
            <a:gdLst/>
            <a:ahLst/>
            <a:cxnLst/>
            <a:rect l="l" t="t" r="r" b="b"/>
            <a:pathLst>
              <a:path w="93066" h="65444">
                <a:moveTo>
                  <a:pt x="8272" y="29549"/>
                </a:moveTo>
                <a:lnTo>
                  <a:pt x="68660" y="1355"/>
                </a:lnTo>
                <a:arcTo hR="14288" wR="14288" stAng="14690558" swAng="5425134"/>
                <a:lnTo>
                  <a:pt x="91711" y="16881"/>
                </a:lnTo>
                <a:arcTo hR="14288" wR="14288" stAng="20090558" swAng="5425134"/>
                <a:lnTo>
                  <a:pt x="24369" y="64125"/>
                </a:lnTo>
                <a:arcTo hR="14288" wR="14288" stAng="3911360" swAng="5394652"/>
                <a:lnTo>
                  <a:pt x="1319" y="48504"/>
                </a:lnTo>
                <a:arcTo hR="14288" wR="14288" stAng="9311360" swAng="5394652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881792" y="486156"/>
            <a:ext cx="60191" cy="62909"/>
          </a:xfrm>
          <a:custGeom>
            <a:avLst/>
            <a:gdLst/>
            <a:ahLst/>
            <a:cxnLst/>
            <a:rect l="l" t="t" r="r" b="b"/>
            <a:pathLst>
              <a:path w="60191" h="62909">
                <a:moveTo>
                  <a:pt x="2330" y="30385"/>
                </a:moveTo>
                <a:lnTo>
                  <a:pt x="17951" y="6477"/>
                </a:lnTo>
                <a:arcTo hR="14288" wR="14288" stAng="12788200" swAng="5383575"/>
                <a:lnTo>
                  <a:pt x="53670" y="12573"/>
                </a:lnTo>
                <a:arcTo hR="14288" wR="14288" stAng="18175710" swAng="5415279"/>
                <a:lnTo>
                  <a:pt x="42335" y="56388"/>
                </a:lnTo>
                <a:arcTo hR="14288" wR="14288" stAng="1975710" swAng="5415279"/>
                <a:lnTo>
                  <a:pt x="6521" y="50197"/>
                </a:lnTo>
                <a:arcTo hR="14288" wR="14288" stAng="7375710" swAng="5415279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01551" y="170777"/>
            <a:ext cx="150318" cy="128410"/>
          </a:xfrm>
          <a:custGeom>
            <a:avLst/>
            <a:gdLst/>
            <a:ahLst/>
            <a:cxnLst/>
            <a:rect l="l" t="t" r="r" b="b"/>
            <a:pathLst>
              <a:path w="150318" h="128410">
                <a:moveTo>
                  <a:pt x="9151" y="38488"/>
                </a:moveTo>
                <a:lnTo>
                  <a:pt x="106972" y="959"/>
                </a:lnTo>
                <a:arcTo hR="14288" wR="14288" stAng="14933237" swAng="5402445"/>
                <a:lnTo>
                  <a:pt x="149359" y="71444"/>
                </a:lnTo>
                <a:arcTo hR="14288" wR="14288" stAng="20333237" swAng="5402445"/>
                <a:lnTo>
                  <a:pt x="43345" y="127451"/>
                </a:lnTo>
                <a:arcTo hR="14288" wR="14288" stAng="4133237" swAng="5402445"/>
                <a:lnTo>
                  <a:pt x="959" y="56966"/>
                </a:lnTo>
                <a:arcTo hR="14288" wR="14288" stAng="9533237" swAng="5402445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76838" y="541953"/>
            <a:ext cx="105809" cy="112858"/>
          </a:xfrm>
          <a:custGeom>
            <a:avLst/>
            <a:gdLst/>
            <a:ahLst/>
            <a:cxnLst/>
            <a:rect l="l" t="t" r="r" b="b"/>
            <a:pathLst>
              <a:path w="105809" h="112858">
                <a:moveTo>
                  <a:pt x="32066" y="4782"/>
                </a:moveTo>
                <a:lnTo>
                  <a:pt x="102170" y="82601"/>
                </a:lnTo>
                <a:arcTo hR="14288" wR="14288" stAng="19091021" swAng="5406723"/>
                <a:lnTo>
                  <a:pt x="93979" y="109176"/>
                </a:lnTo>
                <a:arcTo hR="14288" wR="14288" stAng="2875731" swAng="5404966"/>
                <a:lnTo>
                  <a:pt x="3682" y="30214"/>
                </a:lnTo>
                <a:arcTo hR="14288" wR="14288" stAng="8275731" swAng="5404966"/>
                <a:lnTo>
                  <a:pt x="11873" y="3639"/>
                </a:lnTo>
                <a:arcTo hR="14288" wR="14288" stAng="13691021" swAng="5406723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767398" y="266338"/>
            <a:ext cx="58443" cy="43393"/>
          </a:xfrm>
          <a:custGeom>
            <a:avLst/>
            <a:gdLst/>
            <a:ahLst/>
            <a:cxnLst/>
            <a:rect l="l" t="t" r="r" b="b"/>
            <a:pathLst>
              <a:path w="58443" h="43393">
                <a:moveTo>
                  <a:pt x="11598" y="5696"/>
                </a:moveTo>
                <a:lnTo>
                  <a:pt x="39602" y="267"/>
                </a:lnTo>
                <a:arcTo hR="14288" wR="14288" stAng="15534223" swAng="5392361"/>
                <a:lnTo>
                  <a:pt x="58176" y="20841"/>
                </a:lnTo>
                <a:arcTo hR="14288" wR="14288" stAng="20934223" swAng="5392361"/>
                <a:lnTo>
                  <a:pt x="18837" y="43130"/>
                </a:lnTo>
                <a:arcTo hR="14288" wR="14288" stAng="4738610" swAng="5410466"/>
                <a:lnTo>
                  <a:pt x="264" y="22460"/>
                </a:lnTo>
                <a:arcTo hR="14288" wR="14288" stAng="10138610" swAng="5410466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6560515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実カタログ / 2026-10-15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1" name="pptwise-slidenum-s0003"/>
          <p:cNvSpPr/>
          <p:nvPr/>
        </p:nvSpPr>
        <p:spPr>
          <a:xfrm>
            <a:off x="0" y="6560515"/>
            <a:ext cx="113858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fld id="{B6F15528-21DE-4FAA-801E-634DDDAF4B2B}" type="slidenum"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4</a:t>
            </a:fld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25809" y="6560515"/>
            <a:ext cx="76619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/ 6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1239926"/>
            <a:ext cx="115824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書体と利用条件を一緒に確認する</a:t>
            </a:r>
            <a:endParaRPr lang="en-US" sz="25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1144" y="2639929"/>
            <a:ext cx="409449" cy="130049"/>
          </a:xfrm>
          <a:prstGeom prst="line">
            <a:avLst/>
          </a:prstGeom>
          <a:noFill/>
          <a:ln w="14288">
            <a:solidFill>
              <a:srgbClr val="665E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7031407" y="2639929"/>
            <a:ext cx="409449" cy="130049"/>
          </a:xfrm>
          <a:prstGeom prst="line">
            <a:avLst/>
          </a:prstGeom>
          <a:noFill/>
          <a:ln w="14288">
            <a:solidFill>
              <a:srgbClr val="665E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4751144" y="3364183"/>
            <a:ext cx="409449" cy="130049"/>
          </a:xfrm>
          <a:prstGeom prst="line">
            <a:avLst/>
          </a:prstGeom>
          <a:noFill/>
          <a:ln w="14288">
            <a:solidFill>
              <a:srgbClr val="665E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31407" y="3364183"/>
            <a:ext cx="409449" cy="130049"/>
          </a:xfrm>
          <a:prstGeom prst="line">
            <a:avLst/>
          </a:prstGeom>
          <a:noFill/>
          <a:ln w="14288">
            <a:solidFill>
              <a:srgbClr val="665E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4544" y="2085624"/>
            <a:ext cx="1962912" cy="1962912"/>
          </a:xfrm>
          <a:prstGeom prst="ellipse">
            <a:avLst/>
          </a:prstGeom>
          <a:solidFill>
            <a:srgbClr val="F4F0E8"/>
          </a:solidFill>
          <a:ln w="14288">
            <a:solidFill>
              <a:srgbClr val="1717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2729895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フォントの</a:t>
            </a:r>
            <a:endParaRPr lang="en-US" sz="18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0" y="3063270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候補</a:t>
            </a:r>
            <a:endParaRPr lang="en-US" sz="18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572768" y="2028444"/>
            <a:ext cx="3200400" cy="938784"/>
          </a:xfrm>
          <a:prstGeom prst="rect">
            <a:avLst/>
          </a:prstGeom>
          <a:solidFill>
            <a:srgbClr val="F4F0E8"/>
          </a:solidFill>
          <a:ln w="9525">
            <a:solidFill>
              <a:srgbClr val="665E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2397366"/>
            <a:ext cx="4084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1</a:t>
            </a:r>
            <a:endParaRPr lang="en-US" sz="135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56322" y="2300478"/>
            <a:ext cx="97356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書体情報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456322" y="2526640"/>
            <a:ext cx="97356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書体名・分類・用途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418832" y="2028444"/>
            <a:ext cx="3200400" cy="938784"/>
          </a:xfrm>
          <a:prstGeom prst="rect">
            <a:avLst/>
          </a:prstGeom>
          <a:solidFill>
            <a:srgbClr val="F4F0E8"/>
          </a:solidFill>
          <a:ln w="9525">
            <a:solidFill>
              <a:srgbClr val="665E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07680" y="2397366"/>
            <a:ext cx="4084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2</a:t>
            </a:r>
            <a:endParaRPr lang="en-US" sz="135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0" y="2300478"/>
            <a:ext cx="97356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元配布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0" y="2526640"/>
            <a:ext cx="97356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公式配布・固定版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572768" y="3166933"/>
            <a:ext cx="3200400" cy="938784"/>
          </a:xfrm>
          <a:prstGeom prst="rect">
            <a:avLst/>
          </a:prstGeom>
          <a:solidFill>
            <a:srgbClr val="F4F0E8"/>
          </a:solidFill>
          <a:ln w="9525">
            <a:solidFill>
              <a:srgbClr val="665E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3535855"/>
            <a:ext cx="4084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3</a:t>
            </a:r>
            <a:endParaRPr lang="en-US" sz="135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456322" y="3438967"/>
            <a:ext cx="97356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利用条件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456322" y="3665129"/>
            <a:ext cx="97356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OFL本文・配布元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18832" y="3166933"/>
            <a:ext cx="3200400" cy="938784"/>
          </a:xfrm>
          <a:prstGeom prst="rect">
            <a:avLst/>
          </a:prstGeom>
          <a:solidFill>
            <a:srgbClr val="F4F0E8"/>
          </a:solidFill>
          <a:ln w="9525">
            <a:solidFill>
              <a:srgbClr val="665E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07680" y="3535855"/>
            <a:ext cx="4084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6"/>
                </a:solidFill>
                <a:latin typeface="Space Grotesk" pitchFamily="34" charset="0"/>
                <a:ea typeface="Zen Kaku Gothic New" pitchFamily="34" charset="-122"/>
                <a:cs typeface="Space Grotesk" pitchFamily="34" charset="-120"/>
              </a:rPr>
              <a:t>4</a:t>
            </a:r>
            <a:endParaRPr lang="en-US" sz="1350" dirty="0">
              <a:latin typeface="Space Grotesk" pitchFamily="34" charset="0"/>
              <a:ea typeface="Zen Kaku Gothic New" pitchFamily="34" charset="-122"/>
              <a:cs typeface="Space Grotesk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0" y="3438967"/>
            <a:ext cx="97356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組合せ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0" y="3665129"/>
            <a:ext cx="97356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見出し・本文・欧文</a:t>
            </a:r>
            <a:endParaRPr lang="en-US" sz="12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09600" y="6208090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カタログの関連情報を示す図。番号と線は順序・因果・品質順位を表しません。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8"/>
          </a:solidFill>
          <a:ln/>
        </p:spPr>
      </p:sp>
      <p:sp>
        <p:nvSpPr>
          <p:cNvPr id="3" name="Shape 1"/>
          <p:cNvSpPr/>
          <p:nvPr/>
        </p:nvSpPr>
        <p:spPr>
          <a:xfrm>
            <a:off x="11370193" y="450066"/>
            <a:ext cx="93897" cy="97707"/>
          </a:xfrm>
          <a:custGeom>
            <a:avLst/>
            <a:gdLst/>
            <a:ahLst/>
            <a:cxnLst/>
            <a:rect l="l" t="t" r="r" b="b"/>
            <a:pathLst>
              <a:path w="93897" h="97707">
                <a:moveTo>
                  <a:pt x="67427" y="3514"/>
                </a:moveTo>
                <a:lnTo>
                  <a:pt x="88954" y="22279"/>
                </a:lnTo>
                <a:arcTo hR="14288" wR="14288" stAng="18650713" swAng="5412911"/>
                <a:lnTo>
                  <a:pt x="46663" y="92764"/>
                </a:lnTo>
                <a:arcTo hR="14288" wR="14288" stAng="2450713" swAng="5412911"/>
                <a:lnTo>
                  <a:pt x="4943" y="75428"/>
                </a:lnTo>
                <a:arcTo hR="14288" wR="14288" stAng="7850713" swAng="5412911"/>
                <a:lnTo>
                  <a:pt x="47234" y="4943"/>
                </a:lnTo>
                <a:arcTo hR="14288" wR="14288" stAng="13250713" swAng="5412911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49239" y="361377"/>
            <a:ext cx="107014" cy="111732"/>
          </a:xfrm>
          <a:custGeom>
            <a:avLst/>
            <a:gdLst/>
            <a:ahLst/>
            <a:cxnLst/>
            <a:rect l="l" t="t" r="r" b="b"/>
            <a:pathLst>
              <a:path w="107014" h="111732">
                <a:moveTo>
                  <a:pt x="31720" y="4574"/>
                </a:moveTo>
                <a:lnTo>
                  <a:pt x="103158" y="81155"/>
                </a:lnTo>
                <a:arcTo hR="14288" wR="14288" stAng="19013737" swAng="5399465"/>
                <a:lnTo>
                  <a:pt x="95442" y="107920"/>
                </a:lnTo>
                <a:arcTo hR="14288" wR="14288" stAng="2829359" swAng="5400611"/>
                <a:lnTo>
                  <a:pt x="3812" y="30577"/>
                </a:lnTo>
                <a:arcTo hR="14288" wR="14288" stAng="8229359" swAng="5400611"/>
                <a:lnTo>
                  <a:pt x="11527" y="3812"/>
                </a:lnTo>
                <a:arcTo hR="14288" wR="14288" stAng="13629359" swAng="5400611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72444" y="420919"/>
            <a:ext cx="115090" cy="117140"/>
          </a:xfrm>
          <a:custGeom>
            <a:avLst/>
            <a:gdLst/>
            <a:ahLst/>
            <a:cxnLst/>
            <a:rect l="l" t="t" r="r" b="b"/>
            <a:pathLst>
              <a:path w="115090" h="117140">
                <a:moveTo>
                  <a:pt x="4038" y="79715"/>
                </a:moveTo>
                <a:lnTo>
                  <a:pt x="76809" y="4373"/>
                </a:lnTo>
                <a:arcTo hR="14288" wR="14288" stAng="13436672" swAng="5396944"/>
                <a:lnTo>
                  <a:pt x="110718" y="17231"/>
                </a:lnTo>
                <a:arcTo hR="14288" wR="14288" stAng="18836672" swAng="5396944"/>
                <a:lnTo>
                  <a:pt x="38232" y="112767"/>
                </a:lnTo>
                <a:arcTo hR="14288" wR="14288" stAng="2636672" swAng="5396944"/>
                <a:lnTo>
                  <a:pt x="4323" y="99908"/>
                </a:lnTo>
                <a:arcTo hR="14288" wR="14288" stAng="8053151" swAng="5396409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806902" y="257034"/>
            <a:ext cx="55058" cy="55960"/>
          </a:xfrm>
          <a:custGeom>
            <a:avLst/>
            <a:gdLst/>
            <a:ahLst/>
            <a:cxnLst/>
            <a:rect l="l" t="t" r="r" b="b"/>
            <a:pathLst>
              <a:path w="55058" h="55960">
                <a:moveTo>
                  <a:pt x="3812" y="25478"/>
                </a:moveTo>
                <a:lnTo>
                  <a:pt x="23338" y="4523"/>
                </a:lnTo>
                <a:arcTo hR="14288" wR="14288" stAng="13386798" swAng="5399465"/>
                <a:lnTo>
                  <a:pt x="50484" y="10333"/>
                </a:lnTo>
                <a:arcTo hR="14288" wR="14288" stAng="18770030" swAng="5400611"/>
                <a:lnTo>
                  <a:pt x="31720" y="51386"/>
                </a:lnTo>
                <a:arcTo hR="14288" wR="14288" stAng="2570030" swAng="5400611"/>
                <a:lnTo>
                  <a:pt x="4574" y="45671"/>
                </a:lnTo>
                <a:arcTo hR="14288" wR="14288" stAng="7970030" swAng="5400611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02148" y="188573"/>
            <a:ext cx="97103" cy="74033"/>
          </a:xfrm>
          <a:custGeom>
            <a:avLst/>
            <a:gdLst/>
            <a:ahLst/>
            <a:cxnLst/>
            <a:rect l="l" t="t" r="r" b="b"/>
            <a:pathLst>
              <a:path w="97103" h="74033">
                <a:moveTo>
                  <a:pt x="8309" y="29549"/>
                </a:moveTo>
                <a:lnTo>
                  <a:pt x="68697" y="1355"/>
                </a:lnTo>
                <a:arcTo hR="14288" wR="14288" stAng="14690558" swAng="5425134"/>
                <a:lnTo>
                  <a:pt x="95748" y="25549"/>
                </a:lnTo>
                <a:arcTo hR="14288" wR="14288" stAng="20090558" swAng="5425134"/>
                <a:lnTo>
                  <a:pt x="28406" y="72698"/>
                </a:lnTo>
                <a:arcTo hR="14288" wR="14288" stAng="3901647" swAng="5383575"/>
                <a:lnTo>
                  <a:pt x="1355" y="48599"/>
                </a:lnTo>
                <a:arcTo hR="14288" wR="14288" stAng="9290558" swAng="5425134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26628" y="434389"/>
            <a:ext cx="94961" cy="96822"/>
          </a:xfrm>
          <a:custGeom>
            <a:avLst/>
            <a:gdLst/>
            <a:ahLst/>
            <a:cxnLst/>
            <a:rect l="l" t="t" r="r" b="b"/>
            <a:pathLst>
              <a:path w="94961" h="96822">
                <a:moveTo>
                  <a:pt x="4523" y="23287"/>
                </a:moveTo>
                <a:lnTo>
                  <a:pt x="25478" y="3856"/>
                </a:lnTo>
                <a:arcTo hR="14288" wR="14288" stAng="13613737" swAng="5399465"/>
                <a:lnTo>
                  <a:pt x="91105" y="53291"/>
                </a:lnTo>
                <a:arcTo hR="14288" wR="14288" stAng="19013737" swAng="5399465"/>
                <a:lnTo>
                  <a:pt x="69483" y="93010"/>
                </a:lnTo>
                <a:arcTo hR="14288" wR="14288" stAng="2829359" swAng="5400611"/>
                <a:lnTo>
                  <a:pt x="3856" y="43480"/>
                </a:lnTo>
                <a:arcTo hR="14288" wR="14288" stAng="8213737" swAng="5399465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31628" y="194547"/>
            <a:ext cx="77917" cy="86394"/>
          </a:xfrm>
          <a:custGeom>
            <a:avLst/>
            <a:gdLst/>
            <a:ahLst/>
            <a:cxnLst/>
            <a:rect l="l" t="t" r="r" b="b"/>
            <a:pathLst>
              <a:path w="77917" h="86394">
                <a:moveTo>
                  <a:pt x="32815" y="5287"/>
                </a:moveTo>
                <a:lnTo>
                  <a:pt x="74725" y="57103"/>
                </a:lnTo>
                <a:arcTo hR="14288" wR="14288" stAng="19256957" swAng="5400382"/>
                <a:lnTo>
                  <a:pt x="65200" y="83202"/>
                </a:lnTo>
                <a:arcTo hR="14288" wR="14288" stAng="3056957" swAng="5400382"/>
                <a:lnTo>
                  <a:pt x="3192" y="29290"/>
                </a:lnTo>
                <a:arcTo hR="14288" wR="14288" stAng="8456957" swAng="5400382"/>
                <a:lnTo>
                  <a:pt x="12717" y="3192"/>
                </a:lnTo>
                <a:arcTo hR="14288" wR="14288" stAng="13856957" swAng="5400382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6560515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実カタログ / 2026-10-15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1" name="pptwise-slidenum-s0004"/>
          <p:cNvSpPr/>
          <p:nvPr/>
        </p:nvSpPr>
        <p:spPr>
          <a:xfrm>
            <a:off x="0" y="6560515"/>
            <a:ext cx="113858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fld id="{B6F15528-21DE-4FAA-801E-634DDDAF4B2B}" type="slidenum"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5</a:t>
            </a:fld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25809" y="6560515"/>
            <a:ext cx="76619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/ 6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1239926"/>
            <a:ext cx="115824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30書体の内訳は和文17・欧文13</a:t>
            </a:r>
            <a:endParaRPr lang="en-US" sz="25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600" y="2095500"/>
            <a:ext cx="6179820" cy="914400"/>
          </a:xfrm>
          <a:prstGeom prst="roundRect">
            <a:avLst>
              <a:gd name="adj" fmla="val 6250"/>
            </a:avLst>
          </a:prstGeom>
          <a:solidFill>
            <a:srgbClr val="FF6A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2950" y="2263750"/>
            <a:ext cx="1144905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74A4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17 書体</a:t>
            </a:r>
            <a:endParaRPr lang="en-US" sz="19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27520" y="2095500"/>
            <a:ext cx="4716780" cy="914400"/>
          </a:xfrm>
          <a:prstGeom prst="roundRect">
            <a:avLst>
              <a:gd name="adj" fmla="val 6250"/>
            </a:avLst>
          </a:prstGeom>
          <a:solidFill>
            <a:srgbClr val="171716"/>
          </a:solidFill>
          <a:ln/>
        </p:spPr>
      </p:sp>
      <p:sp>
        <p:nvSpPr>
          <p:cNvPr id="17" name="Text 15"/>
          <p:cNvSpPr/>
          <p:nvPr/>
        </p:nvSpPr>
        <p:spPr>
          <a:xfrm>
            <a:off x="6960870" y="2263750"/>
            <a:ext cx="523113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13 書体</a:t>
            </a:r>
            <a:endParaRPr lang="en-US" sz="19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27520" y="3133725"/>
            <a:ext cx="4716780" cy="19050"/>
          </a:xfrm>
          <a:prstGeom prst="rect">
            <a:avLst/>
          </a:prstGeom>
          <a:solidFill>
            <a:srgbClr val="171716"/>
          </a:solidFill>
          <a:ln/>
        </p:spPr>
      </p:sp>
      <p:sp>
        <p:nvSpPr>
          <p:cNvPr id="19" name="Shape 17"/>
          <p:cNvSpPr/>
          <p:nvPr/>
        </p:nvSpPr>
        <p:spPr>
          <a:xfrm>
            <a:off x="6817995" y="3086100"/>
            <a:ext cx="19050" cy="114300"/>
          </a:xfrm>
          <a:prstGeom prst="rect">
            <a:avLst/>
          </a:prstGeom>
          <a:solidFill>
            <a:srgbClr val="171716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34775" y="3086100"/>
            <a:ext cx="19050" cy="114300"/>
          </a:xfrm>
          <a:prstGeom prst="rect">
            <a:avLst/>
          </a:prstGeom>
          <a:solidFill>
            <a:srgbClr val="171716"/>
          </a:solidFill>
          <a:ln/>
        </p:spPr>
      </p:sp>
      <p:sp>
        <p:nvSpPr>
          <p:cNvPr id="21" name="Text 19"/>
          <p:cNvSpPr/>
          <p:nvPr/>
        </p:nvSpPr>
        <p:spPr>
          <a:xfrm>
            <a:off x="6179820" y="3266084"/>
            <a:ext cx="601218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欧文13書体も候補に含む</a:t>
            </a:r>
            <a:endParaRPr lang="en-US" sz="10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9600" y="3275000"/>
            <a:ext cx="115824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全30書体</a:t>
            </a:r>
            <a:endParaRPr lang="en-US" sz="97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600" y="37909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FF6A00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" y="3781044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和文 · 17 書体</a:t>
            </a:r>
            <a:endParaRPr lang="en-US" sz="112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43400" y="37909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7171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781044"/>
            <a:ext cx="7620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欧文 · 13 書体</a:t>
            </a:r>
            <a:endParaRPr lang="en-US" sz="1125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9600" y="4705350"/>
            <a:ext cx="5334000" cy="1047750"/>
          </a:xfrm>
          <a:prstGeom prst="roundRect">
            <a:avLst>
              <a:gd name="adj" fmla="val 10909"/>
            </a:avLst>
          </a:prstGeom>
          <a:solidFill>
            <a:srgbClr val="EEE6D9"/>
          </a:solidFill>
          <a:ln/>
        </p:spPr>
      </p:sp>
      <p:sp>
        <p:nvSpPr>
          <p:cNvPr id="28" name="Shape 26"/>
          <p:cNvSpPr/>
          <p:nvPr/>
        </p:nvSpPr>
        <p:spPr>
          <a:xfrm>
            <a:off x="952500" y="4981575"/>
            <a:ext cx="7144" cy="133350"/>
          </a:xfrm>
          <a:custGeom>
            <a:avLst/>
            <a:gdLst/>
            <a:ahLst/>
            <a:cxnLst/>
            <a:rect l="l" t="t" r="r" b="b"/>
            <a:pathLst>
              <a:path w="7144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1717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7250" y="4943475"/>
            <a:ext cx="190500" cy="171450"/>
          </a:xfrm>
          <a:custGeom>
            <a:avLst/>
            <a:gdLst/>
            <a:ahLst/>
            <a:cxnLst/>
            <a:rect l="l" t="t" r="r" b="b"/>
            <a:pathLst>
              <a:path w="190500" h="171450">
                <a:moveTo>
                  <a:pt x="9525" y="142875"/>
                </a:moveTo>
                <a:arcTo hR="9525" wR="9525" stAng="5400000" swAng="5400000"/>
                <a:lnTo>
                  <a:pt x="0" y="9525"/>
                </a:lnTo>
                <a:arcTo hR="9525" wR="9525" stAng="10800000" swAng="5400000"/>
                <a:lnTo>
                  <a:pt x="57150" y="0"/>
                </a:lnTo>
                <a:arcTo hR="38100" wR="38100" stAng="16200000" swAng="5400000"/>
                <a:arcTo hR="38100" wR="38100" stAng="10800000" swAng="5400000"/>
                <a:lnTo>
                  <a:pt x="180975" y="0"/>
                </a:lnTo>
                <a:arcTo hR="9525" wR="9525" stAng="16200000" swAng="5400000"/>
                <a:lnTo>
                  <a:pt x="190500" y="133350"/>
                </a:lnTo>
                <a:arcTo hR="9525" wR="9525" stAng="0" swAng="5400000"/>
                <a:lnTo>
                  <a:pt x="123825" y="142875"/>
                </a:lnTo>
                <a:arcTo hR="28575" wR="28575" stAng="16200000" swAng="-5400000"/>
                <a:arcTo hR="28575" wR="28575" stAng="0" swAng="-5400000"/>
                <a:close/>
              </a:path>
            </a:pathLst>
          </a:custGeom>
          <a:noFill/>
          <a:ln w="19050">
            <a:solidFill>
              <a:srgbClr val="1717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1100" y="4917567"/>
            <a:ext cx="11010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和文の候補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81100" y="5247284"/>
            <a:ext cx="110109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和文向けの17書体。必要な文字は元配布で確認。</a:t>
            </a:r>
            <a:endParaRPr lang="en-US" sz="10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48400" y="4705350"/>
            <a:ext cx="5334000" cy="1047750"/>
          </a:xfrm>
          <a:prstGeom prst="roundRect">
            <a:avLst>
              <a:gd name="adj" fmla="val 10909"/>
            </a:avLst>
          </a:prstGeom>
          <a:solidFill>
            <a:srgbClr val="EEE6D9"/>
          </a:solidFill>
          <a:ln/>
        </p:spPr>
      </p:sp>
      <p:sp>
        <p:nvSpPr>
          <p:cNvPr id="33" name="Shape 31"/>
          <p:cNvSpPr/>
          <p:nvPr/>
        </p:nvSpPr>
        <p:spPr>
          <a:xfrm>
            <a:off x="6496050" y="4933950"/>
            <a:ext cx="190500" cy="190500"/>
          </a:xfrm>
          <a:prstGeom prst="ellipse">
            <a:avLst/>
          </a:prstGeom>
          <a:noFill/>
          <a:ln w="19050">
            <a:solidFill>
              <a:srgbClr val="2B2A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53200" y="4933950"/>
            <a:ext cx="76200" cy="190500"/>
          </a:xfrm>
          <a:custGeom>
            <a:avLst/>
            <a:gdLst/>
            <a:ahLst/>
            <a:cxnLst/>
            <a:rect l="l" t="t" r="r" b="b"/>
            <a:pathLst>
              <a:path w="76200" h="190500">
                <a:moveTo>
                  <a:pt x="38100" y="0"/>
                </a:moveTo>
                <a:arcTo hR="138113" wR="138113" stAng="13416169" swAng="-5232338"/>
                <a:arcTo hR="138113" wR="138113" stAng="2616169" swAng="-5232338"/>
              </a:path>
            </a:pathLst>
          </a:custGeom>
          <a:noFill/>
          <a:ln w="19050">
            <a:solidFill>
              <a:srgbClr val="2B2A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6050" y="5029200"/>
            <a:ext cx="190500" cy="7144"/>
          </a:xfrm>
          <a:custGeom>
            <a:avLst/>
            <a:gdLst/>
            <a:ahLst/>
            <a:cxnLst/>
            <a:rect l="l" t="t" r="r" b="b"/>
            <a:pathLst>
              <a:path w="190500" h="7144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2B2A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9900" y="4917567"/>
            <a:ext cx="5372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欧文の候補</a:t>
            </a:r>
            <a:endParaRPr lang="en-US" sz="15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19900" y="5247284"/>
            <a:ext cx="53721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欧文向けの13書体。数字や記号も実文面で確認。</a:t>
            </a:r>
            <a:endParaRPr lang="en-US" sz="10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09600" y="6208090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出典：input/oss-font-kit.jsonのlanguageを実集計。文字収録範囲の保証ではありません。</a:t>
            </a:r>
            <a:endParaRPr lang="en-US" sz="9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609600"/>
            <a:ext cx="2647950" cy="285750"/>
          </a:xfrm>
          <a:prstGeom prst="roundRect">
            <a:avLst>
              <a:gd name="adj" fmla="val 20000"/>
            </a:avLst>
          </a:prstGeom>
          <a:solidFill>
            <a:srgbClr val="EEE6D9"/>
          </a:solidFill>
          <a:ln/>
        </p:spPr>
      </p:sp>
      <p:sp>
        <p:nvSpPr>
          <p:cNvPr id="4" name="Text 2"/>
          <p:cNvSpPr/>
          <p:nvPr/>
        </p:nvSpPr>
        <p:spPr>
          <a:xfrm>
            <a:off x="742950" y="675284"/>
            <a:ext cx="11449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候補を選んだら、元配布と実文面へ戻る</a:t>
            </a:r>
            <a:endParaRPr lang="en-US" sz="105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2044141"/>
            <a:ext cx="115824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配布前に、</a:t>
            </a:r>
            <a:endParaRPr lang="en-US" sz="54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2920441"/>
            <a:ext cx="115824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7171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書体と利用条件を確かめる</a:t>
            </a:r>
            <a:endParaRPr lang="en-US" sz="5400" dirty="0">
              <a:latin typeface="Zen Kaku Gothic New" pitchFamily="34" charset="0"/>
              <a:ea typeface="Zen Kaku Gothic New" pitchFamily="34" charset="-122"/>
              <a:cs typeface="Zen Kaku Gothic New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