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第1頁。読むことと街を歩くことを、一冊の編集へつなぐ。 。架空の企画であり開催実績や測定値ではありません。場所・時間・参加方法は協力書店と相談して決める想定です。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第2頁。本・場所・参加方法・成果物を先に決める。 使う場所｜既存の書棚と編集台 / 参加の入口｜本を選び、気になる言葉をメモする / 持ち寄る物｜街の写真と短い文章 / 残す物｜参加者が一緒に編集した小冊子。架空の企画であり開催実績や測定値ではありません。場所・時間・参加方法は協力書店と相談して決める想定です。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第3頁。知識を受け取るだけでなく、経験を編集して返す。 読む｜気になる一冊を選ぶ / 歩く｜言葉につながる場所を探す / 持ち寄る｜写真と短文を共有する。架空の企画であり開催実績や測定値ではありません。場所・時間・参加方法は協力書店と相談して決める想定です。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第4頁。読書のよさを守りながら、共有の時間を少し足す。 一人で本を選び、読む / 感想は自分の中で整理する / 街での体験とは別々に持ち帰る / 一冊と言葉を紹介し合う / 街の写真と短文を持ち寄る / 一緒に編集して小冊子に残す。架空の企画であり開催実績や測定値ではありません。場所・時間・参加方法は協力書店と相談して決める想定です。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第5頁。街を見る目の違いを楽しむ。 一冊を選ぶ｜心に残る言葉をひとつ / 街を歩く｜その言葉と出会う場所を探す / 一頁にする｜写真と短文を編集する。架空の企画であり開催実績や測定値ではありません。場所・時間・参加方法は協力書店と相談して決める想定です。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第6頁。読む→歩く→つくる→話す。各時間の長さは運営時に調整する。 選書｜気になる一冊と言葉を選ぶ / 街歩き｜言葉につながる写真を撮る / 編集｜写真と短文を一頁にまとめる / 共有｜頁を見せ合い、感想を話す。架空の企画であり開催実績や測定値ではありません。場所・時間・参加方法は協力書店と相談して決める想定です。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第7頁。初回は小さく試し、参加者と書店の声から次の形を決める。 第1週
書店と設計
運営条件の案 / 第2週
参加を募る
本と募集案内 / 第3週
編集室を試す
写真と短文 / 第4週
意見を聞く
次回の改善案。架空の企画であり開催実績や測定値ではありません。場所・時間・参加方法は協力書店と相談して決める想定です。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第8頁。企画の次の一歩は、場所と人の無理のない接点を探すこと。 試行に向けて、書店の使い方と参加の入口を話し合う。。架空の企画であり開催実績や測定値ではありません。場所・時間・参加方法は協力書店と相談して決める想定です。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E9E0D1"/>
          </a:solidFill>
          <a:ln w="12700">
            <a:solidFill>
              <a:srgbClr val="E9E0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786384"/>
            <a:ext cx="4663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週末編集室｜架空の企画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298448"/>
            <a:ext cx="594360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111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書店の</a:t>
            </a:r>
            <a:endParaRPr lang="en-US" sz="4500" dirty="0"/>
          </a:p>
          <a:p>
            <a:pPr algn="l" indent="0" marL="0">
              <a:buNone/>
            </a:pPr>
            <a:r>
              <a:rPr lang="en-US" sz="4500" b="1" dirty="0">
                <a:solidFill>
                  <a:srgbClr val="111111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週末編集室</a:t>
            </a:r>
            <a:endParaRPr lang="en-US" sz="4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907792"/>
            <a:ext cx="5257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読む・歩く・編集する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架空の地域文化企画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3995928"/>
            <a:ext cx="1170432" cy="0"/>
          </a:xfrm>
          <a:prstGeom prst="line">
            <a:avLst/>
          </a:prstGeom>
          <a:noFill/>
          <a:ln w="7620">
            <a:solidFill>
              <a:srgbClr val="C2410C"/>
            </a:solidFill>
            <a:prstDash val="solid"/>
          </a:ln>
        </p:spPr>
      </p:sp>
      <p:pic>
        <p:nvPicPr>
          <p:cNvPr id="9" name="Image 0" descr="input/images/slide_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93408" y="621792"/>
            <a:ext cx="4526280" cy="54681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93408" y="621792"/>
            <a:ext cx="4526280" cy="5468112"/>
          </a:xfrm>
          <a:prstGeom prst="rect">
            <a:avLst/>
          </a:prstGeom>
          <a:solidFill>
            <a:srgbClr val="F4F1EA">
              <a:alpha val="0"/>
            </a:srgbClr>
          </a:solidFill>
          <a:ln w="7620">
            <a:solidFill>
              <a:srgbClr val="D7CCB9">
                <a:alpha val="64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8869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既存の書店で、小さく試す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61320" y="64373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5F5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/ 08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005840" y="1792224"/>
            <a:ext cx="347472" cy="347472"/>
          </a:xfrm>
          <a:prstGeom prst="ellipse">
            <a:avLst/>
          </a:prstGeom>
          <a:solidFill>
            <a:srgbClr val="C2410C"/>
          </a:solidFill>
          <a:ln w="8890">
            <a:solidFill>
              <a:srgbClr val="C241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792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508760"/>
            <a:ext cx="75438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使う場所｜既存の書棚と編集台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2889504"/>
            <a:ext cx="347472" cy="347472"/>
          </a:xfrm>
          <a:prstGeom prst="ellipse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889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06040"/>
            <a:ext cx="75438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参加の入口｜本を選び、気になる言葉をメモする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5840" y="3986784"/>
            <a:ext cx="347472" cy="347472"/>
          </a:xfrm>
          <a:prstGeom prst="ellipse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703320"/>
            <a:ext cx="75438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持ち寄る物｜街の写真と短い文章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05840" y="5084064"/>
            <a:ext cx="347472" cy="347472"/>
          </a:xfrm>
          <a:prstGeom prst="ellipse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800600"/>
            <a:ext cx="75438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残す物｜参加者が一緒に編集した小冊子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8869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読む・歩く・持ち寄る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61320" y="64373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5F5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/ 08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45720" cy="3520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1417320"/>
            <a:ext cx="262432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体験の要点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746504"/>
            <a:ext cx="2624328" cy="3191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三つの行為を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一冊の編集につなぐ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069080" y="1417320"/>
            <a:ext cx="7059168" cy="1039368"/>
          </a:xfrm>
          <a:prstGeom prst="rect">
            <a:avLst>
              <a:gd name="adj" fmla="val 1760"/>
            </a:avLst>
          </a:prstGeom>
          <a:solidFill>
            <a:srgbClr val="E9E0D1"/>
          </a:solidFill>
          <a:ln w="10160">
            <a:solidFill>
              <a:srgbClr val="D7CCB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70248" y="1417320"/>
            <a:ext cx="457200" cy="1039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55464" y="1581912"/>
            <a:ext cx="6016752" cy="801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読む｜気になる一冊を選ぶ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4069080" y="2657856"/>
            <a:ext cx="7059168" cy="1039368"/>
          </a:xfrm>
          <a:prstGeom prst="rect">
            <a:avLst>
              <a:gd name="adj" fmla="val 1760"/>
            </a:avLst>
          </a:prstGeom>
          <a:solidFill>
            <a:srgbClr val="FFFDF7"/>
          </a:solidFill>
          <a:ln w="10160">
            <a:solidFill>
              <a:srgbClr val="D7CCB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70248" y="2657856"/>
            <a:ext cx="457200" cy="1039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55464" y="2822448"/>
            <a:ext cx="6016752" cy="801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歩く｜言葉につながる場所を探す</a:t>
            </a:r>
            <a:endParaRPr lang="en-US" sz="1620" dirty="0"/>
          </a:p>
        </p:txBody>
      </p:sp>
      <p:sp>
        <p:nvSpPr>
          <p:cNvPr id="14" name="Shape 12"/>
          <p:cNvSpPr/>
          <p:nvPr/>
        </p:nvSpPr>
        <p:spPr>
          <a:xfrm>
            <a:off x="4069080" y="3898392"/>
            <a:ext cx="7059168" cy="1039368"/>
          </a:xfrm>
          <a:prstGeom prst="rect">
            <a:avLst>
              <a:gd name="adj" fmla="val 1760"/>
            </a:avLst>
          </a:prstGeom>
          <a:solidFill>
            <a:srgbClr val="FFFDF7"/>
          </a:solidFill>
          <a:ln w="10160">
            <a:solidFill>
              <a:srgbClr val="D7CCB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70248" y="3898392"/>
            <a:ext cx="457200" cy="1039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55464" y="4062984"/>
            <a:ext cx="6016752" cy="801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持ち寄る｜写真と短文を共有する</a:t>
            </a:r>
            <a:endParaRPr lang="en-US" sz="1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8869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棚の読書、編集台の対話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61320" y="64373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5F5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/ 08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68680" y="1481328"/>
            <a:ext cx="4892040" cy="3429000"/>
          </a:xfrm>
          <a:prstGeom prst="rect">
            <a:avLst>
              <a:gd name="adj" fmla="val 533"/>
            </a:avLst>
          </a:prstGeom>
          <a:solidFill>
            <a:srgbClr val="FFFDF7"/>
          </a:solidFill>
          <a:ln w="10160">
            <a:solidFill>
              <a:srgbClr val="D7CCB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82512" y="1481328"/>
            <a:ext cx="4892040" cy="3429000"/>
          </a:xfrm>
          <a:prstGeom prst="rect">
            <a:avLst>
              <a:gd name="adj" fmla="val 533"/>
            </a:avLst>
          </a:prstGeom>
          <a:solidFill>
            <a:srgbClr val="E9E0D1"/>
          </a:solidFill>
          <a:ln w="13970">
            <a:solidFill>
              <a:srgbClr val="C2410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4712" y="1719072"/>
            <a:ext cx="437997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いつもの読書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38544" y="1719072"/>
            <a:ext cx="437997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編集室の読書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79576" y="2304288"/>
            <a:ext cx="4251960" cy="2286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20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一人で本を選び、読む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感想は自分の中で整理する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街での体験とは別々に持ち帰る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93408" y="2304288"/>
            <a:ext cx="4251960" cy="2286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20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一冊と言葉を紹介し合う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街の写真と短文を持ち寄る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一緒に編集して小冊子に残す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8869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街で拾った断片が、一冊になる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61320" y="64373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5F5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/ 08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444752"/>
            <a:ext cx="47091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写真と短文を、三つの手順で一頁へ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1248" y="2657856"/>
            <a:ext cx="347472" cy="347472"/>
          </a:xfrm>
          <a:prstGeom prst="ellipse">
            <a:avLst/>
          </a:prstGeom>
          <a:solidFill>
            <a:srgbClr val="C2410C"/>
          </a:solidFill>
          <a:ln w="8890">
            <a:solidFill>
              <a:srgbClr val="C2410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657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44168" y="2404872"/>
            <a:ext cx="4206240" cy="85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一冊を選ぶ｜心に残る言葉をひとつ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841248" y="3694176"/>
            <a:ext cx="347472" cy="347472"/>
          </a:xfrm>
          <a:prstGeom prst="ellipse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344168" y="3441192"/>
            <a:ext cx="4206240" cy="85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街を歩く｜その言葉と出会う場所を探す</a:t>
            </a:r>
            <a:endParaRPr lang="en-US" sz="1580" dirty="0"/>
          </a:p>
        </p:txBody>
      </p:sp>
      <p:sp>
        <p:nvSpPr>
          <p:cNvPr id="12" name="Shape 10"/>
          <p:cNvSpPr/>
          <p:nvPr/>
        </p:nvSpPr>
        <p:spPr>
          <a:xfrm>
            <a:off x="841248" y="4730496"/>
            <a:ext cx="347472" cy="347472"/>
          </a:xfrm>
          <a:prstGeom prst="ellipse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4730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344168" y="4477512"/>
            <a:ext cx="4206240" cy="85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一頁にする｜写真と短文を編集する</a:t>
            </a:r>
            <a:endParaRPr lang="en-US" sz="1580" dirty="0"/>
          </a:p>
        </p:txBody>
      </p:sp>
      <p:sp>
        <p:nvSpPr>
          <p:cNvPr id="15" name="Shape 13"/>
          <p:cNvSpPr/>
          <p:nvPr/>
        </p:nvSpPr>
        <p:spPr>
          <a:xfrm>
            <a:off x="6172200" y="1389888"/>
            <a:ext cx="5138928" cy="4407408"/>
          </a:xfrm>
          <a:prstGeom prst="rect">
            <a:avLst>
              <a:gd name="adj" fmla="val 415"/>
            </a:avLst>
          </a:prstGeom>
          <a:solidFill>
            <a:srgbClr val="E9E0D1"/>
          </a:solidFill>
          <a:ln w="10160">
            <a:solidFill>
              <a:srgbClr val="D7CCB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8232" y="1627632"/>
            <a:ext cx="462686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体験の断片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048256"/>
            <a:ext cx="459028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街を見る目の違いを楽しむ。</a:t>
            </a:r>
            <a:endParaRPr lang="en-US" sz="1720" dirty="0"/>
          </a:p>
        </p:txBody>
      </p:sp>
      <p:sp>
        <p:nvSpPr>
          <p:cNvPr id="18" name="Shape 16"/>
          <p:cNvSpPr/>
          <p:nvPr/>
        </p:nvSpPr>
        <p:spPr>
          <a:xfrm>
            <a:off x="6483096" y="3145536"/>
            <a:ext cx="310896" cy="310896"/>
          </a:xfrm>
          <a:prstGeom prst="ellipse">
            <a:avLst/>
          </a:prstGeom>
          <a:solidFill>
            <a:srgbClr val="C2410C"/>
          </a:solidFill>
          <a:ln w="10160">
            <a:solidFill>
              <a:srgbClr val="C2410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83096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958584" y="3017520"/>
            <a:ext cx="40599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本の一節をメモした紙片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83096" y="3895344"/>
            <a:ext cx="310896" cy="310896"/>
          </a:xfrm>
          <a:prstGeom prst="ellipse">
            <a:avLst/>
          </a:prstGeom>
          <a:solidFill>
            <a:srgbClr val="F4F1EA"/>
          </a:solidFill>
          <a:ln w="1016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83096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958584" y="3767328"/>
            <a:ext cx="40599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路地で見つけた光の写真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83096" y="4645152"/>
            <a:ext cx="310896" cy="310896"/>
          </a:xfrm>
          <a:prstGeom prst="ellipse">
            <a:avLst/>
          </a:prstGeom>
          <a:solidFill>
            <a:srgbClr val="F4F1EA"/>
          </a:solidFill>
          <a:ln w="10160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83096" y="4645152"/>
            <a:ext cx="31089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958584" y="4517136"/>
            <a:ext cx="40599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店先の会話から生まれた短文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438912"/>
            <a:ext cx="8869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週末編集室の体験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1088136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64373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5F5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/ 08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2029968"/>
            <a:ext cx="2400300" cy="256032"/>
          </a:xfrm>
          <a:prstGeom prst="rect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645920"/>
            <a:ext cx="24003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選書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06140" y="2029968"/>
            <a:ext cx="2400300" cy="256032"/>
          </a:xfrm>
          <a:prstGeom prst="rect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6140" y="1645920"/>
            <a:ext cx="24003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街歩き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97880" y="2029968"/>
            <a:ext cx="2400300" cy="256032"/>
          </a:xfrm>
          <a:prstGeom prst="rect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97880" y="1645920"/>
            <a:ext cx="24003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編集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89620" y="2029968"/>
            <a:ext cx="2400300" cy="256032"/>
          </a:xfrm>
          <a:prstGeom prst="rect">
            <a:avLst/>
          </a:prstGeom>
          <a:solidFill>
            <a:srgbClr val="C2410C"/>
          </a:solidFill>
          <a:ln w="889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9620" y="1645920"/>
            <a:ext cx="24003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共有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60120" y="2958084"/>
            <a:ext cx="347472" cy="347472"/>
          </a:xfrm>
          <a:prstGeom prst="ellipse">
            <a:avLst/>
          </a:prstGeom>
          <a:solidFill>
            <a:srgbClr val="C2410C"/>
          </a:solidFill>
          <a:ln w="889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2880360"/>
            <a:ext cx="8823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選書｜気になる一冊と言葉を選ぶ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960120" y="3643884"/>
            <a:ext cx="347472" cy="347472"/>
          </a:xfrm>
          <a:prstGeom prst="ellipse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36438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566160"/>
            <a:ext cx="8823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街歩き｜言葉につながる写真を撮る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60120" y="4329684"/>
            <a:ext cx="347472" cy="347472"/>
          </a:xfrm>
          <a:prstGeom prst="ellipse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3296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251960"/>
            <a:ext cx="8823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編集｜写真と短文を一頁にまとめる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960120" y="5015484"/>
            <a:ext cx="347472" cy="347472"/>
          </a:xfrm>
          <a:prstGeom prst="ellipse">
            <a:avLst/>
          </a:prstGeom>
          <a:solidFill>
            <a:srgbClr val="E9E0D1"/>
          </a:solidFill>
          <a:ln w="8890">
            <a:solidFill>
              <a:srgbClr val="D7CCB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50154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4937760"/>
            <a:ext cx="8823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共有｜頁を見せ合い、感想を話す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8869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4週間の試行計画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0"/>
          </a:xfrm>
          <a:prstGeom prst="line">
            <a:avLst/>
          </a:prstGeom>
          <a:noFill/>
          <a:ln w="7620">
            <a:solidFill>
              <a:srgbClr val="D7CC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61320" y="64373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5F5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 / 08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097280" y="2423160"/>
            <a:ext cx="9601200" cy="0"/>
          </a:xfrm>
          <a:prstGeom prst="line">
            <a:avLst/>
          </a:prstGeom>
          <a:noFill/>
          <a:ln w="7620">
            <a:solidFill>
              <a:srgbClr val="C241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2331720"/>
            <a:ext cx="182880" cy="1828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72184" y="1892808"/>
            <a:ext cx="43891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52344"/>
            <a:ext cx="19202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第1週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書店と設計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運営条件の案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142232" y="2331720"/>
            <a:ext cx="182880" cy="182880"/>
          </a:xfrm>
          <a:prstGeom prst="ellipse">
            <a:avLst/>
          </a:prstGeom>
          <a:solidFill>
            <a:srgbClr val="FFFDF7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14216" y="1892808"/>
            <a:ext cx="43891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273552" y="2752344"/>
            <a:ext cx="19202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第2週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参加を募る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本と募集案内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684264" y="2331720"/>
            <a:ext cx="182880" cy="182880"/>
          </a:xfrm>
          <a:prstGeom prst="ellipse">
            <a:avLst/>
          </a:prstGeom>
          <a:solidFill>
            <a:srgbClr val="FFFDF7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56248" y="1892808"/>
            <a:ext cx="43891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815584" y="2752344"/>
            <a:ext cx="19202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第3週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編集室を試す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写真と短文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226296" y="2331720"/>
            <a:ext cx="182880" cy="182880"/>
          </a:xfrm>
          <a:prstGeom prst="ellipse">
            <a:avLst/>
          </a:prstGeom>
          <a:solidFill>
            <a:srgbClr val="FFFDF7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98280" y="1892808"/>
            <a:ext cx="43891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752344"/>
            <a:ext cx="19202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第4週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意見を聞く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次回の改善案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60120" y="4480560"/>
            <a:ext cx="45720" cy="9144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24712" y="4480560"/>
            <a:ext cx="980236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実施前に確認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" y="4809744"/>
            <a:ext cx="980236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場所・時間・参加方法を協力書店と相談する。4週間は仮定で、確定日程ではない。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E9E0D1"/>
          </a:solidFill>
          <a:ln w="12700">
            <a:solidFill>
              <a:srgbClr val="E9E0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E9E0D1"/>
          </a:solidFill>
          <a:ln w="12700">
            <a:solidFill>
              <a:srgbClr val="E9E0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786384"/>
            <a:ext cx="4663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週末編集室｜架空の企画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298448"/>
            <a:ext cx="594360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試行の条件を、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書店と確認する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907792"/>
            <a:ext cx="5257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場所・時間・参加方法を話し合う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665F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架空の企画・実施前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9808" y="3995928"/>
            <a:ext cx="1170432" cy="0"/>
          </a:xfrm>
          <a:prstGeom prst="line">
            <a:avLst/>
          </a:prstGeom>
          <a:noFill/>
          <a:ln w="7620">
            <a:solidFill>
              <a:srgbClr val="C2410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hippori Minch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Studio Yebisu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書店の週末編集室</dc:title>
  <dc:subject>小さな書店の週末編集室</dc:subject>
  <dc:creator>codex-ppt-skill</dc:creator>
  <cp:lastModifiedBy>codex-ppt-skill</cp:lastModifiedBy>
  <cp:revision>1</cp:revision>
  <dcterms:created xsi:type="dcterms:W3CDTF">2026-10-15T15:01:08Z</dcterms:created>
  <dcterms:modified xsi:type="dcterms:W3CDTF">2026-10-15T15:01:08Z</dcterms:modified>
</cp:coreProperties>
</file>