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80500" y="1809750"/>
            <a:ext cx="69850" cy="336550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1809750"/>
            <a:ext cx="2000250" cy="155575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9144000" y="1809750"/>
            <a:ext cx="2000250" cy="0"/>
          </a:xfrm>
          <a:prstGeom prst="line">
            <a:avLst/>
          </a:prstGeom>
          <a:ln w="774700">
            <a:solidFill>
              <a:srgbClr val="000000">
                <a:alpha val="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0" y="3365500"/>
            <a:ext cx="2000250" cy="0"/>
          </a:xfrm>
          <a:prstGeom prst="line">
            <a:avLst/>
          </a:prstGeom>
          <a:ln w="781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44250" y="1809750"/>
            <a:ext cx="0" cy="1555750"/>
          </a:xfrm>
          <a:prstGeom prst="line">
            <a:avLst/>
          </a:prstGeom>
          <a:ln w="508000">
            <a:solidFill>
              <a:srgbClr val="EDE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5000" y="476250"/>
            <a:ext cx="3518495" cy="2844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HITOHATA / ROASTERY BRAND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66450" y="508000"/>
            <a:ext cx="590550" cy="3733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80"/>
              </a:lnSpc>
            </a:pPr>
            <a:r>
              <a:rPr lang="zh-CN" sz="1400" b="1" spc="150" dirty="0">
                <a:solidFill>
                  <a:srgbClr val="151B1D"/>
                </a:solidFill>
                <a:latin typeface="Manrope"/>
                <a:ea typeface="Zen Kaku Gothic New"/>
                <a:cs typeface="Manrope"/>
              </a:rPr>
              <a:t>ひと旗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250" y="1555750"/>
            <a:ext cx="5410200" cy="23336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188"/>
              </a:lnSpc>
            </a:pPr>
            <a:r>
              <a:rPr lang="zh-CN" sz="73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小さな店の、</a:t>
            </a:r>
            <a:br>
              <a:rPr sz="7350"/>
            </a:br>
            <a:r>
              <a:rPr lang="zh-CN" sz="73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ひとつの旗。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4413250"/>
            <a:ext cx="2286000" cy="77708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60"/>
              </a:lnSpc>
            </a:pPr>
            <a:r>
              <a:rPr lang="zh-CN" sz="18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焙煎所のブランド提案</a:t>
            </a:r>
            <a:br>
              <a:rPr sz="1800"/>
            </a:br>
            <a:r>
              <a:rPr lang="zh-CN" sz="18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いい一杯に、目印を。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6350000"/>
            <a:ext cx="3614638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架空ブランド「ひと旗」 / 実在の店舗・商品ではありません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2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94500" y="2159000"/>
            <a:ext cx="12700" cy="3238500"/>
          </a:xfrm>
          <a:prstGeom prst="rect">
            <a:avLst/>
          </a:prstGeom>
          <a:solidFill>
            <a:srgbClr val="8F7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476250"/>
            <a:ext cx="1841599" cy="2844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EDEB63"/>
                </a:solidFill>
                <a:latin typeface="Manrope"/>
                <a:cs typeface="Manrope"/>
              </a:rPr>
              <a:t>01 / BRAND ATTITUDE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365250"/>
            <a:ext cx="4622800" cy="17303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812"/>
              </a:lnSpc>
            </a:pPr>
            <a:r>
              <a:rPr lang="zh-CN" sz="5450" b="1" spc="-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味の前に、</a:t>
            </a:r>
            <a:br>
              <a:rPr sz="5450"/>
            </a:br>
            <a:r>
              <a:rPr lang="zh-CN" sz="5450" b="1" spc="-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姿勢が伝わる。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4095750"/>
            <a:ext cx="3911600" cy="11378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480"/>
              </a:lnSpc>
            </a:pPr>
            <a:r>
              <a:rPr lang="zh-CN" sz="2800" b="1" dirty="0">
                <a:solidFill>
                  <a:srgbClr val="F4F0DF"/>
                </a:solidFill>
                <a:latin typeface="Shippori Mincho"/>
                <a:ea typeface="Shippori Mincho"/>
                <a:cs typeface="Shippori Mincho"/>
              </a:rPr>
              <a:t>新しさよりも、</a:t>
            </a:r>
            <a:br>
              <a:rPr sz="2800"/>
            </a:br>
            <a:r>
              <a:rPr lang="zh-CN" sz="2800" b="1" dirty="0">
                <a:solidFill>
                  <a:srgbClr val="F4F0DF"/>
                </a:solidFill>
                <a:latin typeface="Shippori Mincho"/>
                <a:ea typeface="Shippori Mincho"/>
                <a:cs typeface="Shippori Mincho"/>
              </a:rPr>
              <a:t>今日の一杯を、丁寧に。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0" y="3972223"/>
            <a:ext cx="4000500" cy="18697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945"/>
              </a:lnSpc>
            </a:pP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豆を語りすぎる前に、</a:t>
            </a:r>
            <a:br>
              <a:rPr sz="1550"/>
            </a:b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店の姿勢をひとつの言葉へ。</a:t>
            </a:r>
            <a:br>
              <a:rPr sz="1550"/>
            </a:br>
            <a:br>
              <a:rPr sz="1550"/>
            </a:b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「ひと旗」は、</a:t>
            </a:r>
            <a:br>
              <a:rPr sz="1550"/>
            </a:b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小さな焙煎所の目印です。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350000"/>
            <a:ext cx="3333750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ブランドの言葉と名前は、この提案のための創作です。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3429000"/>
            <a:ext cx="3270250" cy="1746250"/>
          </a:xfrm>
          <a:prstGeom prst="rect">
            <a:avLst/>
          </a:prstGeom>
          <a:solidFill>
            <a:srgbClr val="EDE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0" y="3429000"/>
            <a:ext cx="3270250" cy="174625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75500" y="3429000"/>
            <a:ext cx="3270250" cy="1746250"/>
          </a:xfrm>
          <a:prstGeom prst="rect">
            <a:avLst/>
          </a:prstGeom>
          <a:solidFill>
            <a:srgbClr val="151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476250"/>
            <a:ext cx="1964234" cy="2844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02 / VISUAL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206500"/>
            <a:ext cx="4876800" cy="16033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312"/>
              </a:lnSpc>
            </a:pPr>
            <a:r>
              <a:rPr lang="zh-CN" sz="50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深い茶色に、</a:t>
            </a:r>
            <a:br>
              <a:rPr sz="5050"/>
            </a:br>
            <a:r>
              <a:rPr lang="zh-CN" sz="50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ひと筋のレモン。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651250"/>
            <a:ext cx="2825750" cy="5511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80"/>
              </a:lnSpc>
            </a:pPr>
            <a:r>
              <a:rPr lang="zh-CN" sz="215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目印になる。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171950"/>
            <a:ext cx="2825750" cy="508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00"/>
              </a:lnSpc>
            </a:pPr>
            <a:r>
              <a:rPr lang="zh-CN" sz="1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レモン色 / #EDEB63</a:t>
            </a:r>
            <a:br>
              <a:rPr sz="1250"/>
            </a:br>
            <a:r>
              <a:rPr lang="zh-CN" sz="1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旗と、ひとことのアクセント。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500" y="3651250"/>
            <a:ext cx="2825750" cy="5511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80"/>
              </a:lnSpc>
            </a:pPr>
            <a:r>
              <a:rPr lang="zh-CN" sz="2150" b="1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深さを添える。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7500" y="4171950"/>
            <a:ext cx="2825750" cy="508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00"/>
              </a:lnSpc>
            </a:pP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コーヒー茶 / #38271F</a:t>
            </a:r>
            <a:br>
              <a:rPr sz="1250"/>
            </a:b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豆と焙煎を思わせる土台。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7750" y="3651250"/>
            <a:ext cx="2825750" cy="5511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80"/>
              </a:lnSpc>
            </a:pPr>
            <a:r>
              <a:rPr lang="zh-CN" sz="2150" b="1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言葉を立てる。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7750" y="4171950"/>
            <a:ext cx="2825750" cy="508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00"/>
              </a:lnSpc>
            </a:pP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墨黒 / #151B1D</a:t>
            </a:r>
            <a:br>
              <a:rPr sz="1250"/>
            </a:b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読ませる文字と、細い罫線。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5765800"/>
            <a:ext cx="4292600" cy="3289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見出しは太く。本文は端正に。英数字は、静かに添える。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6350000"/>
            <a:ext cx="3600450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配色・書体の提案です。実物の印刷色は試作で確認します。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3048000"/>
            <a:ext cx="2730500" cy="219075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99000" y="2698750"/>
            <a:ext cx="2159000" cy="3048000"/>
          </a:xfrm>
          <a:prstGeom prst="rect">
            <a:avLst/>
          </a:prstGeom>
          <a:solidFill>
            <a:srgbClr val="EDE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699000" y="2698750"/>
            <a:ext cx="2159000" cy="0"/>
          </a:xfrm>
          <a:prstGeom prst="line">
            <a:avLst/>
          </a:prstGeom>
          <a:ln w="222250">
            <a:solidFill>
              <a:srgbClr val="382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255000" y="3619500"/>
            <a:ext cx="2857500" cy="1397000"/>
          </a:xfrm>
          <a:prstGeom prst="rect">
            <a:avLst/>
          </a:prstGeom>
          <a:solidFill>
            <a:srgbClr val="F4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55000" y="3619500"/>
            <a:ext cx="2857500" cy="0"/>
          </a:xfrm>
          <a:prstGeom prst="line">
            <a:avLst/>
          </a:prstGeom>
          <a:ln w="50800">
            <a:solidFill>
              <a:srgbClr val="382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55000" y="5016500"/>
            <a:ext cx="2857500" cy="0"/>
          </a:xfrm>
          <a:prstGeom prst="line">
            <a:avLst/>
          </a:prstGeom>
          <a:ln w="12700">
            <a:solidFill>
              <a:srgbClr val="382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5000" y="476250"/>
            <a:ext cx="1636117" cy="2844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03 / TOUCHPOINTS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174750"/>
            <a:ext cx="6604000" cy="12112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812"/>
              </a:lnSpc>
            </a:pPr>
            <a:r>
              <a:rPr lang="zh-CN" sz="54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店先から、手元まで。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250" y="3397250"/>
            <a:ext cx="2032000" cy="977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560"/>
              </a:lnSpc>
            </a:pPr>
            <a:r>
              <a:rPr lang="zh-CN" sz="3800" b="1" spc="250" dirty="0">
                <a:solidFill>
                  <a:srgbClr val="EDEB63"/>
                </a:solidFill>
                <a:latin typeface="Zen Kaku Gothic New"/>
                <a:ea typeface="Zen Kaku Gothic New"/>
                <a:cs typeface="Zen Kaku Gothic New"/>
              </a:rPr>
              <a:t>ひと旗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250" y="4241800"/>
            <a:ext cx="2032000" cy="2311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0"/>
              </a:lnSpc>
            </a:pPr>
            <a:r>
              <a:rPr lang="en-US" sz="950" b="1" spc="150" dirty="0">
                <a:solidFill>
                  <a:srgbClr val="EDEB63"/>
                </a:solidFill>
                <a:latin typeface="Manrope"/>
                <a:cs typeface="Manrope"/>
              </a:rPr>
              <a:t>COFFEE ROASTERY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6500" y="3206750"/>
            <a:ext cx="863600" cy="10362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080"/>
              </a:lnSpc>
            </a:pPr>
            <a:r>
              <a:rPr lang="zh-CN" sz="340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ひと</a:t>
            </a:r>
            <a:br>
              <a:rPr sz="3400"/>
            </a:br>
            <a:r>
              <a:rPr lang="zh-CN" sz="340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6500" y="5289550"/>
            <a:ext cx="1494433" cy="2400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00"/>
              </a:lnSpc>
            </a:pPr>
            <a:r>
              <a:rPr lang="en-US" sz="1000" b="1" spc="100" dirty="0">
                <a:solidFill>
                  <a:srgbClr val="151B1D"/>
                </a:solidFill>
                <a:latin typeface="Manrope"/>
                <a:cs typeface="Manrope"/>
              </a:rPr>
              <a:t>ROASTED WITH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0" y="3892550"/>
            <a:ext cx="2413000" cy="6134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820"/>
              </a:lnSpc>
            </a:pPr>
            <a:r>
              <a:rPr lang="zh-CN" sz="235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今日の一杯。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0" y="4457700"/>
            <a:ext cx="2413000" cy="3200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00"/>
              </a:lnSpc>
            </a:pPr>
            <a:r>
              <a:rPr lang="zh-CN" sz="1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ゆっくり、味わう。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873750"/>
            <a:ext cx="2163862" cy="3289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看板 / 遠くから名前が届く。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9000" y="5873750"/>
            <a:ext cx="1833662" cy="3289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袋 / 家まで目印が続く。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5000" y="5873750"/>
            <a:ext cx="2328962" cy="3289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棚札 / 選ぶ時間を急がせない。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6350000"/>
            <a:ext cx="3733800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用途のイメージ案。商品仕様、寸法、印刷条件は未決定です。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476250"/>
            <a:ext cx="1326356" cy="2844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04 /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428750"/>
            <a:ext cx="6223000" cy="2301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062"/>
              </a:lnSpc>
            </a:pPr>
            <a:r>
              <a:rPr lang="zh-CN" sz="72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一杯の記憶を、</a:t>
            </a:r>
            <a:br>
              <a:rPr sz="7250"/>
            </a:br>
            <a:r>
              <a:rPr lang="zh-CN" sz="72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店の旗に。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98500" y="4827389"/>
            <a:ext cx="2667000" cy="0"/>
          </a:xfrm>
          <a:prstGeom prst="line">
            <a:avLst/>
          </a:prstGeom>
          <a:ln w="12700">
            <a:solidFill>
              <a:srgbClr val="151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4827389"/>
            <a:ext cx="2667000" cy="792361"/>
          </a:xfrm>
          <a:prstGeom prst="rect">
            <a:avLst/>
          </a:prstGeom>
          <a:noFill/>
        </p:spPr>
        <p:txBody>
          <a:bodyPr wrap="none" lIns="0" rIns="0" tIns="139700" bIns="0" anchor="t"/>
          <a:lstStyle/>
          <a:p>
            <a:pPr algn="l">
              <a:lnSpc>
                <a:spcPts val="2520"/>
              </a:lnSpc>
            </a:pPr>
            <a:r>
              <a:rPr lang="en-US" sz="1050" b="1" dirty="0">
                <a:solidFill>
                  <a:srgbClr val="151B1D"/>
                </a:solidFill>
                <a:latin typeface="Manrope"/>
                <a:cs typeface="Manrope"/>
              </a:rPr>
              <a:t>01</a:t>
            </a: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店の言葉を確かめる。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名前と姿勢を、店主の声に。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14750" y="4827389"/>
            <a:ext cx="2667000" cy="0"/>
          </a:xfrm>
          <a:prstGeom prst="line">
            <a:avLst/>
          </a:prstGeom>
          <a:ln w="12700">
            <a:solidFill>
              <a:srgbClr val="151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14750" y="4827389"/>
            <a:ext cx="2667000" cy="792361"/>
          </a:xfrm>
          <a:prstGeom prst="rect">
            <a:avLst/>
          </a:prstGeom>
          <a:noFill/>
        </p:spPr>
        <p:txBody>
          <a:bodyPr wrap="none" lIns="0" rIns="0" tIns="139700" bIns="0" anchor="t"/>
          <a:lstStyle/>
          <a:p>
            <a:pPr algn="l">
              <a:lnSpc>
                <a:spcPts val="2520"/>
              </a:lnSpc>
            </a:pPr>
            <a:r>
              <a:rPr lang="en-US" sz="1050" b="1" dirty="0">
                <a:solidFill>
                  <a:srgbClr val="151B1D"/>
                </a:solidFill>
                <a:latin typeface="Manrope"/>
                <a:cs typeface="Manrope"/>
              </a:rPr>
              <a:t>02</a:t>
            </a: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小さく印刷してみる。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看板と袋で、色と読みやすさを。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31000" y="4827389"/>
            <a:ext cx="2667000" cy="0"/>
          </a:xfrm>
          <a:prstGeom prst="line">
            <a:avLst/>
          </a:prstGeom>
          <a:ln w="12700">
            <a:solidFill>
              <a:srgbClr val="151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31000" y="4827389"/>
            <a:ext cx="2667000" cy="792361"/>
          </a:xfrm>
          <a:prstGeom prst="rect">
            <a:avLst/>
          </a:prstGeom>
          <a:noFill/>
        </p:spPr>
        <p:txBody>
          <a:bodyPr wrap="none" lIns="0" rIns="0" tIns="139700" bIns="0" anchor="t"/>
          <a:lstStyle/>
          <a:p>
            <a:pPr algn="l">
              <a:lnSpc>
                <a:spcPts val="2520"/>
              </a:lnSpc>
            </a:pPr>
            <a:r>
              <a:rPr lang="en-US" sz="1050" b="1" dirty="0">
                <a:solidFill>
                  <a:srgbClr val="151B1D"/>
                </a:solidFill>
                <a:latin typeface="Manrope"/>
                <a:cs typeface="Manrope"/>
              </a:rPr>
              <a:t>03</a:t>
            </a: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使う範囲を決める。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無理なく続く、ひとつの目印へ。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350000"/>
            <a:ext cx="3881338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架空ブランドの企画案 / 採用・販売・効果の実績ではありません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