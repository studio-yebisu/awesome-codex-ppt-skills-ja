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入力§1。架空・未実施のデザイン研究計画。廃棄原因全体ではなく、何があるか分からない情報の問題に絞る。図は入力記述に基づく説明図。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入力§2。研究の問いと三つの利用場面。毎回アプリを開く前提は未検証。見る価値が生じる場面を確かめる。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入力§3。仮説Aは保存場所の一覧、仮説Bは粗い残量段階。記録精度と更新負担のトレードオフであり、優劣の結果ではない。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入力§4。提案UIは説明用の架空表示。食品名・残量・更新時点・包装表示からの期限転記を区別。期限未登録は期限がないことを意味しない。安全を保証しない。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入力§5。選択→残量変更→保存場所確認の提案。使い切りを取り消せる設計を検討。家族の共有は同意・権限を要し、自動的には許可されない。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入力§6。紙試作→操作可能な試作の計画。課題、観察、操作記録、振り返りを組み合わせる。数値・結果なし。家庭で継続評価する場合はデータ最小化と参加・共有の別の同意が必要。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入力§7。未入力・更新忘れ・家族の利用でずれる。UIだけで食品ロス削減の証明はできない。期限表示は安全保証ではなく、実物と包装表示を確認する。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入力§8。未実施研究計画の次の一歩。棚を決める→試作→課題→修正。通知やレシピを最初から増やさず、基本一覧と更新が判断に使えるかを検証する。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3EF64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E8F0E9"/>
                </a:solidFill>
                <a:latin typeface="Noto Sans CJK JP"/>
              </a:defRPr>
            </a:pPr>
            <a:r>
              <a:t>出典：架空の研究ノート  |  未実施・実測結果なし  |  入力 BRIEF / data.json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AFCF7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5800" b="1">
                <a:solidFill>
                  <a:srgbClr val="FAFCF7"/>
                </a:solidFill>
                <a:latin typeface="Noto Sans CJK JP"/>
              </a:defRPr>
            </a:pPr>
            <a:r>
              <a:t>捨てる前の</a:t>
            </a:r>
          </a:p>
          <a:p>
            <a:pPr>
              <a:spcAft>
                <a:spcPts val="800"/>
              </a:spcAft>
              <a:defRPr sz="5800" b="1">
                <a:solidFill>
                  <a:srgbClr val="FAFCF7"/>
                </a:solidFill>
                <a:latin typeface="Noto Sans CJK JP"/>
              </a:defRPr>
            </a:pPr>
            <a:r>
              <a:t>一目。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D3EF64"/>
                </a:solidFill>
                <a:latin typeface="Noto Sans CJK JP"/>
              </a:defRPr>
            </a:pPr>
            <a:r>
              <a:t>冷蔵庫の奥を、画面の手前へ。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0916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AFCF7"/>
                </a:solidFill>
                <a:latin typeface="Noto Sans CJK JP"/>
              </a:defRPr>
            </a:pPr>
            <a:r>
              <a:t>食品在庫の可視化UIを考える</a:t>
            </a:r>
          </a:p>
          <a:p>
            <a:pPr>
              <a:spcAft>
                <a:spcPts val="800"/>
              </a:spcAft>
              <a:defRPr sz="2100" b="0">
                <a:solidFill>
                  <a:srgbClr val="FAFCF7"/>
                </a:solidFill>
                <a:latin typeface="Noto Sans CJK JP"/>
              </a:defRPr>
            </a:pPr>
            <a:r>
              <a:t>デザイン研究計画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280160"/>
            <a:ext cx="3566160" cy="448056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536192"/>
            <a:ext cx="3108960" cy="3968496"/>
          </a:xfrm>
          <a:prstGeom prst="rect">
            <a:avLst/>
          </a:prstGeom>
          <a:solidFill>
            <a:srgbClr val="16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651760"/>
            <a:ext cx="3017520" cy="36576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3931920"/>
            <a:ext cx="3017520" cy="36576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5212080"/>
            <a:ext cx="3017520" cy="36576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640080" cy="521207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920240"/>
            <a:ext cx="1188720" cy="521207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246120"/>
            <a:ext cx="1051560" cy="521207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0" y="4389120"/>
            <a:ext cx="548640" cy="521207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5760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AFCF7"/>
                </a:solidFill>
                <a:latin typeface="Noto Sans CJK JP"/>
              </a:defRPr>
            </a:pPr>
            <a:r>
              <a:t>何があるか、を見渡す。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買う前と、使う前に思い出せるか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出典：架空の研究ノート  |  未実施・実測結果なし  |  入力 BRIEF / data.json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9644D"/>
                </a:solidFill>
                <a:latin typeface="Noto Sans CJK JP"/>
              </a:defRPr>
            </a:pPr>
            <a:r>
              <a:t>在庫の所在と状態を、どう判断につなぐ？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10607040" cy="4572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3227832"/>
            <a:ext cx="685800" cy="685800"/>
          </a:xfrm>
          <a:prstGeom prst="ellipse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3649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AFCF7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3C36"/>
                </a:solidFill>
                <a:latin typeface="Noto Sans CJK JP"/>
              </a:defRPr>
            </a:pPr>
            <a:r>
              <a:t>買い物前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D63"/>
                </a:solidFill>
                <a:latin typeface="Noto Sans CJK JP"/>
              </a:defRPr>
            </a:pPr>
            <a:r>
              <a:t>重複を確認</a:t>
            </a:r>
          </a:p>
        </p:txBody>
      </p:sp>
      <p:sp>
        <p:nvSpPr>
          <p:cNvPr id="12" name="Oval 11"/>
          <p:cNvSpPr/>
          <p:nvPr/>
        </p:nvSpPr>
        <p:spPr>
          <a:xfrm>
            <a:off x="4480560" y="3227832"/>
            <a:ext cx="685800" cy="685800"/>
          </a:xfrm>
          <a:prstGeom prst="ellipse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3649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AFCF7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3C36"/>
                </a:solidFill>
                <a:latin typeface="Noto Sans CJK JP"/>
              </a:defRPr>
            </a:pPr>
            <a:r>
              <a:t>調理前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937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D63"/>
                </a:solidFill>
                <a:latin typeface="Noto Sans CJK JP"/>
              </a:defRPr>
            </a:pPr>
            <a:r>
              <a:t>使う候補を選ぶ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3227832"/>
            <a:ext cx="685800" cy="685800"/>
          </a:xfrm>
          <a:prstGeom prst="ellipse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3649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AFCF7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3C36"/>
                </a:solidFill>
                <a:latin typeface="Noto Sans CJK JP"/>
              </a:defRPr>
            </a:pPr>
            <a:r>
              <a:t>片づけ時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937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D63"/>
                </a:solidFill>
                <a:latin typeface="Noto Sans CJK JP"/>
              </a:defRPr>
            </a:pPr>
            <a:r>
              <a:t>残量を更新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9644D"/>
                </a:solidFill>
                <a:latin typeface="Noto Sans CJK JP"/>
              </a:defRPr>
            </a:pPr>
            <a:r>
              <a:t>確認すること：どの場面で、開く価値があるか。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入力の負担が、見える在庫を支える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出典：架空の研究ノート  |  未実施・実測結果なし  |  入力 BRIEF / data.json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記録の細かさ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更新の手軽さ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035808"/>
            <a:ext cx="9601200" cy="73152"/>
          </a:xfrm>
          <a:prstGeom prst="rect">
            <a:avLst/>
          </a:prstGeom>
          <a:solidFill>
            <a:srgbClr val="16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5623560" y="3127248"/>
            <a:ext cx="960120" cy="914400"/>
          </a:xfrm>
          <a:prstGeom prst="triangle">
            <a:avLst/>
          </a:prstGeom>
          <a:solidFill>
            <a:srgbClr val="16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場所の一覧が</a:t>
            </a:r>
          </a:p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探す手がかりになるか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47472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大まかな残量なら</a:t>
            </a:r>
          </a:p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更新を続けやすいか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92040"/>
            <a:ext cx="2578608" cy="65836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3C36"/>
                </a:solidFill>
                <a:latin typeface="Noto Sans CJK JP"/>
              </a:defRPr>
            </a:pPr>
            <a:r>
              <a:t>多め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2" y="4892040"/>
            <a:ext cx="2578608" cy="65836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5029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3C36"/>
                </a:solidFill>
                <a:latin typeface="Noto Sans CJK JP"/>
              </a:defRPr>
            </a:pPr>
            <a:r>
              <a:t>半分ほど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9944" y="4892040"/>
            <a:ext cx="2578608" cy="65836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5029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3C36"/>
                </a:solidFill>
                <a:latin typeface="Noto Sans CJK JP"/>
              </a:defRPr>
            </a:pPr>
            <a:r>
              <a:t>少なめ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4892040"/>
            <a:ext cx="2578608" cy="658368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9176" y="5029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3C36"/>
                </a:solidFill>
                <a:latin typeface="Noto Sans CJK JP"/>
              </a:defRPr>
            </a:pPr>
            <a:r>
              <a:t>不明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設計上のトレードオフ。継続と正確さの両方を評価する。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場所から探し、状態で選ぶ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出典：架空の研究ノート  |  未実施・実測結果なし  |  入力 BRIEF / data.json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56231"/>
            <a:ext cx="5532120" cy="4251960"/>
          </a:xfrm>
          <a:prstGeom prst="rect">
            <a:avLst/>
          </a:prstGeom>
          <a:solidFill>
            <a:srgbClr val="16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39112"/>
            <a:ext cx="5166360" cy="3886200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冷蔵   /   冷凍   /   常温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852928"/>
            <a:ext cx="4690872" cy="822960"/>
          </a:xfrm>
          <a:prstGeom prst="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9260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3C36"/>
                </a:solidFill>
                <a:latin typeface="Noto Sans CJK JP"/>
              </a:defRPr>
            </a:pPr>
            <a:r>
              <a:t>にんじん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8094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9644D"/>
                </a:solidFill>
                <a:latin typeface="Noto Sans CJK JP"/>
              </a:defRPr>
            </a:pPr>
            <a:r>
              <a:t>少なめ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31012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更新：前回の買い物時 / 期限：未登録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803904"/>
            <a:ext cx="4690872" cy="822960"/>
          </a:xfrm>
          <a:prstGeom prst="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877056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3C36"/>
                </a:solidFill>
                <a:latin typeface="Noto Sans CJK JP"/>
              </a:defRPr>
            </a:pPr>
            <a:r>
              <a:t>豆腐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9319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9644D"/>
                </a:solidFill>
                <a:latin typeface="Noto Sans CJK JP"/>
              </a:defRPr>
            </a:pPr>
            <a:r>
              <a:t>半分ほど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426110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更新：前回の買い物時 / 期限：未登録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754880"/>
            <a:ext cx="4690872" cy="822960"/>
          </a:xfrm>
          <a:prstGeom prst="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82803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3C36"/>
                </a:solidFill>
                <a:latin typeface="Noto Sans CJK JP"/>
              </a:defRPr>
            </a:pPr>
            <a:r>
              <a:t>冷凍ごはん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88289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9644D"/>
                </a:solidFill>
                <a:latin typeface="Noto Sans CJK JP"/>
              </a:defRPr>
            </a:pPr>
            <a:r>
              <a:t>不明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52120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更新：前回の買い物時 / 期限：未登録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19456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不明な状態を、</a:t>
            </a:r>
          </a:p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隠さない。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03320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残量と期限は別の情報。</a:t>
            </a:r>
          </a:p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更新時点を示し、</a:t>
            </a:r>
          </a:p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包装の表示と区別する。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6692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F5A34"/>
                </a:solidFill>
                <a:latin typeface="Noto Sans CJK JP"/>
              </a:defRPr>
            </a:pPr>
            <a:r>
              <a:t>説明用の架空表示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「使った」を、短い操作にする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出典：架空の研究ノート  |  未実施・実測結果なし  |  入力 BRIEF / data.json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01  選択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70048"/>
            <a:ext cx="3154680" cy="2651760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2907792"/>
            <a:ext cx="2834640" cy="539496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3C36"/>
                </a:solidFill>
                <a:latin typeface="Noto Sans CJK JP"/>
              </a:defRPr>
            </a:pPr>
            <a:r>
              <a:t>にんじん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93591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豆腐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33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冷凍ごはん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29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02  残量変更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670048"/>
            <a:ext cx="3154680" cy="2651760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953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多め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3547872"/>
            <a:ext cx="2834640" cy="539496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3593591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3C36"/>
                </a:solidFill>
                <a:latin typeface="Noto Sans CJK JP"/>
              </a:defRPr>
            </a:pPr>
            <a:r>
              <a:t>半分ほど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233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少なめ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29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03  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670048"/>
            <a:ext cx="3154680" cy="2651760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953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保存場所：冷蔵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593591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更新する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8" y="4187952"/>
            <a:ext cx="2834640" cy="539496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233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AFCF7"/>
                </a:solidFill>
                <a:latin typeface="Noto Sans CJK JP"/>
              </a:defRPr>
            </a:pPr>
            <a:r>
              <a:t>取り消す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共有する前に、誰に何を見せるかを決める。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見つけやすさと、更新しやすさを評価する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出典：架空の研究ノート  |  未実施・実測結果なし  |  入力 BRIEF / data.json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9644D"/>
                </a:solidFill>
                <a:latin typeface="Noto Sans CJK JP"/>
              </a:defRPr>
            </a:pPr>
            <a:r>
              <a:t>紙の試作 → 操作可能な試作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3520440" cy="566928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79806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AFCF7"/>
                </a:solidFill>
                <a:latin typeface="Noto Sans CJK JP"/>
              </a:defRPr>
            </a:pPr>
            <a:r>
              <a:t>課題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697480"/>
            <a:ext cx="3154680" cy="566928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798064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AFCF7"/>
                </a:solidFill>
                <a:latin typeface="Noto Sans CJK JP"/>
              </a:defRPr>
            </a:pPr>
            <a:r>
              <a:t>観察する点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697480"/>
            <a:ext cx="3611880" cy="566928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18704" y="279806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AFCF7"/>
                </a:solidFill>
                <a:latin typeface="Noto Sans CJK JP"/>
              </a:defRPr>
            </a:pPr>
            <a:r>
              <a:t>聞くこと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352044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5021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食材を見つける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337560"/>
            <a:ext cx="31546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35021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見落とし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337560"/>
            <a:ext cx="36118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35021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探した手がかり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352044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2336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使う候補を選ぶ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69080"/>
            <a:ext cx="31546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42336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選択理由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069080"/>
            <a:ext cx="36118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423367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不明情報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352044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9651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残量を更新する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4800600"/>
            <a:ext cx="31546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49651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操作の迷い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00600"/>
            <a:ext cx="36118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18704" y="49651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負担感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26D63"/>
                </a:solidFill>
                <a:latin typeface="Noto Sans CJK JP"/>
              </a:defRPr>
            </a:pPr>
            <a:r>
              <a:t>観察・操作記録・振り返りを組み合わせる。評価結果はまだない。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3EF64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AFCF7"/>
                </a:solidFill>
                <a:latin typeface="Noto Sans CJK JP"/>
              </a:defRPr>
            </a:pPr>
            <a:r>
              <a:t>画面の在庫と、実物はずれる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E8F0E9"/>
                </a:solidFill>
                <a:latin typeface="Noto Sans CJK JP"/>
              </a:defRPr>
            </a:pPr>
            <a:r>
              <a:t>出典：架空の研究ノート  |  未実施・実測結果なし  |  入力 BRIEF / data.json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AFCF7"/>
                </a:solidFill>
                <a:latin typeface="Noto Sans CJK JP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D3EF64"/>
                </a:solidFill>
                <a:latin typeface="Noto Sans CJK JP"/>
              </a:defRPr>
            </a:pPr>
            <a:r>
              <a:t>画面の一覧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57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D3EF64"/>
                </a:solidFill>
                <a:latin typeface="Noto Sans CJK JP"/>
              </a:defRPr>
            </a:pPr>
            <a:r>
              <a:t>実物の棚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3840480" cy="41148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502152"/>
            <a:ext cx="3840480" cy="41148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123944"/>
            <a:ext cx="3840480" cy="41148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3108960"/>
            <a:ext cx="4023360" cy="54864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3977639"/>
            <a:ext cx="4023360" cy="54864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4846320"/>
            <a:ext cx="4023360" cy="54864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697480"/>
            <a:ext cx="1005840" cy="411480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3474720"/>
            <a:ext cx="1005840" cy="411480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4389120"/>
            <a:ext cx="1005840" cy="411480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5204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AFCF7"/>
                </a:solidFill>
                <a:latin typeface="Noto Sans CJK JP"/>
              </a:defRPr>
            </a:pPr>
            <a:r>
              <a:t>更新の</a:t>
            </a:r>
          </a:p>
          <a:p>
            <a:pPr>
              <a:spcAft>
                <a:spcPts val="800"/>
              </a:spcAft>
              <a:defRPr sz="2300" b="1">
                <a:solidFill>
                  <a:srgbClr val="FAFCF7"/>
                </a:solidFill>
                <a:latin typeface="Noto Sans CJK JP"/>
              </a:defRPr>
            </a:pPr>
            <a:r>
              <a:t>ずれ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D3EF64"/>
                </a:solidFill>
                <a:latin typeface="Noto Sans CJK JP"/>
              </a:defRPr>
            </a:pPr>
            <a:r>
              <a:t>可食判断を、自動化しない。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618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AFCF7"/>
                </a:solidFill>
                <a:latin typeface="Noto Sans CJK JP"/>
              </a:defRPr>
            </a:pPr>
            <a:r>
              <a:t>未入力・更新忘れ・共有による変化。実物と包装表示の確認が必要。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一つの棚から、始める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出典：架空の研究ノート  |  未実施・実測結果なし  |  入力 BRIEF / data.json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「見える」を、判断に「使える」へ。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2514600" cy="118872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C36"/>
                </a:solidFill>
                <a:latin typeface="Noto Sans CJK JP"/>
              </a:defRPr>
            </a:pPr>
            <a:r>
              <a:t>棚を決める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範囲を小さく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3813048"/>
            <a:ext cx="2514600" cy="118872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40873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C36"/>
                </a:solidFill>
                <a:latin typeface="Noto Sans CJK JP"/>
              </a:defRPr>
            </a:pPr>
            <a:r>
              <a:t>試作する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472744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優先順位を形に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91655" y="3511296"/>
            <a:ext cx="2514600" cy="118872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3785615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C36"/>
                </a:solidFill>
                <a:latin typeface="Noto Sans CJK JP"/>
              </a:defRPr>
            </a:pPr>
            <a:r>
              <a:t>課題を試す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442569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迷いを観察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3" y="3209544"/>
            <a:ext cx="2514600" cy="118872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3" y="3483863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C36"/>
                </a:solidFill>
                <a:latin typeface="Noto Sans CJK JP"/>
              </a:defRPr>
            </a:pPr>
            <a:r>
              <a:t>表示を直す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3" y="412394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必要なら減らす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F5A34"/>
                </a:solidFill>
                <a:latin typeface="Noto Sans CJK JP"/>
              </a:defRPr>
            </a:pPr>
            <a:r>
              <a:t>未実施の研究計画  /  最初の試作で確かめる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