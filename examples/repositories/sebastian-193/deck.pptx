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サインの見た目だけでなく、利用者が次の一歩を選ぶ瞬間に注目する。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文字が読みやすくても、見つからない、方向が曖昧という問題は残る。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これは優劣を確定した結果ではない。比較して確かめたい設計仮説である。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到着の確認も案内の一部。利用者が「ここで合っている」と判断できる仕組みを含める。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ここでは寸法を正解として固定しない。実際に使われる距離と環境に合わせて試作する。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速さだけを成功の基準にしない。参加者の安全を優先し、参加条件と同意手順は実施前に整える。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同じ案内でも使う条件が違う。多様な利用者による確認と現地調整が必要になる。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結果を先取りせず、迷いの原因を見つけて設計を更新する。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"/>
          <p:cNvSpPr/>
          <p:nvPr/>
        </p:nvSpPr>
        <p:spPr>
          <a:xfrm>
            <a:off x="594360" y="29260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77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小さな道案内  /  研究計画</a:t>
            </a:r>
            <a:endParaRPr lang="en-US" sz="1000" dirty="0"/>
          </a:p>
        </p:txBody>
      </p:sp>
      <p:sp>
        <p:nvSpPr>
          <p:cNvPr id="3" name="text-2"/>
          <p:cNvSpPr/>
          <p:nvPr/>
        </p:nvSpPr>
        <p:spPr>
          <a:xfrm>
            <a:off x="10972800" y="2743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4C9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01</a:t>
            </a:r>
            <a:endParaRPr lang="en-US" sz="1200" dirty="0"/>
          </a:p>
        </p:txBody>
      </p:sp>
      <p:sp>
        <p:nvSpPr>
          <p:cNvPr id="4" name="line-3"/>
          <p:cNvSpPr/>
          <p:nvPr/>
        </p:nvSpPr>
        <p:spPr>
          <a:xfrm>
            <a:off x="594360" y="6423787"/>
            <a:ext cx="11018520" cy="8890"/>
          </a:xfrm>
          <a:prstGeom prst="rect">
            <a:avLst/>
          </a:prstGeom>
          <a:solidFill>
            <a:srgbClr val="024C98"/>
          </a:solidFill>
          <a:ln w="12700">
            <a:solidFill>
              <a:srgbClr val="024C98">
                <a:alpha val="0"/>
              </a:srgbClr>
            </a:solidFill>
            <a:prstDash val="solid"/>
          </a:ln>
        </p:spPr>
      </p:sp>
      <p:sp>
        <p:nvSpPr>
          <p:cNvPr id="5" name="text-4"/>
          <p:cNvSpPr/>
          <p:nvPr/>
        </p:nvSpPr>
        <p:spPr>
          <a:xfrm>
            <a:off x="594360" y="651967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77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架空・未実施の研究提案</a:t>
            </a:r>
            <a:endParaRPr lang="en-US" sz="900" dirty="0"/>
          </a:p>
        </p:txBody>
      </p:sp>
      <p:sp>
        <p:nvSpPr>
          <p:cNvPr id="7" name="text-5"/>
          <p:cNvSpPr/>
          <p:nvPr/>
        </p:nvSpPr>
        <p:spPr>
          <a:xfrm>
            <a:off x="640080" y="1143000"/>
            <a:ext cx="8046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024C9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小さな</a:t>
            </a:r>
            <a:endParaRPr lang="en-US" sz="5800" dirty="0"/>
          </a:p>
          <a:p>
            <a:pPr indent="0" marL="0">
              <a:buNone/>
            </a:pPr>
            <a:r>
              <a:rPr lang="en-US" sz="5800" b="1" dirty="0">
                <a:solidFill>
                  <a:srgbClr val="024C9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道案内</a:t>
            </a:r>
            <a:endParaRPr lang="en-US" sz="5800" dirty="0"/>
          </a:p>
        </p:txBody>
      </p:sp>
      <p:sp>
        <p:nvSpPr>
          <p:cNvPr id="8" name="text-6"/>
          <p:cNvSpPr/>
          <p:nvPr/>
        </p:nvSpPr>
        <p:spPr>
          <a:xfrm>
            <a:off x="685800" y="37490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公共空間サインの読みやすさを探る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デザイン研究計画</a:t>
            </a:r>
            <a:endParaRPr lang="en-US" sz="2300" dirty="0"/>
          </a:p>
        </p:txBody>
      </p:sp>
      <p:sp>
        <p:nvSpPr>
          <p:cNvPr id="9" name="text-7"/>
          <p:cNvSpPr/>
          <p:nvPr/>
        </p:nvSpPr>
        <p:spPr>
          <a:xfrm>
            <a:off x="685800" y="4892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D5EA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目的地より先に、迷いを減らす</a:t>
            </a:r>
            <a:endParaRPr lang="en-US" sz="2300" dirty="0"/>
          </a:p>
        </p:txBody>
      </p:sp>
      <p:sp>
        <p:nvSpPr>
          <p:cNvPr id="10" name="line-8"/>
          <p:cNvSpPr/>
          <p:nvPr/>
        </p:nvSpPr>
        <p:spPr>
          <a:xfrm>
            <a:off x="8289290" y="3200400"/>
            <a:ext cx="63500" cy="2103120"/>
          </a:xfrm>
          <a:prstGeom prst="rect">
            <a:avLst/>
          </a:prstGeom>
          <a:solidFill>
            <a:srgbClr val="1D5EA7"/>
          </a:solidFill>
          <a:ln w="12700">
            <a:solidFill>
              <a:srgbClr val="1D5EA7">
                <a:alpha val="0"/>
              </a:srgbClr>
            </a:solidFill>
            <a:prstDash val="solid"/>
          </a:ln>
        </p:spPr>
      </p:sp>
      <p:sp>
        <p:nvSpPr>
          <p:cNvPr id="11" name="line-9"/>
          <p:cNvSpPr/>
          <p:nvPr/>
        </p:nvSpPr>
        <p:spPr>
          <a:xfrm>
            <a:off x="8321040" y="3168650"/>
            <a:ext cx="2606040" cy="63500"/>
          </a:xfrm>
          <a:prstGeom prst="rect">
            <a:avLst/>
          </a:prstGeom>
          <a:solidFill>
            <a:srgbClr val="1D5EA7"/>
          </a:solidFill>
          <a:ln w="12700">
            <a:solidFill>
              <a:srgbClr val="1D5EA7">
                <a:alpha val="0"/>
              </a:srgbClr>
            </a:solidFill>
            <a:prstDash val="solid"/>
          </a:ln>
        </p:spPr>
      </p:sp>
      <p:sp>
        <p:nvSpPr>
          <p:cNvPr id="12" name="arrow-10"/>
          <p:cNvSpPr/>
          <p:nvPr/>
        </p:nvSpPr>
        <p:spPr>
          <a:xfrm rot="5400000">
            <a:off x="10858500" y="3131820"/>
            <a:ext cx="137160" cy="137160"/>
          </a:xfrm>
          <a:prstGeom prst="triangle">
            <a:avLst/>
          </a:prstGeom>
          <a:solidFill>
            <a:srgbClr val="1D5EA7"/>
          </a:solidFill>
          <a:ln w="12700">
            <a:solidFill>
              <a:srgbClr val="1D5EA7"/>
            </a:solidFill>
            <a:prstDash val="solid"/>
          </a:ln>
        </p:spPr>
      </p:sp>
      <p:sp>
        <p:nvSpPr>
          <p:cNvPr id="13" name="line-11"/>
          <p:cNvSpPr/>
          <p:nvPr/>
        </p:nvSpPr>
        <p:spPr>
          <a:xfrm flipV="1">
            <a:off x="8321040" y="1920240"/>
            <a:ext cx="1234440" cy="1280160"/>
          </a:xfrm>
          <a:prstGeom prst="line">
            <a:avLst/>
          </a:prstGeom>
          <a:noFill/>
          <a:ln w="25400">
            <a:solidFill>
              <a:srgbClr val="A8BED2"/>
            </a:solidFill>
            <a:prstDash val="solid"/>
            <a:tailEnd type="none"/>
          </a:ln>
        </p:spPr>
      </p:sp>
      <p:sp>
        <p:nvSpPr>
          <p:cNvPr id="14" name="point-12"/>
          <p:cNvSpPr/>
          <p:nvPr/>
        </p:nvSpPr>
        <p:spPr>
          <a:xfrm>
            <a:off x="8238744" y="5221224"/>
            <a:ext cx="164592" cy="164592"/>
          </a:xfrm>
          <a:prstGeom prst="ellipse">
            <a:avLst/>
          </a:prstGeom>
          <a:solidFill>
            <a:srgbClr val="024C98"/>
          </a:solidFill>
          <a:ln w="12700">
            <a:solidFill>
              <a:srgbClr val="024C98"/>
            </a:solidFill>
            <a:prstDash val="solid"/>
          </a:ln>
        </p:spPr>
      </p:sp>
      <p:sp>
        <p:nvSpPr>
          <p:cNvPr id="15" name="text-13"/>
          <p:cNvSpPr/>
          <p:nvPr/>
        </p:nvSpPr>
        <p:spPr>
          <a:xfrm>
            <a:off x="7680960" y="55046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入口</a:t>
            </a:r>
            <a:endParaRPr lang="en-US" sz="1600" dirty="0"/>
          </a:p>
        </p:txBody>
      </p:sp>
      <p:sp>
        <p:nvSpPr>
          <p:cNvPr id="16" name="text-14"/>
          <p:cNvSpPr/>
          <p:nvPr/>
        </p:nvSpPr>
        <p:spPr>
          <a:xfrm>
            <a:off x="7635240" y="2743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分岐</a:t>
            </a:r>
            <a:endParaRPr lang="en-US" sz="1600" dirty="0"/>
          </a:p>
        </p:txBody>
      </p:sp>
      <p:sp>
        <p:nvSpPr>
          <p:cNvPr id="17" name="shape-15"/>
          <p:cNvSpPr/>
          <p:nvPr/>
        </p:nvSpPr>
        <p:spPr>
          <a:xfrm>
            <a:off x="10058400" y="3675888"/>
            <a:ext cx="1234440" cy="502920"/>
          </a:xfrm>
          <a:prstGeom prst="rect">
            <a:avLst/>
          </a:prstGeom>
          <a:solidFill>
            <a:srgbClr val="024C98"/>
          </a:solidFill>
          <a:ln w="12700">
            <a:solidFill>
              <a:srgbClr val="024C98"/>
            </a:solidFill>
            <a:prstDash val="solid"/>
          </a:ln>
        </p:spPr>
      </p:sp>
      <p:sp>
        <p:nvSpPr>
          <p:cNvPr id="18" name="text-16"/>
          <p:cNvSpPr/>
          <p:nvPr/>
        </p:nvSpPr>
        <p:spPr>
          <a:xfrm>
            <a:off x="10213848" y="37673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受付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7"/>
          <p:cNvSpPr/>
          <p:nvPr/>
        </p:nvSpPr>
        <p:spPr>
          <a:xfrm>
            <a:off x="594360" y="29260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77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小さな道案内  /  研究計画</a:t>
            </a:r>
            <a:endParaRPr lang="en-US" sz="1000" dirty="0"/>
          </a:p>
        </p:txBody>
      </p:sp>
      <p:sp>
        <p:nvSpPr>
          <p:cNvPr id="3" name="text-18"/>
          <p:cNvSpPr/>
          <p:nvPr/>
        </p:nvSpPr>
        <p:spPr>
          <a:xfrm>
            <a:off x="10972800" y="2743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4C9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02</a:t>
            </a:r>
            <a:endParaRPr lang="en-US" sz="1200" dirty="0"/>
          </a:p>
        </p:txBody>
      </p:sp>
      <p:sp>
        <p:nvSpPr>
          <p:cNvPr id="4" name="text-19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4C9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問いは「読めるか」だけではない</a:t>
            </a:r>
            <a:endParaRPr lang="en-US" sz="3000" dirty="0"/>
          </a:p>
        </p:txBody>
      </p:sp>
      <p:sp>
        <p:nvSpPr>
          <p:cNvPr id="5" name="line-20"/>
          <p:cNvSpPr/>
          <p:nvPr/>
        </p:nvSpPr>
        <p:spPr>
          <a:xfrm>
            <a:off x="594360" y="6423787"/>
            <a:ext cx="11018520" cy="8890"/>
          </a:xfrm>
          <a:prstGeom prst="rect">
            <a:avLst/>
          </a:prstGeom>
          <a:solidFill>
            <a:srgbClr val="024C98"/>
          </a:solidFill>
          <a:ln w="12700">
            <a:solidFill>
              <a:srgbClr val="024C98">
                <a:alpha val="0"/>
              </a:srgbClr>
            </a:solidFill>
            <a:prstDash val="solid"/>
          </a:ln>
        </p:spPr>
      </p:sp>
      <p:sp>
        <p:nvSpPr>
          <p:cNvPr id="6" name="text-21"/>
          <p:cNvSpPr/>
          <p:nvPr/>
        </p:nvSpPr>
        <p:spPr>
          <a:xfrm>
            <a:off x="594360" y="651967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77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架空・未実施の研究提案</a:t>
            </a:r>
            <a:endParaRPr lang="en-US" sz="900" dirty="0"/>
          </a:p>
        </p:txBody>
      </p:sp>
      <p:sp>
        <p:nvSpPr>
          <p:cNvPr id="8" name="text-22"/>
          <p:cNvSpPr/>
          <p:nvPr/>
        </p:nvSpPr>
        <p:spPr>
          <a:xfrm>
            <a:off x="640080" y="1874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どの情報を、どの位置で、どの順序で示すと</a:t>
            </a: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進路を選びやすいか。</a:t>
            </a:r>
            <a:endParaRPr lang="en-US" sz="2300" dirty="0"/>
          </a:p>
        </p:txBody>
      </p:sp>
      <p:sp>
        <p:nvSpPr>
          <p:cNvPr id="9" name="text-23"/>
          <p:cNvSpPr/>
          <p:nvPr/>
        </p:nvSpPr>
        <p:spPr>
          <a:xfrm>
            <a:off x="731520" y="31546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1D5EA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01</a:t>
            </a:r>
            <a:endParaRPr lang="en-US" sz="3500" dirty="0"/>
          </a:p>
        </p:txBody>
      </p:sp>
      <p:sp>
        <p:nvSpPr>
          <p:cNvPr id="10" name="text-24"/>
          <p:cNvSpPr/>
          <p:nvPr/>
        </p:nvSpPr>
        <p:spPr>
          <a:xfrm>
            <a:off x="731520" y="385876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4C9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見つける</a:t>
            </a:r>
            <a:endParaRPr lang="en-US" sz="3000" dirty="0"/>
          </a:p>
        </p:txBody>
      </p:sp>
      <p:sp>
        <p:nvSpPr>
          <p:cNvPr id="11" name="text-25"/>
          <p:cNvSpPr/>
          <p:nvPr/>
        </p:nvSpPr>
        <p:spPr>
          <a:xfrm>
            <a:off x="731520" y="4791456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視線の中にあるか</a:t>
            </a:r>
            <a:endParaRPr lang="en-US" sz="1700" dirty="0"/>
          </a:p>
        </p:txBody>
      </p:sp>
      <p:sp>
        <p:nvSpPr>
          <p:cNvPr id="12" name="line-26"/>
          <p:cNvSpPr/>
          <p:nvPr/>
        </p:nvSpPr>
        <p:spPr>
          <a:xfrm>
            <a:off x="3703320" y="4111244"/>
            <a:ext cx="548640" cy="25400"/>
          </a:xfrm>
          <a:prstGeom prst="rect">
            <a:avLst/>
          </a:prstGeom>
          <a:solidFill>
            <a:srgbClr val="024C98"/>
          </a:solidFill>
          <a:ln w="12700">
            <a:solidFill>
              <a:srgbClr val="024C98">
                <a:alpha val="0"/>
              </a:srgbClr>
            </a:solidFill>
            <a:prstDash val="solid"/>
          </a:ln>
        </p:spPr>
      </p:sp>
      <p:sp>
        <p:nvSpPr>
          <p:cNvPr id="13" name="arrow-27"/>
          <p:cNvSpPr/>
          <p:nvPr/>
        </p:nvSpPr>
        <p:spPr>
          <a:xfrm rot="5400000">
            <a:off x="4183380" y="4055364"/>
            <a:ext cx="137160" cy="137160"/>
          </a:xfrm>
          <a:prstGeom prst="triangle">
            <a:avLst/>
          </a:prstGeom>
          <a:solidFill>
            <a:srgbClr val="024C98"/>
          </a:solidFill>
          <a:ln w="12700">
            <a:solidFill>
              <a:srgbClr val="024C98"/>
            </a:solidFill>
            <a:prstDash val="solid"/>
          </a:ln>
        </p:spPr>
      </p:sp>
      <p:sp>
        <p:nvSpPr>
          <p:cNvPr id="14" name="text-28"/>
          <p:cNvSpPr/>
          <p:nvPr/>
        </p:nvSpPr>
        <p:spPr>
          <a:xfrm>
            <a:off x="4507992" y="31546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1D5EA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02</a:t>
            </a:r>
            <a:endParaRPr lang="en-US" sz="3500" dirty="0"/>
          </a:p>
        </p:txBody>
      </p:sp>
      <p:sp>
        <p:nvSpPr>
          <p:cNvPr id="15" name="text-29"/>
          <p:cNvSpPr/>
          <p:nvPr/>
        </p:nvSpPr>
        <p:spPr>
          <a:xfrm>
            <a:off x="4507992" y="385876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4C9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読む</a:t>
            </a:r>
            <a:endParaRPr lang="en-US" sz="3000" dirty="0"/>
          </a:p>
        </p:txBody>
      </p:sp>
      <p:sp>
        <p:nvSpPr>
          <p:cNvPr id="16" name="text-30"/>
          <p:cNvSpPr/>
          <p:nvPr/>
        </p:nvSpPr>
        <p:spPr>
          <a:xfrm>
            <a:off x="4507992" y="4791456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文字と意味が分かるか</a:t>
            </a:r>
            <a:endParaRPr lang="en-US" sz="1700" dirty="0"/>
          </a:p>
        </p:txBody>
      </p:sp>
      <p:sp>
        <p:nvSpPr>
          <p:cNvPr id="17" name="line-31"/>
          <p:cNvSpPr/>
          <p:nvPr/>
        </p:nvSpPr>
        <p:spPr>
          <a:xfrm>
            <a:off x="7479792" y="4111244"/>
            <a:ext cx="548640" cy="25400"/>
          </a:xfrm>
          <a:prstGeom prst="rect">
            <a:avLst/>
          </a:prstGeom>
          <a:solidFill>
            <a:srgbClr val="024C98"/>
          </a:solidFill>
          <a:ln w="12700">
            <a:solidFill>
              <a:srgbClr val="024C98">
                <a:alpha val="0"/>
              </a:srgbClr>
            </a:solidFill>
            <a:prstDash val="solid"/>
          </a:ln>
        </p:spPr>
      </p:sp>
      <p:sp>
        <p:nvSpPr>
          <p:cNvPr id="18" name="arrow-32"/>
          <p:cNvSpPr/>
          <p:nvPr/>
        </p:nvSpPr>
        <p:spPr>
          <a:xfrm rot="5400000">
            <a:off x="7959852" y="4055364"/>
            <a:ext cx="137160" cy="137160"/>
          </a:xfrm>
          <a:prstGeom prst="triangle">
            <a:avLst/>
          </a:prstGeom>
          <a:solidFill>
            <a:srgbClr val="024C98"/>
          </a:solidFill>
          <a:ln w="12700">
            <a:solidFill>
              <a:srgbClr val="024C98"/>
            </a:solidFill>
            <a:prstDash val="solid"/>
          </a:ln>
        </p:spPr>
      </p:sp>
      <p:sp>
        <p:nvSpPr>
          <p:cNvPr id="19" name="text-33"/>
          <p:cNvSpPr/>
          <p:nvPr/>
        </p:nvSpPr>
        <p:spPr>
          <a:xfrm>
            <a:off x="8284464" y="31546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dirty="0">
                <a:solidFill>
                  <a:srgbClr val="1D5EA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03</a:t>
            </a:r>
            <a:endParaRPr lang="en-US" sz="3500" dirty="0"/>
          </a:p>
        </p:txBody>
      </p:sp>
      <p:sp>
        <p:nvSpPr>
          <p:cNvPr id="20" name="text-34"/>
          <p:cNvSpPr/>
          <p:nvPr/>
        </p:nvSpPr>
        <p:spPr>
          <a:xfrm>
            <a:off x="8284464" y="385876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4C9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方向を決める</a:t>
            </a:r>
            <a:endParaRPr lang="en-US" sz="3000" dirty="0"/>
          </a:p>
        </p:txBody>
      </p:sp>
      <p:sp>
        <p:nvSpPr>
          <p:cNvPr id="21" name="text-35"/>
          <p:cNvSpPr/>
          <p:nvPr/>
        </p:nvSpPr>
        <p:spPr>
          <a:xfrm>
            <a:off x="8284464" y="4791456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進む方向が一つに定まるか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36"/>
          <p:cNvSpPr/>
          <p:nvPr/>
        </p:nvSpPr>
        <p:spPr>
          <a:xfrm>
            <a:off x="594360" y="29260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77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小さな道案内  /  研究計画</a:t>
            </a:r>
            <a:endParaRPr lang="en-US" sz="1000" dirty="0"/>
          </a:p>
        </p:txBody>
      </p:sp>
      <p:sp>
        <p:nvSpPr>
          <p:cNvPr id="3" name="text-37"/>
          <p:cNvSpPr/>
          <p:nvPr/>
        </p:nvSpPr>
        <p:spPr>
          <a:xfrm>
            <a:off x="10972800" y="2743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4C9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03</a:t>
            </a:r>
            <a:endParaRPr lang="en-US" sz="1200" dirty="0"/>
          </a:p>
        </p:txBody>
      </p:sp>
      <p:sp>
        <p:nvSpPr>
          <p:cNvPr id="4" name="text-38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4C9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分岐に情報を集めすぎない</a:t>
            </a:r>
            <a:endParaRPr lang="en-US" sz="3000" dirty="0"/>
          </a:p>
        </p:txBody>
      </p:sp>
      <p:sp>
        <p:nvSpPr>
          <p:cNvPr id="5" name="line-39"/>
          <p:cNvSpPr/>
          <p:nvPr/>
        </p:nvSpPr>
        <p:spPr>
          <a:xfrm>
            <a:off x="594360" y="6423787"/>
            <a:ext cx="11018520" cy="8890"/>
          </a:xfrm>
          <a:prstGeom prst="rect">
            <a:avLst/>
          </a:prstGeom>
          <a:solidFill>
            <a:srgbClr val="024C98"/>
          </a:solidFill>
          <a:ln w="12700">
            <a:solidFill>
              <a:srgbClr val="024C98">
                <a:alpha val="0"/>
              </a:srgbClr>
            </a:solidFill>
            <a:prstDash val="solid"/>
          </a:ln>
        </p:spPr>
      </p:sp>
      <p:sp>
        <p:nvSpPr>
          <p:cNvPr id="6" name="text-40"/>
          <p:cNvSpPr/>
          <p:nvPr/>
        </p:nvSpPr>
        <p:spPr>
          <a:xfrm>
            <a:off x="594360" y="651967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77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架空・未実施の研究提案</a:t>
            </a:r>
            <a:endParaRPr lang="en-US" sz="900" dirty="0"/>
          </a:p>
        </p:txBody>
      </p:sp>
      <p:sp>
        <p:nvSpPr>
          <p:cNvPr id="8" name="text-41"/>
          <p:cNvSpPr/>
          <p:nvPr/>
        </p:nvSpPr>
        <p:spPr>
          <a:xfrm>
            <a:off x="640080" y="184708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52677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比較用の設計案。優劣は、これから確かめる。</a:t>
            </a:r>
            <a:endParaRPr lang="en-US" sz="2100" dirty="0"/>
          </a:p>
        </p:txBody>
      </p:sp>
      <p:sp>
        <p:nvSpPr>
          <p:cNvPr id="9" name="text-42"/>
          <p:cNvSpPr/>
          <p:nvPr/>
        </p:nvSpPr>
        <p:spPr>
          <a:xfrm>
            <a:off x="777240" y="272491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2677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情報を並べた案</a:t>
            </a:r>
            <a:endParaRPr lang="en-US" sz="2400" dirty="0"/>
          </a:p>
        </p:txBody>
      </p:sp>
      <p:sp>
        <p:nvSpPr>
          <p:cNvPr id="10" name="text-43"/>
          <p:cNvSpPr/>
          <p:nvPr/>
        </p:nvSpPr>
        <p:spPr>
          <a:xfrm>
            <a:off x="6400800" y="272491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4C9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次の判断に絞った案</a:t>
            </a:r>
            <a:endParaRPr lang="en-US" sz="2400" dirty="0"/>
          </a:p>
        </p:txBody>
      </p:sp>
      <p:sp>
        <p:nvSpPr>
          <p:cNvPr id="11" name="line-44"/>
          <p:cNvSpPr/>
          <p:nvPr/>
        </p:nvSpPr>
        <p:spPr>
          <a:xfrm>
            <a:off x="5937250" y="2834640"/>
            <a:ext cx="12700" cy="3154680"/>
          </a:xfrm>
          <a:prstGeom prst="rect">
            <a:avLst/>
          </a:prstGeom>
          <a:solidFill>
            <a:srgbClr val="BCD0E0"/>
          </a:solidFill>
          <a:ln w="12700">
            <a:solidFill>
              <a:srgbClr val="BCD0E0">
                <a:alpha val="0"/>
              </a:srgbClr>
            </a:solidFill>
            <a:prstDash val="solid"/>
          </a:ln>
        </p:spPr>
      </p:sp>
      <p:sp>
        <p:nvSpPr>
          <p:cNvPr id="12" name="text-45"/>
          <p:cNvSpPr/>
          <p:nvPr/>
        </p:nvSpPr>
        <p:spPr>
          <a:xfrm>
            <a:off x="914400" y="35204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2677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受付</a:t>
            </a:r>
            <a:endParaRPr lang="en-US" sz="2400" dirty="0"/>
          </a:p>
        </p:txBody>
      </p:sp>
      <p:sp>
        <p:nvSpPr>
          <p:cNvPr id="13" name="text-46"/>
          <p:cNvSpPr/>
          <p:nvPr/>
        </p:nvSpPr>
        <p:spPr>
          <a:xfrm>
            <a:off x="3154680" y="3749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2677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トイレ</a:t>
            </a:r>
            <a:endParaRPr lang="en-US" sz="1800" dirty="0"/>
          </a:p>
        </p:txBody>
      </p:sp>
      <p:sp>
        <p:nvSpPr>
          <p:cNvPr id="14" name="text-47"/>
          <p:cNvSpPr/>
          <p:nvPr/>
        </p:nvSpPr>
        <p:spPr>
          <a:xfrm>
            <a:off x="2468880" y="46177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52677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待合</a:t>
            </a:r>
            <a:endParaRPr lang="en-US" sz="2900" dirty="0"/>
          </a:p>
        </p:txBody>
      </p:sp>
      <p:sp>
        <p:nvSpPr>
          <p:cNvPr id="15" name="text-48"/>
          <p:cNvSpPr/>
          <p:nvPr/>
        </p:nvSpPr>
        <p:spPr>
          <a:xfrm>
            <a:off x="777240" y="5029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52677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相談室</a:t>
            </a:r>
            <a:endParaRPr lang="en-US" sz="1900" dirty="0"/>
          </a:p>
        </p:txBody>
      </p:sp>
      <p:sp>
        <p:nvSpPr>
          <p:cNvPr id="16" name="shape-49"/>
          <p:cNvSpPr/>
          <p:nvPr/>
        </p:nvSpPr>
        <p:spPr>
          <a:xfrm>
            <a:off x="6400800" y="3520440"/>
            <a:ext cx="4937760" cy="1298448"/>
          </a:xfrm>
          <a:prstGeom prst="rect">
            <a:avLst/>
          </a:prstGeom>
          <a:solidFill>
            <a:srgbClr val="024C98"/>
          </a:solidFill>
          <a:ln w="12700">
            <a:solidFill>
              <a:srgbClr val="024C98"/>
            </a:solidFill>
            <a:prstDash val="solid"/>
          </a:ln>
        </p:spPr>
      </p:sp>
      <p:sp>
        <p:nvSpPr>
          <p:cNvPr id="17" name="text-50"/>
          <p:cNvSpPr/>
          <p:nvPr/>
        </p:nvSpPr>
        <p:spPr>
          <a:xfrm>
            <a:off x="6675120" y="3675888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→ 受付</a:t>
            </a:r>
            <a:endParaRPr lang="en-US" sz="3500" dirty="0"/>
          </a:p>
        </p:txBody>
      </p:sp>
      <p:sp>
        <p:nvSpPr>
          <p:cNvPr id="18" name="text-51"/>
          <p:cNvSpPr/>
          <p:nvPr/>
        </p:nvSpPr>
        <p:spPr>
          <a:xfrm>
            <a:off x="6748272" y="4389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青い壁を目印に</a:t>
            </a:r>
            <a:endParaRPr lang="en-US" sz="1700" dirty="0"/>
          </a:p>
        </p:txBody>
      </p:sp>
      <p:sp>
        <p:nvSpPr>
          <p:cNvPr id="19" name="text-52"/>
          <p:cNvSpPr/>
          <p:nvPr/>
        </p:nvSpPr>
        <p:spPr>
          <a:xfrm>
            <a:off x="6400800" y="5193792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仮説A  分岐の前に行き先を絞る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仮説B  矢印・行き先・目印を反復する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53"/>
          <p:cNvSpPr/>
          <p:nvPr/>
        </p:nvSpPr>
        <p:spPr>
          <a:xfrm>
            <a:off x="594360" y="29260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77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小さな道案内  /  研究計画</a:t>
            </a:r>
            <a:endParaRPr lang="en-US" sz="1000" dirty="0"/>
          </a:p>
        </p:txBody>
      </p:sp>
      <p:sp>
        <p:nvSpPr>
          <p:cNvPr id="3" name="text-54"/>
          <p:cNvSpPr/>
          <p:nvPr/>
        </p:nvSpPr>
        <p:spPr>
          <a:xfrm>
            <a:off x="10972800" y="2743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4C9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04</a:t>
            </a:r>
            <a:endParaRPr lang="en-US" sz="1200" dirty="0"/>
          </a:p>
        </p:txBody>
      </p:sp>
      <p:sp>
        <p:nvSpPr>
          <p:cNvPr id="4" name="text-55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4C9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サインを一枚ではなく、連続として設計する</a:t>
            </a:r>
            <a:endParaRPr lang="en-US" sz="3000" dirty="0"/>
          </a:p>
        </p:txBody>
      </p:sp>
      <p:sp>
        <p:nvSpPr>
          <p:cNvPr id="5" name="line-56"/>
          <p:cNvSpPr/>
          <p:nvPr/>
        </p:nvSpPr>
        <p:spPr>
          <a:xfrm>
            <a:off x="594360" y="6423787"/>
            <a:ext cx="11018520" cy="8890"/>
          </a:xfrm>
          <a:prstGeom prst="rect">
            <a:avLst/>
          </a:prstGeom>
          <a:solidFill>
            <a:srgbClr val="024C98"/>
          </a:solidFill>
          <a:ln w="12700">
            <a:solidFill>
              <a:srgbClr val="024C98">
                <a:alpha val="0"/>
              </a:srgbClr>
            </a:solidFill>
            <a:prstDash val="solid"/>
          </a:ln>
        </p:spPr>
      </p:sp>
      <p:sp>
        <p:nvSpPr>
          <p:cNvPr id="6" name="text-57"/>
          <p:cNvSpPr/>
          <p:nvPr/>
        </p:nvSpPr>
        <p:spPr>
          <a:xfrm>
            <a:off x="594360" y="651967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77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架空・未実施の研究提案</a:t>
            </a:r>
            <a:endParaRPr lang="en-US" sz="900" dirty="0"/>
          </a:p>
        </p:txBody>
      </p:sp>
      <p:sp>
        <p:nvSpPr>
          <p:cNvPr id="8" name="text-58"/>
          <p:cNvSpPr/>
          <p:nvPr/>
        </p:nvSpPr>
        <p:spPr>
          <a:xfrm>
            <a:off x="640080" y="18745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入口の全体案内。分岐前の方向案内。到着時の確認表示。</a:t>
            </a:r>
            <a:endParaRPr lang="en-US" sz="2000" dirty="0"/>
          </a:p>
        </p:txBody>
      </p:sp>
      <p:sp>
        <p:nvSpPr>
          <p:cNvPr id="9" name="shape-59"/>
          <p:cNvSpPr/>
          <p:nvPr/>
        </p:nvSpPr>
        <p:spPr>
          <a:xfrm>
            <a:off x="822960" y="2834640"/>
            <a:ext cx="7315200" cy="2926080"/>
          </a:xfrm>
          <a:prstGeom prst="rect">
            <a:avLst/>
          </a:prstGeom>
          <a:solidFill>
            <a:srgbClr val="F5F8FB"/>
          </a:solidFill>
          <a:ln w="12700">
            <a:solidFill>
              <a:srgbClr val="F5F8FB"/>
            </a:solidFill>
            <a:prstDash val="solid"/>
          </a:ln>
        </p:spPr>
      </p:sp>
      <p:sp>
        <p:nvSpPr>
          <p:cNvPr id="10" name="line-60"/>
          <p:cNvSpPr/>
          <p:nvPr/>
        </p:nvSpPr>
        <p:spPr>
          <a:xfrm>
            <a:off x="1508760" y="5252720"/>
            <a:ext cx="2377440" cy="101600"/>
          </a:xfrm>
          <a:prstGeom prst="rect">
            <a:avLst/>
          </a:prstGeom>
          <a:solidFill>
            <a:srgbClr val="1D5EA7"/>
          </a:solidFill>
          <a:ln w="12700">
            <a:solidFill>
              <a:srgbClr val="1D5EA7">
                <a:alpha val="0"/>
              </a:srgbClr>
            </a:solidFill>
            <a:prstDash val="solid"/>
          </a:ln>
        </p:spPr>
      </p:sp>
      <p:sp>
        <p:nvSpPr>
          <p:cNvPr id="11" name="line-61"/>
          <p:cNvSpPr/>
          <p:nvPr/>
        </p:nvSpPr>
        <p:spPr>
          <a:xfrm>
            <a:off x="3835400" y="3794760"/>
            <a:ext cx="101600" cy="1508760"/>
          </a:xfrm>
          <a:prstGeom prst="rect">
            <a:avLst/>
          </a:prstGeom>
          <a:solidFill>
            <a:srgbClr val="1D5EA7"/>
          </a:solidFill>
          <a:ln w="12700">
            <a:solidFill>
              <a:srgbClr val="1D5EA7">
                <a:alpha val="0"/>
              </a:srgbClr>
            </a:solidFill>
            <a:prstDash val="solid"/>
          </a:ln>
        </p:spPr>
      </p:sp>
      <p:sp>
        <p:nvSpPr>
          <p:cNvPr id="12" name="line-62"/>
          <p:cNvSpPr/>
          <p:nvPr/>
        </p:nvSpPr>
        <p:spPr>
          <a:xfrm>
            <a:off x="3886200" y="3743960"/>
            <a:ext cx="3063240" cy="101600"/>
          </a:xfrm>
          <a:prstGeom prst="rect">
            <a:avLst/>
          </a:prstGeom>
          <a:solidFill>
            <a:srgbClr val="1D5EA7"/>
          </a:solidFill>
          <a:ln w="12700">
            <a:solidFill>
              <a:srgbClr val="1D5EA7">
                <a:alpha val="0"/>
              </a:srgbClr>
            </a:solidFill>
            <a:prstDash val="solid"/>
          </a:ln>
        </p:spPr>
      </p:sp>
      <p:sp>
        <p:nvSpPr>
          <p:cNvPr id="13" name="arrow-63"/>
          <p:cNvSpPr/>
          <p:nvPr/>
        </p:nvSpPr>
        <p:spPr>
          <a:xfrm rot="5400000">
            <a:off x="6880860" y="3726180"/>
            <a:ext cx="137160" cy="137160"/>
          </a:xfrm>
          <a:prstGeom prst="triangle">
            <a:avLst/>
          </a:prstGeom>
          <a:solidFill>
            <a:srgbClr val="1D5EA7"/>
          </a:solidFill>
          <a:ln w="12700">
            <a:solidFill>
              <a:srgbClr val="1D5EA7"/>
            </a:solidFill>
            <a:prstDash val="solid"/>
          </a:ln>
        </p:spPr>
      </p:sp>
      <p:sp>
        <p:nvSpPr>
          <p:cNvPr id="14" name="line-64"/>
          <p:cNvSpPr/>
          <p:nvPr/>
        </p:nvSpPr>
        <p:spPr>
          <a:xfrm>
            <a:off x="3848100" y="3063240"/>
            <a:ext cx="76200" cy="731520"/>
          </a:xfrm>
          <a:prstGeom prst="rect">
            <a:avLst/>
          </a:prstGeom>
          <a:solidFill>
            <a:srgbClr val="B6C6D5"/>
          </a:solidFill>
          <a:ln w="12700">
            <a:solidFill>
              <a:srgbClr val="B6C6D5">
                <a:alpha val="0"/>
              </a:srgbClr>
            </a:solidFill>
            <a:prstDash val="solid"/>
          </a:ln>
        </p:spPr>
      </p:sp>
      <p:sp>
        <p:nvSpPr>
          <p:cNvPr id="15" name="text-65"/>
          <p:cNvSpPr/>
          <p:nvPr/>
        </p:nvSpPr>
        <p:spPr>
          <a:xfrm>
            <a:off x="960120" y="5623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入口</a:t>
            </a:r>
            <a:endParaRPr lang="en-US" sz="1700" dirty="0"/>
          </a:p>
        </p:txBody>
      </p:sp>
      <p:sp>
        <p:nvSpPr>
          <p:cNvPr id="16" name="text-66"/>
          <p:cNvSpPr/>
          <p:nvPr/>
        </p:nvSpPr>
        <p:spPr>
          <a:xfrm>
            <a:off x="3154680" y="4160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分岐</a:t>
            </a:r>
            <a:endParaRPr lang="en-US" sz="1700" dirty="0"/>
          </a:p>
        </p:txBody>
      </p:sp>
      <p:sp>
        <p:nvSpPr>
          <p:cNvPr id="17" name="text-67"/>
          <p:cNvSpPr/>
          <p:nvPr/>
        </p:nvSpPr>
        <p:spPr>
          <a:xfrm>
            <a:off x="6629400" y="318211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4C9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受付</a:t>
            </a:r>
            <a:endParaRPr lang="en-US" sz="1800" dirty="0"/>
          </a:p>
        </p:txBody>
      </p:sp>
      <p:sp>
        <p:nvSpPr>
          <p:cNvPr id="18" name="text-68"/>
          <p:cNvSpPr/>
          <p:nvPr/>
        </p:nvSpPr>
        <p:spPr>
          <a:xfrm>
            <a:off x="5349240" y="51663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2677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待合</a:t>
            </a:r>
            <a:endParaRPr lang="en-US" sz="1700" dirty="0"/>
          </a:p>
        </p:txBody>
      </p:sp>
      <p:sp>
        <p:nvSpPr>
          <p:cNvPr id="19" name="text-69"/>
          <p:cNvSpPr/>
          <p:nvPr/>
        </p:nvSpPr>
        <p:spPr>
          <a:xfrm>
            <a:off x="3291840" y="28986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77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トイレ</a:t>
            </a:r>
            <a:endParaRPr lang="en-US" sz="1400" dirty="0"/>
          </a:p>
        </p:txBody>
      </p:sp>
      <p:sp>
        <p:nvSpPr>
          <p:cNvPr id="20" name="point-70"/>
          <p:cNvSpPr/>
          <p:nvPr/>
        </p:nvSpPr>
        <p:spPr>
          <a:xfrm>
            <a:off x="1307592" y="5102352"/>
            <a:ext cx="402336" cy="402336"/>
          </a:xfrm>
          <a:prstGeom prst="ellipse">
            <a:avLst/>
          </a:prstGeom>
          <a:solidFill>
            <a:srgbClr val="024C98"/>
          </a:solidFill>
          <a:ln w="12700">
            <a:solidFill>
              <a:srgbClr val="024C98"/>
            </a:solidFill>
            <a:prstDash val="solid"/>
          </a:ln>
        </p:spPr>
      </p:sp>
      <p:sp>
        <p:nvSpPr>
          <p:cNvPr id="21" name="text-71"/>
          <p:cNvSpPr/>
          <p:nvPr/>
        </p:nvSpPr>
        <p:spPr>
          <a:xfrm>
            <a:off x="1399032" y="51755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</a:t>
            </a:r>
            <a:endParaRPr lang="en-US" sz="1300" dirty="0"/>
          </a:p>
        </p:txBody>
      </p:sp>
      <p:sp>
        <p:nvSpPr>
          <p:cNvPr id="22" name="point-72"/>
          <p:cNvSpPr/>
          <p:nvPr/>
        </p:nvSpPr>
        <p:spPr>
          <a:xfrm>
            <a:off x="3685032" y="3593592"/>
            <a:ext cx="402336" cy="402336"/>
          </a:xfrm>
          <a:prstGeom prst="ellipse">
            <a:avLst/>
          </a:prstGeom>
          <a:solidFill>
            <a:srgbClr val="024C98"/>
          </a:solidFill>
          <a:ln w="12700">
            <a:solidFill>
              <a:srgbClr val="024C98"/>
            </a:solidFill>
            <a:prstDash val="solid"/>
          </a:ln>
        </p:spPr>
      </p:sp>
      <p:sp>
        <p:nvSpPr>
          <p:cNvPr id="23" name="text-73"/>
          <p:cNvSpPr/>
          <p:nvPr/>
        </p:nvSpPr>
        <p:spPr>
          <a:xfrm>
            <a:off x="3776472" y="366674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B</a:t>
            </a:r>
            <a:endParaRPr lang="en-US" sz="1300" dirty="0"/>
          </a:p>
        </p:txBody>
      </p:sp>
      <p:sp>
        <p:nvSpPr>
          <p:cNvPr id="24" name="point-74"/>
          <p:cNvSpPr/>
          <p:nvPr/>
        </p:nvSpPr>
        <p:spPr>
          <a:xfrm>
            <a:off x="6748272" y="3593592"/>
            <a:ext cx="402336" cy="402336"/>
          </a:xfrm>
          <a:prstGeom prst="ellipse">
            <a:avLst/>
          </a:prstGeom>
          <a:solidFill>
            <a:srgbClr val="024C98"/>
          </a:solidFill>
          <a:ln w="12700">
            <a:solidFill>
              <a:srgbClr val="024C98"/>
            </a:solidFill>
            <a:prstDash val="solid"/>
          </a:ln>
        </p:spPr>
      </p:sp>
      <p:sp>
        <p:nvSpPr>
          <p:cNvPr id="25" name="text-75"/>
          <p:cNvSpPr/>
          <p:nvPr/>
        </p:nvSpPr>
        <p:spPr>
          <a:xfrm>
            <a:off x="6839712" y="366674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</a:t>
            </a:r>
            <a:endParaRPr lang="en-US" sz="1300" dirty="0"/>
          </a:p>
        </p:txBody>
      </p:sp>
      <p:sp>
        <p:nvSpPr>
          <p:cNvPr id="26" name="text-76"/>
          <p:cNvSpPr/>
          <p:nvPr/>
        </p:nvSpPr>
        <p:spPr>
          <a:xfrm>
            <a:off x="8686800" y="3108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4C9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  全体</a:t>
            </a:r>
            <a:endParaRPr lang="en-US" sz="2400" dirty="0"/>
          </a:p>
        </p:txBody>
      </p:sp>
      <p:sp>
        <p:nvSpPr>
          <p:cNvPr id="27" name="text-77"/>
          <p:cNvSpPr/>
          <p:nvPr/>
        </p:nvSpPr>
        <p:spPr>
          <a:xfrm>
            <a:off x="8686800" y="4023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4C9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B  方向</a:t>
            </a:r>
            <a:endParaRPr lang="en-US" sz="2400" dirty="0"/>
          </a:p>
        </p:txBody>
      </p:sp>
      <p:sp>
        <p:nvSpPr>
          <p:cNvPr id="28" name="text-78"/>
          <p:cNvSpPr/>
          <p:nvPr/>
        </p:nvSpPr>
        <p:spPr>
          <a:xfrm>
            <a:off x="8686800" y="4937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4C9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  到着</a:t>
            </a:r>
            <a:endParaRPr lang="en-US" sz="2400" dirty="0"/>
          </a:p>
        </p:txBody>
      </p:sp>
      <p:sp>
        <p:nvSpPr>
          <p:cNvPr id="29" name="text-79"/>
          <p:cNvSpPr/>
          <p:nvPr/>
        </p:nvSpPr>
        <p:spPr>
          <a:xfrm>
            <a:off x="868680" y="6035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77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架空平面・縮尺なし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80"/>
          <p:cNvSpPr/>
          <p:nvPr/>
        </p:nvSpPr>
        <p:spPr>
          <a:xfrm>
            <a:off x="594360" y="29260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77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小さな道案内  /  研究計画</a:t>
            </a:r>
            <a:endParaRPr lang="en-US" sz="1000" dirty="0"/>
          </a:p>
        </p:txBody>
      </p:sp>
      <p:sp>
        <p:nvSpPr>
          <p:cNvPr id="3" name="text-81"/>
          <p:cNvSpPr/>
          <p:nvPr/>
        </p:nvSpPr>
        <p:spPr>
          <a:xfrm>
            <a:off x="10972800" y="2743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4C9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05</a:t>
            </a:r>
            <a:endParaRPr lang="en-US" sz="1200" dirty="0"/>
          </a:p>
        </p:txBody>
      </p:sp>
      <p:sp>
        <p:nvSpPr>
          <p:cNvPr id="4" name="text-82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4C9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小さな仕様が、読み方をそろえる</a:t>
            </a:r>
            <a:endParaRPr lang="en-US" sz="3000" dirty="0"/>
          </a:p>
        </p:txBody>
      </p:sp>
      <p:sp>
        <p:nvSpPr>
          <p:cNvPr id="5" name="line-83"/>
          <p:cNvSpPr/>
          <p:nvPr/>
        </p:nvSpPr>
        <p:spPr>
          <a:xfrm>
            <a:off x="594360" y="6423787"/>
            <a:ext cx="11018520" cy="8890"/>
          </a:xfrm>
          <a:prstGeom prst="rect">
            <a:avLst/>
          </a:prstGeom>
          <a:solidFill>
            <a:srgbClr val="024C98"/>
          </a:solidFill>
          <a:ln w="12700">
            <a:solidFill>
              <a:srgbClr val="024C98">
                <a:alpha val="0"/>
              </a:srgbClr>
            </a:solidFill>
            <a:prstDash val="solid"/>
          </a:ln>
        </p:spPr>
      </p:sp>
      <p:sp>
        <p:nvSpPr>
          <p:cNvPr id="6" name="text-84"/>
          <p:cNvSpPr/>
          <p:nvPr/>
        </p:nvSpPr>
        <p:spPr>
          <a:xfrm>
            <a:off x="594360" y="651967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77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架空・未実施の研究提案</a:t>
            </a:r>
            <a:endParaRPr lang="en-US" sz="900" dirty="0"/>
          </a:p>
        </p:txBody>
      </p:sp>
      <p:sp>
        <p:nvSpPr>
          <p:cNvPr id="8" name="text-85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文字の階層、間隔、明暗差、表記の統一を調整する。</a:t>
            </a:r>
            <a:endParaRPr lang="en-US" sz="2100" dirty="0"/>
          </a:p>
        </p:txBody>
      </p:sp>
      <p:sp>
        <p:nvSpPr>
          <p:cNvPr id="9" name="shape-86"/>
          <p:cNvSpPr/>
          <p:nvPr/>
        </p:nvSpPr>
        <p:spPr>
          <a:xfrm>
            <a:off x="2423160" y="2926080"/>
            <a:ext cx="7315200" cy="1920240"/>
          </a:xfrm>
          <a:prstGeom prst="rect">
            <a:avLst/>
          </a:prstGeom>
          <a:solidFill>
            <a:srgbClr val="024C98"/>
          </a:solidFill>
          <a:ln w="12700">
            <a:solidFill>
              <a:srgbClr val="024C98"/>
            </a:solidFill>
            <a:prstDash val="solid"/>
          </a:ln>
        </p:spPr>
      </p:sp>
      <p:sp>
        <p:nvSpPr>
          <p:cNvPr id="10" name="text-87"/>
          <p:cNvSpPr/>
          <p:nvPr/>
        </p:nvSpPr>
        <p:spPr>
          <a:xfrm>
            <a:off x="2926080" y="3364992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→</a:t>
            </a:r>
            <a:endParaRPr lang="en-US" sz="4600" dirty="0"/>
          </a:p>
        </p:txBody>
      </p:sp>
      <p:sp>
        <p:nvSpPr>
          <p:cNvPr id="11" name="text-88"/>
          <p:cNvSpPr/>
          <p:nvPr/>
        </p:nvSpPr>
        <p:spPr>
          <a:xfrm>
            <a:off x="4297680" y="321868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受付</a:t>
            </a:r>
            <a:endParaRPr lang="en-US" sz="4000" dirty="0"/>
          </a:p>
        </p:txBody>
      </p:sp>
      <p:sp>
        <p:nvSpPr>
          <p:cNvPr id="12" name="text-89"/>
          <p:cNvSpPr/>
          <p:nvPr/>
        </p:nvSpPr>
        <p:spPr>
          <a:xfrm>
            <a:off x="4325112" y="40507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青い壁を目印に</a:t>
            </a:r>
            <a:endParaRPr lang="en-US" sz="2000" dirty="0"/>
          </a:p>
        </p:txBody>
      </p:sp>
      <p:sp>
        <p:nvSpPr>
          <p:cNvPr id="13" name="text-90"/>
          <p:cNvSpPr/>
          <p:nvPr/>
        </p:nvSpPr>
        <p:spPr>
          <a:xfrm>
            <a:off x="731520" y="32004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2677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矢印</a:t>
            </a:r>
            <a:endParaRPr lang="en-US" sz="1700" dirty="0"/>
          </a:p>
        </p:txBody>
      </p:sp>
      <p:sp>
        <p:nvSpPr>
          <p:cNvPr id="14" name="line-91"/>
          <p:cNvSpPr/>
          <p:nvPr/>
        </p:nvSpPr>
        <p:spPr>
          <a:xfrm>
            <a:off x="2011680" y="3337560"/>
            <a:ext cx="914400" cy="411480"/>
          </a:xfrm>
          <a:prstGeom prst="line">
            <a:avLst/>
          </a:prstGeom>
          <a:noFill/>
          <a:ln w="12700">
            <a:solidFill>
              <a:srgbClr val="52677B"/>
            </a:solidFill>
            <a:prstDash val="solid"/>
            <a:tailEnd type="none"/>
          </a:ln>
        </p:spPr>
      </p:sp>
      <p:sp>
        <p:nvSpPr>
          <p:cNvPr id="15" name="text-92"/>
          <p:cNvSpPr/>
          <p:nvPr/>
        </p:nvSpPr>
        <p:spPr>
          <a:xfrm>
            <a:off x="9966960" y="26517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2677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主行き先</a:t>
            </a:r>
            <a:endParaRPr lang="en-US" sz="1700" dirty="0"/>
          </a:p>
        </p:txBody>
      </p:sp>
      <p:sp>
        <p:nvSpPr>
          <p:cNvPr id="16" name="line-93"/>
          <p:cNvSpPr/>
          <p:nvPr/>
        </p:nvSpPr>
        <p:spPr>
          <a:xfrm flipH="1">
            <a:off x="6537960" y="2788920"/>
            <a:ext cx="3383280" cy="429768"/>
          </a:xfrm>
          <a:prstGeom prst="line">
            <a:avLst/>
          </a:prstGeom>
          <a:noFill/>
          <a:ln w="12700">
            <a:solidFill>
              <a:srgbClr val="52677B"/>
            </a:solidFill>
            <a:prstDash val="solid"/>
            <a:tailEnd type="none"/>
          </a:ln>
        </p:spPr>
      </p:sp>
      <p:sp>
        <p:nvSpPr>
          <p:cNvPr id="17" name="text-94"/>
          <p:cNvSpPr/>
          <p:nvPr/>
        </p:nvSpPr>
        <p:spPr>
          <a:xfrm>
            <a:off x="9966960" y="51663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2677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補助情報</a:t>
            </a:r>
            <a:endParaRPr lang="en-US" sz="1700" dirty="0"/>
          </a:p>
        </p:txBody>
      </p:sp>
      <p:sp>
        <p:nvSpPr>
          <p:cNvPr id="18" name="line-95"/>
          <p:cNvSpPr/>
          <p:nvPr/>
        </p:nvSpPr>
        <p:spPr>
          <a:xfrm flipH="1" flipV="1">
            <a:off x="6675120" y="4251960"/>
            <a:ext cx="3246120" cy="1051560"/>
          </a:xfrm>
          <a:prstGeom prst="line">
            <a:avLst/>
          </a:prstGeom>
          <a:noFill/>
          <a:ln w="12700">
            <a:solidFill>
              <a:srgbClr val="52677B"/>
            </a:solidFill>
            <a:prstDash val="solid"/>
            <a:tailEnd type="none"/>
          </a:ln>
        </p:spPr>
      </p:sp>
      <p:sp>
        <p:nvSpPr>
          <p:cNvPr id="19" name="text-96"/>
          <p:cNvSpPr/>
          <p:nvPr/>
        </p:nvSpPr>
        <p:spPr>
          <a:xfrm>
            <a:off x="731520" y="51663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2677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余白</a:t>
            </a:r>
            <a:endParaRPr lang="en-US" sz="1700" dirty="0"/>
          </a:p>
        </p:txBody>
      </p:sp>
      <p:sp>
        <p:nvSpPr>
          <p:cNvPr id="20" name="line-97"/>
          <p:cNvSpPr/>
          <p:nvPr/>
        </p:nvSpPr>
        <p:spPr>
          <a:xfrm flipV="1">
            <a:off x="2011680" y="4526280"/>
            <a:ext cx="502920" cy="777240"/>
          </a:xfrm>
          <a:prstGeom prst="line">
            <a:avLst/>
          </a:prstGeom>
          <a:noFill/>
          <a:ln w="12700">
            <a:solidFill>
              <a:srgbClr val="52677B"/>
            </a:solidFill>
            <a:prstDash val="solid"/>
            <a:tailEnd type="none"/>
          </a:ln>
        </p:spPr>
      </p:sp>
      <p:sp>
        <p:nvSpPr>
          <p:cNvPr id="21" name="text-98"/>
          <p:cNvSpPr/>
          <p:nvPr/>
        </p:nvSpPr>
        <p:spPr>
          <a:xfrm>
            <a:off x="9966960" y="37490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2677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背景</a:t>
            </a:r>
            <a:endParaRPr lang="en-US" sz="1700" dirty="0"/>
          </a:p>
        </p:txBody>
      </p:sp>
      <p:sp>
        <p:nvSpPr>
          <p:cNvPr id="22" name="line-99"/>
          <p:cNvSpPr/>
          <p:nvPr/>
        </p:nvSpPr>
        <p:spPr>
          <a:xfrm flipH="1" flipV="1">
            <a:off x="9555480" y="3749040"/>
            <a:ext cx="365760" cy="137160"/>
          </a:xfrm>
          <a:prstGeom prst="line">
            <a:avLst/>
          </a:prstGeom>
          <a:noFill/>
          <a:ln w="12700">
            <a:solidFill>
              <a:srgbClr val="52677B"/>
            </a:solidFill>
            <a:prstDash val="solid"/>
            <a:tailEnd type="none"/>
          </a:ln>
        </p:spPr>
      </p:sp>
      <p:sp>
        <p:nvSpPr>
          <p:cNvPr id="23" name="text-100"/>
          <p:cNvSpPr/>
          <p:nvPr/>
        </p:nvSpPr>
        <p:spPr>
          <a:xfrm>
            <a:off x="2423160" y="55138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4C9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色だけに頼らず、形・文字・目印を併用する。</a:t>
            </a:r>
            <a:endParaRPr lang="en-US" sz="2000" dirty="0"/>
          </a:p>
        </p:txBody>
      </p:sp>
      <p:sp>
        <p:nvSpPr>
          <p:cNvPr id="24" name="text-101"/>
          <p:cNvSpPr/>
          <p:nvPr/>
        </p:nvSpPr>
        <p:spPr>
          <a:xfrm>
            <a:off x="2423160" y="6007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677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要検証：距離・照明・視力条件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02"/>
          <p:cNvSpPr/>
          <p:nvPr/>
        </p:nvSpPr>
        <p:spPr>
          <a:xfrm>
            <a:off x="594360" y="29260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77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小さな道案内  /  研究計画</a:t>
            </a:r>
            <a:endParaRPr lang="en-US" sz="1000" dirty="0"/>
          </a:p>
        </p:txBody>
      </p:sp>
      <p:sp>
        <p:nvSpPr>
          <p:cNvPr id="3" name="text-103"/>
          <p:cNvSpPr/>
          <p:nvPr/>
        </p:nvSpPr>
        <p:spPr>
          <a:xfrm>
            <a:off x="10972800" y="2743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4C9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06</a:t>
            </a:r>
            <a:endParaRPr lang="en-US" sz="1200" dirty="0"/>
          </a:p>
        </p:txBody>
      </p:sp>
      <p:sp>
        <p:nvSpPr>
          <p:cNvPr id="4" name="text-104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4C9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評価は、迷った場所を記録する</a:t>
            </a:r>
            <a:endParaRPr lang="en-US" sz="3000" dirty="0"/>
          </a:p>
        </p:txBody>
      </p:sp>
      <p:sp>
        <p:nvSpPr>
          <p:cNvPr id="5" name="line-105"/>
          <p:cNvSpPr/>
          <p:nvPr/>
        </p:nvSpPr>
        <p:spPr>
          <a:xfrm>
            <a:off x="594360" y="6423787"/>
            <a:ext cx="11018520" cy="8890"/>
          </a:xfrm>
          <a:prstGeom prst="rect">
            <a:avLst/>
          </a:prstGeom>
          <a:solidFill>
            <a:srgbClr val="024C98"/>
          </a:solidFill>
          <a:ln w="12700">
            <a:solidFill>
              <a:srgbClr val="024C98">
                <a:alpha val="0"/>
              </a:srgbClr>
            </a:solidFill>
            <a:prstDash val="solid"/>
          </a:ln>
        </p:spPr>
      </p:sp>
      <p:sp>
        <p:nvSpPr>
          <p:cNvPr id="6" name="text-106"/>
          <p:cNvSpPr/>
          <p:nvPr/>
        </p:nvSpPr>
        <p:spPr>
          <a:xfrm>
            <a:off x="594360" y="651967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77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架空・未実施の研究提案</a:t>
            </a:r>
            <a:endParaRPr lang="en-US" sz="900" dirty="0"/>
          </a:p>
        </p:txBody>
      </p:sp>
      <p:sp>
        <p:nvSpPr>
          <p:cNvPr id="8" name="text-107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机上レビュー後、模擬経路で複数案を比較する計画。</a:t>
            </a:r>
            <a:endParaRPr lang="en-US" sz="2100" dirty="0"/>
          </a:p>
        </p:txBody>
      </p:sp>
      <p:sp>
        <p:nvSpPr>
          <p:cNvPr id="9" name="line-108"/>
          <p:cNvSpPr/>
          <p:nvPr/>
        </p:nvSpPr>
        <p:spPr>
          <a:xfrm>
            <a:off x="1188720" y="5271770"/>
            <a:ext cx="1737360" cy="63500"/>
          </a:xfrm>
          <a:prstGeom prst="rect">
            <a:avLst/>
          </a:prstGeom>
          <a:solidFill>
            <a:srgbClr val="1D5EA7"/>
          </a:solidFill>
          <a:ln w="12700">
            <a:solidFill>
              <a:srgbClr val="1D5EA7">
                <a:alpha val="0"/>
              </a:srgbClr>
            </a:solidFill>
            <a:prstDash val="solid"/>
          </a:ln>
        </p:spPr>
      </p:sp>
      <p:sp>
        <p:nvSpPr>
          <p:cNvPr id="10" name="line-109"/>
          <p:cNvSpPr/>
          <p:nvPr/>
        </p:nvSpPr>
        <p:spPr>
          <a:xfrm>
            <a:off x="2894330" y="3429000"/>
            <a:ext cx="63500" cy="1874520"/>
          </a:xfrm>
          <a:prstGeom prst="rect">
            <a:avLst/>
          </a:prstGeom>
          <a:solidFill>
            <a:srgbClr val="1D5EA7"/>
          </a:solidFill>
          <a:ln w="12700">
            <a:solidFill>
              <a:srgbClr val="1D5EA7">
                <a:alpha val="0"/>
              </a:srgbClr>
            </a:solidFill>
            <a:prstDash val="solid"/>
          </a:ln>
        </p:spPr>
      </p:sp>
      <p:sp>
        <p:nvSpPr>
          <p:cNvPr id="11" name="line-110"/>
          <p:cNvSpPr/>
          <p:nvPr/>
        </p:nvSpPr>
        <p:spPr>
          <a:xfrm>
            <a:off x="2926080" y="3397250"/>
            <a:ext cx="3794760" cy="63500"/>
          </a:xfrm>
          <a:prstGeom prst="rect">
            <a:avLst/>
          </a:prstGeom>
          <a:solidFill>
            <a:srgbClr val="1D5EA7"/>
          </a:solidFill>
          <a:ln w="12700">
            <a:solidFill>
              <a:srgbClr val="1D5EA7">
                <a:alpha val="0"/>
              </a:srgbClr>
            </a:solidFill>
            <a:prstDash val="solid"/>
          </a:ln>
        </p:spPr>
      </p:sp>
      <p:sp>
        <p:nvSpPr>
          <p:cNvPr id="12" name="arrow-111"/>
          <p:cNvSpPr/>
          <p:nvPr/>
        </p:nvSpPr>
        <p:spPr>
          <a:xfrm rot="5400000">
            <a:off x="6652260" y="3360420"/>
            <a:ext cx="137160" cy="137160"/>
          </a:xfrm>
          <a:prstGeom prst="triangle">
            <a:avLst/>
          </a:prstGeom>
          <a:solidFill>
            <a:srgbClr val="1D5EA7"/>
          </a:solidFill>
          <a:ln w="12700">
            <a:solidFill>
              <a:srgbClr val="1D5EA7"/>
            </a:solidFill>
            <a:prstDash val="solid"/>
          </a:ln>
        </p:spPr>
      </p:sp>
      <p:sp>
        <p:nvSpPr>
          <p:cNvPr id="13" name="line-112"/>
          <p:cNvSpPr/>
          <p:nvPr/>
        </p:nvSpPr>
        <p:spPr>
          <a:xfrm>
            <a:off x="2913380" y="2788920"/>
            <a:ext cx="25400" cy="640080"/>
          </a:xfrm>
          <a:prstGeom prst="rect">
            <a:avLst/>
          </a:prstGeom>
          <a:solidFill>
            <a:srgbClr val="A7BCCE"/>
          </a:solidFill>
          <a:ln w="12700">
            <a:solidFill>
              <a:srgbClr val="A7BCCE">
                <a:alpha val="0"/>
              </a:srgbClr>
            </a:solidFill>
            <a:prstDash val="solid"/>
          </a:ln>
        </p:spPr>
      </p:sp>
      <p:sp>
        <p:nvSpPr>
          <p:cNvPr id="14" name="point-113"/>
          <p:cNvSpPr/>
          <p:nvPr/>
        </p:nvSpPr>
        <p:spPr>
          <a:xfrm>
            <a:off x="1664208" y="5138928"/>
            <a:ext cx="329184" cy="329184"/>
          </a:xfrm>
          <a:prstGeom prst="ellipse">
            <a:avLst/>
          </a:prstGeom>
          <a:solidFill>
            <a:srgbClr val="024C98"/>
          </a:solidFill>
          <a:ln w="12700">
            <a:solidFill>
              <a:srgbClr val="024C98"/>
            </a:solidFill>
            <a:prstDash val="solid"/>
          </a:ln>
        </p:spPr>
      </p:sp>
      <p:sp>
        <p:nvSpPr>
          <p:cNvPr id="15" name="point-114"/>
          <p:cNvSpPr/>
          <p:nvPr/>
        </p:nvSpPr>
        <p:spPr>
          <a:xfrm>
            <a:off x="2761488" y="4270248"/>
            <a:ext cx="329184" cy="329184"/>
          </a:xfrm>
          <a:prstGeom prst="ellipse">
            <a:avLst/>
          </a:prstGeom>
          <a:solidFill>
            <a:srgbClr val="024C98"/>
          </a:solidFill>
          <a:ln w="12700">
            <a:solidFill>
              <a:srgbClr val="024C98"/>
            </a:solidFill>
            <a:prstDash val="solid"/>
          </a:ln>
        </p:spPr>
      </p:sp>
      <p:sp>
        <p:nvSpPr>
          <p:cNvPr id="16" name="point-115"/>
          <p:cNvSpPr/>
          <p:nvPr/>
        </p:nvSpPr>
        <p:spPr>
          <a:xfrm>
            <a:off x="4956048" y="3264408"/>
            <a:ext cx="329184" cy="329184"/>
          </a:xfrm>
          <a:prstGeom prst="ellipse">
            <a:avLst/>
          </a:prstGeom>
          <a:solidFill>
            <a:srgbClr val="024C98"/>
          </a:solidFill>
          <a:ln w="12700">
            <a:solidFill>
              <a:srgbClr val="024C98"/>
            </a:solidFill>
            <a:prstDash val="solid"/>
          </a:ln>
        </p:spPr>
      </p:sp>
      <p:sp>
        <p:nvSpPr>
          <p:cNvPr id="17" name="text-116"/>
          <p:cNvSpPr/>
          <p:nvPr/>
        </p:nvSpPr>
        <p:spPr>
          <a:xfrm>
            <a:off x="731520" y="5577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立ち止まり</a:t>
            </a:r>
            <a:endParaRPr lang="en-US" sz="1800" dirty="0"/>
          </a:p>
        </p:txBody>
      </p:sp>
      <p:sp>
        <p:nvSpPr>
          <p:cNvPr id="18" name="text-117"/>
          <p:cNvSpPr/>
          <p:nvPr/>
        </p:nvSpPr>
        <p:spPr>
          <a:xfrm>
            <a:off x="3246120" y="4251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戻り</a:t>
            </a:r>
            <a:endParaRPr lang="en-US" sz="1800" dirty="0"/>
          </a:p>
        </p:txBody>
      </p:sp>
      <p:sp>
        <p:nvSpPr>
          <p:cNvPr id="19" name="text-118"/>
          <p:cNvSpPr/>
          <p:nvPr/>
        </p:nvSpPr>
        <p:spPr>
          <a:xfrm>
            <a:off x="4251960" y="279806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分岐選択</a:t>
            </a:r>
            <a:endParaRPr lang="en-US" sz="1800" dirty="0"/>
          </a:p>
        </p:txBody>
      </p:sp>
      <p:sp>
        <p:nvSpPr>
          <p:cNvPr id="20" name="line-119"/>
          <p:cNvSpPr/>
          <p:nvPr/>
        </p:nvSpPr>
        <p:spPr>
          <a:xfrm>
            <a:off x="7674610" y="2743200"/>
            <a:ext cx="12700" cy="3291840"/>
          </a:xfrm>
          <a:prstGeom prst="rect">
            <a:avLst/>
          </a:prstGeom>
          <a:solidFill>
            <a:srgbClr val="B9CADA"/>
          </a:solidFill>
          <a:ln w="12700">
            <a:solidFill>
              <a:srgbClr val="B9CADA">
                <a:alpha val="0"/>
              </a:srgbClr>
            </a:solidFill>
            <a:prstDash val="solid"/>
          </a:ln>
        </p:spPr>
      </p:sp>
      <p:sp>
        <p:nvSpPr>
          <p:cNvPr id="21" name="text-120"/>
          <p:cNvSpPr/>
          <p:nvPr/>
        </p:nvSpPr>
        <p:spPr>
          <a:xfrm>
            <a:off x="8229600" y="28620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D5EA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</a:t>
            </a:r>
            <a:endParaRPr lang="en-US" sz="2100" dirty="0"/>
          </a:p>
        </p:txBody>
      </p:sp>
      <p:sp>
        <p:nvSpPr>
          <p:cNvPr id="22" name="text-121"/>
          <p:cNvSpPr/>
          <p:nvPr/>
        </p:nvSpPr>
        <p:spPr>
          <a:xfrm>
            <a:off x="8915400" y="2862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4C9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事前説明</a:t>
            </a:r>
            <a:endParaRPr lang="en-US" sz="2400" dirty="0"/>
          </a:p>
        </p:txBody>
      </p:sp>
      <p:sp>
        <p:nvSpPr>
          <p:cNvPr id="23" name="line-122"/>
          <p:cNvSpPr/>
          <p:nvPr/>
        </p:nvSpPr>
        <p:spPr>
          <a:xfrm>
            <a:off x="9271635" y="3447288"/>
            <a:ext cx="19050" cy="329184"/>
          </a:xfrm>
          <a:prstGeom prst="rect">
            <a:avLst/>
          </a:prstGeom>
          <a:solidFill>
            <a:srgbClr val="024C98"/>
          </a:solidFill>
          <a:ln w="12700">
            <a:solidFill>
              <a:srgbClr val="024C98">
                <a:alpha val="0"/>
              </a:srgbClr>
            </a:solidFill>
            <a:prstDash val="solid"/>
          </a:ln>
        </p:spPr>
      </p:sp>
      <p:sp>
        <p:nvSpPr>
          <p:cNvPr id="24" name="arrow-123"/>
          <p:cNvSpPr/>
          <p:nvPr/>
        </p:nvSpPr>
        <p:spPr>
          <a:xfrm rot="10800000">
            <a:off x="9212580" y="3707892"/>
            <a:ext cx="137160" cy="137160"/>
          </a:xfrm>
          <a:prstGeom prst="triangle">
            <a:avLst/>
          </a:prstGeom>
          <a:solidFill>
            <a:srgbClr val="024C98"/>
          </a:solidFill>
          <a:ln w="12700">
            <a:solidFill>
              <a:srgbClr val="024C98"/>
            </a:solidFill>
            <a:prstDash val="solid"/>
          </a:ln>
        </p:spPr>
      </p:sp>
      <p:sp>
        <p:nvSpPr>
          <p:cNvPr id="25" name="text-124"/>
          <p:cNvSpPr/>
          <p:nvPr/>
        </p:nvSpPr>
        <p:spPr>
          <a:xfrm>
            <a:off x="8229600" y="39136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D5EA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</a:t>
            </a:r>
            <a:endParaRPr lang="en-US" sz="2100" dirty="0"/>
          </a:p>
        </p:txBody>
      </p:sp>
      <p:sp>
        <p:nvSpPr>
          <p:cNvPr id="26" name="text-125"/>
          <p:cNvSpPr/>
          <p:nvPr/>
        </p:nvSpPr>
        <p:spPr>
          <a:xfrm>
            <a:off x="8915400" y="391363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4C9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移動</a:t>
            </a:r>
            <a:endParaRPr lang="en-US" sz="2400" dirty="0"/>
          </a:p>
        </p:txBody>
      </p:sp>
      <p:sp>
        <p:nvSpPr>
          <p:cNvPr id="27" name="line-126"/>
          <p:cNvSpPr/>
          <p:nvPr/>
        </p:nvSpPr>
        <p:spPr>
          <a:xfrm>
            <a:off x="9271635" y="4498848"/>
            <a:ext cx="19050" cy="329184"/>
          </a:xfrm>
          <a:prstGeom prst="rect">
            <a:avLst/>
          </a:prstGeom>
          <a:solidFill>
            <a:srgbClr val="024C98"/>
          </a:solidFill>
          <a:ln w="12700">
            <a:solidFill>
              <a:srgbClr val="024C98">
                <a:alpha val="0"/>
              </a:srgbClr>
            </a:solidFill>
            <a:prstDash val="solid"/>
          </a:ln>
        </p:spPr>
      </p:sp>
      <p:sp>
        <p:nvSpPr>
          <p:cNvPr id="28" name="arrow-127"/>
          <p:cNvSpPr/>
          <p:nvPr/>
        </p:nvSpPr>
        <p:spPr>
          <a:xfrm rot="10800000">
            <a:off x="9212580" y="4759452"/>
            <a:ext cx="137160" cy="137160"/>
          </a:xfrm>
          <a:prstGeom prst="triangle">
            <a:avLst/>
          </a:prstGeom>
          <a:solidFill>
            <a:srgbClr val="024C98"/>
          </a:solidFill>
          <a:ln w="12700">
            <a:solidFill>
              <a:srgbClr val="024C98"/>
            </a:solidFill>
            <a:prstDash val="solid"/>
          </a:ln>
        </p:spPr>
      </p:sp>
      <p:sp>
        <p:nvSpPr>
          <p:cNvPr id="29" name="text-128"/>
          <p:cNvSpPr/>
          <p:nvPr/>
        </p:nvSpPr>
        <p:spPr>
          <a:xfrm>
            <a:off x="8229600" y="49651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D5EA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</a:t>
            </a:r>
            <a:endParaRPr lang="en-US" sz="2100" dirty="0"/>
          </a:p>
        </p:txBody>
      </p:sp>
      <p:sp>
        <p:nvSpPr>
          <p:cNvPr id="30" name="text-129"/>
          <p:cNvSpPr/>
          <p:nvPr/>
        </p:nvSpPr>
        <p:spPr>
          <a:xfrm>
            <a:off x="8915400" y="49651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4C9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振り返り</a:t>
            </a:r>
            <a:endParaRPr lang="en-US" sz="2400" dirty="0"/>
          </a:p>
        </p:txBody>
      </p:sp>
      <p:sp>
        <p:nvSpPr>
          <p:cNvPr id="31" name="text-130"/>
          <p:cNvSpPr/>
          <p:nvPr/>
        </p:nvSpPr>
        <p:spPr>
          <a:xfrm>
            <a:off x="777240" y="2496312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2677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探した位置・誤った分岐・到着の確信も記録。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2677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速さだけを成功の基準にしない。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31"/>
          <p:cNvSpPr/>
          <p:nvPr/>
        </p:nvSpPr>
        <p:spPr>
          <a:xfrm>
            <a:off x="594360" y="29260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77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小さな道案内  /  研究計画</a:t>
            </a:r>
            <a:endParaRPr lang="en-US" sz="1000" dirty="0"/>
          </a:p>
        </p:txBody>
      </p:sp>
      <p:sp>
        <p:nvSpPr>
          <p:cNvPr id="3" name="text-132"/>
          <p:cNvSpPr/>
          <p:nvPr/>
        </p:nvSpPr>
        <p:spPr>
          <a:xfrm>
            <a:off x="10972800" y="2743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4C9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07</a:t>
            </a:r>
            <a:endParaRPr lang="en-US" sz="1200" dirty="0"/>
          </a:p>
        </p:txBody>
      </p:sp>
      <p:sp>
        <p:nvSpPr>
          <p:cNvPr id="4" name="text-133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4C9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万能な案内にはならない</a:t>
            </a:r>
            <a:endParaRPr lang="en-US" sz="3000" dirty="0"/>
          </a:p>
        </p:txBody>
      </p:sp>
      <p:sp>
        <p:nvSpPr>
          <p:cNvPr id="5" name="line-134"/>
          <p:cNvSpPr/>
          <p:nvPr/>
        </p:nvSpPr>
        <p:spPr>
          <a:xfrm>
            <a:off x="594360" y="6423787"/>
            <a:ext cx="11018520" cy="8890"/>
          </a:xfrm>
          <a:prstGeom prst="rect">
            <a:avLst/>
          </a:prstGeom>
          <a:solidFill>
            <a:srgbClr val="024C98"/>
          </a:solidFill>
          <a:ln w="12700">
            <a:solidFill>
              <a:srgbClr val="024C98">
                <a:alpha val="0"/>
              </a:srgbClr>
            </a:solidFill>
            <a:prstDash val="solid"/>
          </a:ln>
        </p:spPr>
      </p:sp>
      <p:sp>
        <p:nvSpPr>
          <p:cNvPr id="6" name="text-135"/>
          <p:cNvSpPr/>
          <p:nvPr/>
        </p:nvSpPr>
        <p:spPr>
          <a:xfrm>
            <a:off x="594360" y="651967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77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架空・未実施の研究提案</a:t>
            </a:r>
            <a:endParaRPr lang="en-US" sz="900" dirty="0"/>
          </a:p>
        </p:txBody>
      </p:sp>
      <p:sp>
        <p:nvSpPr>
          <p:cNvPr id="8" name="text-136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模擬環境の評価だけで、実施設への適用は保証できない。</a:t>
            </a:r>
            <a:endParaRPr lang="en-US" sz="2100" dirty="0"/>
          </a:p>
        </p:txBody>
      </p:sp>
      <p:sp>
        <p:nvSpPr>
          <p:cNvPr id="9" name="shape-137"/>
          <p:cNvSpPr/>
          <p:nvPr/>
        </p:nvSpPr>
        <p:spPr>
          <a:xfrm>
            <a:off x="4709160" y="3767328"/>
            <a:ext cx="2834640" cy="914400"/>
          </a:xfrm>
          <a:prstGeom prst="rect">
            <a:avLst/>
          </a:prstGeom>
          <a:solidFill>
            <a:srgbClr val="024C98"/>
          </a:solidFill>
          <a:ln w="12700">
            <a:solidFill>
              <a:srgbClr val="024C98"/>
            </a:solidFill>
            <a:prstDash val="solid"/>
          </a:ln>
        </p:spPr>
      </p:sp>
      <p:sp>
        <p:nvSpPr>
          <p:cNvPr id="10" name="text-138"/>
          <p:cNvSpPr/>
          <p:nvPr/>
        </p:nvSpPr>
        <p:spPr>
          <a:xfrm>
            <a:off x="5056632" y="39502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→ 受付</a:t>
            </a:r>
            <a:endParaRPr lang="en-US" sz="2600" dirty="0"/>
          </a:p>
        </p:txBody>
      </p:sp>
      <p:sp>
        <p:nvSpPr>
          <p:cNvPr id="11" name="line-139"/>
          <p:cNvSpPr/>
          <p:nvPr/>
        </p:nvSpPr>
        <p:spPr>
          <a:xfrm flipH="1" flipV="1">
            <a:off x="2377440" y="3090672"/>
            <a:ext cx="3749040" cy="1133856"/>
          </a:xfrm>
          <a:prstGeom prst="line">
            <a:avLst/>
          </a:prstGeom>
          <a:noFill/>
          <a:ln w="20320">
            <a:solidFill>
              <a:srgbClr val="ADC2D3"/>
            </a:solidFill>
            <a:prstDash val="solid"/>
            <a:tailEnd type="none"/>
          </a:ln>
        </p:spPr>
      </p:sp>
      <p:sp>
        <p:nvSpPr>
          <p:cNvPr id="12" name="text-140"/>
          <p:cNvSpPr/>
          <p:nvPr/>
        </p:nvSpPr>
        <p:spPr>
          <a:xfrm>
            <a:off x="1920240" y="290779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24C9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混雑</a:t>
            </a:r>
            <a:endParaRPr lang="en-US" sz="2300" dirty="0"/>
          </a:p>
        </p:txBody>
      </p:sp>
      <p:sp>
        <p:nvSpPr>
          <p:cNvPr id="13" name="line-141"/>
          <p:cNvSpPr/>
          <p:nvPr/>
        </p:nvSpPr>
        <p:spPr>
          <a:xfrm flipH="1" flipV="1">
            <a:off x="6016752" y="2953512"/>
            <a:ext cx="109728" cy="1271016"/>
          </a:xfrm>
          <a:prstGeom prst="line">
            <a:avLst/>
          </a:prstGeom>
          <a:noFill/>
          <a:ln w="20320">
            <a:solidFill>
              <a:srgbClr val="ADC2D3"/>
            </a:solidFill>
            <a:prstDash val="solid"/>
            <a:tailEnd type="none"/>
          </a:ln>
        </p:spPr>
      </p:sp>
      <p:sp>
        <p:nvSpPr>
          <p:cNvPr id="14" name="text-142"/>
          <p:cNvSpPr/>
          <p:nvPr/>
        </p:nvSpPr>
        <p:spPr>
          <a:xfrm>
            <a:off x="5559552" y="277063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24C9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照明</a:t>
            </a:r>
            <a:endParaRPr lang="en-US" sz="2300" dirty="0"/>
          </a:p>
        </p:txBody>
      </p:sp>
      <p:sp>
        <p:nvSpPr>
          <p:cNvPr id="15" name="line-143"/>
          <p:cNvSpPr/>
          <p:nvPr/>
        </p:nvSpPr>
        <p:spPr>
          <a:xfrm flipV="1">
            <a:off x="6126480" y="3090672"/>
            <a:ext cx="3657600" cy="1133856"/>
          </a:xfrm>
          <a:prstGeom prst="line">
            <a:avLst/>
          </a:prstGeom>
          <a:noFill/>
          <a:ln w="20320">
            <a:solidFill>
              <a:srgbClr val="ADC2D3"/>
            </a:solidFill>
            <a:prstDash val="solid"/>
            <a:tailEnd type="none"/>
          </a:ln>
        </p:spPr>
      </p:sp>
      <p:sp>
        <p:nvSpPr>
          <p:cNvPr id="16" name="text-144"/>
          <p:cNvSpPr/>
          <p:nvPr/>
        </p:nvSpPr>
        <p:spPr>
          <a:xfrm>
            <a:off x="9326880" y="290779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24C9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言語</a:t>
            </a:r>
            <a:endParaRPr lang="en-US" sz="2300" dirty="0"/>
          </a:p>
        </p:txBody>
      </p:sp>
      <p:sp>
        <p:nvSpPr>
          <p:cNvPr id="17" name="line-145"/>
          <p:cNvSpPr/>
          <p:nvPr/>
        </p:nvSpPr>
        <p:spPr>
          <a:xfrm flipH="1">
            <a:off x="2377440" y="4224528"/>
            <a:ext cx="3749040" cy="1353312"/>
          </a:xfrm>
          <a:prstGeom prst="line">
            <a:avLst/>
          </a:prstGeom>
          <a:noFill/>
          <a:ln w="20320">
            <a:solidFill>
              <a:srgbClr val="ADC2D3"/>
            </a:solidFill>
            <a:prstDash val="solid"/>
            <a:tailEnd type="none"/>
          </a:ln>
        </p:spPr>
      </p:sp>
      <p:sp>
        <p:nvSpPr>
          <p:cNvPr id="18" name="text-146"/>
          <p:cNvSpPr/>
          <p:nvPr/>
        </p:nvSpPr>
        <p:spPr>
          <a:xfrm>
            <a:off x="1920240" y="53949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24C9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視覚</a:t>
            </a:r>
            <a:endParaRPr lang="en-US" sz="2300" dirty="0"/>
          </a:p>
        </p:txBody>
      </p:sp>
      <p:sp>
        <p:nvSpPr>
          <p:cNvPr id="19" name="line-147"/>
          <p:cNvSpPr/>
          <p:nvPr/>
        </p:nvSpPr>
        <p:spPr>
          <a:xfrm flipH="1">
            <a:off x="6016752" y="4224528"/>
            <a:ext cx="109728" cy="1536192"/>
          </a:xfrm>
          <a:prstGeom prst="line">
            <a:avLst/>
          </a:prstGeom>
          <a:noFill/>
          <a:ln w="20320">
            <a:solidFill>
              <a:srgbClr val="ADC2D3"/>
            </a:solidFill>
            <a:prstDash val="solid"/>
            <a:tailEnd type="none"/>
          </a:ln>
        </p:spPr>
      </p:sp>
      <p:sp>
        <p:nvSpPr>
          <p:cNvPr id="20" name="text-148"/>
          <p:cNvSpPr/>
          <p:nvPr/>
        </p:nvSpPr>
        <p:spPr>
          <a:xfrm>
            <a:off x="5559552" y="55778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24C9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移動</a:t>
            </a:r>
            <a:endParaRPr lang="en-US" sz="2300" dirty="0"/>
          </a:p>
        </p:txBody>
      </p:sp>
      <p:sp>
        <p:nvSpPr>
          <p:cNvPr id="21" name="line-149"/>
          <p:cNvSpPr/>
          <p:nvPr/>
        </p:nvSpPr>
        <p:spPr>
          <a:xfrm>
            <a:off x="6126480" y="4224528"/>
            <a:ext cx="3474720" cy="1353312"/>
          </a:xfrm>
          <a:prstGeom prst="line">
            <a:avLst/>
          </a:prstGeom>
          <a:noFill/>
          <a:ln w="20320">
            <a:solidFill>
              <a:srgbClr val="ADC2D3"/>
            </a:solidFill>
            <a:prstDash val="solid"/>
            <a:tailEnd type="none"/>
          </a:ln>
        </p:spPr>
      </p:sp>
      <p:sp>
        <p:nvSpPr>
          <p:cNvPr id="22" name="text-150"/>
          <p:cNvSpPr/>
          <p:nvPr/>
        </p:nvSpPr>
        <p:spPr>
          <a:xfrm>
            <a:off x="9144000" y="53949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24C9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他の掲示</a:t>
            </a:r>
            <a:endParaRPr lang="en-US" sz="2300" dirty="0"/>
          </a:p>
        </p:txBody>
      </p:sp>
      <p:sp>
        <p:nvSpPr>
          <p:cNvPr id="23" name="text-151"/>
          <p:cNvSpPr/>
          <p:nvPr/>
        </p:nvSpPr>
        <p:spPr>
          <a:xfrm>
            <a:off x="822960" y="608076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2677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対象は入口から受付まで。多様な利用者の確認と現地調整が必要。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52"/>
          <p:cNvSpPr/>
          <p:nvPr/>
        </p:nvSpPr>
        <p:spPr>
          <a:xfrm>
            <a:off x="594360" y="29260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677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小さな道案内  /  研究計画</a:t>
            </a:r>
            <a:endParaRPr lang="en-US" sz="1000" dirty="0"/>
          </a:p>
        </p:txBody>
      </p:sp>
      <p:sp>
        <p:nvSpPr>
          <p:cNvPr id="3" name="text-153"/>
          <p:cNvSpPr/>
          <p:nvPr/>
        </p:nvSpPr>
        <p:spPr>
          <a:xfrm>
            <a:off x="10972800" y="2743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4C9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08</a:t>
            </a:r>
            <a:endParaRPr lang="en-US" sz="1200" dirty="0"/>
          </a:p>
        </p:txBody>
      </p:sp>
      <p:sp>
        <p:nvSpPr>
          <p:cNvPr id="4" name="text-154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4C9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次の一歩：一つの分岐で確かめる</a:t>
            </a:r>
            <a:endParaRPr lang="en-US" sz="3000" dirty="0"/>
          </a:p>
        </p:txBody>
      </p:sp>
      <p:sp>
        <p:nvSpPr>
          <p:cNvPr id="5" name="line-155"/>
          <p:cNvSpPr/>
          <p:nvPr/>
        </p:nvSpPr>
        <p:spPr>
          <a:xfrm>
            <a:off x="594360" y="6423787"/>
            <a:ext cx="11018520" cy="8890"/>
          </a:xfrm>
          <a:prstGeom prst="rect">
            <a:avLst/>
          </a:prstGeom>
          <a:solidFill>
            <a:srgbClr val="024C98"/>
          </a:solidFill>
          <a:ln w="12700">
            <a:solidFill>
              <a:srgbClr val="024C98">
                <a:alpha val="0"/>
              </a:srgbClr>
            </a:solidFill>
            <a:prstDash val="solid"/>
          </a:ln>
        </p:spPr>
      </p:sp>
      <p:sp>
        <p:nvSpPr>
          <p:cNvPr id="6" name="text-156"/>
          <p:cNvSpPr/>
          <p:nvPr/>
        </p:nvSpPr>
        <p:spPr>
          <a:xfrm>
            <a:off x="594360" y="651967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77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架空・未実施の研究提案</a:t>
            </a:r>
            <a:endParaRPr lang="en-US" sz="900" dirty="0"/>
          </a:p>
        </p:txBody>
      </p:sp>
      <p:sp>
        <p:nvSpPr>
          <p:cNvPr id="8" name="text-157"/>
          <p:cNvSpPr/>
          <p:nvPr/>
        </p:nvSpPr>
        <p:spPr>
          <a:xfrm>
            <a:off x="731520" y="1965960"/>
            <a:ext cx="9784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24C9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誰もが、次の一歩を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024C9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選びやすい案内へ</a:t>
            </a:r>
            <a:endParaRPr lang="en-US" sz="3400" dirty="0"/>
          </a:p>
        </p:txBody>
      </p:sp>
      <p:sp>
        <p:nvSpPr>
          <p:cNvPr id="9" name="text-158"/>
          <p:cNvSpPr/>
          <p:nvPr/>
        </p:nvSpPr>
        <p:spPr>
          <a:xfrm>
            <a:off x="1005840" y="404164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4C9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試作</a:t>
            </a:r>
            <a:endParaRPr lang="en-US" sz="2400" dirty="0"/>
          </a:p>
        </p:txBody>
      </p:sp>
      <p:sp>
        <p:nvSpPr>
          <p:cNvPr id="10" name="text-159"/>
          <p:cNvSpPr/>
          <p:nvPr/>
        </p:nvSpPr>
        <p:spPr>
          <a:xfrm>
            <a:off x="3694176" y="404164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4C9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手順確認</a:t>
            </a:r>
            <a:endParaRPr lang="en-US" sz="2400" dirty="0"/>
          </a:p>
        </p:txBody>
      </p:sp>
      <p:sp>
        <p:nvSpPr>
          <p:cNvPr id="11" name="text-160"/>
          <p:cNvSpPr/>
          <p:nvPr/>
        </p:nvSpPr>
        <p:spPr>
          <a:xfrm>
            <a:off x="7315200" y="404164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4C9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模擬評価</a:t>
            </a:r>
            <a:endParaRPr lang="en-US" sz="2400" dirty="0"/>
          </a:p>
        </p:txBody>
      </p:sp>
      <p:sp>
        <p:nvSpPr>
          <p:cNvPr id="12" name="text-161"/>
          <p:cNvSpPr/>
          <p:nvPr/>
        </p:nvSpPr>
        <p:spPr>
          <a:xfrm>
            <a:off x="9784080" y="526694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4C9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修正</a:t>
            </a:r>
            <a:endParaRPr lang="en-US" sz="2400" dirty="0"/>
          </a:p>
        </p:txBody>
      </p:sp>
      <p:sp>
        <p:nvSpPr>
          <p:cNvPr id="13" name="line-162"/>
          <p:cNvSpPr/>
          <p:nvPr/>
        </p:nvSpPr>
        <p:spPr>
          <a:xfrm>
            <a:off x="2194560" y="4260342"/>
            <a:ext cx="1097280" cy="38100"/>
          </a:xfrm>
          <a:prstGeom prst="rect">
            <a:avLst/>
          </a:prstGeom>
          <a:solidFill>
            <a:srgbClr val="1D5EA7"/>
          </a:solidFill>
          <a:ln w="12700">
            <a:solidFill>
              <a:srgbClr val="1D5EA7">
                <a:alpha val="0"/>
              </a:srgbClr>
            </a:solidFill>
            <a:prstDash val="solid"/>
          </a:ln>
        </p:spPr>
      </p:sp>
      <p:sp>
        <p:nvSpPr>
          <p:cNvPr id="14" name="arrow-163"/>
          <p:cNvSpPr/>
          <p:nvPr/>
        </p:nvSpPr>
        <p:spPr>
          <a:xfrm rot="5400000">
            <a:off x="3223260" y="4210812"/>
            <a:ext cx="137160" cy="137160"/>
          </a:xfrm>
          <a:prstGeom prst="triangle">
            <a:avLst/>
          </a:prstGeom>
          <a:solidFill>
            <a:srgbClr val="1D5EA7"/>
          </a:solidFill>
          <a:ln w="12700">
            <a:solidFill>
              <a:srgbClr val="1D5EA7"/>
            </a:solidFill>
            <a:prstDash val="solid"/>
          </a:ln>
        </p:spPr>
      </p:sp>
      <p:sp>
        <p:nvSpPr>
          <p:cNvPr id="15" name="line-164"/>
          <p:cNvSpPr/>
          <p:nvPr/>
        </p:nvSpPr>
        <p:spPr>
          <a:xfrm>
            <a:off x="6217920" y="4260342"/>
            <a:ext cx="731520" cy="38100"/>
          </a:xfrm>
          <a:prstGeom prst="rect">
            <a:avLst/>
          </a:prstGeom>
          <a:solidFill>
            <a:srgbClr val="1D5EA7"/>
          </a:solidFill>
          <a:ln w="12700">
            <a:solidFill>
              <a:srgbClr val="1D5EA7">
                <a:alpha val="0"/>
              </a:srgbClr>
            </a:solidFill>
            <a:prstDash val="solid"/>
          </a:ln>
        </p:spPr>
      </p:sp>
      <p:sp>
        <p:nvSpPr>
          <p:cNvPr id="16" name="arrow-165"/>
          <p:cNvSpPr/>
          <p:nvPr/>
        </p:nvSpPr>
        <p:spPr>
          <a:xfrm rot="5400000">
            <a:off x="6880860" y="4210812"/>
            <a:ext cx="137160" cy="137160"/>
          </a:xfrm>
          <a:prstGeom prst="triangle">
            <a:avLst/>
          </a:prstGeom>
          <a:solidFill>
            <a:srgbClr val="1D5EA7"/>
          </a:solidFill>
          <a:ln w="12700">
            <a:solidFill>
              <a:srgbClr val="1D5EA7"/>
            </a:solidFill>
            <a:prstDash val="solid"/>
          </a:ln>
        </p:spPr>
      </p:sp>
      <p:sp>
        <p:nvSpPr>
          <p:cNvPr id="17" name="line-166"/>
          <p:cNvSpPr/>
          <p:nvPr/>
        </p:nvSpPr>
        <p:spPr>
          <a:xfrm>
            <a:off x="9006840" y="4260342"/>
            <a:ext cx="1371600" cy="38100"/>
          </a:xfrm>
          <a:prstGeom prst="rect">
            <a:avLst/>
          </a:prstGeom>
          <a:solidFill>
            <a:srgbClr val="1D5EA7"/>
          </a:solidFill>
          <a:ln w="12700">
            <a:solidFill>
              <a:srgbClr val="1D5EA7">
                <a:alpha val="0"/>
              </a:srgbClr>
            </a:solidFill>
            <a:prstDash val="solid"/>
          </a:ln>
        </p:spPr>
      </p:sp>
      <p:sp>
        <p:nvSpPr>
          <p:cNvPr id="18" name="line-167"/>
          <p:cNvSpPr/>
          <p:nvPr/>
        </p:nvSpPr>
        <p:spPr>
          <a:xfrm>
            <a:off x="10359390" y="4279392"/>
            <a:ext cx="38100" cy="813816"/>
          </a:xfrm>
          <a:prstGeom prst="rect">
            <a:avLst/>
          </a:prstGeom>
          <a:solidFill>
            <a:srgbClr val="1D5EA7"/>
          </a:solidFill>
          <a:ln w="12700">
            <a:solidFill>
              <a:srgbClr val="1D5EA7">
                <a:alpha val="0"/>
              </a:srgbClr>
            </a:solidFill>
            <a:prstDash val="solid"/>
          </a:ln>
        </p:spPr>
      </p:sp>
      <p:sp>
        <p:nvSpPr>
          <p:cNvPr id="19" name="arrow-168"/>
          <p:cNvSpPr/>
          <p:nvPr/>
        </p:nvSpPr>
        <p:spPr>
          <a:xfrm rot="10800000">
            <a:off x="10309860" y="5024628"/>
            <a:ext cx="137160" cy="137160"/>
          </a:xfrm>
          <a:prstGeom prst="triangle">
            <a:avLst/>
          </a:prstGeom>
          <a:solidFill>
            <a:srgbClr val="1D5EA7"/>
          </a:solidFill>
          <a:ln w="12700">
            <a:solidFill>
              <a:srgbClr val="1D5EA7"/>
            </a:solidFill>
            <a:prstDash val="solid"/>
          </a:ln>
        </p:spPr>
      </p:sp>
      <p:sp>
        <p:nvSpPr>
          <p:cNvPr id="20" name="line-169"/>
          <p:cNvSpPr/>
          <p:nvPr/>
        </p:nvSpPr>
        <p:spPr>
          <a:xfrm>
            <a:off x="1828800" y="5586222"/>
            <a:ext cx="7589520" cy="38100"/>
          </a:xfrm>
          <a:prstGeom prst="rect">
            <a:avLst/>
          </a:prstGeom>
          <a:solidFill>
            <a:srgbClr val="1D5EA7"/>
          </a:solidFill>
          <a:ln w="12700">
            <a:solidFill>
              <a:srgbClr val="1D5EA7">
                <a:alpha val="0"/>
              </a:srgbClr>
            </a:solidFill>
            <a:prstDash val="solid"/>
          </a:ln>
        </p:spPr>
      </p:sp>
      <p:sp>
        <p:nvSpPr>
          <p:cNvPr id="21" name="line-170"/>
          <p:cNvSpPr/>
          <p:nvPr/>
        </p:nvSpPr>
        <p:spPr>
          <a:xfrm>
            <a:off x="1809750" y="4709160"/>
            <a:ext cx="38100" cy="896112"/>
          </a:xfrm>
          <a:prstGeom prst="rect">
            <a:avLst/>
          </a:prstGeom>
          <a:solidFill>
            <a:srgbClr val="1D5EA7"/>
          </a:solidFill>
          <a:ln w="12700">
            <a:solidFill>
              <a:srgbClr val="1D5EA7">
                <a:alpha val="0"/>
              </a:srgbClr>
            </a:solidFill>
            <a:prstDash val="solid"/>
          </a:ln>
        </p:spPr>
      </p:sp>
      <p:sp>
        <p:nvSpPr>
          <p:cNvPr id="22" name="arrow-171"/>
          <p:cNvSpPr/>
          <p:nvPr/>
        </p:nvSpPr>
        <p:spPr>
          <a:xfrm>
            <a:off x="1760220" y="4640580"/>
            <a:ext cx="137160" cy="137160"/>
          </a:xfrm>
          <a:prstGeom prst="triangle">
            <a:avLst/>
          </a:prstGeom>
          <a:solidFill>
            <a:srgbClr val="1D5EA7"/>
          </a:solidFill>
          <a:ln w="12700">
            <a:solidFill>
              <a:srgbClr val="1D5EA7"/>
            </a:solidFill>
            <a:prstDash val="solid"/>
          </a:ln>
        </p:spPr>
      </p:sp>
      <p:sp>
        <p:nvSpPr>
          <p:cNvPr id="23" name="text-172"/>
          <p:cNvSpPr/>
          <p:nvPr/>
        </p:nvSpPr>
        <p:spPr>
          <a:xfrm>
            <a:off x="4114800" y="50749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2677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未実施の研究計画</a:t>
            </a:r>
            <a:endParaRPr lang="en-US" sz="2200" dirty="0"/>
          </a:p>
        </p:txBody>
      </p:sp>
      <p:sp>
        <p:nvSpPr>
          <p:cNvPr id="24" name="text-173"/>
          <p:cNvSpPr/>
          <p:nvPr/>
        </p:nvSpPr>
        <p:spPr>
          <a:xfrm>
            <a:off x="777240" y="608076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2677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結果を先取りせず、迷いの原因を見つけて設計を更新する。</a:t>
            </a:r>
            <a:endParaRPr lang="en-US" sz="15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DIAGRAM_VIRTUALLY_FRAME" val="{&quot;height&quot;:402.89055118110224,&quot;left&quot;:235,&quot;top&quot;:86.8515748031496,&quot;width&quot;:909.2}"/>
</p:tagLst>
</file>

<file path=ppt/tags/tag7.xml><?xml version="1.0" encoding="utf-8"?>
<p:tagLst xmlns:p="http://schemas.openxmlformats.org/presentationml/2006/main">
  <p:tag name="KSO_WM_DIAGRAM_VIRTUALLY_FRAME" val="{&quot;height&quot;:402.89055118110224,&quot;left&quot;:235,&quot;top&quot;:86.8515748031496,&quot;width&quot;:909.2}"/>
</p:tagLst>
</file>

<file path=ppt/tags/tag8.xml><?xml version="1.0" encoding="utf-8"?>
<p:tagLst xmlns:p="http://schemas.openxmlformats.org/presentationml/2006/main">
  <p:tag name="KSO_WM_DIAGRAM_VIRTUALLY_FRAME" val="{&quot;height&quot;:402.89055118110224,&quot;left&quot;:235,&quot;top&quot;:86.8515748031496,&quot;width&quot;:909.2}"/>
</p:tagLst>
</file>

<file path=ppt/tags/tag9.xml><?xml version="1.0" encoding="utf-8"?>
<p:tagLst xmlns:p="http://schemas.openxmlformats.org/presentationml/2006/main">
  <p:tag name="KSO_WM_DIAGRAM_VIRTUALLY_FRAME" val="{&quot;height&quot;:402.89055118110224,&quot;left&quot;:235,&quot;top&quot;:86.8515748031496,&quot;width&quot;:909.2}"/>
</p:tagLst>
</file>

<file path=ppt/tags/tag10.xml><?xml version="1.0" encoding="utf-8"?>
<p:tagLst xmlns:p="http://schemas.openxmlformats.org/presentationml/2006/main">
  <p:tag name="KSO_WM_DIAGRAM_VIRTUALLY_FRAME" val="{&quot;height&quot;:402.89055118110224,&quot;left&quot;:235,&quot;top&quot;:86.8515748031496,&quot;width&quot;:909.2}"/>
</p:tagLst>
</file>

<file path=ppt/tags/tag11.xml><?xml version="1.0" encoding="utf-8"?>
<p:tagLst xmlns:p="http://schemas.openxmlformats.org/presentationml/2006/main">
  <p:tag name="KSO_WM_DIAGRAM_VIRTUALLY_FRAME" val="{&quot;height&quot;:402.89055118110224,&quot;left&quot;:235,&quot;top&quot;:86.8515748031496,&quot;width&quot;:909.2}"/>
</p:tagLst>
</file>

<file path=ppt/tags/tag12.xml><?xml version="1.0" encoding="utf-8"?>
<p:tagLst xmlns:p="http://schemas.openxmlformats.org/presentationml/2006/main">
  <p:tag name="KSO_WM_DIAGRAM_VIRTUALLY_FRAME" val="{&quot;height&quot;:402.89055118110224,&quot;left&quot;:235,&quot;top&quot;:86.8515748031496,&quot;width&quot;:909.2}"/>
</p:tagLst>
</file>

<file path=ppt/tags/tag13.xml><?xml version="1.0" encoding="utf-8"?>
<p:tagLst xmlns:p="http://schemas.openxmlformats.org/presentationml/2006/main">
  <p:tag name="KSO_WM_DIAGRAM_VIRTUALLY_FRAME" val="{&quot;height&quot;:402.89055118110224,&quot;left&quot;:235,&quot;top&quot;:86.8515748031496,&quot;width&quot;:909.2}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视点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19050" cmpd="sng">
          <a:solidFill>
            <a:schemeClr val="accent1">
              <a:shade val="50000"/>
            </a:schemeClr>
          </a:solidFill>
          <a:prstDash val="sysDash"/>
        </a:ln>
      </a:spPr>
      <a:bodyPr vert="horz" wrap="square" lIns="68577" tIns="34289" rIns="68577" bIns="34289" numCol="1" spcCol="0" rtlCol="0" fromWordArt="0" anchor="t" anchorCtr="0" forceAA="0" compatLnSpc="0">
        <a:noAutofit/>
        <a:scene3d>
          <a:camera prst="orthographicFront"/>
          <a:lightRig rig="threePt" dir="t"/>
        </a:scene3d>
      </a:bodyPr>
      <a:lstStyle>
        <a:defPPr algn="ctr">
          <a:lnSpc>
            <a:spcPct val="130000"/>
          </a:lnSpc>
          <a:spcBef>
            <a:spcPts val="0"/>
          </a:spcBef>
          <a:spcAft>
            <a:spcPts val="0"/>
          </a:spcAft>
          <a:buClrTx/>
          <a:buSzTx/>
          <a:buFontTx/>
          <a:defRPr sz="1400" spc="38" noProof="0" dirty="0">
            <a:ln>
              <a:noFill/>
            </a:ln>
            <a:effectLst>
              <a:outerShdw blurRad="38100" dist="19050" dir="2700000" algn="tl" rotWithShape="0">
                <a:prstClr val="black">
                  <a:alpha val="40000"/>
                </a:prstClr>
              </a:outerShdw>
            </a:effectLst>
            <a:uLnTx/>
            <a:uFillTx/>
            <a:latin typeface="微软雅黑" panose="020B0503020204020204" pitchFamily="34" charset="-122"/>
            <a:ea typeface="微软雅黑" panose="020B0503020204020204" pitchFamily="34" charset="-122"/>
            <a:sym typeface="+mn-ea"/>
          </a:defRPr>
        </a:defPPr>
      </a:lst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小さな道案内</dc:title>
  <dc:subject>架空・未実施の公共空間サイン研究計画</dc:subject>
  <dc:creator>Studio Yebisu</dc:creator>
  <cp:lastModifiedBy>Studio Yebisu</cp:lastModifiedBy>
  <cp:revision>1</cp:revision>
  <dcterms:created xsi:type="dcterms:W3CDTF">2026-10-14T03:25:03Z</dcterms:created>
  <dcterms:modified xsi:type="dcterms:W3CDTF">2026-10-14T03:25:03Z</dcterms:modified>
</cp:coreProperties>
</file>