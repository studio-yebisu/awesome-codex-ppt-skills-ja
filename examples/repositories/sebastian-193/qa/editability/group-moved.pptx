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02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サインの見た目だけでなく、利用者が次の一歩を選ぶ瞬間に注目する。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文字が読みやすくても、見つからない、方向が曖昧という問題は残る。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これは優劣を確定した結果ではない。比較して確かめたい設計仮説である。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到着の確認も案内の一部。利用者が「ここで合っている」と判断できる仕組みを含める。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ここでは寸法を正解として固定しない。実際に使われる距離と環境に合わせて試作する。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速さだけを成功の基準にしない。参加者の安全を優先し、参加条件と同意手順は実施前に整える。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同じ案内でも使う条件が違う。多様な利用者による確認と現地調整が必要になる。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結果を先取りせず、迷いの原因を見つけて設計を更新する。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line-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5" name="text-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7" name="text-5"/>
          <p:cNvSpPr/>
          <p:nvPr/>
        </p:nvSpPr>
        <p:spPr>
          <a:xfrm>
            <a:off x="640080" y="11430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道案内</a:t>
            </a:r>
            <a:endParaRPr lang="en-US" sz="5800" dirty="0"/>
          </a:p>
        </p:txBody>
      </p:sp>
      <p:sp>
        <p:nvSpPr>
          <p:cNvPr id="8" name="text-6"/>
          <p:cNvSpPr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公共空間サインの読みやすさを探る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デザイン研究計画</a:t>
            </a:r>
            <a:endParaRPr lang="en-US" sz="2300" dirty="0"/>
          </a:p>
        </p:txBody>
      </p:sp>
      <p:sp>
        <p:nvSpPr>
          <p:cNvPr id="9" name="text-7"/>
          <p:cNvSpPr/>
          <p:nvPr/>
        </p:nvSpPr>
        <p:spPr>
          <a:xfrm>
            <a:off x="685800" y="4892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入口から受付までの案内表示を比較する</a:t>
            </a:r>
            <a:endParaRPr lang="en-US" sz="2300" dirty="0"/>
          </a:p>
        </p:txBody>
      </p:sp>
      <p:sp>
        <p:nvSpPr>
          <p:cNvPr id="10" name="line-8"/>
          <p:cNvSpPr/>
          <p:nvPr/>
        </p:nvSpPr>
        <p:spPr>
          <a:xfrm>
            <a:off x="8289290" y="3200400"/>
            <a:ext cx="63500" cy="21031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9"/>
          <p:cNvSpPr/>
          <p:nvPr/>
        </p:nvSpPr>
        <p:spPr>
          <a:xfrm>
            <a:off x="8321040" y="3168650"/>
            <a:ext cx="17373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0"/>
          <p:cNvSpPr/>
          <p:nvPr/>
        </p:nvSpPr>
        <p:spPr>
          <a:xfrm rot="5400000">
            <a:off x="9989820" y="31318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"/>
          <p:cNvSpPr/>
          <p:nvPr/>
        </p:nvSpPr>
        <p:spPr>
          <a:xfrm flipV="1">
            <a:off x="8321040" y="1920240"/>
            <a:ext cx="1234440" cy="1280160"/>
          </a:xfrm>
          <a:prstGeom prst="line">
            <a:avLst/>
          </a:prstGeom>
          <a:noFill/>
          <a:ln w="25400">
            <a:solidFill>
              <a:srgbClr val="A8BED2"/>
            </a:solidFill>
            <a:prstDash val="solid"/>
            <a:tailEnd type="none"/>
          </a:ln>
        </p:spPr>
      </p:sp>
      <p:sp>
        <p:nvSpPr>
          <p:cNvPr id="14" name="point-12"/>
          <p:cNvSpPr/>
          <p:nvPr/>
        </p:nvSpPr>
        <p:spPr>
          <a:xfrm>
            <a:off x="8238744" y="5221224"/>
            <a:ext cx="164592" cy="164592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text-13"/>
          <p:cNvSpPr/>
          <p:nvPr/>
        </p:nvSpPr>
        <p:spPr>
          <a:xfrm>
            <a:off x="7680960" y="5504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</a:t>
            </a:r>
            <a:endParaRPr lang="en-US" sz="1600" dirty="0"/>
          </a:p>
        </p:txBody>
      </p:sp>
      <p:sp>
        <p:nvSpPr>
          <p:cNvPr id="16" name="text-14"/>
          <p:cNvSpPr/>
          <p:nvPr/>
        </p:nvSpPr>
        <p:spPr>
          <a:xfrm>
            <a:off x="76352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</a:t>
            </a:r>
            <a:endParaRPr lang="en-US" sz="1600" dirty="0"/>
          </a:p>
        </p:txBody>
      </p:sp>
      <p:sp>
        <p:nvSpPr>
          <p:cNvPr id="17" name="shape-15"/>
          <p:cNvSpPr/>
          <p:nvPr/>
        </p:nvSpPr>
        <p:spPr>
          <a:xfrm>
            <a:off x="10058400" y="2948940"/>
            <a:ext cx="1234440" cy="50292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8" name="text-16"/>
          <p:cNvSpPr/>
          <p:nvPr/>
        </p:nvSpPr>
        <p:spPr>
          <a:xfrm>
            <a:off x="10213848" y="30403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8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-19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サインの評価を三つの判断に分ける</a:t>
            </a:r>
            <a:endParaRPr lang="en-US" sz="3000" dirty="0"/>
          </a:p>
        </p:txBody>
      </p:sp>
      <p:sp>
        <p:nvSpPr>
          <p:cNvPr id="5" name="line-20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21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22"/>
          <p:cNvSpPr/>
          <p:nvPr/>
        </p:nvSpPr>
        <p:spPr>
          <a:xfrm>
            <a:off x="64008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どの情報を、どの位置で、どの順序で示すと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進路を選びやすいか。</a:t>
            </a:r>
            <a:endParaRPr lang="en-US" sz="2300" dirty="0"/>
          </a:p>
        </p:txBody>
      </p:sp>
      <p:sp>
        <p:nvSpPr>
          <p:cNvPr id="9" name="text-23"/>
          <p:cNvSpPr/>
          <p:nvPr/>
        </p:nvSpPr>
        <p:spPr>
          <a:xfrm>
            <a:off x="73152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3500" dirty="0"/>
          </a:p>
        </p:txBody>
      </p:sp>
      <p:sp>
        <p:nvSpPr>
          <p:cNvPr id="10" name="text-24"/>
          <p:cNvSpPr/>
          <p:nvPr/>
        </p:nvSpPr>
        <p:spPr>
          <a:xfrm>
            <a:off x="731520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見つける</a:t>
            </a:r>
            <a:endParaRPr lang="en-US" sz="3000" dirty="0"/>
          </a:p>
        </p:txBody>
      </p:sp>
      <p:sp>
        <p:nvSpPr>
          <p:cNvPr id="11" name="text-25"/>
          <p:cNvSpPr/>
          <p:nvPr/>
        </p:nvSpPr>
        <p:spPr>
          <a:xfrm>
            <a:off x="731520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視線の中にあるか</a:t>
            </a:r>
            <a:endParaRPr lang="en-US" sz="1700" dirty="0"/>
          </a:p>
        </p:txBody>
      </p:sp>
      <p:sp>
        <p:nvSpPr>
          <p:cNvPr id="12" name="line-26"/>
          <p:cNvSpPr/>
          <p:nvPr/>
        </p:nvSpPr>
        <p:spPr>
          <a:xfrm>
            <a:off x="3703320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3" name="arrow-27"/>
          <p:cNvSpPr/>
          <p:nvPr/>
        </p:nvSpPr>
        <p:spPr>
          <a:xfrm rot="5400000">
            <a:off x="4183380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4" name="text-28"/>
          <p:cNvSpPr/>
          <p:nvPr/>
        </p:nvSpPr>
        <p:spPr>
          <a:xfrm>
            <a:off x="4507992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3500" dirty="0"/>
          </a:p>
        </p:txBody>
      </p:sp>
      <p:sp>
        <p:nvSpPr>
          <p:cNvPr id="15" name="text-29"/>
          <p:cNvSpPr/>
          <p:nvPr/>
        </p:nvSpPr>
        <p:spPr>
          <a:xfrm>
            <a:off x="4507992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</a:t>
            </a:r>
            <a:endParaRPr lang="en-US" sz="3000" dirty="0"/>
          </a:p>
        </p:txBody>
      </p:sp>
      <p:sp>
        <p:nvSpPr>
          <p:cNvPr id="16" name="text-30"/>
          <p:cNvSpPr/>
          <p:nvPr/>
        </p:nvSpPr>
        <p:spPr>
          <a:xfrm>
            <a:off x="4507992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文字と意味が分かるか</a:t>
            </a:r>
            <a:endParaRPr lang="en-US" sz="1700" dirty="0"/>
          </a:p>
        </p:txBody>
      </p:sp>
      <p:sp>
        <p:nvSpPr>
          <p:cNvPr id="17" name="line-31"/>
          <p:cNvSpPr/>
          <p:nvPr/>
        </p:nvSpPr>
        <p:spPr>
          <a:xfrm>
            <a:off x="7479792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8" name="arrow-32"/>
          <p:cNvSpPr/>
          <p:nvPr/>
        </p:nvSpPr>
        <p:spPr>
          <a:xfrm rot="5400000">
            <a:off x="7959852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9" name="text-33"/>
          <p:cNvSpPr/>
          <p:nvPr/>
        </p:nvSpPr>
        <p:spPr>
          <a:xfrm>
            <a:off x="8284464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3500" dirty="0"/>
          </a:p>
        </p:txBody>
      </p:sp>
      <p:sp>
        <p:nvSpPr>
          <p:cNvPr id="20" name="text-34"/>
          <p:cNvSpPr/>
          <p:nvPr/>
        </p:nvSpPr>
        <p:spPr>
          <a:xfrm>
            <a:off x="8284464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方向を決める</a:t>
            </a:r>
            <a:endParaRPr lang="en-US" sz="3000" dirty="0"/>
          </a:p>
        </p:txBody>
      </p:sp>
      <p:sp>
        <p:nvSpPr>
          <p:cNvPr id="21" name="text-35"/>
          <p:cNvSpPr/>
          <p:nvPr/>
        </p:nvSpPr>
        <p:spPr>
          <a:xfrm>
            <a:off x="8284464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進む方向が一つに定まるか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37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-38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分岐に情報を集めすぎない</a:t>
            </a:r>
            <a:endParaRPr lang="en-US" sz="3000" dirty="0"/>
          </a:p>
        </p:txBody>
      </p:sp>
      <p:sp>
        <p:nvSpPr>
          <p:cNvPr id="5" name="line-39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40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41"/>
          <p:cNvSpPr/>
          <p:nvPr/>
        </p:nvSpPr>
        <p:spPr>
          <a:xfrm>
            <a:off x="640080" y="1847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比較用の設計案。優劣は、これから確かめる。</a:t>
            </a:r>
            <a:endParaRPr lang="en-US" sz="2100" dirty="0"/>
          </a:p>
        </p:txBody>
      </p:sp>
      <p:sp>
        <p:nvSpPr>
          <p:cNvPr id="9" name="text-42"/>
          <p:cNvSpPr/>
          <p:nvPr/>
        </p:nvSpPr>
        <p:spPr>
          <a:xfrm>
            <a:off x="777240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情報を並べた案</a:t>
            </a:r>
            <a:endParaRPr lang="en-US" sz="2400" dirty="0"/>
          </a:p>
        </p:txBody>
      </p:sp>
      <p:sp>
        <p:nvSpPr>
          <p:cNvPr id="10" name="text-43"/>
          <p:cNvSpPr/>
          <p:nvPr/>
        </p:nvSpPr>
        <p:spPr>
          <a:xfrm>
            <a:off x="640080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次の判断に絞った案</a:t>
            </a:r>
            <a:endParaRPr lang="en-US" sz="2400" dirty="0"/>
          </a:p>
        </p:txBody>
      </p:sp>
      <p:sp>
        <p:nvSpPr>
          <p:cNvPr id="11" name="line-44"/>
          <p:cNvSpPr/>
          <p:nvPr/>
        </p:nvSpPr>
        <p:spPr>
          <a:xfrm>
            <a:off x="5937250" y="2834640"/>
            <a:ext cx="12700" cy="3154680"/>
          </a:xfrm>
          <a:prstGeom prst="rect">
            <a:avLst/>
          </a:prstGeom>
          <a:solidFill>
            <a:srgbClr val="BCD0E0"/>
          </a:solidFill>
          <a:ln w="12700">
            <a:solidFill>
              <a:srgbClr val="BCD0E0">
                <a:alpha val="0"/>
              </a:srgbClr>
            </a:solidFill>
            <a:prstDash val="solid"/>
          </a:ln>
        </p:spPr>
      </p:sp>
      <p:sp>
        <p:nvSpPr>
          <p:cNvPr id="12" name="COMPARISON_sign_list"/>
          <p:cNvSpPr/>
          <p:nvPr/>
        </p:nvSpPr>
        <p:spPr>
          <a:xfrm>
            <a:off x="777240" y="3520440"/>
            <a:ext cx="4846320" cy="1298448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3" name="text-45"/>
          <p:cNvSpPr/>
          <p:nvPr/>
        </p:nvSpPr>
        <p:spPr>
          <a:xfrm>
            <a:off x="1024128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2400" dirty="0"/>
          </a:p>
        </p:txBody>
      </p:sp>
      <p:sp>
        <p:nvSpPr>
          <p:cNvPr id="14" name="text-46"/>
          <p:cNvSpPr/>
          <p:nvPr/>
        </p:nvSpPr>
        <p:spPr>
          <a:xfrm>
            <a:off x="333756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トイレ</a:t>
            </a:r>
            <a:endParaRPr lang="en-US" sz="2400" dirty="0"/>
          </a:p>
        </p:txBody>
      </p:sp>
      <p:sp>
        <p:nvSpPr>
          <p:cNvPr id="15" name="text-47"/>
          <p:cNvSpPr/>
          <p:nvPr/>
        </p:nvSpPr>
        <p:spPr>
          <a:xfrm>
            <a:off x="1024128" y="43525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待合</a:t>
            </a:r>
            <a:endParaRPr lang="en-US" sz="2400" dirty="0"/>
          </a:p>
        </p:txBody>
      </p:sp>
      <p:sp>
        <p:nvSpPr>
          <p:cNvPr id="16" name="text-48"/>
          <p:cNvSpPr/>
          <p:nvPr/>
        </p:nvSpPr>
        <p:spPr>
          <a:xfrm>
            <a:off x="3337560" y="43525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相談室</a:t>
            </a:r>
            <a:endParaRPr lang="en-US" sz="2400" dirty="0"/>
          </a:p>
        </p:txBody>
      </p:sp>
      <p:sp>
        <p:nvSpPr>
          <p:cNvPr id="17" name="shape-49"/>
          <p:cNvSpPr/>
          <p:nvPr/>
        </p:nvSpPr>
        <p:spPr>
          <a:xfrm>
            <a:off x="6400800" y="3520440"/>
            <a:ext cx="4937760" cy="1298448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8" name="text-50"/>
          <p:cNvSpPr/>
          <p:nvPr/>
        </p:nvSpPr>
        <p:spPr>
          <a:xfrm>
            <a:off x="6675120" y="3675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受付</a:t>
            </a:r>
            <a:endParaRPr lang="en-US" sz="3500" dirty="0"/>
          </a:p>
        </p:txBody>
      </p:sp>
      <p:sp>
        <p:nvSpPr>
          <p:cNvPr id="19" name="text-51"/>
          <p:cNvSpPr/>
          <p:nvPr/>
        </p:nvSpPr>
        <p:spPr>
          <a:xfrm>
            <a:off x="6748272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青い壁を目印に</a:t>
            </a:r>
            <a:endParaRPr lang="en-US" sz="1700" dirty="0"/>
          </a:p>
        </p:txBody>
      </p:sp>
      <p:sp>
        <p:nvSpPr>
          <p:cNvPr id="20" name="text-52"/>
          <p:cNvSpPr/>
          <p:nvPr/>
        </p:nvSpPr>
        <p:spPr>
          <a:xfrm>
            <a:off x="6400800" y="51937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仮説A  分岐の前に行き先を絞る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仮説B  矢印・行き先・目印を反復する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3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54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-55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サインを一枚ではなく、連続として設計する</a:t>
            </a:r>
            <a:endParaRPr lang="en-US" sz="3000" dirty="0"/>
          </a:p>
        </p:txBody>
      </p:sp>
      <p:sp>
        <p:nvSpPr>
          <p:cNvPr id="5" name="line-56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57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58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入口の全体案内。分岐前の方向案内。到着時の確認表示。</a:t>
            </a:r>
            <a:endParaRPr lang="en-US" sz="2000" dirty="0"/>
          </a:p>
        </p:txBody>
      </p:sp>
      <p:sp>
        <p:nvSpPr>
          <p:cNvPr id="9" name="shape-59"/>
          <p:cNvSpPr/>
          <p:nvPr/>
        </p:nvSpPr>
        <p:spPr>
          <a:xfrm>
            <a:off x="822960" y="2834640"/>
            <a:ext cx="7315200" cy="292608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line-60"/>
          <p:cNvSpPr/>
          <p:nvPr/>
        </p:nvSpPr>
        <p:spPr>
          <a:xfrm>
            <a:off x="1508760" y="5252720"/>
            <a:ext cx="23774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61"/>
          <p:cNvSpPr/>
          <p:nvPr/>
        </p:nvSpPr>
        <p:spPr>
          <a:xfrm>
            <a:off x="3835400" y="3794760"/>
            <a:ext cx="101600" cy="150876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line-62"/>
          <p:cNvSpPr/>
          <p:nvPr/>
        </p:nvSpPr>
        <p:spPr>
          <a:xfrm>
            <a:off x="3886200" y="3743960"/>
            <a:ext cx="30632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3" name="arrow-63"/>
          <p:cNvSpPr/>
          <p:nvPr/>
        </p:nvSpPr>
        <p:spPr>
          <a:xfrm rot="5400000">
            <a:off x="6880860" y="372618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4" name="line-64"/>
          <p:cNvSpPr/>
          <p:nvPr/>
        </p:nvSpPr>
        <p:spPr>
          <a:xfrm>
            <a:off x="3848100" y="3063240"/>
            <a:ext cx="76200" cy="731520"/>
          </a:xfrm>
          <a:prstGeom prst="rect">
            <a:avLst/>
          </a:prstGeom>
          <a:solidFill>
            <a:srgbClr val="B6C6D5"/>
          </a:solidFill>
          <a:ln w="12700">
            <a:solidFill>
              <a:srgbClr val="B6C6D5">
                <a:alpha val="0"/>
              </a:srgbClr>
            </a:solidFill>
            <a:prstDash val="solid"/>
          </a:ln>
        </p:spPr>
      </p:sp>
      <p:sp>
        <p:nvSpPr>
          <p:cNvPr id="15" name="text-65"/>
          <p:cNvSpPr/>
          <p:nvPr/>
        </p:nvSpPr>
        <p:spPr>
          <a:xfrm>
            <a:off x="960120" y="5449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</a:t>
            </a:r>
            <a:endParaRPr lang="en-US" sz="1700" dirty="0"/>
          </a:p>
        </p:txBody>
      </p:sp>
      <p:sp>
        <p:nvSpPr>
          <p:cNvPr id="16" name="text-66"/>
          <p:cNvSpPr/>
          <p:nvPr/>
        </p:nvSpPr>
        <p:spPr>
          <a:xfrm>
            <a:off x="31546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</a:t>
            </a:r>
            <a:endParaRPr lang="en-US" sz="1700" dirty="0"/>
          </a:p>
        </p:txBody>
      </p:sp>
      <p:sp>
        <p:nvSpPr>
          <p:cNvPr id="17" name="text-67"/>
          <p:cNvSpPr/>
          <p:nvPr/>
        </p:nvSpPr>
        <p:spPr>
          <a:xfrm>
            <a:off x="6629400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1800" dirty="0"/>
          </a:p>
        </p:txBody>
      </p:sp>
      <p:sp>
        <p:nvSpPr>
          <p:cNvPr id="18" name="text-68"/>
          <p:cNvSpPr/>
          <p:nvPr/>
        </p:nvSpPr>
        <p:spPr>
          <a:xfrm>
            <a:off x="534924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待合</a:t>
            </a:r>
            <a:endParaRPr lang="en-US" sz="1700" dirty="0"/>
          </a:p>
        </p:txBody>
      </p:sp>
      <p:sp>
        <p:nvSpPr>
          <p:cNvPr id="19" name="text-69"/>
          <p:cNvSpPr/>
          <p:nvPr/>
        </p:nvSpPr>
        <p:spPr>
          <a:xfrm>
            <a:off x="246888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トイレ</a:t>
            </a:r>
            <a:endParaRPr lang="en-US" sz="1400" dirty="0"/>
          </a:p>
        </p:txBody>
      </p:sp>
      <p:sp>
        <p:nvSpPr>
          <p:cNvPr id="20" name="point-70"/>
          <p:cNvSpPr/>
          <p:nvPr/>
        </p:nvSpPr>
        <p:spPr>
          <a:xfrm>
            <a:off x="1307592" y="510235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1" name="text-71"/>
          <p:cNvSpPr/>
          <p:nvPr/>
        </p:nvSpPr>
        <p:spPr>
          <a:xfrm>
            <a:off x="1399032" y="5175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point-72"/>
          <p:cNvSpPr/>
          <p:nvPr/>
        </p:nvSpPr>
        <p:spPr>
          <a:xfrm>
            <a:off x="368503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3" name="text-73"/>
          <p:cNvSpPr/>
          <p:nvPr/>
        </p:nvSpPr>
        <p:spPr>
          <a:xfrm>
            <a:off x="377647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point-74"/>
          <p:cNvSpPr/>
          <p:nvPr/>
        </p:nvSpPr>
        <p:spPr>
          <a:xfrm>
            <a:off x="674827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75"/>
          <p:cNvSpPr/>
          <p:nvPr/>
        </p:nvSpPr>
        <p:spPr>
          <a:xfrm>
            <a:off x="683971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-76"/>
          <p:cNvSpPr/>
          <p:nvPr/>
        </p:nvSpPr>
        <p:spPr>
          <a:xfrm>
            <a:off x="86868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 全体</a:t>
            </a:r>
            <a:endParaRPr lang="en-US" sz="2400" dirty="0"/>
          </a:p>
        </p:txBody>
      </p:sp>
      <p:sp>
        <p:nvSpPr>
          <p:cNvPr id="27" name="text-77"/>
          <p:cNvSpPr/>
          <p:nvPr/>
        </p:nvSpPr>
        <p:spPr>
          <a:xfrm>
            <a:off x="8686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  方向</a:t>
            </a:r>
            <a:endParaRPr lang="en-US" sz="2400" dirty="0"/>
          </a:p>
        </p:txBody>
      </p:sp>
      <p:sp>
        <p:nvSpPr>
          <p:cNvPr id="28" name="text-78"/>
          <p:cNvSpPr/>
          <p:nvPr/>
        </p:nvSpPr>
        <p:spPr>
          <a:xfrm>
            <a:off x="868680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  到着</a:t>
            </a:r>
            <a:endParaRPr lang="en-US" sz="2400" dirty="0"/>
          </a:p>
        </p:txBody>
      </p:sp>
      <p:sp>
        <p:nvSpPr>
          <p:cNvPr id="29" name="text-79"/>
          <p:cNvSpPr/>
          <p:nvPr/>
        </p:nvSpPr>
        <p:spPr>
          <a:xfrm>
            <a:off x="8686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架空平面・縮尺なし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0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81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-82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小さな仕様が、読み方をそろえる</a:t>
            </a:r>
            <a:endParaRPr lang="en-US" sz="3000" dirty="0"/>
          </a:p>
        </p:txBody>
      </p:sp>
      <p:sp>
        <p:nvSpPr>
          <p:cNvPr id="5" name="line-8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8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85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文字の階層、間隔、明暗差、表記の統一を調整する。</a:t>
            </a:r>
            <a:endParaRPr lang="en-US" sz="2100" dirty="0"/>
          </a:p>
        </p:txBody>
      </p:sp>
      <p:sp>
        <p:nvSpPr>
          <p:cNvPr id="9" name="shape-86"/>
          <p:cNvSpPr/>
          <p:nvPr/>
        </p:nvSpPr>
        <p:spPr>
          <a:xfrm>
            <a:off x="2423160" y="2926080"/>
            <a:ext cx="7315200" cy="192024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0" name="text-87"/>
          <p:cNvSpPr/>
          <p:nvPr/>
        </p:nvSpPr>
        <p:spPr>
          <a:xfrm>
            <a:off x="2926080" y="33649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4600" dirty="0"/>
          </a:p>
        </p:txBody>
      </p:sp>
      <p:sp>
        <p:nvSpPr>
          <p:cNvPr id="11" name="text-88"/>
          <p:cNvSpPr/>
          <p:nvPr/>
        </p:nvSpPr>
        <p:spPr>
          <a:xfrm>
            <a:off x="4297680" y="3218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4000" dirty="0"/>
          </a:p>
        </p:txBody>
      </p:sp>
      <p:sp>
        <p:nvSpPr>
          <p:cNvPr id="12" name="text-89"/>
          <p:cNvSpPr/>
          <p:nvPr/>
        </p:nvSpPr>
        <p:spPr>
          <a:xfrm>
            <a:off x="4325112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青い壁を目印に</a:t>
            </a:r>
            <a:endParaRPr lang="en-US" sz="2000" dirty="0"/>
          </a:p>
        </p:txBody>
      </p:sp>
      <p:sp>
        <p:nvSpPr>
          <p:cNvPr id="13" name="text-90"/>
          <p:cNvSpPr/>
          <p:nvPr/>
        </p:nvSpPr>
        <p:spPr>
          <a:xfrm>
            <a:off x="73152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矢印</a:t>
            </a:r>
            <a:endParaRPr lang="en-US" sz="1700" dirty="0"/>
          </a:p>
        </p:txBody>
      </p:sp>
      <p:sp>
        <p:nvSpPr>
          <p:cNvPr id="14" name="line-91"/>
          <p:cNvSpPr/>
          <p:nvPr/>
        </p:nvSpPr>
        <p:spPr>
          <a:xfrm>
            <a:off x="2011680" y="3337560"/>
            <a:ext cx="914400" cy="41148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5" name="text-92"/>
          <p:cNvSpPr/>
          <p:nvPr/>
        </p:nvSpPr>
        <p:spPr>
          <a:xfrm>
            <a:off x="9966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主行き先</a:t>
            </a:r>
            <a:endParaRPr lang="en-US" sz="1700" dirty="0"/>
          </a:p>
        </p:txBody>
      </p:sp>
      <p:sp>
        <p:nvSpPr>
          <p:cNvPr id="16" name="line-93"/>
          <p:cNvSpPr/>
          <p:nvPr/>
        </p:nvSpPr>
        <p:spPr>
          <a:xfrm flipH="1">
            <a:off x="5029200" y="2788920"/>
            <a:ext cx="4892040" cy="402336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7" name="text-94"/>
          <p:cNvSpPr/>
          <p:nvPr/>
        </p:nvSpPr>
        <p:spPr>
          <a:xfrm>
            <a:off x="996696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補助情報</a:t>
            </a:r>
            <a:endParaRPr lang="en-US" sz="1700" dirty="0"/>
          </a:p>
        </p:txBody>
      </p:sp>
      <p:sp>
        <p:nvSpPr>
          <p:cNvPr id="18" name="line-95"/>
          <p:cNvSpPr/>
          <p:nvPr/>
        </p:nvSpPr>
        <p:spPr>
          <a:xfrm flipH="1" flipV="1">
            <a:off x="5577840" y="4489704"/>
            <a:ext cx="4343400" cy="813816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9" name="text-96"/>
          <p:cNvSpPr/>
          <p:nvPr/>
        </p:nvSpPr>
        <p:spPr>
          <a:xfrm>
            <a:off x="45720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内側の余白</a:t>
            </a:r>
            <a:endParaRPr lang="en-US" sz="1700" dirty="0"/>
          </a:p>
        </p:txBody>
      </p:sp>
      <p:sp>
        <p:nvSpPr>
          <p:cNvPr id="20" name="line-97"/>
          <p:cNvSpPr/>
          <p:nvPr/>
        </p:nvSpPr>
        <p:spPr>
          <a:xfrm flipV="1">
            <a:off x="2011680" y="4663440"/>
            <a:ext cx="667512" cy="64008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1" name="text-98"/>
          <p:cNvSpPr/>
          <p:nvPr/>
        </p:nvSpPr>
        <p:spPr>
          <a:xfrm>
            <a:off x="996696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背景</a:t>
            </a:r>
            <a:endParaRPr lang="en-US" sz="1700" dirty="0"/>
          </a:p>
        </p:txBody>
      </p:sp>
      <p:sp>
        <p:nvSpPr>
          <p:cNvPr id="22" name="line-99"/>
          <p:cNvSpPr/>
          <p:nvPr/>
        </p:nvSpPr>
        <p:spPr>
          <a:xfrm flipH="1" flipV="1">
            <a:off x="9555480" y="3749040"/>
            <a:ext cx="365760" cy="13716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3" name="text-100"/>
          <p:cNvSpPr/>
          <p:nvPr/>
        </p:nvSpPr>
        <p:spPr>
          <a:xfrm>
            <a:off x="2423160" y="5513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色だけに頼らず、形・文字・目印を併用する。</a:t>
            </a:r>
            <a:endParaRPr lang="en-US" sz="2000" dirty="0"/>
          </a:p>
        </p:txBody>
      </p:sp>
      <p:sp>
        <p:nvSpPr>
          <p:cNvPr id="24" name="text-101"/>
          <p:cNvSpPr/>
          <p:nvPr/>
        </p:nvSpPr>
        <p:spPr>
          <a:xfrm>
            <a:off x="2423160" y="6007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要検証：距離・照明・視力条件</a:t>
            </a:r>
            <a:endParaRPr lang="en-US" sz="1300" dirty="0"/>
          </a:p>
        </p:txBody>
      </p:sp>
      <p:sp>
        <p:nvSpPr>
          <p:cNvPr id="25" name="PADDING_dimension_0"/>
          <p:cNvSpPr/>
          <p:nvPr/>
        </p:nvSpPr>
        <p:spPr>
          <a:xfrm>
            <a:off x="2423160" y="4663440"/>
            <a:ext cx="5029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PADDING_dimension_1"/>
          <p:cNvSpPr/>
          <p:nvPr/>
        </p:nvSpPr>
        <p:spPr>
          <a:xfrm>
            <a:off x="2423160" y="4553712"/>
            <a:ext cx="0" cy="201168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7" name="PADDING_dimension_2"/>
          <p:cNvSpPr/>
          <p:nvPr/>
        </p:nvSpPr>
        <p:spPr>
          <a:xfrm>
            <a:off x="2926080" y="4553712"/>
            <a:ext cx="0" cy="201168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0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-10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評価は、迷った場所を記録する</a:t>
            </a:r>
            <a:endParaRPr lang="en-US" sz="3000" dirty="0"/>
          </a:p>
        </p:txBody>
      </p:sp>
      <p:sp>
        <p:nvSpPr>
          <p:cNvPr id="5" name="line-10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0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07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机上レビュー後、模擬経路で複数案を比較する計画。</a:t>
            </a:r>
            <a:endParaRPr lang="en-US" sz="2100" dirty="0"/>
          </a:p>
        </p:txBody>
      </p:sp>
      <p:sp>
        <p:nvSpPr>
          <p:cNvPr id="9" name="line-108"/>
          <p:cNvSpPr/>
          <p:nvPr/>
        </p:nvSpPr>
        <p:spPr>
          <a:xfrm>
            <a:off x="1188720" y="5271770"/>
            <a:ext cx="17373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0" name="line-109"/>
          <p:cNvSpPr/>
          <p:nvPr/>
        </p:nvSpPr>
        <p:spPr>
          <a:xfrm>
            <a:off x="2894330" y="3429000"/>
            <a:ext cx="63500" cy="18745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110"/>
          <p:cNvSpPr/>
          <p:nvPr/>
        </p:nvSpPr>
        <p:spPr>
          <a:xfrm>
            <a:off x="2926080" y="3397250"/>
            <a:ext cx="37947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11"/>
          <p:cNvSpPr/>
          <p:nvPr/>
        </p:nvSpPr>
        <p:spPr>
          <a:xfrm rot="5400000">
            <a:off x="6652260" y="33604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2"/>
          <p:cNvSpPr/>
          <p:nvPr/>
        </p:nvSpPr>
        <p:spPr>
          <a:xfrm>
            <a:off x="2913380" y="2788920"/>
            <a:ext cx="25400" cy="640080"/>
          </a:xfrm>
          <a:prstGeom prst="rect">
            <a:avLst/>
          </a:prstGeom>
          <a:solidFill>
            <a:srgbClr val="A7BCCE"/>
          </a:solidFill>
          <a:ln w="12700">
            <a:solidFill>
              <a:srgbClr val="A7BCCE">
                <a:alpha val="0"/>
              </a:srgbClr>
            </a:solidFill>
            <a:prstDash val="solid"/>
          </a:ln>
        </p:spPr>
      </p:sp>
      <p:sp>
        <p:nvSpPr>
          <p:cNvPr id="14" name="point-113"/>
          <p:cNvSpPr/>
          <p:nvPr/>
        </p:nvSpPr>
        <p:spPr>
          <a:xfrm>
            <a:off x="1664208" y="513892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point-114"/>
          <p:cNvSpPr/>
          <p:nvPr/>
        </p:nvSpPr>
        <p:spPr>
          <a:xfrm>
            <a:off x="2761488" y="427024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6" name="point-115"/>
          <p:cNvSpPr/>
          <p:nvPr/>
        </p:nvSpPr>
        <p:spPr>
          <a:xfrm>
            <a:off x="4956048" y="326440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7" name="text-116"/>
          <p:cNvSpPr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立ち止まり</a:t>
            </a:r>
            <a:endParaRPr lang="en-US" sz="1800" dirty="0"/>
          </a:p>
        </p:txBody>
      </p:sp>
      <p:sp>
        <p:nvSpPr>
          <p:cNvPr id="18" name="text-117"/>
          <p:cNvSpPr/>
          <p:nvPr/>
        </p:nvSpPr>
        <p:spPr>
          <a:xfrm>
            <a:off x="32461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戻り</a:t>
            </a:r>
            <a:endParaRPr lang="en-US" sz="1800" dirty="0"/>
          </a:p>
        </p:txBody>
      </p:sp>
      <p:sp>
        <p:nvSpPr>
          <p:cNvPr id="19" name="text-118"/>
          <p:cNvSpPr/>
          <p:nvPr/>
        </p:nvSpPr>
        <p:spPr>
          <a:xfrm>
            <a:off x="425196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分岐選択</a:t>
            </a:r>
            <a:endParaRPr lang="en-US" sz="1800" dirty="0"/>
          </a:p>
        </p:txBody>
      </p:sp>
      <p:sp>
        <p:nvSpPr>
          <p:cNvPr id="20" name="line-119"/>
          <p:cNvSpPr/>
          <p:nvPr/>
        </p:nvSpPr>
        <p:spPr>
          <a:xfrm>
            <a:off x="7674610" y="2743200"/>
            <a:ext cx="12700" cy="3291840"/>
          </a:xfrm>
          <a:prstGeom prst="rect">
            <a:avLst/>
          </a:prstGeom>
          <a:solidFill>
            <a:srgbClr val="B9CADA"/>
          </a:solidFill>
          <a:ln w="12700">
            <a:solidFill>
              <a:srgbClr val="B9CADA">
                <a:alpha val="0"/>
              </a:srgbClr>
            </a:solidFill>
            <a:prstDash val="solid"/>
          </a:ln>
        </p:spPr>
      </p:sp>
      <p:sp>
        <p:nvSpPr>
          <p:cNvPr id="21" name="text-120"/>
          <p:cNvSpPr/>
          <p:nvPr/>
        </p:nvSpPr>
        <p:spPr>
          <a:xfrm>
            <a:off x="822960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100" dirty="0"/>
          </a:p>
        </p:txBody>
      </p:sp>
      <p:sp>
        <p:nvSpPr>
          <p:cNvPr id="22" name="text-121"/>
          <p:cNvSpPr/>
          <p:nvPr/>
        </p:nvSpPr>
        <p:spPr>
          <a:xfrm>
            <a:off x="891540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事前説明</a:t>
            </a:r>
            <a:endParaRPr lang="en-US" sz="2400" dirty="0"/>
          </a:p>
        </p:txBody>
      </p:sp>
      <p:sp>
        <p:nvSpPr>
          <p:cNvPr id="23" name="line-122"/>
          <p:cNvSpPr/>
          <p:nvPr/>
        </p:nvSpPr>
        <p:spPr>
          <a:xfrm>
            <a:off x="9271635" y="344728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4" name="arrow-123"/>
          <p:cNvSpPr/>
          <p:nvPr/>
        </p:nvSpPr>
        <p:spPr>
          <a:xfrm rot="10800000">
            <a:off x="9212580" y="370789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124"/>
          <p:cNvSpPr/>
          <p:nvPr/>
        </p:nvSpPr>
        <p:spPr>
          <a:xfrm>
            <a:off x="8229600" y="3913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-125"/>
          <p:cNvSpPr/>
          <p:nvPr/>
        </p:nvSpPr>
        <p:spPr>
          <a:xfrm>
            <a:off x="89154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</a:t>
            </a:r>
            <a:endParaRPr lang="en-US" sz="2400" dirty="0"/>
          </a:p>
        </p:txBody>
      </p:sp>
      <p:sp>
        <p:nvSpPr>
          <p:cNvPr id="27" name="line-126"/>
          <p:cNvSpPr/>
          <p:nvPr/>
        </p:nvSpPr>
        <p:spPr>
          <a:xfrm>
            <a:off x="9271635" y="449884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8" name="arrow-127"/>
          <p:cNvSpPr/>
          <p:nvPr/>
        </p:nvSpPr>
        <p:spPr>
          <a:xfrm rot="10800000">
            <a:off x="9212580" y="475945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9" name="text-128"/>
          <p:cNvSpPr/>
          <p:nvPr/>
        </p:nvSpPr>
        <p:spPr>
          <a:xfrm>
            <a:off x="8229600" y="4965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100" dirty="0"/>
          </a:p>
        </p:txBody>
      </p:sp>
      <p:sp>
        <p:nvSpPr>
          <p:cNvPr id="30" name="text-129"/>
          <p:cNvSpPr/>
          <p:nvPr/>
        </p:nvSpPr>
        <p:spPr>
          <a:xfrm>
            <a:off x="8915400" y="4965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31" name="text-130"/>
          <p:cNvSpPr/>
          <p:nvPr/>
        </p:nvSpPr>
        <p:spPr>
          <a:xfrm>
            <a:off x="777240" y="24323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記録：探した位置・誤った分岐・到着の確信（速さだけで判断しない）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3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-133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万能な案内にはならない</a:t>
            </a:r>
            <a:endParaRPr lang="en-US" sz="3000" dirty="0"/>
          </a:p>
        </p:txBody>
      </p:sp>
      <p:sp>
        <p:nvSpPr>
          <p:cNvPr id="5" name="line-134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35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36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模擬環境の評価だけで、実施設への適用は保証できない。</a:t>
            </a:r>
            <a:endParaRPr lang="en-US" sz="2100" dirty="0"/>
          </a:p>
        </p:txBody>
      </p:sp>
      <p:sp>
        <p:nvSpPr>
          <p:cNvPr id="9" name="line-137"/>
          <p:cNvSpPr/>
          <p:nvPr/>
        </p:nvSpPr>
        <p:spPr>
          <a:xfrm flipH="1" flipV="1">
            <a:off x="2377440" y="3090672"/>
            <a:ext cx="374904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0" name="text-138"/>
          <p:cNvSpPr/>
          <p:nvPr/>
        </p:nvSpPr>
        <p:spPr>
          <a:xfrm>
            <a:off x="192024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混雑</a:t>
            </a:r>
            <a:endParaRPr lang="en-US" sz="2300" dirty="0"/>
          </a:p>
        </p:txBody>
      </p:sp>
      <p:sp>
        <p:nvSpPr>
          <p:cNvPr id="11" name="line-139"/>
          <p:cNvSpPr/>
          <p:nvPr/>
        </p:nvSpPr>
        <p:spPr>
          <a:xfrm flipH="1" flipV="1">
            <a:off x="6016752" y="2953512"/>
            <a:ext cx="109728" cy="127101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2" name="text-140"/>
          <p:cNvSpPr/>
          <p:nvPr/>
        </p:nvSpPr>
        <p:spPr>
          <a:xfrm>
            <a:off x="5559552" y="2770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照明</a:t>
            </a:r>
            <a:endParaRPr lang="en-US" sz="2300" dirty="0"/>
          </a:p>
        </p:txBody>
      </p:sp>
      <p:sp>
        <p:nvSpPr>
          <p:cNvPr id="13" name="line-141"/>
          <p:cNvSpPr/>
          <p:nvPr/>
        </p:nvSpPr>
        <p:spPr>
          <a:xfrm flipV="1">
            <a:off x="6126480" y="3090672"/>
            <a:ext cx="365760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4" name="text-142"/>
          <p:cNvSpPr/>
          <p:nvPr/>
        </p:nvSpPr>
        <p:spPr>
          <a:xfrm>
            <a:off x="932688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</a:t>
            </a:r>
            <a:endParaRPr lang="en-US" sz="2300" dirty="0"/>
          </a:p>
        </p:txBody>
      </p:sp>
      <p:sp>
        <p:nvSpPr>
          <p:cNvPr id="15" name="line-143"/>
          <p:cNvSpPr/>
          <p:nvPr/>
        </p:nvSpPr>
        <p:spPr>
          <a:xfrm flipH="1">
            <a:off x="2377440" y="4224528"/>
            <a:ext cx="3749040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6" name="text-144"/>
          <p:cNvSpPr/>
          <p:nvPr/>
        </p:nvSpPr>
        <p:spPr>
          <a:xfrm>
            <a:off x="1920240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視覚</a:t>
            </a:r>
            <a:endParaRPr lang="en-US" sz="2300" dirty="0"/>
          </a:p>
        </p:txBody>
      </p:sp>
      <p:sp>
        <p:nvSpPr>
          <p:cNvPr id="17" name="line-145"/>
          <p:cNvSpPr/>
          <p:nvPr/>
        </p:nvSpPr>
        <p:spPr>
          <a:xfrm flipH="1">
            <a:off x="6016752" y="4224528"/>
            <a:ext cx="109728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8" name="text-146"/>
          <p:cNvSpPr/>
          <p:nvPr/>
        </p:nvSpPr>
        <p:spPr>
          <a:xfrm>
            <a:off x="5559552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</a:t>
            </a:r>
            <a:endParaRPr lang="en-US" sz="2300" dirty="0"/>
          </a:p>
        </p:txBody>
      </p:sp>
      <p:sp>
        <p:nvSpPr>
          <p:cNvPr id="19" name="line-147"/>
          <p:cNvSpPr/>
          <p:nvPr/>
        </p:nvSpPr>
        <p:spPr>
          <a:xfrm>
            <a:off x="6126480" y="4224528"/>
            <a:ext cx="3474720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20" name="text-148"/>
          <p:cNvSpPr/>
          <p:nvPr/>
        </p:nvSpPr>
        <p:spPr>
          <a:xfrm>
            <a:off x="9144000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他の掲示</a:t>
            </a:r>
            <a:endParaRPr lang="en-US" sz="2300" dirty="0"/>
          </a:p>
        </p:txBody>
      </p:sp>
      <p:sp>
        <p:nvSpPr>
          <p:cNvPr id="21" name="shape-149"/>
          <p:cNvSpPr/>
          <p:nvPr/>
        </p:nvSpPr>
        <p:spPr>
          <a:xfrm>
            <a:off x="4709160" y="3767328"/>
            <a:ext cx="2834640" cy="914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2" name="text-150"/>
          <p:cNvSpPr/>
          <p:nvPr/>
        </p:nvSpPr>
        <p:spPr>
          <a:xfrm>
            <a:off x="505663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受付</a:t>
            </a:r>
            <a:endParaRPr lang="en-US" sz="2600" dirty="0"/>
          </a:p>
        </p:txBody>
      </p:sp>
      <p:sp>
        <p:nvSpPr>
          <p:cNvPr id="23" name="text-151"/>
          <p:cNvSpPr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対象は入口から受付まで。多様な利用者の確認と現地調整が必要。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5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5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-15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次の一歩：一つの分岐で確かめる</a:t>
            </a:r>
            <a:endParaRPr lang="en-US" sz="3000" dirty="0"/>
          </a:p>
        </p:txBody>
      </p:sp>
      <p:sp>
        <p:nvSpPr>
          <p:cNvPr id="5" name="line-15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5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57"/>
          <p:cNvSpPr/>
          <p:nvPr/>
        </p:nvSpPr>
        <p:spPr>
          <a:xfrm>
            <a:off x="731520" y="19659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模擬評価の結果を見て、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サインの案を修正する</a:t>
            </a:r>
            <a:endParaRPr lang="en-US" sz="3400" dirty="0"/>
          </a:p>
        </p:txBody>
      </p:sp>
      <p:sp>
        <p:nvSpPr>
          <p:cNvPr id="9" name="text-158"/>
          <p:cNvSpPr/>
          <p:nvPr/>
        </p:nvSpPr>
        <p:spPr>
          <a:xfrm>
            <a:off x="77724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未実施の研究計画</a:t>
            </a:r>
            <a:endParaRPr lang="en-US" sz="1900" dirty="0"/>
          </a:p>
        </p:txBody>
      </p:sp>
      <p:grpSp>
        <p:nvGrpSpPr>
          <p:cNvPr id="23" name="GROUP_prototype"/>
          <p:cNvGrpSpPr/>
          <p:nvPr/>
        </p:nvGrpSpPr>
        <p:grpSpPr>
          <a:xfrm>
            <a:off x="1005840" y="3931920"/>
            <a:ext cx="2011680" cy="685800"/>
            <a:chOff x="1005840" y="3931920"/>
            <a:chExt cx="2011680" cy="685800"/>
          </a:xfrm>
        </p:grpSpPr>
        <p:sp>
          <p:nvSpPr>
            <p:cNvPr id="10" name="NODE_prototype"/>
            <p:cNvSpPr/>
            <p:nvPr/>
          </p:nvSpPr>
          <p:spPr>
            <a:xfrm>
              <a:off x="1005840" y="3931920"/>
              <a:ext cx="201168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1" name="TEXT_prototype"/>
            <p:cNvSpPr/>
            <p:nvPr/>
          </p:nvSpPr>
          <p:spPr>
            <a:xfrm>
              <a:off x="1097280" y="404164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試作</a:t>
              </a:r>
              <a:endParaRPr lang="en-US" sz="2400" dirty="0"/>
            </a:p>
          </p:txBody>
        </p:sp>
      </p:grpSp>
      <p:grpSp>
        <p:nvGrpSpPr>
          <p:cNvPr id="24" name="GROUP_procedure"/>
          <p:cNvGrpSpPr/>
          <p:nvPr/>
        </p:nvGrpSpPr>
        <p:grpSpPr>
          <a:xfrm>
            <a:off x="4648200" y="4160520"/>
            <a:ext cx="2423160" cy="685800"/>
            <a:chOff x="4343400" y="3931920"/>
            <a:chExt cx="2423160" cy="685800"/>
          </a:xfrm>
        </p:grpSpPr>
        <p:sp>
          <p:nvSpPr>
            <p:cNvPr id="12" name="NODE_procedure"/>
            <p:cNvSpPr/>
            <p:nvPr/>
          </p:nvSpPr>
          <p:spPr>
            <a:xfrm>
              <a:off x="4343400" y="393192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3" name="TEXT_procedure"/>
            <p:cNvSpPr/>
            <p:nvPr/>
          </p:nvSpPr>
          <p:spPr>
            <a:xfrm>
              <a:off x="4434840" y="404164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手順確認</a:t>
              </a:r>
              <a:endParaRPr lang="en-US" sz="2400" dirty="0"/>
            </a:p>
          </p:txBody>
        </p:sp>
      </p:grpSp>
      <p:grpSp>
        <p:nvGrpSpPr>
          <p:cNvPr id="25" name="GROUP_evaluate"/>
          <p:cNvGrpSpPr/>
          <p:nvPr/>
        </p:nvGrpSpPr>
        <p:grpSpPr>
          <a:xfrm>
            <a:off x="8366760" y="3931920"/>
            <a:ext cx="2423160" cy="685800"/>
            <a:chOff x="8366760" y="3931920"/>
            <a:chExt cx="2423160" cy="685800"/>
          </a:xfrm>
        </p:grpSpPr>
        <p:sp>
          <p:nvSpPr>
            <p:cNvPr id="14" name="NODE_evaluate"/>
            <p:cNvSpPr/>
            <p:nvPr/>
          </p:nvSpPr>
          <p:spPr>
            <a:xfrm>
              <a:off x="8366760" y="393192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5" name="TEXT_evaluate"/>
            <p:cNvSpPr/>
            <p:nvPr/>
          </p:nvSpPr>
          <p:spPr>
            <a:xfrm>
              <a:off x="8458200" y="404164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模擬評価</a:t>
              </a:r>
              <a:endParaRPr lang="en-US" sz="2400" dirty="0"/>
            </a:p>
          </p:txBody>
        </p:sp>
      </p:grpSp>
      <p:grpSp>
        <p:nvGrpSpPr>
          <p:cNvPr id="26" name="GROUP_revise"/>
          <p:cNvGrpSpPr/>
          <p:nvPr/>
        </p:nvGrpSpPr>
        <p:grpSpPr>
          <a:xfrm>
            <a:off x="8366760" y="5166360"/>
            <a:ext cx="2423160" cy="685800"/>
            <a:chOff x="8366760" y="5166360"/>
            <a:chExt cx="2423160" cy="685800"/>
          </a:xfrm>
        </p:grpSpPr>
        <p:sp>
          <p:nvSpPr>
            <p:cNvPr id="16" name="NODE_revise"/>
            <p:cNvSpPr/>
            <p:nvPr/>
          </p:nvSpPr>
          <p:spPr>
            <a:xfrm>
              <a:off x="8366760" y="516636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7" name="TEXT_revise"/>
            <p:cNvSpPr/>
            <p:nvPr/>
          </p:nvSpPr>
          <p:spPr>
            <a:xfrm>
              <a:off x="8458200" y="527608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修正</a:t>
              </a:r>
              <a:endParaRPr lang="en-US" sz="2400" dirty="0"/>
            </a:p>
          </p:txBody>
        </p:sp>
      </p:grpSp>
      <p:cxnSp>
        <p:nvCxnSpPr>
          <p:cNvPr id="18" name="ARROW_prototype_procedure"/>
          <p:cNvCxnSpPr>
            <a:stCxn id="10" idx="3"/>
            <a:endCxn id="12" idx="1"/>
          </p:cNvCxnSpPr>
          <p:nvPr/>
        </p:nvCxnSpPr>
        <p:spPr>
          <a:xfrm>
            <a:off x="3017520" y="4274820"/>
            <a:ext cx="1630680" cy="22860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19" name="ARROW_procedure_evaluate"/>
          <p:cNvCxnSpPr>
            <a:stCxn id="12" idx="3"/>
            <a:endCxn id="14" idx="1"/>
          </p:cNvCxnSpPr>
          <p:nvPr/>
        </p:nvCxnSpPr>
        <p:spPr>
          <a:xfrm flipV="1">
            <a:off x="7071360" y="4274820"/>
            <a:ext cx="1295400" cy="22860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20" name="ARROW_evaluate_revise"/>
          <p:cNvCxnSpPr>
            <a:stCxn id="14" idx="2"/>
            <a:endCxn id="16" idx="0"/>
          </p:cNvCxnSpPr>
          <p:nvPr/>
        </p:nvCxnSpPr>
        <p:spPr>
          <a:xfrm>
            <a:off x="9578340" y="4617720"/>
            <a:ext cx="0" cy="54864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21" name="ARROW_revise_prototype"/>
          <p:cNvCxnSpPr>
            <a:stCxn id="16" idx="1"/>
            <a:endCxn id="10" idx="2"/>
          </p:cNvCxnSpPr>
          <p:nvPr/>
        </p:nvCxnSpPr>
        <p:spPr>
          <a:xfrm flipH="1" flipV="1">
            <a:off x="2011680" y="4617720"/>
            <a:ext cx="6355080" cy="89154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sp>
        <p:nvSpPr>
          <p:cNvPr id="22" name="text-159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結果を先取りせず、迷いの原因を見つけて設計を更新する。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mpd="sng">
          <a:solidFill>
            <a:schemeClr val="accent1">
              <a:shade val="50000"/>
            </a:schemeClr>
          </a:solidFill>
          <a:prstDash val="sysDash"/>
        </a:ln>
      </a:spPr>
      <a:bodyPr vert="horz" wrap="square" lIns="68577" tIns="34289" rIns="68577" bIns="34289" numCol="1" spcCol="0" rtlCol="0" fromWordArt="0" anchor="t" anchorCtr="0" forceAA="0" compatLnSpc="0">
        <a:noAutofit/>
        <a:scene3d>
          <a:camera prst="orthographicFront"/>
          <a:lightRig rig="threePt" dir="t"/>
        </a:scene3d>
      </a:bodyPr>
      <a:lstStyle>
        <a:defPPr algn="ctr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defRPr sz="1400" spc="38" noProof="0" dirty="0">
            <a:ln>
              <a:noFill/>
            </a:ln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ワイド画面</PresentationFormat>
  <Paragraphs>129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BIZ UDPGothic</vt:lpstr>
      <vt:lpstr>Arial</vt:lpstr>
      <vt:lpstr>1_Office 主题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小さな道案内</dc:title>
  <dc:subject>架空・未実施の公共空間サイン研究計画</dc:subject>
  <dc:creator>Studio Yebisu</dc:creator>
  <cp:lastModifiedBy>恭彦 笹谷</cp:lastModifiedBy>
  <cp:revision>2</cp:revision>
  <dcterms:created xsi:type="dcterms:W3CDTF">2026-10-15T17:16:27Z</dcterms:created>
  <dcterms:modified xsi:type="dcterms:W3CDTF">2026-10-15T17:16:54Z</dcterms:modified>
</cp:coreProperties>
</file>