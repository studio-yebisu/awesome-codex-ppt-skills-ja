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利用目的と期待する音環境の対応。分類は設計仮説。</a:t>
            </a:r>
          </a:p>
          <a:p>
            <a:r>
              <a:t>架空の未実施研究提案。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縮尺のないゾーニング概念図。建築図や実測音分布ではない。</a:t>
            </a:r>
          </a:p>
          <a:p>
            <a:r>
              <a:t>架空の未実施研究提案。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配置・表示と席選択・評価の仮説モデル。実証済み因果関係ではない。</a:t>
            </a:r>
          </a:p>
          <a:p>
            <a:r>
              <a:t>架空の未実施研究提案。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二つの未実施配置案の比較。席数・面積の実績を含まない。</a:t>
            </a:r>
          </a:p>
          <a:p>
            <a:r>
              <a:t>架空の未実施研究提案。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現状把握・仮設試行・再観察・比較修正の研究手順。未実施。</a:t>
            </a:r>
          </a:p>
          <a:p>
            <a:r>
              <a:t>架空の未実施研究提案。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評価項目と予定取得方法。調査結果・基準値を捏造しない。</a:t>
            </a:r>
          </a:p>
          <a:p>
            <a:r>
              <a:t>架空の未実施研究提案。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施設合意、任意参加、個人識別情報を集めない方針。効果未確認。</a:t>
            </a:r>
          </a:p>
          <a:p>
            <a:r>
              <a:t>架空の未実施研究提案。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表紙。架空の未実施研究提案。</a:t>
            </a:r>
          </a:p>
          <a:p>
            <a:r>
              <a:t>架空の未実施研究提案。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143000"/>
            <a:ext cx="914400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800" b="1">
                <a:solidFill>
                  <a:srgbClr val="0B3A5B"/>
                </a:solidFill>
                <a:latin typeface="BIZ UDPGothic"/>
              </a:rPr>
              <a:t>静けさを選べる</a:t>
            </a:r>
          </a:p>
          <a:p>
            <a:r>
              <a:rPr sz="3800" b="1">
                <a:solidFill>
                  <a:srgbClr val="0B3A5B"/>
                </a:solidFill>
                <a:latin typeface="BIZ UDPGothic"/>
              </a:rPr>
              <a:t>図書館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97180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202A33"/>
                </a:solidFill>
                <a:latin typeface="BIZ UDPGothic"/>
              </a:rPr>
              <a:t>図書館の音環境を、利用者が選べるか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886200"/>
            <a:ext cx="8229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5D6B78"/>
                </a:solidFill>
                <a:latin typeface="BIZ UDPGothic"/>
              </a:rPr>
              <a:t>ゾーニングと案内表示の研究計画</a:t>
            </a:r>
          </a:p>
          <a:p>
            <a:r>
              <a:rPr sz="1500" b="0">
                <a:solidFill>
                  <a:srgbClr val="5D6B78"/>
                </a:solidFill>
                <a:latin typeface="BIZ UDPGothic"/>
              </a:rPr>
              <a:t>架空の提案・未実施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4846320"/>
            <a:ext cx="10469880" cy="0"/>
          </a:xfrm>
          <a:prstGeom prst="line">
            <a:avLst/>
          </a:prstGeom>
          <a:ln w="25400">
            <a:solidFill>
              <a:srgbClr val="0B3A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50749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0B3A5B"/>
                </a:solidFill>
                <a:latin typeface="BIZ UDPGothic"/>
              </a:rPr>
              <a:t>静かな閲覧　／　小声の相談　／　会話のある活動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5836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0B3A5B"/>
                </a:solidFill>
                <a:latin typeface="BIZ UDP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411480" y="1069848"/>
            <a:ext cx="10972800" cy="27432"/>
          </a:xfrm>
          <a:prstGeom prst="rect">
            <a:avLst/>
          </a:prstGeom>
          <a:solidFill>
            <a:srgbClr val="1D7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828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D6B78"/>
                </a:solidFill>
                <a:latin typeface="BIZ UDPGothic"/>
              </a:rPr>
              <a:t>静けさを選べる図書館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8288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D6B78"/>
                </a:solidFill>
                <a:latin typeface="BIZ UDPGothic"/>
              </a:rPr>
              <a:t>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66928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B3A5B"/>
                </a:solidFill>
                <a:latin typeface="BIZ UDPGothic"/>
              </a:rPr>
              <a:t>活動と音の希望を対応させる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202A33"/>
                </a:solidFill>
                <a:latin typeface="BIZ UDPGothic"/>
              </a:rPr>
              <a:t>活動に合わせて、会話できる場所から静かな席まで選べるようにする。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58368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20" b="0">
                <a:solidFill>
                  <a:srgbClr val="FFFFFF"/>
                </a:solidFill>
                <a:latin typeface="BIZ UDPGothic"/>
              </a:rPr>
              <a:t>架空の研究提案・未実施　／　効果を示す実測値はありません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5836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BIZ UDP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76072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D6B78"/>
                </a:solidFill>
                <a:latin typeface="BIZ UDPGothic"/>
              </a:rPr>
              <a:t>読図：活動と音の希望を対応させた設計仮説。実測した音量の尺度ではない。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0312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0B3A5B"/>
                </a:solidFill>
                <a:latin typeface="BIZ UDPGothic"/>
              </a:rPr>
              <a:t>会話できる側から、静かな側へ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2834640"/>
            <a:ext cx="3474720" cy="1005840"/>
          </a:xfrm>
          <a:prstGeom prst="rect">
            <a:avLst/>
          </a:prstGeom>
          <a:solidFill>
            <a:srgbClr val="0B3A5B"/>
          </a:solidFill>
          <a:ln>
            <a:solidFill>
              <a:srgbClr val="0B3A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10896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FFFFFF"/>
                </a:solidFill>
                <a:latin typeface="BIZ UDPGothic"/>
              </a:rPr>
              <a:t>会話しながら本を選ぶ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16052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>
                <a:solidFill>
                  <a:srgbClr val="202A33"/>
                </a:solidFill>
                <a:latin typeface="BIZ UDPGothic"/>
              </a:rPr>
              <a:t>会話できる場所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2834640"/>
            <a:ext cx="3474720" cy="1005840"/>
          </a:xfrm>
          <a:prstGeom prst="rect">
            <a:avLst/>
          </a:prstGeom>
          <a:solidFill>
            <a:srgbClr val="347B7F"/>
          </a:solidFill>
          <a:ln>
            <a:solidFill>
              <a:srgbClr val="347B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310896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FFFFFF"/>
                </a:solidFill>
                <a:latin typeface="BIZ UDPGothic"/>
              </a:rPr>
              <a:t>短く相談する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416052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>
                <a:solidFill>
                  <a:srgbClr val="202A33"/>
                </a:solidFill>
                <a:latin typeface="BIZ UDPGothic"/>
              </a:rPr>
              <a:t>小声で相談できる席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80960" y="2834640"/>
            <a:ext cx="3474720" cy="1005840"/>
          </a:xfrm>
          <a:prstGeom prst="rect">
            <a:avLst/>
          </a:prstGeom>
          <a:solidFill>
            <a:srgbClr val="DDEAF1"/>
          </a:solidFill>
          <a:ln>
            <a:solidFill>
              <a:srgbClr val="DDEA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0" y="310896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0B3A5B"/>
                </a:solidFill>
                <a:latin typeface="BIZ UDPGothic"/>
              </a:rPr>
              <a:t>集中して読む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416052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0">
                <a:solidFill>
                  <a:srgbClr val="202A33"/>
                </a:solidFill>
                <a:latin typeface="BIZ UDPGothic"/>
              </a:rPr>
              <a:t>静かな閲覧席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68680" y="5120640"/>
            <a:ext cx="10104120" cy="0"/>
          </a:xfrm>
          <a:prstGeom prst="line">
            <a:avLst/>
          </a:prstGeom>
          <a:ln w="25400">
            <a:solidFill>
              <a:srgbClr val="347B7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68680" y="53492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D6B78"/>
                </a:solidFill>
                <a:latin typeface="BIZ UDPGothic"/>
              </a:rPr>
              <a:t>音への希望は人や状況で変わる。固定した利用者タイプには分けない。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411480" y="1069848"/>
            <a:ext cx="10972800" cy="27432"/>
          </a:xfrm>
          <a:prstGeom prst="rect">
            <a:avLst/>
          </a:prstGeom>
          <a:solidFill>
            <a:srgbClr val="1D7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828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D6B78"/>
                </a:solidFill>
                <a:latin typeface="BIZ UDPGothic"/>
              </a:rPr>
              <a:t>静けさを選べる図書館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8288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D6B78"/>
                </a:solidFill>
                <a:latin typeface="BIZ UDPGothic"/>
              </a:rPr>
              <a:t>空間モデル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66928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B3A5B"/>
                </a:solidFill>
                <a:latin typeface="BIZ UDPGothic"/>
              </a:rPr>
              <a:t>ゾーンの境界と音の伝わり方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202A33"/>
                </a:solidFill>
                <a:latin typeface="BIZ UDPGothic"/>
              </a:rPr>
              <a:t>静かな席へ向かう動線と、会話のある活動を分けて考える。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58368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20" b="0">
                <a:solidFill>
                  <a:srgbClr val="FFFFFF"/>
                </a:solidFill>
                <a:latin typeface="BIZ UDPGothic"/>
              </a:rPr>
              <a:t>架空の研究提案・未実施　／　効果を示す実測値はありません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5836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BIZ UDP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76072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D6B78"/>
                </a:solidFill>
                <a:latin typeface="BIZ UDPGothic"/>
              </a:rPr>
              <a:t>読図：入口から静穏ゾーンへ進む経路と、隣接する境界を見る。縮尺のない概念図。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103120"/>
            <a:ext cx="2286000" cy="2651760"/>
          </a:xfrm>
          <a:prstGeom prst="rect">
            <a:avLst/>
          </a:prstGeom>
          <a:solidFill>
            <a:srgbClr val="0B3A5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54680" y="2103120"/>
            <a:ext cx="2834640" cy="2651760"/>
          </a:xfrm>
          <a:prstGeom prst="rect">
            <a:avLst/>
          </a:prstGeom>
          <a:solidFill>
            <a:srgbClr val="347B7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2103120"/>
            <a:ext cx="5029200" cy="2651760"/>
          </a:xfrm>
          <a:prstGeom prst="rect">
            <a:avLst/>
          </a:prstGeom>
          <a:solidFill>
            <a:srgbClr val="DDEAF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514600"/>
            <a:ext cx="2011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FFFFFF"/>
                </a:solidFill>
                <a:latin typeface="BIZ UDPGothic"/>
              </a:rPr>
              <a:t>会話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8328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BIZ UDPGothic"/>
              </a:rPr>
              <a:t>活動・相談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2514600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FFFFFF"/>
                </a:solidFill>
                <a:latin typeface="BIZ UDPGothic"/>
              </a:rPr>
              <a:t>移行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383280"/>
            <a:ext cx="24688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FFFFFF"/>
                </a:solidFill>
                <a:latin typeface="BIZ UDPGothic"/>
              </a:rPr>
              <a:t>通路・書架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1460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0B3A5B"/>
                </a:solidFill>
                <a:latin typeface="BIZ UDPGothic"/>
              </a:rPr>
              <a:t>静穏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38328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0B3A5B"/>
                </a:solidFill>
                <a:latin typeface="BIZ UDPGothic"/>
              </a:rPr>
              <a:t>閲覧・集中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9834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5D6B78"/>
                </a:solidFill>
                <a:latin typeface="BIZ UDPGothic"/>
              </a:rPr>
              <a:t>入口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05840" y="4434840"/>
            <a:ext cx="4206240" cy="0"/>
          </a:xfrm>
          <a:prstGeom prst="line">
            <a:avLst/>
          </a:prstGeom>
          <a:ln w="38100">
            <a:solidFill>
              <a:srgbClr val="FFFFF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337560" y="3977639"/>
            <a:ext cx="24688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BIZ UDPGothic"/>
              </a:rPr>
              <a:t>本を探す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05840" y="5468112"/>
            <a:ext cx="9464040" cy="0"/>
          </a:xfrm>
          <a:prstGeom prst="line">
            <a:avLst/>
          </a:prstGeom>
          <a:ln w="25400">
            <a:solidFill>
              <a:srgbClr val="0B3A5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017520" y="4983480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0B3A5B"/>
                </a:solidFill>
                <a:latin typeface="BIZ UDPGothic"/>
              </a:rPr>
              <a:t>集中席へ：活動域を通らない経路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46920" y="4983480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0B3A5B"/>
                </a:solidFill>
                <a:latin typeface="BIZ UDPGothic"/>
              </a:rPr>
              <a:t>集中席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411480" y="1069848"/>
            <a:ext cx="10972800" cy="27432"/>
          </a:xfrm>
          <a:prstGeom prst="rect">
            <a:avLst/>
          </a:prstGeom>
          <a:solidFill>
            <a:srgbClr val="1D7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828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D6B78"/>
                </a:solidFill>
                <a:latin typeface="BIZ UDPGothic"/>
              </a:rPr>
              <a:t>静けさを選べる図書館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8288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D6B78"/>
                </a:solidFill>
                <a:latin typeface="BIZ UDPGothic"/>
              </a:rPr>
              <a:t>研究仮説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66928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B3A5B"/>
                </a:solidFill>
                <a:latin typeface="BIZ UDPGothic"/>
              </a:rPr>
              <a:t>検証する関係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202A33"/>
                </a:solidFill>
                <a:latin typeface="BIZ UDPGothic"/>
              </a:rPr>
              <a:t>配置と表示が、席の選択と音環境の評価に関係するか。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58368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20" b="0">
                <a:solidFill>
                  <a:srgbClr val="FFFFFF"/>
                </a:solidFill>
                <a:latin typeface="BIZ UDPGothic"/>
              </a:rPr>
              <a:t>架空の研究提案・未実施　／　効果を示す実測値はありません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5836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BIZ UDPGothic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76072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D6B78"/>
                </a:solidFill>
                <a:latin typeface="BIZ UDPGothic"/>
              </a:rPr>
              <a:t>読図：左は介入する条件、中央は行動、右は評価。線は検証候補で、因果関係の実証ではない。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31720"/>
            <a:ext cx="3017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0B3A5B"/>
                </a:solidFill>
                <a:latin typeface="BIZ UDPGothic"/>
              </a:rPr>
              <a:t>配置・表示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337560"/>
            <a:ext cx="2926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202A33"/>
                </a:solidFill>
                <a:latin typeface="BIZ UDPGothic"/>
              </a:rPr>
              <a:t>境界の配置</a:t>
            </a:r>
          </a:p>
          <a:p>
            <a:r>
              <a:rPr sz="1700" b="0">
                <a:solidFill>
                  <a:srgbClr val="202A33"/>
                </a:solidFill>
                <a:latin typeface="BIZ UDPGothic"/>
              </a:rPr>
              <a:t>音のルールの説明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331720"/>
            <a:ext cx="3017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0B3A5B"/>
                </a:solidFill>
                <a:latin typeface="BIZ UDPGothic"/>
              </a:rPr>
              <a:t>席の選択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37560"/>
            <a:ext cx="2926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202A33"/>
                </a:solidFill>
                <a:latin typeface="BIZ UDPGothic"/>
              </a:rPr>
              <a:t>希望に合う席を選べるか</a:t>
            </a:r>
          </a:p>
          <a:p>
            <a:r>
              <a:rPr sz="1700" b="0">
                <a:solidFill>
                  <a:srgbClr val="202A33"/>
                </a:solidFill>
                <a:latin typeface="BIZ UDPGothic"/>
              </a:rPr>
              <a:t>迷いや移動が起きるか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331720"/>
            <a:ext cx="3017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0B3A5B"/>
                </a:solidFill>
                <a:latin typeface="BIZ UDPGothic"/>
              </a:rPr>
              <a:t>音環境の評価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0" y="3337560"/>
            <a:ext cx="29260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202A33"/>
                </a:solidFill>
                <a:latin typeface="BIZ UDPGothic"/>
              </a:rPr>
              <a:t>集中しやすさ</a:t>
            </a:r>
          </a:p>
          <a:p>
            <a:r>
              <a:rPr sz="1700" b="0">
                <a:solidFill>
                  <a:srgbClr val="202A33"/>
                </a:solidFill>
                <a:latin typeface="BIZ UDPGothic"/>
              </a:rPr>
              <a:t>会話のしやすさ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29000" y="2743200"/>
            <a:ext cx="822960" cy="0"/>
          </a:xfrm>
          <a:prstGeom prst="line">
            <a:avLst/>
          </a:prstGeom>
          <a:ln w="38100">
            <a:solidFill>
              <a:srgbClr val="347B7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406640" y="2743200"/>
            <a:ext cx="822960" cy="0"/>
          </a:xfrm>
          <a:prstGeom prst="line">
            <a:avLst/>
          </a:prstGeom>
          <a:ln w="38100">
            <a:solidFill>
              <a:srgbClr val="347B7F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246120" y="23317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D6B78"/>
                </a:solidFill>
                <a:latin typeface="BIZ UDPGothic"/>
              </a:rPr>
              <a:t>検証候補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23317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D6B78"/>
                </a:solidFill>
                <a:latin typeface="BIZ UDPGothic"/>
              </a:rPr>
              <a:t>検証候補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709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>
                <a:solidFill>
                  <a:srgbClr val="5D6B78"/>
                </a:solidFill>
                <a:latin typeface="BIZ UDPGothic"/>
              </a:rPr>
              <a:t>交絡の候補：混雑、時間帯、利用目的、活動内容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411480" y="1069848"/>
            <a:ext cx="10972800" cy="27432"/>
          </a:xfrm>
          <a:prstGeom prst="rect">
            <a:avLst/>
          </a:prstGeom>
          <a:solidFill>
            <a:srgbClr val="1D7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828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D6B78"/>
                </a:solidFill>
                <a:latin typeface="BIZ UDPGothic"/>
              </a:rPr>
              <a:t>静けさを選べる図書館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8288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D6B78"/>
                </a:solidFill>
                <a:latin typeface="BIZ UDPGothic"/>
              </a:rPr>
              <a:t>比較条件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66928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B3A5B"/>
                </a:solidFill>
                <a:latin typeface="BIZ UDPGothic"/>
              </a:rPr>
              <a:t>配置案の比較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202A33"/>
                </a:solidFill>
                <a:latin typeface="BIZ UDPGothic"/>
              </a:rPr>
              <a:t>案Aと案Bを、同じ観察項目で比較する。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58368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20" b="0">
                <a:solidFill>
                  <a:srgbClr val="FFFFFF"/>
                </a:solidFill>
                <a:latin typeface="BIZ UDPGothic"/>
              </a:rPr>
              <a:t>架空の研究提案・未実施　／　効果を示す実測値はありません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5836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BIZ UDPGothic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76072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D6B78"/>
                </a:solidFill>
                <a:latin typeface="BIZ UDPGothic"/>
              </a:rPr>
              <a:t>読表：境界と表示だけを先に比較する。席数や面積の最終設定は現地条件の確認後に決める。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1965960"/>
            <a:ext cx="2788920" cy="621792"/>
          </a:xfrm>
          <a:prstGeom prst="rect">
            <a:avLst/>
          </a:prstGeom>
          <a:solidFill>
            <a:srgbClr val="0B3A5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057400"/>
            <a:ext cx="2606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BIZ UDPGothic"/>
              </a:rPr>
              <a:t>比較する条件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03320" y="1965960"/>
            <a:ext cx="3474720" cy="621792"/>
          </a:xfrm>
          <a:prstGeom prst="rect">
            <a:avLst/>
          </a:prstGeom>
          <a:solidFill>
            <a:srgbClr val="0B3A5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4759" y="2057400"/>
            <a:ext cx="3291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BIZ UDPGothic"/>
              </a:rPr>
              <a:t>案A：境界を明示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920" y="1965960"/>
            <a:ext cx="3657600" cy="621792"/>
          </a:xfrm>
          <a:prstGeom prst="rect">
            <a:avLst/>
          </a:prstGeom>
          <a:solidFill>
            <a:srgbClr val="0B3A5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2360" y="205740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FFFFFF"/>
                </a:solidFill>
                <a:latin typeface="BIZ UDPGothic"/>
              </a:rPr>
              <a:t>案B：ゆるやかな移行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2788920"/>
            <a:ext cx="2606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202A33"/>
                </a:solidFill>
                <a:latin typeface="BIZ UDPGothic"/>
              </a:rPr>
              <a:t>ゾーン境界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31520" y="3374136"/>
            <a:ext cx="2788919" cy="0"/>
          </a:xfrm>
          <a:prstGeom prst="line">
            <a:avLst/>
          </a:prstGeom>
          <a:ln w="12700">
            <a:solidFill>
              <a:srgbClr val="DD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794759" y="2788920"/>
            <a:ext cx="3291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202A33"/>
                </a:solidFill>
                <a:latin typeface="BIZ UDPGothic"/>
              </a:rPr>
              <a:t>静穏と会話の境界を示す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703320" y="3374136"/>
            <a:ext cx="3474720" cy="0"/>
          </a:xfrm>
          <a:prstGeom prst="line">
            <a:avLst/>
          </a:prstGeom>
          <a:ln w="12700">
            <a:solidFill>
              <a:srgbClr val="DD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452360" y="278892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202A33"/>
                </a:solidFill>
                <a:latin typeface="BIZ UDPGothic"/>
              </a:rPr>
              <a:t>書架・通路を移行帯にする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60920" y="3374136"/>
            <a:ext cx="3657600" cy="0"/>
          </a:xfrm>
          <a:prstGeom prst="line">
            <a:avLst/>
          </a:prstGeom>
          <a:ln w="12700">
            <a:solidFill>
              <a:srgbClr val="DD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22960" y="3520440"/>
            <a:ext cx="2606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202A33"/>
                </a:solidFill>
                <a:latin typeface="BIZ UDPGothic"/>
              </a:rPr>
              <a:t>案内表示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31520" y="4105656"/>
            <a:ext cx="2788919" cy="0"/>
          </a:xfrm>
          <a:prstGeom prst="line">
            <a:avLst/>
          </a:prstGeom>
          <a:ln w="12700">
            <a:solidFill>
              <a:srgbClr val="DD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794759" y="3520440"/>
            <a:ext cx="3291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202A33"/>
                </a:solidFill>
                <a:latin typeface="BIZ UDPGothic"/>
              </a:rPr>
              <a:t>各ゾーンの音のルール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703320" y="4105656"/>
            <a:ext cx="3474720" cy="0"/>
          </a:xfrm>
          <a:prstGeom prst="line">
            <a:avLst/>
          </a:prstGeom>
          <a:ln w="12700">
            <a:solidFill>
              <a:srgbClr val="DD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452360" y="352044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202A33"/>
                </a:solidFill>
                <a:latin typeface="BIZ UDPGothic"/>
              </a:rPr>
              <a:t>入口で利用目的別に案内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360920" y="4105656"/>
            <a:ext cx="3657600" cy="0"/>
          </a:xfrm>
          <a:prstGeom prst="line">
            <a:avLst/>
          </a:prstGeom>
          <a:ln w="12700">
            <a:solidFill>
              <a:srgbClr val="DD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22960" y="4251960"/>
            <a:ext cx="2606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202A33"/>
                </a:solidFill>
                <a:latin typeface="BIZ UDPGothic"/>
              </a:rPr>
              <a:t>検証したい点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31520" y="4837176"/>
            <a:ext cx="2788919" cy="0"/>
          </a:xfrm>
          <a:prstGeom prst="line">
            <a:avLst/>
          </a:prstGeom>
          <a:ln w="12700">
            <a:solidFill>
              <a:srgbClr val="DD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794759" y="4251960"/>
            <a:ext cx="32918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202A33"/>
                </a:solidFill>
                <a:latin typeface="BIZ UDPGothic"/>
              </a:rPr>
              <a:t>ルールの分かりやすさ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703320" y="4837176"/>
            <a:ext cx="3474720" cy="0"/>
          </a:xfrm>
          <a:prstGeom prst="line">
            <a:avLst/>
          </a:prstGeom>
          <a:ln w="12700">
            <a:solidFill>
              <a:srgbClr val="DD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452360" y="425196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202A33"/>
                </a:solidFill>
                <a:latin typeface="BIZ UDPGothic"/>
              </a:rPr>
              <a:t>移動と音の受け止め方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360920" y="4837176"/>
            <a:ext cx="3657600" cy="0"/>
          </a:xfrm>
          <a:prstGeom prst="line">
            <a:avLst/>
          </a:prstGeom>
          <a:ln w="12700">
            <a:solidFill>
              <a:srgbClr val="DD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411480" y="1069848"/>
            <a:ext cx="10972800" cy="27432"/>
          </a:xfrm>
          <a:prstGeom prst="rect">
            <a:avLst/>
          </a:prstGeom>
          <a:solidFill>
            <a:srgbClr val="1D7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828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D6B78"/>
                </a:solidFill>
                <a:latin typeface="BIZ UDPGothic"/>
              </a:rPr>
              <a:t>静けさを選べる図書館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8288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D6B78"/>
                </a:solidFill>
                <a:latin typeface="BIZ UDPGothic"/>
              </a:rPr>
              <a:t>調査方法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66928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B3A5B"/>
                </a:solidFill>
                <a:latin typeface="BIZ UDPGothic"/>
              </a:rPr>
              <a:t>試行と観察の順序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202A33"/>
                </a:solidFill>
                <a:latin typeface="BIZ UDPGothic"/>
              </a:rPr>
              <a:t>現状を観察し、小さく試し、同じ項目で再び観察する。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58368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20" b="0">
                <a:solidFill>
                  <a:srgbClr val="FFFFFF"/>
                </a:solidFill>
                <a:latin typeface="BIZ UDPGothic"/>
              </a:rPr>
              <a:t>架空の研究提案・未実施　／　効果を示す実測値はありません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5836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BIZ UDPGothic"/>
              </a:rPr>
              <a:t>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76072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D6B78"/>
                </a:solidFill>
                <a:latin typeface="BIZ UDPGothic"/>
              </a:rPr>
              <a:t>読図：順序は研究計画。試行前に施設の許可と倫理面の確認を行う。日程は未設定。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14884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347B7F"/>
                </a:solidFill>
                <a:latin typeface="BIZ UDPGothic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175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1">
                <a:solidFill>
                  <a:srgbClr val="0B3A5B"/>
                </a:solidFill>
                <a:latin typeface="BIZ UDPGothic"/>
              </a:rPr>
              <a:t>現状把握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886200"/>
            <a:ext cx="2468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202A33"/>
                </a:solidFill>
                <a:latin typeface="BIZ UDPGothic"/>
              </a:rPr>
              <a:t>利用目的と席の選択</a:t>
            </a:r>
          </a:p>
          <a:p>
            <a:r>
              <a:rPr sz="1500" b="0">
                <a:solidFill>
                  <a:srgbClr val="202A33"/>
                </a:solidFill>
                <a:latin typeface="BIZ UDPGothic"/>
              </a:rPr>
              <a:t>音への困りごと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39" y="214884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347B7F"/>
                </a:solidFill>
                <a:latin typeface="BIZ UDPGothic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39" y="30175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1">
                <a:solidFill>
                  <a:srgbClr val="0B3A5B"/>
                </a:solidFill>
                <a:latin typeface="BIZ UDPGothic"/>
              </a:rPr>
              <a:t>案の試行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39" y="3886200"/>
            <a:ext cx="2468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202A33"/>
                </a:solidFill>
                <a:latin typeface="BIZ UDPGothic"/>
              </a:rPr>
              <a:t>配置と表示を仮設</a:t>
            </a:r>
          </a:p>
          <a:p>
            <a:r>
              <a:rPr sz="1500" b="0">
                <a:solidFill>
                  <a:srgbClr val="202A33"/>
                </a:solidFill>
                <a:latin typeface="BIZ UDPGothic"/>
              </a:rPr>
              <a:t>条件変更を記録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214884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347B7F"/>
                </a:solidFill>
                <a:latin typeface="BIZ UDPGothi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30175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1">
                <a:solidFill>
                  <a:srgbClr val="0B3A5B"/>
                </a:solidFill>
                <a:latin typeface="BIZ UDPGothic"/>
              </a:rPr>
              <a:t>再観察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59" y="3886200"/>
            <a:ext cx="2468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202A33"/>
                </a:solidFill>
                <a:latin typeface="BIZ UDPGothic"/>
              </a:rPr>
              <a:t>同じ項目を観察</a:t>
            </a:r>
          </a:p>
          <a:p>
            <a:r>
              <a:rPr sz="1500" b="0">
                <a:solidFill>
                  <a:srgbClr val="202A33"/>
                </a:solidFill>
                <a:latin typeface="BIZ UDPGothic"/>
              </a:rPr>
              <a:t>利用者の評価を確認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2148840"/>
            <a:ext cx="2560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347B7F"/>
                </a:solidFill>
                <a:latin typeface="BIZ UDPGothic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017520"/>
            <a:ext cx="25603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1">
                <a:solidFill>
                  <a:srgbClr val="0B3A5B"/>
                </a:solidFill>
                <a:latin typeface="BIZ UDPGothic"/>
              </a:rPr>
              <a:t>比較・修正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3886200"/>
            <a:ext cx="2468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202A33"/>
                </a:solidFill>
                <a:latin typeface="BIZ UDPGothic"/>
              </a:rPr>
              <a:t>混雑などの違いを確認</a:t>
            </a:r>
          </a:p>
          <a:p>
            <a:r>
              <a:rPr sz="1500" b="0">
                <a:solidFill>
                  <a:srgbClr val="202A33"/>
                </a:solidFill>
                <a:latin typeface="BIZ UDPGothic"/>
              </a:rPr>
              <a:t>案の修正点を整理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31520" y="2834640"/>
            <a:ext cx="10332720" cy="0"/>
          </a:xfrm>
          <a:prstGeom prst="line">
            <a:avLst/>
          </a:prstGeom>
          <a:ln w="25400">
            <a:solidFill>
              <a:srgbClr val="DD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411480" y="1069848"/>
            <a:ext cx="10972800" cy="27432"/>
          </a:xfrm>
          <a:prstGeom prst="rect">
            <a:avLst/>
          </a:prstGeom>
          <a:solidFill>
            <a:srgbClr val="1D7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828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D6B78"/>
                </a:solidFill>
                <a:latin typeface="BIZ UDPGothic"/>
              </a:rPr>
              <a:t>静けさを選べる図書館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8288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D6B78"/>
                </a:solidFill>
                <a:latin typeface="BIZ UDPGothic"/>
              </a:rPr>
              <a:t>評価設計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66928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B3A5B"/>
                </a:solidFill>
                <a:latin typeface="BIZ UDPGothic"/>
              </a:rPr>
              <a:t>評価項目と判断の条件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202A33"/>
                </a:solidFill>
                <a:latin typeface="BIZ UDPGothic"/>
              </a:rPr>
              <a:t>席を選べることと、必要な活動を続けられることを評価する。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58368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20" b="0">
                <a:solidFill>
                  <a:srgbClr val="FFFFFF"/>
                </a:solidFill>
                <a:latin typeface="BIZ UDPGothic"/>
              </a:rPr>
              <a:t>架空の研究提案・未実施　／　効果を示す実測値はありません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5836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BIZ UDPGothic"/>
              </a:rPr>
              <a:t>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76072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D6B78"/>
                </a:solidFill>
                <a:latin typeface="BIZ UDPGothic"/>
              </a:rPr>
              <a:t>読表：評価項目と取得方法の対応。採否の基準値は事前に定め、調査後に都合よく変えない。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1168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0B3A5B"/>
                </a:solidFill>
                <a:latin typeface="BIZ UDPGothic"/>
              </a:rPr>
              <a:t>席の選びやすさ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20116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202A33"/>
                </a:solidFill>
                <a:latin typeface="BIZ UDPGothic"/>
              </a:rPr>
              <a:t>利用者への任意の短い質問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31520" y="2606040"/>
            <a:ext cx="10241280" cy="0"/>
          </a:xfrm>
          <a:prstGeom prst="line">
            <a:avLst/>
          </a:prstGeom>
          <a:ln w="12700">
            <a:solidFill>
              <a:srgbClr val="DD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31520" y="2724912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0B3A5B"/>
                </a:solidFill>
                <a:latin typeface="BIZ UDPGothic"/>
              </a:rPr>
              <a:t>集中・会話のしやすさ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2724912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202A33"/>
                </a:solidFill>
                <a:latin typeface="BIZ UDPGothic"/>
              </a:rPr>
              <a:t>利用目的と合わせた自己評価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31520" y="3319272"/>
            <a:ext cx="10241280" cy="0"/>
          </a:xfrm>
          <a:prstGeom prst="line">
            <a:avLst/>
          </a:prstGeom>
          <a:ln w="12700">
            <a:solidFill>
              <a:srgbClr val="DD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31520" y="3438144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0B3A5B"/>
                </a:solidFill>
                <a:latin typeface="BIZ UDPGothic"/>
              </a:rPr>
              <a:t>席の移動・混雑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3438144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202A33"/>
                </a:solidFill>
                <a:latin typeface="BIZ UDPGothic"/>
              </a:rPr>
              <a:t>個人を特定しない観察記録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31520" y="4032504"/>
            <a:ext cx="10241280" cy="0"/>
          </a:xfrm>
          <a:prstGeom prst="line">
            <a:avLst/>
          </a:prstGeom>
          <a:ln w="12700">
            <a:solidFill>
              <a:srgbClr val="DD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31520" y="4151376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0B3A5B"/>
                </a:solidFill>
                <a:latin typeface="BIZ UDPGothic"/>
              </a:rPr>
              <a:t>音環境の状態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4151376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202A33"/>
                </a:solidFill>
                <a:latin typeface="BIZ UDPGothic"/>
              </a:rPr>
              <a:t>許可を得た測定と条件記録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31520" y="4745736"/>
            <a:ext cx="10241280" cy="0"/>
          </a:xfrm>
          <a:prstGeom prst="line">
            <a:avLst/>
          </a:prstGeom>
          <a:ln w="12700">
            <a:solidFill>
              <a:srgbClr val="DDEA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411480" y="1069848"/>
            <a:ext cx="10972800" cy="27432"/>
          </a:xfrm>
          <a:prstGeom prst="rect">
            <a:avLst/>
          </a:prstGeom>
          <a:solidFill>
            <a:srgbClr val="1D70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B3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8288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D6B78"/>
                </a:solidFill>
                <a:latin typeface="BIZ UDPGothic"/>
              </a:rPr>
              <a:t>静けさを選べる図書館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18288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5D6B78"/>
                </a:solidFill>
                <a:latin typeface="BIZ UDPGothic"/>
              </a:rPr>
              <a:t>実施の条件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66928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B3A5B"/>
                </a:solidFill>
                <a:latin typeface="BIZ UDPGothic"/>
              </a:rPr>
              <a:t>実施前に確認すること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298448"/>
            <a:ext cx="107899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202A33"/>
                </a:solidFill>
                <a:latin typeface="BIZ UDPGothic"/>
              </a:rPr>
              <a:t>運用とプライバシーを確認してから、試行の範囲を決める。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583680"/>
            <a:ext cx="9144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20" b="0">
                <a:solidFill>
                  <a:srgbClr val="FFFFFF"/>
                </a:solidFill>
                <a:latin typeface="BIZ UDPGothic"/>
              </a:rPr>
              <a:t>架空の研究提案・未実施　／　効果を示す実測値はありません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92840" y="658368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FFFFFF"/>
                </a:solidFill>
                <a:latin typeface="BIZ UDPGothic"/>
              </a:rPr>
              <a:t>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760720"/>
            <a:ext cx="106070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5D6B78"/>
                </a:solidFill>
                <a:latin typeface="BIZ UDPGothic"/>
              </a:rPr>
              <a:t>提案の位置づけ：設計と評価の計画。効果、利用者の支持、実施可否はまだ確認していない。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057400"/>
            <a:ext cx="53035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0B3A5B"/>
                </a:solidFill>
                <a:latin typeface="BIZ UDPGothic"/>
              </a:rPr>
              <a:t>運用と記録の条件を</a:t>
            </a:r>
          </a:p>
          <a:p>
            <a:r>
              <a:rPr sz="3200" b="1">
                <a:solidFill>
                  <a:srgbClr val="0B3A5B"/>
                </a:solidFill>
                <a:latin typeface="BIZ UDPGothic"/>
              </a:rPr>
              <a:t>先に確認する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05740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347B7F"/>
                </a:solidFill>
                <a:latin typeface="BIZ UDPGothic"/>
              </a:rPr>
              <a:t>施設との合意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542032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202A33"/>
                </a:solidFill>
                <a:latin typeface="BIZ UDPGothic"/>
              </a:rPr>
              <a:t>避難・動線・運用への影響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01752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347B7F"/>
                </a:solidFill>
                <a:latin typeface="BIZ UDPGothic"/>
              </a:rPr>
              <a:t>参加者への説明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502152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202A33"/>
                </a:solidFill>
                <a:latin typeface="BIZ UDPGothic"/>
              </a:rPr>
              <a:t>任意参加、同意、断る自由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977639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900" b="1">
                <a:solidFill>
                  <a:srgbClr val="347B7F"/>
                </a:solidFill>
                <a:latin typeface="BIZ UDPGothic"/>
              </a:rPr>
              <a:t>記録の取り扱い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462272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0">
                <a:solidFill>
                  <a:srgbClr val="202A33"/>
                </a:solidFill>
                <a:latin typeface="BIZ UDPGothic"/>
              </a:rPr>
              <a:t>識別情報を集めない方針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