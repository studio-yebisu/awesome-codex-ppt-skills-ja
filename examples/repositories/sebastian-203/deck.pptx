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利用目的と期待する音環境の対応。分類は設計仮説。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縮尺のないゾーニング概念図。建築図や実測音分布ではない。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配置・表示と席選択・評価の仮説モデル。実証済み因果関係ではない。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二つの未実施配置案の比較。席数・面積の実績を含まない。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現状把握・仮設試行・再観察・比較修正の研究手順。未実施。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評価項目と予定取得方法。調査結果・基準値を捏造しない。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施設合意、任意参加、個人識別情報を集めない方針。効果未確認。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表紙。架空の未実施研究提案。</a:t>
            </a:r>
          </a:p>
          <a:p>
            <a:r>
              <a:t>架空の未実施研究提案。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9144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>
                <a:solidFill>
                  <a:srgbClr val="0B3A5B"/>
                </a:solidFill>
                <a:latin typeface="Noto Sans CJK JP"/>
              </a:rPr>
              <a:t>静けさを選べる</a:t>
            </a:r>
          </a:p>
          <a:p>
            <a:r>
              <a:rPr sz="3800" b="1">
                <a:solidFill>
                  <a:srgbClr val="0B3A5B"/>
                </a:solidFill>
                <a:latin typeface="Noto Sans CJK JP"/>
              </a:rPr>
              <a:t>図書館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71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202A33"/>
                </a:solidFill>
                <a:latin typeface="Noto Sans CJK JP"/>
              </a:rPr>
              <a:t>図書館の音環境を、利用者が選べるか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86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D6B78"/>
                </a:solidFill>
                <a:latin typeface="Noto Sans CJK JP"/>
              </a:rPr>
              <a:t>ゾーニングと案内表示の研究計画</a:t>
            </a:r>
          </a:p>
          <a:p>
            <a:r>
              <a:rPr sz="1500" b="0">
                <a:solidFill>
                  <a:srgbClr val="5D6B78"/>
                </a:solidFill>
                <a:latin typeface="Noto Sans CJK JP"/>
              </a:rPr>
              <a:t>架空の提案・未実施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4846320"/>
            <a:ext cx="10469880" cy="0"/>
          </a:xfrm>
          <a:prstGeom prst="line">
            <a:avLst/>
          </a:prstGeom>
          <a:ln w="25400">
            <a:solidFill>
              <a:srgbClr val="0B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5074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0B3A5B"/>
                </a:solidFill>
                <a:latin typeface="Noto Sans CJK JP"/>
              </a:rPr>
              <a:t>静かな閲覧　／　小声の相談　／　会話のある活動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0B3A5B"/>
                </a:solidFill>
                <a:latin typeface="Noto Sans CJK JP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利用目的と音環境のずれ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同じ図書館でも、必要とする音環境は異なる。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読図：利用目的と期待する音環境の対応を読む。分類はこの提案の設計仮説。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0B3A5B"/>
                </a:solidFill>
                <a:latin typeface="Noto Sans CJK JP"/>
              </a:rPr>
              <a:t>読む・集中する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231136"/>
            <a:ext cx="1097280" cy="0"/>
          </a:xfrm>
          <a:prstGeom prst="line">
            <a:avLst/>
          </a:prstGeom>
          <a:ln w="25400">
            <a:solidFill>
              <a:srgbClr val="347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2011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202A33"/>
                </a:solidFill>
                <a:latin typeface="Noto Sans CJK JP"/>
              </a:rPr>
              <a:t>静かな席を探す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0B3A5B"/>
                </a:solidFill>
                <a:latin typeface="Noto Sans CJK JP"/>
              </a:rPr>
              <a:t>短く相談する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91256"/>
            <a:ext cx="1097280" cy="0"/>
          </a:xfrm>
          <a:prstGeom prst="line">
            <a:avLst/>
          </a:prstGeom>
          <a:ln w="25400">
            <a:solidFill>
              <a:srgbClr val="347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2971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202A33"/>
                </a:solidFill>
                <a:latin typeface="Noto Sans CJK JP"/>
              </a:rPr>
              <a:t>小声で話せる席を探す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0B3A5B"/>
                </a:solidFill>
                <a:latin typeface="Noto Sans CJK JP"/>
              </a:rPr>
              <a:t>活動を共有する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4151376"/>
            <a:ext cx="1097280" cy="0"/>
          </a:xfrm>
          <a:prstGeom prst="line">
            <a:avLst/>
          </a:prstGeom>
          <a:ln w="25400">
            <a:solidFill>
              <a:srgbClr val="347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0" y="39319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202A33"/>
                </a:solidFill>
                <a:latin typeface="Noto Sans CJK JP"/>
              </a:rPr>
              <a:t>会話できる場所を探す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空間モデル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ゾーンの境界と音の伝わり方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静かな席へ向かう動線と、会話のある活動を分けて考える。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読図：入口から静穏ゾーンへ進む経路と、隣接する境界を見る。縮尺のない概念図。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03120"/>
            <a:ext cx="2286000" cy="2651760"/>
          </a:xfrm>
          <a:prstGeom prst="rect">
            <a:avLst/>
          </a:prstGeom>
          <a:solidFill>
            <a:srgbClr val="0B3A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2103120"/>
            <a:ext cx="2834640" cy="2651760"/>
          </a:xfrm>
          <a:prstGeom prst="rect">
            <a:avLst/>
          </a:prstGeom>
          <a:solidFill>
            <a:srgbClr val="347B7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103120"/>
            <a:ext cx="5029200" cy="2651760"/>
          </a:xfrm>
          <a:prstGeom prst="rect">
            <a:avLst/>
          </a:prstGeom>
          <a:solidFill>
            <a:srgbClr val="DDEAF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514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Noto Sans CJK JP"/>
              </a:rPr>
              <a:t>会話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83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Noto Sans CJK JP"/>
              </a:rPr>
              <a:t>活動・相談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5146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Noto Sans CJK JP"/>
              </a:rPr>
              <a:t>移行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3832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Noto Sans CJK JP"/>
              </a:rPr>
              <a:t>通路・書架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0B3A5B"/>
                </a:solidFill>
                <a:latin typeface="Noto Sans CJK JP"/>
              </a:rPr>
              <a:t>静穏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0B3A5B"/>
                </a:solidFill>
                <a:latin typeface="Noto Sans CJK JP"/>
              </a:rPr>
              <a:t>閲覧・集中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D6B78"/>
                </a:solidFill>
                <a:latin typeface="Noto Sans CJK JP"/>
              </a:rPr>
              <a:t>入口　　　　　　　　　　　案内表示　　　　　　　　　　静かな席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研究仮説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検証する関係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配置と表示が、席の選択と音環境の評価に関係するか。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読図：左は介入する条件、中央は行動、右は評価。線は検証候補で、因果関係の実証ではない。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B3A5B"/>
                </a:solidFill>
                <a:latin typeface="Noto Sans CJK JP"/>
              </a:rPr>
              <a:t>配置・表示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境界の配置</a:t>
            </a:r>
          </a:p>
          <a:p>
            <a:r>
              <a:rPr sz="1700" b="0">
                <a:solidFill>
                  <a:srgbClr val="202A33"/>
                </a:solidFill>
                <a:latin typeface="Noto Sans CJK JP"/>
              </a:rPr>
              <a:t>音のルールの説明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B3A5B"/>
                </a:solidFill>
                <a:latin typeface="Noto Sans CJK JP"/>
              </a:rPr>
              <a:t>席の選択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375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希望に合う席を選べるか</a:t>
            </a:r>
          </a:p>
          <a:p>
            <a:r>
              <a:rPr sz="1700" b="0">
                <a:solidFill>
                  <a:srgbClr val="202A33"/>
                </a:solidFill>
                <a:latin typeface="Noto Sans CJK JP"/>
              </a:rPr>
              <a:t>迷いや移動が起きるか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317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B3A5B"/>
                </a:solidFill>
                <a:latin typeface="Noto Sans CJK JP"/>
              </a:rPr>
              <a:t>音環境の評価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集中しやすさ</a:t>
            </a:r>
          </a:p>
          <a:p>
            <a:r>
              <a:rPr sz="1700" b="0">
                <a:solidFill>
                  <a:srgbClr val="202A33"/>
                </a:solidFill>
                <a:latin typeface="Noto Sans CJK JP"/>
              </a:rPr>
              <a:t>会話のしやすさ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2743200"/>
            <a:ext cx="822960" cy="0"/>
          </a:xfrm>
          <a:prstGeom prst="line">
            <a:avLst/>
          </a:prstGeom>
          <a:ln w="38100">
            <a:solidFill>
              <a:srgbClr val="347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2743200"/>
            <a:ext cx="822960" cy="0"/>
          </a:xfrm>
          <a:prstGeom prst="line">
            <a:avLst/>
          </a:prstGeom>
          <a:ln w="38100">
            <a:solidFill>
              <a:srgbClr val="347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D6B78"/>
                </a:solidFill>
                <a:latin typeface="Noto Sans CJK JP"/>
              </a:rPr>
              <a:t>交絡の候補：混雑、時間帯、利用目的、活動内容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比較条件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配置案の比較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案Aと案Bを、同じ観察項目で比較する。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読表：境界と表示だけを先に比較する。席数や面積の最終設定は現地条件の確認後に決める。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965960"/>
            <a:ext cx="2788920" cy="621792"/>
          </a:xfrm>
          <a:prstGeom prst="rect">
            <a:avLst/>
          </a:prstGeom>
          <a:solidFill>
            <a:srgbClr val="0B3A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05740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CJK JP"/>
              </a:rPr>
              <a:t>比較する条件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965960"/>
            <a:ext cx="3474720" cy="621792"/>
          </a:xfrm>
          <a:prstGeom prst="rect">
            <a:avLst/>
          </a:prstGeom>
          <a:solidFill>
            <a:srgbClr val="0B3A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05740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CJK JP"/>
              </a:rPr>
              <a:t>案A：境界を明示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965960"/>
            <a:ext cx="3657600" cy="621792"/>
          </a:xfrm>
          <a:prstGeom prst="rect">
            <a:avLst/>
          </a:prstGeom>
          <a:solidFill>
            <a:srgbClr val="0B3A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0574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CJK JP"/>
              </a:rPr>
              <a:t>案B：ゆるやかな移行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8892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ゾーン境界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374136"/>
            <a:ext cx="2788919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94759" y="278892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静穏と会話の境界を示す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03320" y="3374136"/>
            <a:ext cx="347472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52360" y="2788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書架・通路を移行帯にする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60920" y="3374136"/>
            <a:ext cx="365760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352044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案内表示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4105656"/>
            <a:ext cx="2788919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94759" y="352044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各ゾーンの音のルール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03320" y="4105656"/>
            <a:ext cx="347472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52360" y="35204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入口で利用目的別に案内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60920" y="4105656"/>
            <a:ext cx="365760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4251960"/>
            <a:ext cx="2606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検証したい点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4837176"/>
            <a:ext cx="2788919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94759" y="425196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ルールの分かりやすさ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03320" y="4837176"/>
            <a:ext cx="347472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52360" y="42519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移動と音の受け止め方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60920" y="4837176"/>
            <a:ext cx="365760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調査方法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試行と観察の順序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現状を観察し、小さく試し、同じ項目で再び観察する。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読図：順序は研究計画。試行前に施設の許可と倫理面の確認を行う。日程は未設定。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347B7F"/>
                </a:solidFill>
                <a:latin typeface="Noto Sans CJK JP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B3A5B"/>
                </a:solidFill>
                <a:latin typeface="Noto Sans CJK JP"/>
              </a:rPr>
              <a:t>現状把握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利用目的と席の選択</a:t>
            </a:r>
          </a:p>
          <a:p>
            <a:r>
              <a:rPr sz="1500" b="0">
                <a:solidFill>
                  <a:srgbClr val="202A33"/>
                </a:solidFill>
                <a:latin typeface="Noto Sans CJK JP"/>
              </a:rPr>
              <a:t>音への困りごと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1488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347B7F"/>
                </a:solidFill>
                <a:latin typeface="Noto Sans CJK JP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3017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B3A5B"/>
                </a:solidFill>
                <a:latin typeface="Noto Sans CJK JP"/>
              </a:rPr>
              <a:t>案の試行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38862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配置と表示を仮設</a:t>
            </a:r>
          </a:p>
          <a:p>
            <a:r>
              <a:rPr sz="1500" b="0">
                <a:solidFill>
                  <a:srgbClr val="202A33"/>
                </a:solidFill>
                <a:latin typeface="Noto Sans CJK JP"/>
              </a:rPr>
              <a:t>条件変更を記録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1488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347B7F"/>
                </a:solidFill>
                <a:latin typeface="Noto Sans CJK JP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017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B3A5B"/>
                </a:solidFill>
                <a:latin typeface="Noto Sans CJK JP"/>
              </a:rPr>
              <a:t>再観察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8862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同じ項目を観察</a:t>
            </a:r>
          </a:p>
          <a:p>
            <a:r>
              <a:rPr sz="1500" b="0">
                <a:solidFill>
                  <a:srgbClr val="202A33"/>
                </a:solidFill>
                <a:latin typeface="Noto Sans CJK JP"/>
              </a:rPr>
              <a:t>利用者の評価を確認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488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347B7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017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B3A5B"/>
                </a:solidFill>
                <a:latin typeface="Noto Sans CJK JP"/>
              </a:rPr>
              <a:t>比較・修正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8862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混雑などの違いを確認</a:t>
            </a:r>
          </a:p>
          <a:p>
            <a:r>
              <a:rPr sz="1500" b="0">
                <a:solidFill>
                  <a:srgbClr val="202A33"/>
                </a:solidFill>
                <a:latin typeface="Noto Sans CJK JP"/>
              </a:rPr>
              <a:t>案の修正点を整理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2834640"/>
            <a:ext cx="10332720" cy="0"/>
          </a:xfrm>
          <a:prstGeom prst="line">
            <a:avLst/>
          </a:prstGeom>
          <a:ln w="254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評価設計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評価項目と判断の条件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席を選べることと、必要な活動を続けられることを評価する。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読表：評価項目と取得方法の対応。採否の基準値は事前に定め、調査後に都合よく変えない。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3A5B"/>
                </a:solidFill>
                <a:latin typeface="Noto Sans CJK JP"/>
              </a:rPr>
              <a:t>席の選びやすさ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利用者への任意の短い質問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606040"/>
            <a:ext cx="1024128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2724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3A5B"/>
                </a:solidFill>
                <a:latin typeface="Noto Sans CJK JP"/>
              </a:rPr>
              <a:t>集中・会話のしやすさ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2491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利用目的と合わせた自己評価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319272"/>
            <a:ext cx="1024128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43814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3A5B"/>
                </a:solidFill>
                <a:latin typeface="Noto Sans CJK JP"/>
              </a:rPr>
              <a:t>席の移動・混雑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4381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個人を特定しない観察記録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032504"/>
            <a:ext cx="1024128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15137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3A5B"/>
                </a:solidFill>
                <a:latin typeface="Noto Sans CJK JP"/>
              </a:rPr>
              <a:t>音環境の状態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5137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02A33"/>
                </a:solidFill>
                <a:latin typeface="Noto Sans CJK JP"/>
              </a:rPr>
              <a:t>許可を得た測定と条件記録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745736"/>
            <a:ext cx="10241280" cy="0"/>
          </a:xfrm>
          <a:prstGeom prst="line">
            <a:avLst/>
          </a:prstGeom>
          <a:ln w="12700">
            <a:solidFill>
              <a:srgbClr val="DD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1480" y="1069848"/>
            <a:ext cx="10972800" cy="27432"/>
          </a:xfrm>
          <a:prstGeom prst="rect">
            <a:avLst/>
          </a:prstGeom>
          <a:solidFill>
            <a:srgbClr val="1D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静けさを選べる図書館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2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D6B78"/>
                </a:solidFill>
                <a:latin typeface="Noto Sans CJK JP"/>
              </a:rPr>
              <a:t>実施の条件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B3A5B"/>
                </a:solidFill>
                <a:latin typeface="Noto Sans CJK JP"/>
              </a:rPr>
              <a:t>実施前に確認すること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202A33"/>
                </a:solidFill>
                <a:latin typeface="Noto Sans CJK JP"/>
              </a:rPr>
              <a:t>運用とプライバシーを確認してから、試行の範囲を決める。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" b="0">
                <a:solidFill>
                  <a:srgbClr val="FFFFFF"/>
                </a:solidFill>
                <a:latin typeface="Noto Sans CJK JP"/>
              </a:rPr>
              <a:t>架空の研究提案・未実施　／　効果を示す実測値はありません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83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Noto Sans CJK JP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D6B78"/>
                </a:solidFill>
                <a:latin typeface="Noto Sans CJK JP"/>
              </a:rPr>
              <a:t>提案の位置づけ：設計と評価の計画。効果、利用者の支持、実施可否はまだ確認していない。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5303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B3A5B"/>
                </a:solidFill>
                <a:latin typeface="Noto Sans CJK JP"/>
              </a:rPr>
              <a:t>静かな席も、</a:t>
            </a:r>
          </a:p>
          <a:p>
            <a:r>
              <a:rPr sz="3200" b="1">
                <a:solidFill>
                  <a:srgbClr val="0B3A5B"/>
                </a:solidFill>
                <a:latin typeface="Noto Sans CJK JP"/>
              </a:rPr>
              <a:t>話せる場所も。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347B7F"/>
                </a:solidFill>
                <a:latin typeface="Noto Sans CJK JP"/>
              </a:rPr>
              <a:t>施設との合意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420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避難・動線・運用への影響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347B7F"/>
                </a:solidFill>
                <a:latin typeface="Noto Sans CJK JP"/>
              </a:rPr>
              <a:t>参加者への説明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021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任意参加、同意、断る自由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347B7F"/>
                </a:solidFill>
                <a:latin typeface="Noto Sans CJK JP"/>
              </a:rPr>
              <a:t>記録の取り扱い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6227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202A33"/>
                </a:solidFill>
                <a:latin typeface="Noto Sans CJK JP"/>
              </a:rPr>
              <a:t>識別情報を集めない方針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