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架空のEC事業「くらし便」の2026年9月月次報告です。売上の伸びと、粗利率・返品率の変化を確認し、先行する施策を判断します。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売上は1,000万円から1,200万円へ20%増え、注文は500件増加しました。一方、粗利率は2ポイント低下し、返品率は2ポイント上昇したため、売上だけで評価せず内訳と利益を確認します。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増収200万円の内訳は、広告20万円、自然検索90万円、メール50万円、リピート直訪40万円です。自然検索の45%は増収への寄与であり、当月売上に占める構成比32.5%とは異なります。次に、売上増が粗利額へどう表れたか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年の粗利額は1,000万円×38%=380万円、当月は1,200万円×36%=432万円で、52万円増加しました。粗利額は増えていますが、粗利率は38%から36%へ低下しており、両者を区別します。値引きと商品構成の影響は仮説で、販売担当が商品別に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品説明と実物の差が返品の一因という仮説を、顧客対応の森が10月9日までに上位20商品の理由分類で確認します。商品担当の青木は10月16日までに返品上位5商品の説明を改稿し、その後は対象商品の返品率を週次で比較します。改善の有無は測定結果を見て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提案は、商品説明の修正と粗利分析を先行することです。商品担当の青木が10月16日までに改稿し、販売担当の山田も同日までに値引きと商品構成を分解します。事業責任者は次回、完了記録・分析結果・返品率の週次比較を確認してから広告増額を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以上が、くらし便EC事業部の月次報告です。組織・数値・担当者はすべて制作例用の架空設定であり、実在企業の業績や実施結果を示すものではありません。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75965" y="790129"/>
            <a:ext cx="11040070" cy="0"/>
          </a:xfrm>
          <a:prstGeom prst="line">
            <a:avLst/>
          </a:prstGeom>
          <a:ln w="9525">
            <a:solidFill>
              <a:srgbClr val="32201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575965" y="3530054"/>
            <a:ext cx="1151930" cy="35868"/>
          </a:xfrm>
          <a:prstGeom prst="rect">
            <a:avLst/>
          </a:prstGeom>
          <a:solidFill>
            <a:srgbClr val="5A3921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5965" y="6453932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75965" y="422374"/>
            <a:ext cx="277214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くらし便 EC事業 9月報告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7885" y="582364"/>
            <a:ext cx="47472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7B6B"/>
                </a:solidFill>
                <a:latin typeface="Yu Gothic"/>
                <a:ea typeface="Yu Gothic"/>
                <a:cs typeface="Yu Gothic"/>
              </a:rPr>
              <a:t>月次会議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965" y="2153245"/>
            <a:ext cx="11500723" cy="1092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5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くらし便</a:t>
            </a:r>
          </a:p>
          <a:p>
            <a:pPr algn="l">
              <a:lnSpc>
                <a:spcPts val="425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EC事業 9月報告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65" y="3808214"/>
            <a:ext cx="11500723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2026年9月／前年同月比較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架空の組織・数値による制作例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965" y="6539061"/>
            <a:ext cx="13108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くらし便 EC事業 9月報告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5965" y="1526381"/>
          <a:ext cx="11040072" cy="464775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60018"/>
                <a:gridCol w="2760018"/>
                <a:gridCol w="2760018"/>
                <a:gridCol w="2760018"/>
              </a:tblGrid>
              <a:tr h="405408"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指標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3220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2025年9月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220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2026年9月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220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前年差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22014"/>
                      </a:solidFill>
                    </a:lnB>
                    <a:noFill/>
                  </a:tcPr>
                </a:tc>
              </a:tr>
              <a:tr h="1062484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売上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1,000万円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1,200万円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20%増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</a:tr>
              <a:tr h="1062484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注文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3,500件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4,000件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500件増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</a:tr>
              <a:tr h="1062484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粗利率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38%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36%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2ポイント低下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</a:tr>
              <a:tr h="1054894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返品率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4%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6%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2ポイント上昇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" name="Connector 2"/>
          <p:cNvCxnSpPr/>
          <p:nvPr/>
        </p:nvCxnSpPr>
        <p:spPr>
          <a:xfrm>
            <a:off x="575965" y="6453932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sp>
        <p:nvSpPr>
          <p:cNvPr id="4" name="Title"/>
          <p:cNvSpPr txBox="1"/>
          <p:nvPr/>
        </p:nvSpPr>
        <p:spPr>
          <a:xfrm>
            <a:off x="575965" y="947291"/>
            <a:ext cx="5239822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売上は20%増え、粗利率と返品率が悪化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965" y="6539061"/>
            <a:ext cx="13108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くらし便 EC事業 9月報告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3052" y="6539061"/>
            <a:ext cx="7415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7B6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580" y="2246709"/>
            <a:ext cx="5711429" cy="0"/>
          </a:xfrm>
          <a:prstGeom prst="line">
            <a:avLst/>
          </a:prstGeom>
          <a:ln w="11906">
            <a:solidFill>
              <a:srgbClr val="32201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580" y="5797600"/>
            <a:ext cx="5711429" cy="0"/>
          </a:xfrm>
          <a:prstGeom prst="line">
            <a:avLst/>
          </a:prstGeom>
          <a:ln w="11906">
            <a:solidFill>
              <a:srgbClr val="322014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716310" y="4900464"/>
            <a:ext cx="955179" cy="683865"/>
          </a:xfrm>
          <a:prstGeom prst="rect">
            <a:avLst/>
          </a:prstGeom>
          <a:solidFill>
            <a:srgbClr val="5A39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189857" y="2506861"/>
            <a:ext cx="955179" cy="3077468"/>
          </a:xfrm>
          <a:prstGeom prst="rect">
            <a:avLst/>
          </a:prstGeom>
          <a:solidFill>
            <a:srgbClr val="5A39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663404" y="3874591"/>
            <a:ext cx="955179" cy="1709738"/>
          </a:xfrm>
          <a:prstGeom prst="rect">
            <a:avLst/>
          </a:prstGeom>
          <a:solidFill>
            <a:srgbClr val="5A392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136952" y="4216598"/>
            <a:ext cx="955179" cy="1367730"/>
          </a:xfrm>
          <a:prstGeom prst="rect">
            <a:avLst/>
          </a:prstGeom>
          <a:solidFill>
            <a:srgbClr val="5A3921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7006679" y="2246709"/>
            <a:ext cx="4636741" cy="0"/>
          </a:xfrm>
          <a:prstGeom prst="line">
            <a:avLst/>
          </a:prstGeom>
          <a:ln w="11906">
            <a:solidFill>
              <a:srgbClr val="32201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548580" y="6240363"/>
            <a:ext cx="11094840" cy="0"/>
          </a:xfrm>
          <a:prstGeom prst="line">
            <a:avLst/>
          </a:prstGeom>
          <a:ln w="11906">
            <a:solidFill>
              <a:srgbClr val="322014"/>
            </a:solidFill>
          </a:ln>
        </p:spPr>
      </p:cxnSp>
      <p:sp>
        <p:nvSpPr>
          <p:cNvPr id="10" name="Title"/>
          <p:cNvSpPr txBox="1"/>
          <p:nvPr/>
        </p:nvSpPr>
        <p:spPr>
          <a:xfrm>
            <a:off x="548580" y="877937"/>
            <a:ext cx="5163050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5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自然検索が増収200万円の45%を占める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580" y="1959769"/>
            <a:ext cx="2111228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チャネル別の増収額／万円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386" y="4629001"/>
            <a:ext cx="219027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9712" y="5635675"/>
            <a:ext cx="28852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広告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7933" y="2235398"/>
            <a:ext cx="219027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8447" y="5635675"/>
            <a:ext cx="55799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自然検索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1480" y="3603129"/>
            <a:ext cx="219027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9324" y="5635675"/>
            <a:ext cx="42333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メール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5027" y="3945136"/>
            <a:ext cx="219027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3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4904" y="5635675"/>
            <a:ext cx="81942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リピート直訪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6679" y="1959769"/>
            <a:ext cx="890778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増収の内訳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9440" y="2412653"/>
            <a:ext cx="4651188" cy="5581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228600" indent="-2286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自然検索は90万円増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全体の45%を占める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9440" y="3235375"/>
            <a:ext cx="4651188" cy="5581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228600" indent="-2286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メールは50万円増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自然検索と合わせて70%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9440" y="4058096"/>
            <a:ext cx="4651188" cy="5581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228600" indent="-2286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広告は20万円増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増収への寄与は10%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88204" y="6302871"/>
            <a:ext cx="764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75965" y="2798713"/>
            <a:ext cx="5199310" cy="0"/>
          </a:xfrm>
          <a:prstGeom prst="line">
            <a:avLst/>
          </a:prstGeom>
          <a:ln w="9525">
            <a:solidFill>
              <a:srgbClr val="322014"/>
            </a:solidFill>
          </a:ln>
        </p:spPr>
      </p:cxn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5965" y="2929384"/>
          <a:ext cx="5199311" cy="243542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90130"/>
                <a:gridCol w="3209181"/>
              </a:tblGrid>
              <a:tr h="810220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前年同月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1,000万円 × 38%</a:t>
                      </a:r>
                      <a:endParaRPr sz="100"/>
                    </a:p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粗利額 380万円</a:t>
                      </a:r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</a:tr>
              <a:tr h="814983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当月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1,200万円 × 36%</a:t>
                      </a:r>
                      <a:endParaRPr sz="100"/>
                    </a:p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粗利額 432万円</a:t>
                      </a:r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5A681"/>
                      </a:solidFill>
                    </a:lnB>
                    <a:noFill/>
                  </a:tcPr>
                </a:tc>
              </a:tr>
              <a:tr h="810220">
                <a:tc>
                  <a:txBody>
                    <a:bodyPr wrap="square"/>
                    <a:lstStyle/>
                    <a:p>
                      <a:pPr algn="l">
                        <a:lnSpc>
                          <a:spcPts val="2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5A3921"/>
                          </a:solidFill>
                          <a:latin typeface="Yu Mincho"/>
                          <a:ea typeface="Yu Mincho"/>
                          <a:cs typeface="Yu Mincho"/>
                        </a:rPr>
                        <a:t>差分</a:t>
                      </a:r>
                      <a:endParaRPr sz="100"/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9525">
                      <a:solidFill>
                        <a:srgbClr val="322014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432万円 − 380万円</a:t>
                      </a:r>
                      <a:endParaRPr sz="100"/>
                    </a:p>
                    <a:p>
                      <a:pPr algn="l">
                        <a:lnSpc>
                          <a:spcPts val="1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22014"/>
                          </a:solidFill>
                          <a:latin typeface="Yu Gothic"/>
                          <a:ea typeface="Yu Gothic"/>
                          <a:cs typeface="Yu Gothic"/>
                        </a:rPr>
                        <a:t>52万円の増加</a:t>
                      </a:r>
                    </a:p>
                  </a:txBody>
                  <a:tcPr marT="162000" marR="90000" marB="162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Freeform 3"/>
          <p:cNvSpPr/>
          <p:nvPr/>
        </p:nvSpPr>
        <p:spPr>
          <a:xfrm>
            <a:off x="5991225" y="3678734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C5A681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6416725" y="2798713"/>
            <a:ext cx="5199310" cy="0"/>
          </a:xfrm>
          <a:prstGeom prst="line">
            <a:avLst/>
          </a:prstGeom>
          <a:ln w="9525">
            <a:solidFill>
              <a:srgbClr val="32201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75965" y="6453932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sp>
        <p:nvSpPr>
          <p:cNvPr id="7" name="Title"/>
          <p:cNvSpPr txBox="1"/>
          <p:nvPr/>
        </p:nvSpPr>
        <p:spPr>
          <a:xfrm>
            <a:off x="575965" y="947291"/>
            <a:ext cx="5842695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粗利額は52万円増え、率の低下要因は未確認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65" y="2555379"/>
            <a:ext cx="153776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売上と粗利率から計算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6725" y="2555379"/>
            <a:ext cx="138592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商品別の分析が必要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8650" y="3570089"/>
            <a:ext cx="333152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77800" indent="-1778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売上増が、粗利率低下の影響を上回った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50" y="3980111"/>
            <a:ext cx="316157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77800" indent="-1778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値引きと商品構成の影響は仮説である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8650" y="4390132"/>
            <a:ext cx="3523762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77800" indent="-17780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4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販売担当が差分を分解し、原因を確認する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965" y="6539061"/>
            <a:ext cx="13108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くらし便 EC事業 9月報告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3052" y="6539061"/>
            <a:ext cx="7415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7B6B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575965" y="1526381"/>
            <a:ext cx="3583930" cy="1925985"/>
          </a:xfrm>
          <a:custGeom>
            <a:avLst/>
            <a:gdLst/>
            <a:ahLst/>
            <a:cxnLst/>
            <a:rect l="l" t="t" r="r" b="b"/>
            <a:pathLst>
              <a:path w="3583930" h="1925985">
                <a:moveTo>
                  <a:pt x="0" y="0"/>
                </a:moveTo>
                <a:lnTo>
                  <a:pt x="3367930" y="0"/>
                </a:lnTo>
                <a:lnTo>
                  <a:pt x="3583930" y="962993"/>
                </a:lnTo>
                <a:lnTo>
                  <a:pt x="3367930" y="1925985"/>
                </a:lnTo>
                <a:lnTo>
                  <a:pt x="0" y="1925985"/>
                </a:lnTo>
                <a:close/>
              </a:path>
            </a:pathLst>
          </a:custGeom>
          <a:solidFill>
            <a:srgbClr val="EFEE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Freeform 2"/>
          <p:cNvSpPr/>
          <p:nvPr/>
        </p:nvSpPr>
        <p:spPr>
          <a:xfrm>
            <a:off x="4159895" y="1526381"/>
            <a:ext cx="3728144" cy="1925985"/>
          </a:xfrm>
          <a:custGeom>
            <a:avLst/>
            <a:gdLst/>
            <a:ahLst/>
            <a:cxnLst/>
            <a:rect l="l" t="t" r="r" b="b"/>
            <a:pathLst>
              <a:path w="3728144" h="1925985">
                <a:moveTo>
                  <a:pt x="0" y="0"/>
                </a:moveTo>
                <a:lnTo>
                  <a:pt x="3512144" y="0"/>
                </a:lnTo>
                <a:lnTo>
                  <a:pt x="3728144" y="962993"/>
                </a:lnTo>
                <a:lnTo>
                  <a:pt x="3512144" y="1925985"/>
                </a:lnTo>
                <a:lnTo>
                  <a:pt x="0" y="1925985"/>
                </a:lnTo>
                <a:lnTo>
                  <a:pt x="216000" y="962993"/>
                </a:lnTo>
                <a:close/>
              </a:path>
            </a:pathLst>
          </a:custGeom>
          <a:solidFill>
            <a:srgbClr val="EFEE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7888039" y="1526381"/>
            <a:ext cx="3727996" cy="1925985"/>
          </a:xfrm>
          <a:custGeom>
            <a:avLst/>
            <a:gdLst/>
            <a:ahLst/>
            <a:cxnLst/>
            <a:rect l="l" t="t" r="r" b="b"/>
            <a:pathLst>
              <a:path w="3727996" h="1925985">
                <a:moveTo>
                  <a:pt x="0" y="0"/>
                </a:moveTo>
                <a:lnTo>
                  <a:pt x="3511996" y="0"/>
                </a:lnTo>
                <a:lnTo>
                  <a:pt x="3727996" y="962993"/>
                </a:lnTo>
                <a:lnTo>
                  <a:pt x="3511996" y="1925985"/>
                </a:lnTo>
                <a:lnTo>
                  <a:pt x="0" y="1925985"/>
                </a:lnTo>
                <a:lnTo>
                  <a:pt x="216001" y="962993"/>
                </a:lnTo>
                <a:close/>
              </a:path>
            </a:pathLst>
          </a:custGeom>
          <a:solidFill>
            <a:srgbClr val="EFEEE8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575965" y="4903143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75965" y="6453932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sp>
        <p:nvSpPr>
          <p:cNvPr id="7" name="Title"/>
          <p:cNvSpPr txBox="1"/>
          <p:nvPr/>
        </p:nvSpPr>
        <p:spPr>
          <a:xfrm>
            <a:off x="575965" y="947291"/>
            <a:ext cx="5234404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返品理由を分類してから商品説明を改稿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98" y="1840855"/>
            <a:ext cx="92560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A3921"/>
                </a:solidFill>
                <a:latin typeface="Yu Gothic"/>
                <a:ea typeface="Yu Gothic"/>
                <a:cs typeface="Yu Gothic"/>
              </a:rPr>
              <a:t>10月9日まで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98" y="2059484"/>
            <a:ext cx="140589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返品理由を分類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98" y="2380059"/>
            <a:ext cx="3409533" cy="7179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顧客対応・森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上位20商品を対象に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分類率100%を確認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894" y="1840855"/>
            <a:ext cx="10164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A3921"/>
                </a:solidFill>
                <a:latin typeface="Yu Gothic"/>
                <a:ea typeface="Yu Gothic"/>
                <a:cs typeface="Yu Gothic"/>
              </a:rPr>
              <a:t>10月16日まで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3894" y="2059484"/>
            <a:ext cx="140589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商品説明を改稿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3894" y="2380059"/>
            <a:ext cx="3409688" cy="7179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商品・青木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返品上位5商品の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説明と実物の差を修正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2038" y="1840855"/>
            <a:ext cx="97002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A3921"/>
                </a:solidFill>
                <a:latin typeface="Yu Gothic"/>
                <a:ea typeface="Yu Gothic"/>
                <a:cs typeface="Yu Gothic"/>
              </a:rPr>
              <a:t>改稿後は週次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2038" y="2059484"/>
            <a:ext cx="120777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返品率を比較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2038" y="2380059"/>
            <a:ext cx="3409533" cy="7179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商品・青木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対象商品の返品率を比較</a:t>
            </a:r>
          </a:p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効果は測定後に判断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965" y="4137124"/>
            <a:ext cx="116799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確認する仮説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5892" y="4167634"/>
            <a:ext cx="304409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商品説明と実物の差が、返品率上昇の一因か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965" y="5412730"/>
            <a:ext cx="1359456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1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判断に使う記録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5892" y="5443240"/>
            <a:ext cx="336000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返品理由の分類表、改稿した説明、週次の返品率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965" y="6539061"/>
            <a:ext cx="13108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くらし便 EC事業 9月報告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3052" y="6539061"/>
            <a:ext cx="7415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7B6B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580" y="2629198"/>
            <a:ext cx="5087243" cy="1251645"/>
          </a:xfrm>
          <a:prstGeom prst="rect">
            <a:avLst/>
          </a:prstGeom>
          <a:noFill/>
          <a:ln w="11906">
            <a:solidFill>
              <a:srgbClr val="322014"/>
            </a:solidFill>
          </a:ln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6047184" y="3373189"/>
            <a:ext cx="5596236" cy="0"/>
          </a:xfrm>
          <a:prstGeom prst="line">
            <a:avLst/>
          </a:prstGeom>
          <a:ln w="11906">
            <a:solidFill>
              <a:srgbClr val="E2DC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6047184" y="4260205"/>
            <a:ext cx="5596236" cy="0"/>
          </a:xfrm>
          <a:prstGeom prst="line">
            <a:avLst/>
          </a:prstGeom>
          <a:ln w="11906">
            <a:solidFill>
              <a:srgbClr val="E2DC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580" y="6240363"/>
            <a:ext cx="11094840" cy="0"/>
          </a:xfrm>
          <a:prstGeom prst="line">
            <a:avLst/>
          </a:prstGeom>
          <a:ln w="11906">
            <a:solidFill>
              <a:srgbClr val="322014"/>
            </a:solidFill>
          </a:ln>
        </p:spPr>
      </p:cxnSp>
      <p:sp>
        <p:nvSpPr>
          <p:cNvPr id="6" name="Title"/>
          <p:cNvSpPr txBox="1"/>
          <p:nvPr/>
        </p:nvSpPr>
        <p:spPr>
          <a:xfrm>
            <a:off x="548580" y="877937"/>
            <a:ext cx="4999292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59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商品説明の修正と粗利分析を先行する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866" y="2811959"/>
            <a:ext cx="73228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今回の提案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866" y="3073598"/>
            <a:ext cx="4909828" cy="6313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商品説明の修正と</a:t>
            </a:r>
          </a:p>
          <a:p>
            <a:pPr algn="l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粗利分析を先行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7184" y="2657773"/>
            <a:ext cx="5839135" cy="539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顧客対応・商品担当が返品理由を確認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10月16日までに返品上位5商品の説明を改稿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7184" y="3544788"/>
            <a:ext cx="5839135" cy="539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販売担当が10月16日までに粗利差分を分析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値引きと商品構成の影響を報告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7184" y="4431804"/>
            <a:ext cx="5839135" cy="539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事業責任者は次回、完了記録と分析結果を確認</a:t>
            </a:r>
          </a:p>
          <a:p>
            <a:pPr algn="l"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返品率の週次比較も踏まえて広告増額を判断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8204" y="6302871"/>
            <a:ext cx="764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75965" y="790129"/>
            <a:ext cx="11040070" cy="0"/>
          </a:xfrm>
          <a:prstGeom prst="line">
            <a:avLst/>
          </a:prstGeom>
          <a:ln w="9525">
            <a:solidFill>
              <a:srgbClr val="32201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75965" y="6453932"/>
            <a:ext cx="11040070" cy="0"/>
          </a:xfrm>
          <a:prstGeom prst="line">
            <a:avLst/>
          </a:prstGeom>
          <a:ln w="9525">
            <a:solidFill>
              <a:srgbClr val="C5A681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75965" y="422374"/>
            <a:ext cx="277214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くらし便 EC事業 9月報告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965" y="2945309"/>
            <a:ext cx="1181302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22014"/>
                </a:solidFill>
                <a:latin typeface="Yu Mincho"/>
                <a:ea typeface="Yu Mincho"/>
                <a:cs typeface="Yu Mincho"/>
              </a:rPr>
              <a:t>くらし便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965" y="3402360"/>
            <a:ext cx="227607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3921"/>
                </a:solidFill>
                <a:latin typeface="Yu Mincho"/>
                <a:ea typeface="Yu Mincho"/>
                <a:cs typeface="Yu Mincho"/>
              </a:rPr>
              <a:t>EC事業部／架空の制作例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965" y="6230243"/>
            <a:ext cx="394198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7B6B"/>
                </a:solidFill>
                <a:latin typeface="Yu Gothic"/>
                <a:ea typeface="Yu Gothic"/>
                <a:cs typeface="Yu Gothic"/>
              </a:rPr>
              <a:t>本資料は consulting-pptx-skill（github.com/carnot-tech/consulting-pptx-skill）で作成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965" y="6539061"/>
            <a:ext cx="131085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22014"/>
                </a:solidFill>
                <a:latin typeface="Yu Gothic"/>
                <a:ea typeface="Yu Gothic"/>
                <a:cs typeface="Yu Gothic"/>
              </a:rPr>
              <a:t>くらし便 EC事業 9月報告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