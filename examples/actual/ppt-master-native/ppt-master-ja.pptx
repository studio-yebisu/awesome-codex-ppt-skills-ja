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1"/>
  </p:notesMasterIdLst>
  <p:sldIdLst>
    <p:sldId id="256" r:id="rId7"/>
    <p:sldId id="257" r:id="rId8"/>
    <p:sldId id="258" r:id="rId9"/>
    <p:sldId id="259" r:id="rId10"/>
  </p:sldIdLst>
  <p:sldSz cx="12192000" cy="6858000" type="screen16x9"/>
  <p:notesSz cx="6858000" cy="9144000"/>
  <p:defaultTextStyle>
    <a:defPPr>
      <a:defRPr lang="ja-JP"/>
    </a:defPPr>
    <a:lvl1pPr marL="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  <Relationship Id="rId1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ja-JP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この作例はPPT Masterの元の変換処理を使い、SVGから編集可能なPowerPointへ出力しています。元カタログの二百九件には、さまざまな形式のスキルがあります。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会議や提案には、後から編集できるPowerPointが便利です。動きを見せたい発表にはウェブスライド、見た目を固定したい用途には画像スライドを選べます。画像としての出力は、文字編集の自由度が下がりま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日本語では、書体の指定だけでなく、意味のまとまりでの改行が大切です。このページではNoto Sans JPを使い、見出しと本文の大きさを分け、余白を残しています。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作例と原典を確認し、作者と個別のライセンスを尊重して制作します。仕上げは実際の発表画面で、文字と図形の見え方を確かめます。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-master-nativ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-master-nativ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0550" y="1657350"/>
            <a:ext cx="6944106" cy="1797050"/>
            <a:chOff x="590550" y="1657350"/>
            <a:chExt cx="6944106" cy="1797050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657350"/>
              <a:ext cx="472287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35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スキルの違いを、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349500"/>
              <a:ext cx="694410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570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日本語で確かめる。</a:t>
              </a:r>
            </a:p>
          </p:txBody>
        </p:sp>
      </p:grpSp>
      <p:grpSp>
        <p:nvGrpSpPr>
          <p:cNvPr id="7" name="intro"/>
          <p:cNvGrpSpPr/>
          <p:nvPr/>
        </p:nvGrpSpPr>
        <p:grpSpPr>
          <a:xfrm>
            <a:off x="637032" y="3860800"/>
            <a:ext cx="5870396" cy="877316"/>
            <a:chOff x="637032" y="3860800"/>
            <a:chExt cx="5870396" cy="877316"/>
          </a:xfrm>
        </p:grpSpPr>
        <p:sp>
          <p:nvSpPr>
            <p:cNvPr id="5" name="TextBox 5"/>
            <p:cNvSpPr txBox="1"/>
            <p:nvPr/>
          </p:nvSpPr>
          <p:spPr>
            <a:xfrm>
              <a:off x="637032" y="3860800"/>
              <a:ext cx="52937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209件のカタログから、あなたの一枚へ。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9699" y="4429125"/>
              <a:ext cx="586772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編集可能な文字と図形でつくる、PowerPointの日本語作例。</a:t>
              </a:r>
            </a:p>
          </p:txBody>
        </p:sp>
      </p:grpSp>
      <p:grpSp>
        <p:nvGrpSpPr>
          <p:cNvPr id="9" name="accent"/>
          <p:cNvGrpSpPr/>
          <p:nvPr/>
        </p:nvGrpSpPr>
        <p:grpSpPr>
          <a:xfrm>
            <a:off x="10668000" y="533400"/>
            <a:ext cx="914400" cy="5162550"/>
            <a:chOff x="10668000" y="533400"/>
            <a:chExt cx="914400" cy="5162550"/>
          </a:xfrm>
        </p:grpSpPr>
        <p:sp>
          <p:nvSpPr>
            <p:cNvPr id="8" name="Rectangle 8"/>
            <p:cNvSpPr/>
            <p:nvPr/>
          </p:nvSpPr>
          <p:spPr>
            <a:xfrm>
              <a:off x="10668000" y="533400"/>
              <a:ext cx="914400" cy="5162550"/>
            </a:xfrm>
            <a:prstGeom prst="rect">
              <a:avLst/>
            </a:prstGeom>
            <a:solidFill>
              <a:srgbClr val="D6E642"/>
            </a:solidFill>
            <a:ln>
              <a:noFill/>
            </a:ln>
          </p:spPr>
        </p:sp>
      </p:grpSp>
      <p:grpSp>
        <p:nvGrpSpPr>
          <p:cNvPr id="12" name="footer"/>
          <p:cNvGrpSpPr/>
          <p:nvPr/>
        </p:nvGrpSpPr>
        <p:grpSpPr>
          <a:xfrm>
            <a:off x="604266" y="6321425"/>
            <a:ext cx="10828344" cy="205359"/>
            <a:chOff x="604266" y="6321425"/>
            <a:chExt cx="10828344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604266" y="6321425"/>
              <a:ext cx="2870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PPT MASTER / JAPANESE VECTOR EXAMPLE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48416" y="63214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01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1312" y="841375"/>
            <a:ext cx="6821424" cy="704088"/>
            <a:chOff x="591312" y="841375"/>
            <a:chExt cx="6821424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91312" y="841375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60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用途に合わせて、出力を選ぶ。</a:t>
              </a:r>
            </a:p>
          </p:txBody>
        </p:sp>
      </p:grpSp>
      <p:grpSp>
        <p:nvGrpSpPr>
          <p:cNvPr id="9" name="output-1"/>
          <p:cNvGrpSpPr/>
          <p:nvPr/>
        </p:nvGrpSpPr>
        <p:grpSpPr>
          <a:xfrm>
            <a:off x="590550" y="2238375"/>
            <a:ext cx="3429000" cy="3057525"/>
            <a:chOff x="590550" y="2238375"/>
            <a:chExt cx="3429000" cy="3057525"/>
          </a:xfrm>
        </p:grpSpPr>
        <p:sp>
          <p:nvSpPr>
            <p:cNvPr id="4" name="Rectangle 4"/>
            <p:cNvSpPr/>
            <p:nvPr/>
          </p:nvSpPr>
          <p:spPr>
            <a:xfrm>
              <a:off x="609600" y="2238375"/>
              <a:ext cx="3409950" cy="57150"/>
            </a:xfrm>
            <a:prstGeom prst="rect">
              <a:avLst/>
            </a:prstGeom>
            <a:solidFill>
              <a:srgbClr val="143F4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99313" y="2692400"/>
              <a:ext cx="159432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PowerPoint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1599" y="360045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会議や提案に。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2361" y="4060825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文字と図形を、後から編集。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550" y="4505325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5" name="output-2"/>
          <p:cNvGrpSpPr/>
          <p:nvPr/>
        </p:nvGrpSpPr>
        <p:grpSpPr>
          <a:xfrm>
            <a:off x="4343400" y="2238375"/>
            <a:ext cx="3429000" cy="3057525"/>
            <a:chOff x="4343400" y="2238375"/>
            <a:chExt cx="3429000" cy="3057525"/>
          </a:xfrm>
        </p:grpSpPr>
        <p:sp>
          <p:nvSpPr>
            <p:cNvPr id="10" name="Rectangle 10"/>
            <p:cNvSpPr/>
            <p:nvPr/>
          </p:nvSpPr>
          <p:spPr>
            <a:xfrm>
              <a:off x="4362450" y="2238375"/>
              <a:ext cx="3409950" cy="57150"/>
            </a:xfrm>
            <a:prstGeom prst="rect">
              <a:avLst/>
            </a:prstGeom>
            <a:solidFill>
              <a:srgbClr val="143F47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352163" y="2692400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ウェブスライド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54449" y="360045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動きのある発表に。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55211" y="4060825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ブラウザーで、そのまま再生。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43400" y="4505325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1" name="output-3"/>
          <p:cNvGrpSpPr/>
          <p:nvPr/>
        </p:nvGrpSpPr>
        <p:grpSpPr>
          <a:xfrm>
            <a:off x="8096250" y="2238375"/>
            <a:ext cx="3429000" cy="3057525"/>
            <a:chOff x="8096250" y="2238375"/>
            <a:chExt cx="3429000" cy="3057525"/>
          </a:xfrm>
        </p:grpSpPr>
        <p:sp>
          <p:nvSpPr>
            <p:cNvPr id="16" name="Rectangle 16"/>
            <p:cNvSpPr/>
            <p:nvPr/>
          </p:nvSpPr>
          <p:spPr>
            <a:xfrm>
              <a:off x="8115300" y="2238375"/>
              <a:ext cx="3409950" cy="57150"/>
            </a:xfrm>
            <a:prstGeom prst="rect">
              <a:avLst/>
            </a:prstGeom>
            <a:solidFill>
              <a:srgbClr val="143F4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05013" y="2692400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画像スライド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07299" y="3600450"/>
              <a:ext cx="27810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8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見た目を固定したいときに。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08061" y="4060825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出力後の文字編集には制約。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96250" y="4505325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050" b="1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604266" y="6321425"/>
            <a:ext cx="10828344" cy="205359"/>
            <a:chOff x="604266" y="6321425"/>
            <a:chExt cx="10828344" cy="205359"/>
          </a:xfrm>
        </p:grpSpPr>
        <p:sp>
          <p:nvSpPr>
            <p:cNvPr id="22" name="TextBox 22"/>
            <p:cNvSpPr txBox="1"/>
            <p:nvPr/>
          </p:nvSpPr>
          <p:spPr>
            <a:xfrm>
              <a:off x="604266" y="6321425"/>
              <a:ext cx="2870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PPT MASTER / JAPANESE VECTOR EXAMPLE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48416" y="63214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02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title"/>
          <p:cNvGrpSpPr/>
          <p:nvPr/>
        </p:nvGrpSpPr>
        <p:grpSpPr>
          <a:xfrm>
            <a:off x="591312" y="841375"/>
            <a:ext cx="7306056" cy="704088"/>
            <a:chOff x="591312" y="841375"/>
            <a:chExt cx="7306056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591312" y="841375"/>
              <a:ext cx="730605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60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日本語の読みやすさを、整える。</a:t>
              </a:r>
            </a:p>
          </p:txBody>
        </p:sp>
      </p:grpSp>
      <p:grpSp>
        <p:nvGrpSpPr>
          <p:cNvPr id="7" name="sample"/>
          <p:cNvGrpSpPr/>
          <p:nvPr/>
        </p:nvGrpSpPr>
        <p:grpSpPr>
          <a:xfrm>
            <a:off x="609600" y="2266950"/>
            <a:ext cx="5448300" cy="2686050"/>
            <a:chOff x="609600" y="2266950"/>
            <a:chExt cx="5448300" cy="2686050"/>
          </a:xfrm>
        </p:grpSpPr>
        <p:sp>
          <p:nvSpPr>
            <p:cNvPr id="4" name="Rectangle 4"/>
            <p:cNvSpPr/>
            <p:nvPr/>
          </p:nvSpPr>
          <p:spPr>
            <a:xfrm>
              <a:off x="609600" y="2266950"/>
              <a:ext cx="5448300" cy="2686050"/>
            </a:xfrm>
            <a:prstGeom prst="rect">
              <a:avLst/>
            </a:prstGeom>
            <a:solidFill>
              <a:srgbClr val="143F4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17448" y="2781300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F3F5EF"/>
                  </a:solidFill>
                  <a:latin typeface="+mn-lt"/>
                  <a:ea typeface="+mn-ea"/>
                  <a:cs typeface="+mn-cs"/>
                </a:rPr>
                <a:t>自然な改行は、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7448" y="3409950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F3F5EF"/>
                  </a:solidFill>
                  <a:latin typeface="+mn-lt"/>
                  <a:ea typeface="+mn-ea"/>
                  <a:cs typeface="+mn-cs"/>
                </a:rPr>
                <a:t>理解の手助け。</a:t>
              </a:r>
            </a:p>
          </p:txBody>
        </p:sp>
      </p:grpSp>
      <p:grpSp>
        <p:nvGrpSpPr>
          <p:cNvPr id="12" name="explanation"/>
          <p:cNvGrpSpPr/>
          <p:nvPr/>
        </p:nvGrpSpPr>
        <p:grpSpPr>
          <a:xfrm>
            <a:off x="6675501" y="2552700"/>
            <a:ext cx="3351276" cy="1995932"/>
            <a:chOff x="6675501" y="2552700"/>
            <a:chExt cx="3351276" cy="1995932"/>
          </a:xfrm>
        </p:grpSpPr>
        <p:sp>
          <p:nvSpPr>
            <p:cNvPr id="8" name="TextBox 8"/>
            <p:cNvSpPr txBox="1"/>
            <p:nvPr/>
          </p:nvSpPr>
          <p:spPr>
            <a:xfrm>
              <a:off x="6675501" y="2552700"/>
              <a:ext cx="1944343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8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Noto Sans JP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78168" y="327342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見出しと本文の大きさを分ける。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78168" y="374967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意味のまとまりで改行する。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78168" y="422592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文字を詰めすぎず、余白を残す。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604266" y="6321425"/>
            <a:ext cx="10828344" cy="205359"/>
            <a:chOff x="604266" y="6321425"/>
            <a:chExt cx="10828344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604266" y="6321425"/>
              <a:ext cx="2870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PPT MASTER / JAPANESE VECTOR EXAMPLE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48416" y="63214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03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90550" y="1597025"/>
            <a:ext cx="7368159" cy="1793875"/>
            <a:chOff x="590550" y="1597025"/>
            <a:chExt cx="7368159" cy="1793875"/>
          </a:xfrm>
        </p:grpSpPr>
        <p:sp>
          <p:nvSpPr>
            <p:cNvPr id="2" name="TextBox 2"/>
            <p:cNvSpPr txBox="1"/>
            <p:nvPr/>
          </p:nvSpPr>
          <p:spPr>
            <a:xfrm>
              <a:off x="590550" y="1597025"/>
              <a:ext cx="73075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50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作例を見る。原典を知る。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428875"/>
              <a:ext cx="7368159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950" b="1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自分の資料を、つくる。</a:t>
              </a:r>
            </a:p>
          </p:txBody>
        </p:sp>
      </p:grpSp>
      <p:grpSp>
        <p:nvGrpSpPr>
          <p:cNvPr id="7" name="outro"/>
          <p:cNvGrpSpPr/>
          <p:nvPr/>
        </p:nvGrpSpPr>
        <p:grpSpPr>
          <a:xfrm>
            <a:off x="599694" y="3873500"/>
            <a:ext cx="6057519" cy="915226"/>
            <a:chOff x="599694" y="3873500"/>
            <a:chExt cx="6057519" cy="915226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387350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dirty="0">
                  <a:solidFill>
                    <a:srgbClr val="143F47"/>
                  </a:solidFill>
                  <a:latin typeface="+mn-lt"/>
                  <a:ea typeface="+mn-ea"/>
                  <a:cs typeface="+mn-cs"/>
                </a:rPr>
                <a:t>作者とライセンスを確かめて、合うスキルを選ぶ。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837" y="4451350"/>
              <a:ext cx="488000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最後は、実際の画面で読みやすさを確かめる。</a:t>
              </a:r>
            </a:p>
          </p:txBody>
        </p:sp>
      </p:grpSp>
      <p:grpSp>
        <p:nvGrpSpPr>
          <p:cNvPr id="9" name="accent"/>
          <p:cNvGrpSpPr/>
          <p:nvPr/>
        </p:nvGrpSpPr>
        <p:grpSpPr>
          <a:xfrm>
            <a:off x="609600" y="5524500"/>
            <a:ext cx="10934700" cy="76200"/>
            <a:chOff x="609600" y="5524500"/>
            <a:chExt cx="10934700" cy="76200"/>
          </a:xfrm>
        </p:grpSpPr>
        <p:sp>
          <p:nvSpPr>
            <p:cNvPr id="8" name="Rectangle 8"/>
            <p:cNvSpPr/>
            <p:nvPr/>
          </p:nvSpPr>
          <p:spPr>
            <a:xfrm>
              <a:off x="609600" y="5524500"/>
              <a:ext cx="10934700" cy="76200"/>
            </a:xfrm>
            <a:prstGeom prst="rect">
              <a:avLst/>
            </a:prstGeom>
            <a:solidFill>
              <a:srgbClr val="D6E642"/>
            </a:solidFill>
            <a:ln>
              <a:noFill/>
            </a:ln>
          </p:spPr>
        </p:sp>
      </p:grpSp>
      <p:grpSp>
        <p:nvGrpSpPr>
          <p:cNvPr id="12" name="footer"/>
          <p:cNvGrpSpPr/>
          <p:nvPr/>
        </p:nvGrpSpPr>
        <p:grpSpPr>
          <a:xfrm>
            <a:off x="604266" y="6321425"/>
            <a:ext cx="10828344" cy="205359"/>
            <a:chOff x="604266" y="6321425"/>
            <a:chExt cx="10828344" cy="205359"/>
          </a:xfrm>
        </p:grpSpPr>
        <p:sp>
          <p:nvSpPr>
            <p:cNvPr id="10" name="TextBox 10"/>
            <p:cNvSpPr txBox="1"/>
            <p:nvPr/>
          </p:nvSpPr>
          <p:spPr>
            <a:xfrm>
              <a:off x="604266" y="6321425"/>
              <a:ext cx="28707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PPT MASTER / JAPANESE VECTOR EXAMPLE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48416" y="6321425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56A"/>
                  </a:solidFill>
                  <a:latin typeface="+mn-lt"/>
                  <a:ea typeface="+mn-ea"/>
                  <a:cs typeface="+mn-cs"/>
                </a:rPr>
                <a:t>04 / 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pt-master-native">
  <a:themeElements>
    <a:clrScheme name="ppt-master-nativ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-master-native">
      <a:maj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-master-na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-master-native">
  <a:themeElements>
    <a:clrScheme name="ppt-master-nativ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-master-native">
      <a:maj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-master-na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ja-JP</dc:language>
  <cp:lastModifiedBy/>
  <cp:revision>1</cp:revision>
  <dcterms:created xsi:type="dcterms:W3CDTF">2026-10-13T10:26:11Z</dcterms:created>
  <dcterms:modified xsi:type="dcterms:W3CDTF">2026-10-13T10:26:11Z</dcterms:modified>
  <cp:category/>
  <cp:contentStatus/>
</cp:coreProperties>
</file>