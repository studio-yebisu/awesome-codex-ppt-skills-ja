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ja-JP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売上は前年比20%増、粗利率は低下</a:t>
            </a:r>
          </a:p>
          <a:p>
            <a:pPr/>
            <a:endParaRPr lang="ja-JP" dirty="0"/>
          </a:p>
          <a:p>
            <a:pPr/>
            <a:r>
              <a:rPr lang="ja-JP" dirty="0"/>
              <a:t>売上は前年同月比20%増ですが、粗利率と返品率に課題があります。架空データを使った月次報告です。先に商品説明を改善し、利益の差分を分解します。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KPI：売上だけで判断しない</a:t>
            </a:r>
          </a:p>
          <a:p>
            <a:pPr/>
            <a:endParaRPr lang="ja-JP" dirty="0"/>
          </a:p>
          <a:p>
            <a:pPr/>
            <a:r>
              <a:rPr lang="ja-JP" dirty="0"/>
              <a:t>売上と粗利額は増えています。一方で粗利率は2ポイント下がり、返品率は2ポイント上がりました。百分率の変化とポイント差を混同しないようにしてください。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売上増200万円を、チャネルで分解</a:t>
            </a:r>
          </a:p>
          <a:p>
            <a:pPr/>
            <a:endParaRPr lang="ja-JP" dirty="0"/>
          </a:p>
          <a:p>
            <a:pPr/>
            <a:r>
              <a:rPr lang="ja-JP" dirty="0"/>
              <a:t>自然検索が90万円増、メールが50万円増、リピート直訪が40万円増、広告が20万円増です。棒の長さは同じ単位の当月売上に対応しています。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粗利は52万円増、率は2pt低下</a:t>
            </a:r>
          </a:p>
          <a:p>
            <a:pPr/>
            <a:endParaRPr lang="ja-JP" dirty="0"/>
          </a:p>
          <a:p>
            <a:pPr/>
            <a:r>
              <a:rPr lang="ja-JP" dirty="0"/>
              <a:t>当月と前年の粗利額を同じ算式で確認しています。値引きや商品構成はまだ原因の仮説なので、原因として断定しません。次回までに商品別の差分を分析します。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課題は、仮説と確認を対にする</a:t>
            </a:r>
          </a:p>
          <a:p>
            <a:pPr/>
            <a:endParaRPr lang="ja-JP" dirty="0"/>
          </a:p>
          <a:p>
            <a:pPr/>
            <a:r>
              <a:rPr lang="ja-JP" dirty="0"/>
              <a:t>仮説を事実として扱わず、確認する作業まで割り当てます。返品の分類と利益分析を先に進め、その結果で販売施策を判断します。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10月の施策と、担当・期限</a:t>
            </a:r>
          </a:p>
          <a:p>
            <a:pPr/>
            <a:endParaRPr lang="ja-JP" dirty="0"/>
          </a:p>
          <a:p>
            <a:pPr/>
            <a:r>
              <a:rPr lang="ja-JP" dirty="0"/>
              <a:t>担当と期限を置きます。施策後の返品率は施策対象商品を同じ期間で比較します。季節性などの影響もあるため、単純な前後比較だけで因果効果を断定しません。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次月判断：説明修正と分析を先行</a:t>
            </a:r>
          </a:p>
          <a:p>
            <a:pPr/>
            <a:endParaRPr lang="ja-JP" dirty="0"/>
          </a:p>
          <a:p>
            <a:pPr/>
            <a:r>
              <a:rPr lang="ja-JP" dirty="0"/>
              <a:t>月次会議で決めたいのは分析と説明修正を先行することです。広告費増額をこの資料だけで決めず、次回の根拠を揃えます。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ourc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ourc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6792469" cy="997077"/>
            <a:chOff x="593598" y="523875"/>
            <a:chExt cx="6792469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67924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売上は前年比20%増、粗利率は低下</a:t>
              </a:r>
            </a:p>
          </p:txBody>
        </p:sp>
      </p:grpSp>
      <p:grpSp>
        <p:nvGrpSpPr>
          <p:cNvPr id="9" name="content"/>
          <p:cNvGrpSpPr/>
          <p:nvPr/>
        </p:nvGrpSpPr>
        <p:grpSpPr>
          <a:xfrm>
            <a:off x="590550" y="2000250"/>
            <a:ext cx="4203380" cy="3434715"/>
            <a:chOff x="590550" y="2000250"/>
            <a:chExt cx="4203380" cy="3434715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2000250"/>
              <a:ext cx="23804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3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くらし便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838450"/>
              <a:ext cx="4203380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43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EC事業 9月報告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7413" y="4483100"/>
              <a:ext cx="373245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2026年9月 / 比較：2025年9月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8175" y="5067300"/>
              <a:ext cx="381533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次月は商品説明と粗利分析を先行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01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355229" cy="997077"/>
            <a:chOff x="593598" y="523875"/>
            <a:chExt cx="5355229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3552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KPI：売上だけで判断しない</a:t>
              </a:r>
            </a:p>
          </p:txBody>
        </p:sp>
      </p:grpSp>
      <p:grpSp>
        <p:nvGrpSpPr>
          <p:cNvPr id="17" name="content"/>
          <p:cNvGrpSpPr/>
          <p:nvPr/>
        </p:nvGrpSpPr>
        <p:grpSpPr>
          <a:xfrm>
            <a:off x="598170" y="1952625"/>
            <a:ext cx="10698480" cy="1635951"/>
            <a:chOff x="598170" y="1952625"/>
            <a:chExt cx="10698480" cy="1635951"/>
          </a:xfrm>
        </p:grpSpPr>
        <p:sp>
          <p:nvSpPr>
            <p:cNvPr id="5" name="Rectangle 5"/>
            <p:cNvSpPr/>
            <p:nvPr/>
          </p:nvSpPr>
          <p:spPr>
            <a:xfrm>
              <a:off x="60960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8170" y="2178050"/>
              <a:ext cx="22044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売上 1,200万円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837" y="2822575"/>
              <a:ext cx="247191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前年 1,000万円 / +20%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837" y="3251200"/>
              <a:ext cx="30160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注文 4,000件 / 前年3,500件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2435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12920" y="2178050"/>
              <a:ext cx="16153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粗利率 36%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15587" y="2822575"/>
              <a:ext cx="175412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前年 38% / −2pt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15587" y="3251200"/>
              <a:ext cx="29697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粗利 432万円 / 前年380万円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3910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0" y="2178050"/>
              <a:ext cx="144040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返品率 6%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0337" y="2822575"/>
              <a:ext cx="162677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前年 4% / +2pt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0337" y="3251200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理由を商品別に確認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02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6703418" cy="997077"/>
            <a:chOff x="593598" y="523875"/>
            <a:chExt cx="6703418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67034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売上増200万円を、チャネルで分解</a:t>
              </a:r>
            </a:p>
          </p:txBody>
        </p:sp>
      </p:grpSp>
      <p:grpSp>
        <p:nvGrpSpPr>
          <p:cNvPr id="22" name="content"/>
          <p:cNvGrpSpPr/>
          <p:nvPr/>
        </p:nvGrpSpPr>
        <p:grpSpPr>
          <a:xfrm>
            <a:off x="600075" y="2133600"/>
            <a:ext cx="9898399" cy="3782695"/>
            <a:chOff x="600075" y="2133600"/>
            <a:chExt cx="9898399" cy="3782695"/>
          </a:xfrm>
        </p:grpSpPr>
        <p:sp>
          <p:nvSpPr>
            <p:cNvPr id="5" name="TextBox 5"/>
            <p:cNvSpPr txBox="1"/>
            <p:nvPr/>
          </p:nvSpPr>
          <p:spPr>
            <a:xfrm>
              <a:off x="600075" y="2162175"/>
              <a:ext cx="52522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広告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2857500" y="2133600"/>
              <a:ext cx="3429000" cy="314325"/>
            </a:xfrm>
            <a:prstGeom prst="rect">
              <a:avLst/>
            </a:prstGeom>
            <a:solidFill>
              <a:srgbClr val="1F5780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924163" y="2149475"/>
              <a:ext cx="10355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240万円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84892" y="2225675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+20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075" y="2943225"/>
              <a:ext cx="103139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自然検索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57500" y="2914650"/>
              <a:ext cx="5572125" cy="314325"/>
            </a:xfrm>
            <a:prstGeom prst="rect">
              <a:avLst/>
            </a:prstGeom>
            <a:solidFill>
              <a:srgbClr val="1F578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924163" y="2930525"/>
              <a:ext cx="10355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390万円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184892" y="3006725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+90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075" y="3724275"/>
              <a:ext cx="77830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メール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57500" y="3695700"/>
              <a:ext cx="3000375" cy="314325"/>
            </a:xfrm>
            <a:prstGeom prst="rect">
              <a:avLst/>
            </a:prstGeom>
            <a:solidFill>
              <a:srgbClr val="1F578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924163" y="3711575"/>
              <a:ext cx="10355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210万円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84892" y="3787775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+50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075" y="4505325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リピート直訪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57500" y="4476750"/>
              <a:ext cx="5143500" cy="314325"/>
            </a:xfrm>
            <a:prstGeom prst="rect">
              <a:avLst/>
            </a:prstGeom>
            <a:solidFill>
              <a:srgbClr val="1F578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24163" y="4492625"/>
              <a:ext cx="103556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360万円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184892" y="4568825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+40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1980" y="5622925"/>
              <a:ext cx="73755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棒：当月売上 / 右端：前年同月との差（万円）。4チャネルの合計は1,200万円。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03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921040" cy="997077"/>
            <a:chOff x="593598" y="523875"/>
            <a:chExt cx="5921040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9210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粗利は52万円増、率は2pt低下</a:t>
              </a:r>
            </a:p>
          </p:txBody>
        </p:sp>
      </p:grpSp>
      <p:grpSp>
        <p:nvGrpSpPr>
          <p:cNvPr id="13" name="content"/>
          <p:cNvGrpSpPr/>
          <p:nvPr/>
        </p:nvGrpSpPr>
        <p:grpSpPr>
          <a:xfrm>
            <a:off x="590550" y="1965325"/>
            <a:ext cx="9905619" cy="3609594"/>
            <a:chOff x="590550" y="1965325"/>
            <a:chExt cx="9905619" cy="3609594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65325"/>
              <a:ext cx="1402491" cy="11334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585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432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75763" y="2425700"/>
              <a:ext cx="196489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万円 / 当月粗利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8175" y="3171825"/>
              <a:ext cx="39545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前年：1,000万円 × 38% = 380万円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8175" y="3771900"/>
              <a:ext cx="395453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8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当月：1,200万円 × 36% = 432万円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99707" y="2384425"/>
              <a:ext cx="259392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増えた粗利：52万円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99707" y="31083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売上の増加が率低下を補った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99707" y="38322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値引き・商品構成を分解する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5222875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粗利額の増加と、粗利率の改善は別の判断。</a:t>
              </a:r>
            </a:p>
          </p:txBody>
        </p:sp>
      </p:grpSp>
      <p:grpSp>
        <p:nvGrpSpPr>
          <p:cNvPr id="16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04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968746" cy="997077"/>
            <a:chOff x="593598" y="523875"/>
            <a:chExt cx="5968746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課題は、仮説と確認を対にする</a:t>
              </a:r>
            </a:p>
          </p:txBody>
        </p:sp>
      </p:grpSp>
      <p:grpSp>
        <p:nvGrpSpPr>
          <p:cNvPr id="17" name="content"/>
          <p:cNvGrpSpPr/>
          <p:nvPr/>
        </p:nvGrpSpPr>
        <p:grpSpPr>
          <a:xfrm>
            <a:off x="598170" y="1952625"/>
            <a:ext cx="10698480" cy="1635951"/>
            <a:chOff x="598170" y="1952625"/>
            <a:chExt cx="10698480" cy="1635951"/>
          </a:xfrm>
        </p:grpSpPr>
        <p:sp>
          <p:nvSpPr>
            <p:cNvPr id="5" name="Rectangle 5"/>
            <p:cNvSpPr/>
            <p:nvPr/>
          </p:nvSpPr>
          <p:spPr>
            <a:xfrm>
              <a:off x="60960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98170" y="217805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返品の増加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0837" y="2822575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仮説：説明と実物の差。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837" y="325120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確認：返品理由を分類。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32435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12920" y="2178050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粗利率の低下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315587" y="2822575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仮説：値引きと商品構成。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315587" y="3251200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確認：商品別に利益を分解。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39100" y="1952625"/>
              <a:ext cx="3257550" cy="28575"/>
            </a:xfrm>
            <a:prstGeom prst="rect">
              <a:avLst/>
            </a:prstGeom>
            <a:solidFill>
              <a:srgbClr val="21654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27670" y="217805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250" b="1" dirty="0">
                  <a:solidFill>
                    <a:srgbClr val="21654C"/>
                  </a:solidFill>
                  <a:latin typeface="+mn-lt"/>
                  <a:ea typeface="+mn-ea"/>
                  <a:cs typeface="+mn-cs"/>
                </a:rPr>
                <a:t>次の判断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30337" y="2822575"/>
              <a:ext cx="186989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広告増額は保留。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030337" y="3251200"/>
              <a:ext cx="325917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7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原因の確認後に配分を決める。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05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5186368" cy="997077"/>
            <a:chOff x="593598" y="523875"/>
            <a:chExt cx="5186368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518636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10月の施策と、担当・期限</a:t>
              </a:r>
            </a:p>
          </p:txBody>
        </p:sp>
      </p:grpSp>
      <p:grpSp>
        <p:nvGrpSpPr>
          <p:cNvPr id="9" name="content"/>
          <p:cNvGrpSpPr/>
          <p:nvPr/>
        </p:nvGrpSpPr>
        <p:grpSpPr>
          <a:xfrm>
            <a:off x="598932" y="2079625"/>
            <a:ext cx="7660081" cy="3678682"/>
            <a:chOff x="598932" y="2079625"/>
            <a:chExt cx="7660081" cy="3678682"/>
          </a:xfrm>
        </p:grpSpPr>
        <p:sp>
          <p:nvSpPr>
            <p:cNvPr id="5" name="TextBox 5"/>
            <p:cNvSpPr txBox="1"/>
            <p:nvPr/>
          </p:nvSpPr>
          <p:spPr>
            <a:xfrm>
              <a:off x="598932" y="2079625"/>
              <a:ext cx="58124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10/09 CS・森：上位20商品の返品理由を分類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8932" y="3089275"/>
              <a:ext cx="61276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10/16 商品・青木：返品上位5商品の説明を改稿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4098925"/>
              <a:ext cx="625491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10/16 販売・山田：粗利率の差分を商品別に分解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218" y="5435600"/>
              <a:ext cx="76577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実行の確認：分類率100%、対象商品の返品率を週次比較、粗利差分の説明。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06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eading"/>
          <p:cNvGrpSpPr/>
          <p:nvPr/>
        </p:nvGrpSpPr>
        <p:grpSpPr>
          <a:xfrm>
            <a:off x="593598" y="523875"/>
            <a:ext cx="6392799" cy="997077"/>
            <a:chOff x="593598" y="523875"/>
            <a:chExt cx="6392799" cy="997077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23875"/>
              <a:ext cx="185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780"/>
                  </a:solidFill>
                  <a:latin typeface="+mn-lt"/>
                  <a:ea typeface="+mn-ea"/>
                  <a:cs typeface="+mn-cs"/>
                </a:rPr>
                <a:t>EC / MONTHLY REPORT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04875"/>
              <a:ext cx="639279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15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次月判断：説明修正と分析を先行</a:t>
              </a:r>
            </a:p>
          </p:txBody>
        </p:sp>
      </p:grpSp>
      <p:grpSp>
        <p:nvGrpSpPr>
          <p:cNvPr id="9" name="content"/>
          <p:cNvGrpSpPr/>
          <p:nvPr/>
        </p:nvGrpSpPr>
        <p:grpSpPr>
          <a:xfrm>
            <a:off x="592836" y="2232025"/>
            <a:ext cx="6319596" cy="3066225"/>
            <a:chOff x="592836" y="2232025"/>
            <a:chExt cx="6319596" cy="3066225"/>
          </a:xfrm>
        </p:grpSpPr>
        <p:sp>
          <p:nvSpPr>
            <p:cNvPr id="5" name="TextBox 5"/>
            <p:cNvSpPr txBox="1"/>
            <p:nvPr/>
          </p:nvSpPr>
          <p:spPr>
            <a:xfrm>
              <a:off x="592836" y="223202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30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商品説明を直す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2836" y="3003550"/>
              <a:ext cx="49202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3300" b="1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粗利率の差分を説明する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37413" y="4225925"/>
              <a:ext cx="518729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広告増額は、その結果を確認してから判断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7413" y="4902200"/>
              <a:ext cx="627501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020" dirty="0">
                  <a:solidFill>
                    <a:srgbClr val="202C29"/>
                  </a:solidFill>
                  <a:latin typeface="+mn-lt"/>
                  <a:ea typeface="+mn-ea"/>
                  <a:cs typeface="+mn-cs"/>
                </a:rPr>
                <a:t>次回：施策の完了、返品の内訳、粗利の要因を確認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604266" y="6315075"/>
            <a:ext cx="10563377" cy="234696"/>
            <a:chOff x="604266" y="6315075"/>
            <a:chExt cx="10563377" cy="234696"/>
          </a:xfrm>
        </p:grpSpPr>
        <p:sp>
          <p:nvSpPr>
            <p:cNvPr id="10" name="TextBox 10"/>
            <p:cNvSpPr txBox="1"/>
            <p:nvPr/>
          </p:nvSpPr>
          <p:spPr>
            <a:xfrm>
              <a:off x="604266" y="6340475"/>
              <a:ext cx="35711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05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架空の組織・数値による制作サンプル / STUDIO YEBISU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614279" y="631507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00" dirty="0">
                  <a:solidFill>
                    <a:srgbClr val="53675E"/>
                  </a:solidFill>
                  <a:latin typeface="+mn-lt"/>
                  <a:ea typeface="+mn-ea"/>
                  <a:cs typeface="+mn-cs"/>
                </a:rPr>
                <a:t>07 / 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ource">
  <a:themeElements>
    <a:clrScheme name="sour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urc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ur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ource">
  <a:themeElements>
    <a:clrScheme name="sour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urce">
      <a:maj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JP"/>
        <a:ea typeface="Noto Sans JP"/>
        <a:cs typeface="Noto Sans JP"/>
        <a:font script="Jpan" typeface="Noto Sans JP"/>
        <a:font script="Hang" typeface="Noto Sans JP"/>
        <a:font script="Hans" typeface="Noto Sans JP"/>
        <a:font script="Hant" typeface="Noto Sans JP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ur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2026-10-13T11:19:28Z</dcterms:created>
  <dcterms:modified xsi:type="dcterms:W3CDTF">2026-10-13T11:19:28Z</dcterms:modified>
  <cp:category/>
  <cp:contentStatus/>
</cp:coreProperties>
</file>