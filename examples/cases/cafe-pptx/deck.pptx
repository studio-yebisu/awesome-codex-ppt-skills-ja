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ja-JP"/>
    </a:defPPr>
    <a:lvl1pPr marL="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ja-JP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  <Relationship Id="rId15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ja-JP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ja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ja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ja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ja-JP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運河沿いB案を、調査・交渉へ</a:t>
            </a:r>
          </a:p>
          <a:p>
            <a:pPr/>
            <a:endParaRPr lang="ja-JP" dirty="0"/>
          </a:p>
          <a:p>
            <a:pPr/>
            <a:r>
              <a:rPr lang="ja-JP" dirty="0"/>
              <a:t>今日の判断は契約ではなく、B案の現地調査と条件交渉へ進むことです。最終決裁に必要な客数・工事額・店長配置はまだ仮定です。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新店の顧客と、既存店との役割</a:t>
            </a:r>
          </a:p>
          <a:p>
            <a:pPr/>
            <a:endParaRPr lang="ja-JP" dirty="0"/>
          </a:p>
          <a:p>
            <a:pPr/>
            <a:r>
              <a:rPr lang="ja-JP" dirty="0"/>
              <a:t>顧客像は仮説です。既存店の来店理由を短い聞き取りで確認し、新店の利用場面が重なるだけにならないか検証します。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候補地の比較：B案は82点</a:t>
            </a:r>
          </a:p>
          <a:p>
            <a:pPr/>
            <a:endParaRPr lang="ja-JP" dirty="0"/>
          </a:p>
          <a:p>
            <a:pPr/>
            <a:r>
              <a:rPr lang="ja-JP" dirty="0"/>
              <a:t>僅差の評価です。B案は滞在環境と賃料に利点があり、A案は通行量と視認性が優れます。点数だけで決めず、82人という計画客数が成立するか調査します。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損益分岐は、一日60人</a:t>
            </a:r>
          </a:p>
          <a:p>
            <a:pPr/>
            <a:endParaRPr lang="ja-JP" dirty="0"/>
          </a:p>
          <a:p>
            <a:pPr/>
            <a:r>
              <a:rPr lang="ja-JP" dirty="0"/>
              <a:t>損益分岐売上は169.23万円、必要客数は59.17人です。端数を切り上げて一日60人と表示しています。客数55人の試算では月-7.75万円。利益は保証ではなく入力仮定からの計算です。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仕込みと購買を共通化する</a:t>
            </a:r>
          </a:p>
          <a:p>
            <a:pPr/>
            <a:endParaRPr lang="ja-JP" dirty="0"/>
          </a:p>
          <a:p>
            <a:pPr/>
            <a:r>
              <a:rPr lang="ja-JP" dirty="0"/>
              <a:t>共通化は既存店の負担を増やす可能性があります。仕込み量と移送の時間を測定し、無理のない運営体制を決めます。人件費68万円は計画値です。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契約前に、3つのリスクを確認</a:t>
            </a:r>
          </a:p>
          <a:p>
            <a:pPr/>
            <a:endParaRPr lang="ja-JP" dirty="0"/>
          </a:p>
          <a:p>
            <a:pPr/>
            <a:r>
              <a:rPr lang="ja-JP" dirty="0"/>
              <a:t>調査で仮定が崩れた場合は計画を修正します。契約を進めることが前提ではありません。検証の結果と必要な追加資金を決裁時に示します。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5週目に、投資判断を置く</a:t>
            </a:r>
          </a:p>
          <a:p>
            <a:pPr/>
            <a:endParaRPr lang="ja-JP" dirty="0"/>
          </a:p>
          <a:p>
            <a:pPr/>
            <a:r>
              <a:rPr lang="ja-JP" dirty="0"/>
              <a:t>現地調査と見積の結果が揃ってから投資を決めます。5週目は仮日程で、調査が不足する場合は決裁を延期します。開業日はここで約束しません。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ja-JP" dirty="0"/>
              <a:t>今日の決裁：B案の調査を進める</a:t>
            </a:r>
          </a:p>
          <a:p>
            <a:pPr/>
            <a:endParaRPr lang="ja-JP" dirty="0"/>
          </a:p>
          <a:p>
            <a:pPr/>
            <a:r>
              <a:rPr lang="ja-JP" dirty="0"/>
              <a:t>B案の調査と交渉を進めるための判断をお願いします。契約と投資の決裁は別です。客数、工事見積、店長配置を確認して次の会議へ持ち帰ります。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ourc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smtClean="0"/>
              <a:t>1/27/13</a:t>
            </a:fld>
            <a:endParaRPr lang="ja-JP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smtClean="0"/>
              <a:t>‹#›</a:t>
            </a:fld>
            <a:endParaRPr lang="ja-JP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ourc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ja-JP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ja-JP" smtClean="0"/>
              <a:t>1/27/13</a:t>
            </a:fld>
            <a:endParaRPr lang="ja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ja-JP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ja-JP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ja-JP" smtClean="0"/>
              <a:t>‹#›</a:t>
            </a:fld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ja-JP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ja-JP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ja-JP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ja-JP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ja-JP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ja-JP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ja-JP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ja-JP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ja-JP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ja-JP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5803445" cy="997077"/>
            <a:chOff x="593598" y="523875"/>
            <a:chExt cx="5803445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58034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運河沿いB案を、調査・交渉へ</a:t>
              </a:r>
            </a:p>
          </p:txBody>
        </p:sp>
      </p:grpSp>
      <p:grpSp>
        <p:nvGrpSpPr>
          <p:cNvPr id="9" name="content"/>
          <p:cNvGrpSpPr/>
          <p:nvPr/>
        </p:nvGrpSpPr>
        <p:grpSpPr>
          <a:xfrm>
            <a:off x="590550" y="1955800"/>
            <a:ext cx="5243678" cy="3423476"/>
            <a:chOff x="590550" y="1955800"/>
            <a:chExt cx="5243678" cy="3423476"/>
          </a:xfrm>
        </p:grpSpPr>
        <p:sp>
          <p:nvSpPr>
            <p:cNvPr id="5" name="TextBox 5"/>
            <p:cNvSpPr txBox="1"/>
            <p:nvPr/>
          </p:nvSpPr>
          <p:spPr>
            <a:xfrm>
              <a:off x="590550" y="1955800"/>
              <a:ext cx="2918968" cy="834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428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喫茶つむぎ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0550" y="2784475"/>
              <a:ext cx="3827882" cy="834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428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2号店出店提案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46938" y="4406900"/>
              <a:ext cx="518729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0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投資決裁の前に、客数と工事額を確かめる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48462" y="5041900"/>
              <a:ext cx="48452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社内決裁用 / 8分の説明 / 計画上の仮定を含む</a:t>
              </a:r>
            </a:p>
          </p:txBody>
        </p:sp>
      </p:grpSp>
      <p:grpSp>
        <p:nvGrpSpPr>
          <p:cNvPr id="12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01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5968746" cy="997077"/>
            <a:chOff x="593598" y="523875"/>
            <a:chExt cx="5968746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新店の顧客と、既存店との役割</a:t>
              </a:r>
            </a:p>
          </p:txBody>
        </p:sp>
      </p:grpSp>
      <p:grpSp>
        <p:nvGrpSpPr>
          <p:cNvPr id="17" name="content"/>
          <p:cNvGrpSpPr/>
          <p:nvPr/>
        </p:nvGrpSpPr>
        <p:grpSpPr>
          <a:xfrm>
            <a:off x="598170" y="1952625"/>
            <a:ext cx="10698480" cy="1635951"/>
            <a:chOff x="598170" y="1952625"/>
            <a:chExt cx="10698480" cy="1635951"/>
          </a:xfrm>
        </p:grpSpPr>
        <p:sp>
          <p:nvSpPr>
            <p:cNvPr id="5" name="Rectangle 5"/>
            <p:cNvSpPr/>
            <p:nvPr/>
          </p:nvSpPr>
          <p:spPr>
            <a:xfrm>
              <a:off x="60960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598170" y="2178050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平日の近隣客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0837" y="282257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仕事の合間に、ひと息。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0837" y="3251200"/>
              <a:ext cx="2796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落ち着いて滞在できる席。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432435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12920" y="2178050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週末の来訪者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315587" y="282257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散歩と買い物の途中に。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15587" y="32512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家族で利用できる場所。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03910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27670" y="21780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既存店との役割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0337" y="2822575"/>
              <a:ext cx="281923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24席の既存店は日常使い。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30337" y="3251200"/>
              <a:ext cx="302762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新店は滞在しやすさを重視。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18" name="TextBox 18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02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5021068" cy="997077"/>
            <a:chOff x="593598" y="523875"/>
            <a:chExt cx="5021068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50210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候補地の比較：B案は82点</a:t>
              </a:r>
            </a:p>
          </p:txBody>
        </p:sp>
      </p:grpSp>
      <p:grpSp>
        <p:nvGrpSpPr>
          <p:cNvPr id="26" name="content"/>
          <p:cNvGrpSpPr/>
          <p:nvPr/>
        </p:nvGrpSpPr>
        <p:grpSpPr>
          <a:xfrm>
            <a:off x="600837" y="1946275"/>
            <a:ext cx="10584520" cy="3942525"/>
            <a:chOff x="600837" y="1946275"/>
            <a:chExt cx="10584520" cy="3942525"/>
          </a:xfrm>
        </p:grpSpPr>
        <p:sp>
          <p:nvSpPr>
            <p:cNvPr id="5" name="TextBox 5"/>
            <p:cNvSpPr txBox="1"/>
            <p:nvPr/>
          </p:nvSpPr>
          <p:spPr>
            <a:xfrm>
              <a:off x="601980" y="1946275"/>
              <a:ext cx="59721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5点満点 × 重み / 合計100点。仮置き評価のため現地調査で更新。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00837" y="25654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比較項目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0837" y="2994025"/>
              <a:ext cx="190462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滞在しやすさ 30%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0837" y="3422650"/>
              <a:ext cx="1209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通行量 25%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00837" y="3851275"/>
              <a:ext cx="978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賃料 20%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0837" y="4279900"/>
              <a:ext cx="1209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視認性 15%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0837" y="4708525"/>
              <a:ext cx="190462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運営しやすさ 10%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77356" y="2565400"/>
              <a:ext cx="7205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A 駅前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277356" y="2994025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4 / 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356" y="3422650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5 / 5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356" y="3851275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3 / 5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7356" y="4279900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4 / 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356" y="4708525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4 / 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11031" y="2565400"/>
              <a:ext cx="12051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B 運河沿い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011031" y="2994025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5 / 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11031" y="3422650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3 / 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11031" y="3851275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5 / 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011031" y="4279900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3 / 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11031" y="4708525"/>
              <a:ext cx="563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4 / 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6213" y="5492750"/>
              <a:ext cx="233675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02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81点 / 賃料28万円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10650" y="5505450"/>
              <a:ext cx="21747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8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82点 / 賃料18万円</a:t>
              </a:r>
            </a:p>
          </p:txBody>
        </p:sp>
      </p:grpSp>
      <p:grpSp>
        <p:nvGrpSpPr>
          <p:cNvPr id="29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27" name="TextBox 27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03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4338262" cy="997077"/>
            <a:chOff x="593598" y="523875"/>
            <a:chExt cx="4338262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433826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損益分岐は、一日60人</a:t>
              </a:r>
            </a:p>
          </p:txBody>
        </p:sp>
      </p:grpSp>
      <p:grpSp>
        <p:nvGrpSpPr>
          <p:cNvPr id="16" name="content"/>
          <p:cNvGrpSpPr/>
          <p:nvPr/>
        </p:nvGrpSpPr>
        <p:grpSpPr>
          <a:xfrm>
            <a:off x="590550" y="1927225"/>
            <a:ext cx="9293135" cy="3964877"/>
            <a:chOff x="590550" y="1927225"/>
            <a:chExt cx="9293135" cy="3964877"/>
          </a:xfrm>
        </p:grpSpPr>
        <p:sp>
          <p:nvSpPr>
            <p:cNvPr id="5" name="TextBox 5"/>
            <p:cNvSpPr txBox="1"/>
            <p:nvPr/>
          </p:nvSpPr>
          <p:spPr>
            <a:xfrm>
              <a:off x="590550" y="1927225"/>
              <a:ext cx="1763996" cy="10763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55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42.4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485263" y="2330450"/>
              <a:ext cx="359648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0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万円 / 月の営業利益（仮定）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9694" y="2997200"/>
              <a:ext cx="25398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95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計画売上 234.52万円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9694" y="3549650"/>
              <a:ext cx="21330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95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変動費 82.08万円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9694" y="4102100"/>
              <a:ext cx="18442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95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固定費 110万円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24981" y="2270125"/>
              <a:ext cx="32653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売上 = 82人 × 1,100円 × 26日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4981" y="2860675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変動費率 = 35%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24981" y="3451225"/>
              <a:ext cx="28776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損益分岐 = 110万円 ÷ 65%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24981" y="4041775"/>
              <a:ext cx="25626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必要客数 = 59.2人 / 日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24600" y="4962525"/>
              <a:ext cx="355908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80" b="1" dirty="0">
                  <a:solidFill>
                    <a:srgbClr val="A34327"/>
                  </a:solidFill>
                  <a:latin typeface="+mn-lt"/>
                  <a:ea typeface="+mn-ea"/>
                  <a:cs typeface="+mn-cs"/>
                </a:rPr>
                <a:t>55人 / 日なら -7.8万円の赤字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2361" y="5613400"/>
              <a:ext cx="62558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42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税・資金繰り・減価償却の別途精査が必要。初期費用880万円は仮見積。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17" name="TextBox 17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04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5120640" cy="997077"/>
            <a:chOff x="593598" y="523875"/>
            <a:chExt cx="5120640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仕込みと購買を共通化する</a:t>
              </a:r>
            </a:p>
          </p:txBody>
        </p:sp>
      </p:grpSp>
      <p:grpSp>
        <p:nvGrpSpPr>
          <p:cNvPr id="17" name="content"/>
          <p:cNvGrpSpPr/>
          <p:nvPr/>
        </p:nvGrpSpPr>
        <p:grpSpPr>
          <a:xfrm>
            <a:off x="598170" y="1952625"/>
            <a:ext cx="10698480" cy="1635951"/>
            <a:chOff x="598170" y="1952625"/>
            <a:chExt cx="10698480" cy="1635951"/>
          </a:xfrm>
        </p:grpSpPr>
        <p:sp>
          <p:nvSpPr>
            <p:cNvPr id="5" name="Rectangle 5"/>
            <p:cNvSpPr/>
            <p:nvPr/>
          </p:nvSpPr>
          <p:spPr>
            <a:xfrm>
              <a:off x="60960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598170" y="2178050"/>
              <a:ext cx="628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新店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0837" y="2822575"/>
              <a:ext cx="212459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32席の滞在型店舗。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0837" y="32512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店長候補の配置を先行。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432435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12920" y="2178050"/>
              <a:ext cx="93154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既存店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315587" y="282257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仕込みの一部を支える。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15587" y="32512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繁忙時間の負荷を確認。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03910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27670" y="2178050"/>
              <a:ext cx="93154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共通化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0337" y="282257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材料の購買をまとめる。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30337" y="3251200"/>
              <a:ext cx="2796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品質基準と日報を揃える。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18" name="TextBox 18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05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5789584" cy="997077"/>
            <a:chOff x="593598" y="523875"/>
            <a:chExt cx="5789584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578958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契約前に、3つのリスクを確認</a:t>
              </a:r>
            </a:p>
          </p:txBody>
        </p:sp>
      </p:grpSp>
      <p:grpSp>
        <p:nvGrpSpPr>
          <p:cNvPr id="17" name="content"/>
          <p:cNvGrpSpPr/>
          <p:nvPr/>
        </p:nvGrpSpPr>
        <p:grpSpPr>
          <a:xfrm>
            <a:off x="598170" y="1952625"/>
            <a:ext cx="10698480" cy="1635951"/>
            <a:chOff x="598170" y="1952625"/>
            <a:chExt cx="10698480" cy="1635951"/>
          </a:xfrm>
        </p:grpSpPr>
        <p:sp>
          <p:nvSpPr>
            <p:cNvPr id="5" name="Rectangle 5"/>
            <p:cNvSpPr/>
            <p:nvPr/>
          </p:nvSpPr>
          <p:spPr>
            <a:xfrm>
              <a:off x="60960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598170" y="2178050"/>
              <a:ext cx="628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客数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0837" y="2822575"/>
              <a:ext cx="222879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通行量を2週間調査。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0837" y="32512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試験販売で単価を確認。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432435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12920" y="2178050"/>
              <a:ext cx="93154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工事額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315587" y="2822575"/>
              <a:ext cx="246034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3社へ同じ条件で見積。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15587" y="32512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予備費と上限を決める。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039100" y="1952625"/>
              <a:ext cx="3257550" cy="28575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27670" y="21780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25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店長配置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0337" y="2822575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候補者の意向を確認。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30337" y="3251200"/>
              <a:ext cx="279608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7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採用と育成の日程を確定。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18" name="TextBox 18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06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4941478" cy="997077"/>
            <a:chOff x="593598" y="523875"/>
            <a:chExt cx="4941478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494147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5週目に、投資判断を置く</a:t>
              </a:r>
            </a:p>
          </p:txBody>
        </p:sp>
      </p:grpSp>
      <p:grpSp>
        <p:nvGrpSpPr>
          <p:cNvPr id="14" name="content"/>
          <p:cNvGrpSpPr/>
          <p:nvPr/>
        </p:nvGrpSpPr>
        <p:grpSpPr>
          <a:xfrm>
            <a:off x="598932" y="2032000"/>
            <a:ext cx="10069068" cy="3356356"/>
            <a:chOff x="598932" y="2032000"/>
            <a:chExt cx="10069068" cy="3356356"/>
          </a:xfrm>
        </p:grpSpPr>
        <p:sp>
          <p:nvSpPr>
            <p:cNvPr id="5" name="Rectangle 5"/>
            <p:cNvSpPr/>
            <p:nvPr/>
          </p:nvSpPr>
          <p:spPr>
            <a:xfrm>
              <a:off x="1000125" y="3524250"/>
              <a:ext cx="9667875" cy="38100"/>
            </a:xfrm>
            <a:prstGeom prst="rect">
              <a:avLst/>
            </a:prstGeom>
            <a:solidFill>
              <a:srgbClr val="21654C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598932" y="2032000"/>
              <a:ext cx="89771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1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1〜2週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8932" y="251777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1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現地調査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427857" y="2032000"/>
              <a:ext cx="89771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1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3〜4週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427857" y="2517775"/>
              <a:ext cx="20002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1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見積・条件交渉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894957" y="2032000"/>
              <a:ext cx="45952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1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5週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894957" y="251777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10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投資決裁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9694" y="4378325"/>
              <a:ext cx="369493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95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決裁後：内装・採用・開業準備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9694" y="5006975"/>
              <a:ext cx="76325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95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担当：既存店長が調査、新店候補店長が運営設計、経営者が決裁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15" name="TextBox 15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07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ing"/>
          <p:cNvGrpSpPr/>
          <p:nvPr/>
        </p:nvGrpSpPr>
        <p:grpSpPr>
          <a:xfrm>
            <a:off x="593598" y="523875"/>
            <a:ext cx="6227498" cy="997077"/>
            <a:chOff x="593598" y="523875"/>
            <a:chExt cx="6227498" cy="9970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23875"/>
              <a:ext cx="14728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1654C"/>
                  </a:solidFill>
                  <a:latin typeface="+mn-lt"/>
                  <a:ea typeface="+mn-ea"/>
                  <a:cs typeface="+mn-cs"/>
                </a:rPr>
                <a:t>CAFE / PROPOSAL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04875"/>
              <a:ext cx="622749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15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今日の決裁：B案の調査を進める</a:t>
              </a:r>
            </a:p>
          </p:txBody>
        </p:sp>
      </p:grpSp>
      <p:grpSp>
        <p:nvGrpSpPr>
          <p:cNvPr id="9" name="content"/>
          <p:cNvGrpSpPr/>
          <p:nvPr/>
        </p:nvGrpSpPr>
        <p:grpSpPr>
          <a:xfrm>
            <a:off x="593979" y="2200275"/>
            <a:ext cx="6590386" cy="2888425"/>
            <a:chOff x="593979" y="2200275"/>
            <a:chExt cx="6590386" cy="2888425"/>
          </a:xfrm>
        </p:grpSpPr>
        <p:sp>
          <p:nvSpPr>
            <p:cNvPr id="5" name="TextBox 5"/>
            <p:cNvSpPr txBox="1"/>
            <p:nvPr/>
          </p:nvSpPr>
          <p:spPr>
            <a:xfrm>
              <a:off x="593979" y="2200275"/>
              <a:ext cx="3762908" cy="6023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08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承認してほしいこと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3979" y="2943225"/>
              <a:ext cx="4845170" cy="6023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3080" b="1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B案の現地調査・条件交渉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7413" y="4016375"/>
              <a:ext cx="654695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0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次回に揃えるもの：客数の根拠、工事見積、店長配置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37413" y="4692650"/>
              <a:ext cx="573115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2020" dirty="0">
                  <a:solidFill>
                    <a:srgbClr val="202C29"/>
                  </a:solidFill>
                  <a:latin typeface="+mn-lt"/>
                  <a:ea typeface="+mn-ea"/>
                  <a:cs typeface="+mn-cs"/>
                </a:rPr>
                <a:t>契約・投資の承認は、調査結果を確認してから</a:t>
              </a:r>
            </a:p>
          </p:txBody>
        </p:sp>
      </p:grpSp>
      <p:grpSp>
        <p:nvGrpSpPr>
          <p:cNvPr id="12" name="footer"/>
          <p:cNvGrpSpPr/>
          <p:nvPr/>
        </p:nvGrpSpPr>
        <p:grpSpPr>
          <a:xfrm>
            <a:off x="604266" y="6315075"/>
            <a:ext cx="10563377" cy="234696"/>
            <a:chOff x="604266" y="6315075"/>
            <a:chExt cx="10563377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4266" y="6340475"/>
              <a:ext cx="35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05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架空の組織・数値による制作サンプル / STUDIO YEBISU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4279" y="6315075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200" dirty="0">
                  <a:solidFill>
                    <a:srgbClr val="53675E"/>
                  </a:solidFill>
                  <a:latin typeface="+mn-lt"/>
                  <a:ea typeface="+mn-ea"/>
                  <a:cs typeface="+mn-cs"/>
                </a:rPr>
                <a:t>08 / 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ource">
  <a:themeElements>
    <a:clrScheme name="sour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ource">
      <a:maj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ur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source">
  <a:themeElements>
    <a:clrScheme name="sour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ource">
      <a:maj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ur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ja-JP</dc:language>
  <cp:lastModifiedBy/>
  <cp:revision>1</cp:revision>
  <dcterms:created xsi:type="dcterms:W3CDTF">2026-10-13T11:19:25Z</dcterms:created>
  <dcterms:modified xsi:type="dcterms:W3CDTF">2026-10-13T11:19:25Z</dcterms:modified>
  <cp:category/>
  <cp:contentStatus/>
</cp:coreProperties>
</file>