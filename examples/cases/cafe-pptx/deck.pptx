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16x9"/>
  <p:notesSz cx="6858000" cy="9144000"/>
  <p:defaultTextStyle>
    <a:defPPr>
      <a:defRPr lang="ja-JP"/>
    </a:defPPr>
    <a:lvl1pPr marL="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ja-JP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ja-J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ja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ja-JP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運河沿いB案を、調査・交渉へ</a:t>
            </a:r>
          </a:p>
          <a:p>
            <a:pPr/>
            <a:endParaRPr lang="ja-JP" dirty="0"/>
          </a:p>
          <a:p>
            <a:pPr/>
            <a:r>
              <a:rPr lang="ja-JP" dirty="0"/>
              <a:t>今日の判断は契約ではなく、B案の現地調査と条件交渉へ進むことです。最終決裁に必要な客数・工事額・店長配置はまだ仮定です。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新店の顧客と、既存店との役割</a:t>
            </a:r>
          </a:p>
          <a:p>
            <a:pPr/>
            <a:endParaRPr lang="ja-JP" dirty="0"/>
          </a:p>
          <a:p>
            <a:pPr/>
            <a:r>
              <a:rPr lang="ja-JP" dirty="0"/>
              <a:t>顧客像は仮説です。既存店の来店理由を短い聞き取りで確認し、新店の利用場面が重なるだけにならないか検証します。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候補地の比較：B案は82点</a:t>
            </a:r>
          </a:p>
          <a:p>
            <a:pPr/>
            <a:endParaRPr lang="ja-JP" dirty="0"/>
          </a:p>
          <a:p>
            <a:pPr/>
            <a:r>
              <a:rPr lang="ja-JP" dirty="0"/>
              <a:t>僅差の評価です。B案は滞在環境と賃料に利点があり、A案は通行量と視認性が優れます。点数だけで決めず、82人という計画客数が成立するか調査します。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損益分岐は、一日60人</a:t>
            </a:r>
          </a:p>
          <a:p>
            <a:pPr/>
            <a:endParaRPr lang="ja-JP" dirty="0"/>
          </a:p>
          <a:p>
            <a:pPr/>
            <a:r>
              <a:rPr lang="ja-JP" dirty="0"/>
              <a:t>損益分岐売上は169.23万円、必要客数は59.17人です。端数を切り上げて一日60人と表示しています。客数55人の試算では月-7.75万円。利益は保証ではなく入力仮定からの計算です。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仕込みと購買を共通化する</a:t>
            </a:r>
          </a:p>
          <a:p>
            <a:pPr/>
            <a:endParaRPr lang="ja-JP" dirty="0"/>
          </a:p>
          <a:p>
            <a:pPr/>
            <a:r>
              <a:rPr lang="ja-JP" dirty="0"/>
              <a:t>共通化は既存店の負担を増やす可能性があります。仕込み量と移送の時間を測定し、無理のない運営体制を決めます。人件費68万円は計画値です。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契約前に、3つのリスクを確認</a:t>
            </a:r>
          </a:p>
          <a:p>
            <a:pPr/>
            <a:endParaRPr lang="ja-JP" dirty="0"/>
          </a:p>
          <a:p>
            <a:pPr/>
            <a:r>
              <a:rPr lang="ja-JP" dirty="0"/>
              <a:t>調査で仮定が崩れた場合は計画を修正します。契約を進めることが前提ではありません。検証の結果と必要な追加資金を決裁時に示します。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5週目に、投資判断を置く</a:t>
            </a:r>
          </a:p>
          <a:p>
            <a:pPr/>
            <a:endParaRPr lang="ja-JP" dirty="0"/>
          </a:p>
          <a:p>
            <a:pPr/>
            <a:r>
              <a:rPr lang="ja-JP" dirty="0"/>
              <a:t>現地調査と見積の結果が揃ってから投資を決めます。5週目は仮日程で、調査が不足する場合は決裁を延期します。開業日はここで約束しません。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今日の決裁：B案の調査を進める</a:t>
            </a:r>
          </a:p>
          <a:p>
            <a:pPr/>
            <a:endParaRPr lang="ja-JP" dirty="0"/>
          </a:p>
          <a:p>
            <a:pPr/>
            <a:r>
              <a:rPr lang="ja-JP" dirty="0"/>
              <a:t>B案の調査と交渉を進めるための判断をお願いします。契約と投資の決裁は別です。客数、工事見積、店長配置を確認して次の会議へ持ち帰ります。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ourc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ja-JP" smtClean="0"/>
              <a:t>1/27/13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ja-JP" smtClean="0"/>
              <a:t>‹#›</a:t>
            </a:fld>
            <a:endParaRPr lang="ja-JP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ourc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ja-JP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ja-JP" smtClean="0"/>
              <a:t>1/27/13</a:t>
            </a:fld>
            <a:endParaRPr 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ja-JP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ja-JP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ja-JP" smtClean="0"/>
              <a:t>‹#›</a:t>
            </a:fld>
            <a:endParaRPr 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ja-JP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ja-JP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ja-JP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ja-JP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ja-JP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ja-JP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ja-JP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ja-JP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ja-JP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ja-JP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sz="1800" kern="1200" lang="ja-JP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ja-JP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ja-JP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ja-JP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ja-JP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ja-JP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ja-JP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ja-JP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ja-JP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3598" y="523875"/>
            <a:ext cx="5803445" cy="997077"/>
            <a:chOff x="593598" y="523875"/>
            <a:chExt cx="5803445" cy="997077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23875"/>
              <a:ext cx="1630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1654C"/>
                  </a:solidFill>
                  <a:latin typeface="+mn-lt"/>
                  <a:ea typeface="+mn-ea"/>
                  <a:cs typeface="+mn-cs"/>
                </a:rPr>
                <a:t>CAFE / PROPOSAL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904875"/>
              <a:ext cx="580344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150" b="1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運河沿いB案を、調査・交渉へ</a:t>
              </a:r>
            </a:p>
          </p:txBody>
        </p:sp>
      </p:grpSp>
      <p:grpSp>
        <p:nvGrpSpPr>
          <p:cNvPr id="9" name="content"/>
          <p:cNvGrpSpPr/>
          <p:nvPr/>
        </p:nvGrpSpPr>
        <p:grpSpPr>
          <a:xfrm>
            <a:off x="590550" y="1955800"/>
            <a:ext cx="5243678" cy="3423476"/>
            <a:chOff x="590550" y="1955800"/>
            <a:chExt cx="5243678" cy="3423476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1955800"/>
              <a:ext cx="2918968" cy="8343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4280" b="1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喫茶つむぎ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0550" y="2784475"/>
              <a:ext cx="3863976" cy="8343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4280" b="1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2号店出店提案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46938" y="4406900"/>
              <a:ext cx="518729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02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投資決裁の前に、客数と工事額を確かめる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48462" y="5041900"/>
              <a:ext cx="484526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720" dirty="0">
                  <a:solidFill>
                    <a:srgbClr val="53675E"/>
                  </a:solidFill>
                  <a:latin typeface="+mn-lt"/>
                  <a:ea typeface="+mn-ea"/>
                  <a:cs typeface="+mn-cs"/>
                </a:rPr>
                <a:t>社内決裁用 / 8分の説明 / 計画上の仮定を含む</a:t>
              </a:r>
            </a:p>
          </p:txBody>
        </p:sp>
      </p:grpSp>
      <p:grpSp>
        <p:nvGrpSpPr>
          <p:cNvPr id="12" name="footer"/>
          <p:cNvGrpSpPr/>
          <p:nvPr/>
        </p:nvGrpSpPr>
        <p:grpSpPr>
          <a:xfrm>
            <a:off x="604266" y="6315075"/>
            <a:ext cx="10563377" cy="234696"/>
            <a:chOff x="604266" y="6315075"/>
            <a:chExt cx="10563377" cy="234696"/>
          </a:xfrm>
        </p:grpSpPr>
        <p:sp>
          <p:nvSpPr>
            <p:cNvPr id="10" name="TextBox 10"/>
            <p:cNvSpPr txBox="1"/>
            <p:nvPr/>
          </p:nvSpPr>
          <p:spPr>
            <a:xfrm>
              <a:off x="604266" y="6340475"/>
              <a:ext cx="35711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050" dirty="0">
                  <a:solidFill>
                    <a:srgbClr val="53675E"/>
                  </a:solidFill>
                  <a:latin typeface="+mn-lt"/>
                  <a:ea typeface="+mn-ea"/>
                  <a:cs typeface="+mn-cs"/>
                </a:rPr>
                <a:t>架空の組織・数値による制作サンプル / STUDIO YEBISU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614279" y="6315075"/>
              <a:ext cx="6842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rgbClr val="53675E"/>
                  </a:solidFill>
                  <a:latin typeface="+mn-lt"/>
                  <a:ea typeface="+mn-ea"/>
                  <a:cs typeface="+mn-cs"/>
                </a:rPr>
                <a:t>01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3598" y="523875"/>
            <a:ext cx="5968746" cy="997077"/>
            <a:chOff x="593598" y="523875"/>
            <a:chExt cx="5968746" cy="997077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23875"/>
              <a:ext cx="1630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1654C"/>
                  </a:solidFill>
                  <a:latin typeface="+mn-lt"/>
                  <a:ea typeface="+mn-ea"/>
                  <a:cs typeface="+mn-cs"/>
                </a:rPr>
                <a:t>CAFE / PROPOSAL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904875"/>
              <a:ext cx="596874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150" b="1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新店の顧客と、既存店との役割</a:t>
              </a:r>
            </a:p>
          </p:txBody>
        </p:sp>
      </p:grpSp>
      <p:grpSp>
        <p:nvGrpSpPr>
          <p:cNvPr id="18" name="content"/>
          <p:cNvGrpSpPr/>
          <p:nvPr/>
        </p:nvGrpSpPr>
        <p:grpSpPr>
          <a:xfrm>
            <a:off x="600075" y="2066925"/>
            <a:ext cx="10963275" cy="3519932"/>
            <a:chOff x="600075" y="2066925"/>
            <a:chExt cx="10963275" cy="3519932"/>
          </a:xfrm>
        </p:grpSpPr>
        <p:sp>
          <p:nvSpPr>
            <p:cNvPr id="5" name="Rectangle 5"/>
            <p:cNvSpPr/>
            <p:nvPr/>
          </p:nvSpPr>
          <p:spPr>
            <a:xfrm>
              <a:off x="609600" y="2066925"/>
              <a:ext cx="5238750" cy="857250"/>
            </a:xfrm>
            <a:prstGeom prst="rect">
              <a:avLst/>
            </a:prstGeom>
            <a:solidFill>
              <a:srgbClr val="E5EEE7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08863" y="2168525"/>
              <a:ext cx="165216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020" b="1" dirty="0">
                  <a:solidFill>
                    <a:srgbClr val="21654C"/>
                  </a:solidFill>
                  <a:latin typeface="+mn-lt"/>
                  <a:ea typeface="+mn-ea"/>
                  <a:cs typeface="+mn-cs"/>
                </a:rPr>
                <a:t>平日の近隣客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11149" y="2533650"/>
              <a:ext cx="171759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8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仕事の合間の滞在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883027" y="2990850"/>
              <a:ext cx="431800" cy="4850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480" b="1" dirty="0">
                  <a:solidFill>
                    <a:srgbClr val="21654C"/>
                  </a:solidFill>
                  <a:latin typeface="+mn-lt"/>
                  <a:ea typeface="+mn-ea"/>
                  <a:cs typeface="+mn-cs"/>
                </a:rPr>
                <a:t>↓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229350" y="2066925"/>
              <a:ext cx="5238750" cy="857250"/>
            </a:xfrm>
            <a:prstGeom prst="rect">
              <a:avLst/>
            </a:prstGeom>
            <a:solidFill>
              <a:srgbClr val="E5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428613" y="2168525"/>
              <a:ext cx="165216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020" b="1" dirty="0">
                  <a:solidFill>
                    <a:srgbClr val="21654C"/>
                  </a:solidFill>
                  <a:latin typeface="+mn-lt"/>
                  <a:ea typeface="+mn-ea"/>
                  <a:cs typeface="+mn-cs"/>
                </a:rPr>
                <a:t>週末の来訪者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30899" y="2533650"/>
              <a:ext cx="19302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8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散歩・買い物の途中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502777" y="2990850"/>
              <a:ext cx="431800" cy="4850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480" b="1" dirty="0">
                  <a:solidFill>
                    <a:srgbClr val="21654C"/>
                  </a:solidFill>
                  <a:latin typeface="+mn-lt"/>
                  <a:ea typeface="+mn-ea"/>
                  <a:cs typeface="+mn-cs"/>
                </a:rPr>
                <a:t>↓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09600" y="3495675"/>
              <a:ext cx="10953750" cy="1038225"/>
            </a:xfrm>
            <a:prstGeom prst="rect">
              <a:avLst/>
            </a:prstGeom>
            <a:solidFill>
              <a:srgbClr val="21654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7151" y="3657600"/>
              <a:ext cx="4130700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1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新店：落ち着いて滞在する場所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18" y="4083050"/>
              <a:ext cx="44814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32席の計画。利用場面を調査して確かめる。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0075" y="4829175"/>
              <a:ext cx="284222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880" b="1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既存店：24席の日常使い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1218" y="5264150"/>
              <a:ext cx="60140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新店との役割が重なるだけにならないか、来店理由を聞く。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604266" y="6315075"/>
            <a:ext cx="10563377" cy="234696"/>
            <a:chOff x="604266" y="6315075"/>
            <a:chExt cx="10563377" cy="234696"/>
          </a:xfrm>
        </p:grpSpPr>
        <p:sp>
          <p:nvSpPr>
            <p:cNvPr id="19" name="TextBox 19"/>
            <p:cNvSpPr txBox="1"/>
            <p:nvPr/>
          </p:nvSpPr>
          <p:spPr>
            <a:xfrm>
              <a:off x="604266" y="6340475"/>
              <a:ext cx="35711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050" dirty="0">
                  <a:solidFill>
                    <a:srgbClr val="53675E"/>
                  </a:solidFill>
                  <a:latin typeface="+mn-lt"/>
                  <a:ea typeface="+mn-ea"/>
                  <a:cs typeface="+mn-cs"/>
                </a:rPr>
                <a:t>架空の組織・数値による制作サンプル / STUDIO YEBISU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14279" y="6315075"/>
              <a:ext cx="7048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rgbClr val="53675E"/>
                  </a:solidFill>
                  <a:latin typeface="+mn-lt"/>
                  <a:ea typeface="+mn-ea"/>
                  <a:cs typeface="+mn-cs"/>
                </a:rPr>
                <a:t>02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3598" y="523875"/>
            <a:ext cx="5021068" cy="997077"/>
            <a:chOff x="593598" y="523875"/>
            <a:chExt cx="5021068" cy="997077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23875"/>
              <a:ext cx="1630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1654C"/>
                  </a:solidFill>
                  <a:latin typeface="+mn-lt"/>
                  <a:ea typeface="+mn-ea"/>
                  <a:cs typeface="+mn-cs"/>
                </a:rPr>
                <a:t>CAFE / PROPOSAL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904875"/>
              <a:ext cx="502106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150" b="1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候補地の比較：B案は82点</a:t>
              </a:r>
            </a:p>
          </p:txBody>
        </p:sp>
      </p:grpSp>
      <p:grpSp>
        <p:nvGrpSpPr>
          <p:cNvPr id="37" name="content"/>
          <p:cNvGrpSpPr/>
          <p:nvPr/>
        </p:nvGrpSpPr>
        <p:grpSpPr>
          <a:xfrm>
            <a:off x="601980" y="1936750"/>
            <a:ext cx="10961370" cy="3860165"/>
            <a:chOff x="601980" y="1936750"/>
            <a:chExt cx="10961370" cy="3860165"/>
          </a:xfrm>
        </p:grpSpPr>
        <p:sp>
          <p:nvSpPr>
            <p:cNvPr id="5" name="TextBox 5"/>
            <p:cNvSpPr txBox="1"/>
            <p:nvPr/>
          </p:nvSpPr>
          <p:spPr>
            <a:xfrm>
              <a:off x="601980" y="1936750"/>
              <a:ext cx="48009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dirty="0">
                  <a:solidFill>
                    <a:srgbClr val="53675E"/>
                  </a:solidFill>
                  <a:latin typeface="+mn-lt"/>
                  <a:ea typeface="+mn-ea"/>
                  <a:cs typeface="+mn-cs"/>
                </a:rPr>
                <a:t>5点満点 × 重み。仮置き評価のため現地調査で更新。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609600" y="2428875"/>
              <a:ext cx="10953750" cy="457200"/>
            </a:xfrm>
            <a:prstGeom prst="rect">
              <a:avLst/>
            </a:prstGeom>
            <a:solidFill>
              <a:srgbClr val="21654C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2287" y="2517775"/>
              <a:ext cx="163835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7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比較項目・重み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230112" y="2517775"/>
              <a:ext cx="76676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7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 駅前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73312" y="2517775"/>
              <a:ext cx="120332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7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 運河沿い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09600" y="2886075"/>
              <a:ext cx="10953750" cy="457200"/>
            </a:xfrm>
            <a:prstGeom prst="rect">
              <a:avLst/>
            </a:prstGeom>
            <a:solidFill>
              <a:srgbClr val="E5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72668" y="2987675"/>
              <a:ext cx="18827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滞在しやすさ 30%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29731" y="2974975"/>
              <a:ext cx="7016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80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4 / 5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972931" y="2974975"/>
              <a:ext cx="7016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800" b="1" dirty="0">
                  <a:solidFill>
                    <a:srgbClr val="21654C"/>
                  </a:solidFill>
                  <a:latin typeface="+mn-lt"/>
                  <a:ea typeface="+mn-ea"/>
                  <a:cs typeface="+mn-cs"/>
                </a:rPr>
                <a:t>5 / 5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09600" y="3333750"/>
              <a:ext cx="10953750" cy="9525"/>
            </a:xfrm>
            <a:prstGeom prst="rect">
              <a:avLst/>
            </a:prstGeom>
            <a:solidFill>
              <a:srgbClr val="CAD5CC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09600" y="3343275"/>
              <a:ext cx="10953750" cy="457200"/>
            </a:xfrm>
            <a:prstGeom prst="rect">
              <a:avLst/>
            </a:prstGeom>
            <a:solidFill>
              <a:srgbClr val="EDF0E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72668" y="3444875"/>
              <a:ext cx="1308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通行量 25%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29731" y="3432175"/>
              <a:ext cx="7016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800" b="1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5 / 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972931" y="3432175"/>
              <a:ext cx="7016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800" dirty="0">
                  <a:solidFill>
                    <a:srgbClr val="21654C"/>
                  </a:solidFill>
                  <a:latin typeface="+mn-lt"/>
                  <a:ea typeface="+mn-ea"/>
                  <a:cs typeface="+mn-cs"/>
                </a:rPr>
                <a:t>3 / 5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09600" y="3790950"/>
              <a:ext cx="10953750" cy="9525"/>
            </a:xfrm>
            <a:prstGeom prst="rect">
              <a:avLst/>
            </a:prstGeom>
            <a:solidFill>
              <a:srgbClr val="CAD5CC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09600" y="3800475"/>
              <a:ext cx="10953750" cy="457200"/>
            </a:xfrm>
            <a:prstGeom prst="rect">
              <a:avLst/>
            </a:prstGeom>
            <a:solidFill>
              <a:srgbClr val="E5EEE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72668" y="3902075"/>
              <a:ext cx="10985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賃料 20%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29731" y="3889375"/>
              <a:ext cx="7016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80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3 / 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972931" y="3889375"/>
              <a:ext cx="7016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800" b="1" dirty="0">
                  <a:solidFill>
                    <a:srgbClr val="21654C"/>
                  </a:solidFill>
                  <a:latin typeface="+mn-lt"/>
                  <a:ea typeface="+mn-ea"/>
                  <a:cs typeface="+mn-cs"/>
                </a:rPr>
                <a:t>5 / 5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09600" y="4248150"/>
              <a:ext cx="10953750" cy="9525"/>
            </a:xfrm>
            <a:prstGeom prst="rect">
              <a:avLst/>
            </a:prstGeom>
            <a:solidFill>
              <a:srgbClr val="CAD5C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09600" y="4257675"/>
              <a:ext cx="10953750" cy="457200"/>
            </a:xfrm>
            <a:prstGeom prst="rect">
              <a:avLst/>
            </a:prstGeom>
            <a:solidFill>
              <a:srgbClr val="EDF0E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72668" y="4359275"/>
              <a:ext cx="12811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視認性 15%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29731" y="4346575"/>
              <a:ext cx="7016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800" b="1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4 / 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972931" y="4346575"/>
              <a:ext cx="7016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800" dirty="0">
                  <a:solidFill>
                    <a:srgbClr val="21654C"/>
                  </a:solidFill>
                  <a:latin typeface="+mn-lt"/>
                  <a:ea typeface="+mn-ea"/>
                  <a:cs typeface="+mn-cs"/>
                </a:rPr>
                <a:t>3 / 5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09600" y="4705350"/>
              <a:ext cx="10953750" cy="9525"/>
            </a:xfrm>
            <a:prstGeom prst="rect">
              <a:avLst/>
            </a:prstGeom>
            <a:solidFill>
              <a:srgbClr val="CAD5CC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09600" y="4714875"/>
              <a:ext cx="10953750" cy="457200"/>
            </a:xfrm>
            <a:prstGeom prst="rect">
              <a:avLst/>
            </a:prstGeom>
            <a:solidFill>
              <a:srgbClr val="F7F5EE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72668" y="4816475"/>
              <a:ext cx="20491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運営のしやすさ 10%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29731" y="4803775"/>
              <a:ext cx="7016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80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4 / 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972931" y="4803775"/>
              <a:ext cx="7016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800" dirty="0">
                  <a:solidFill>
                    <a:srgbClr val="21654C"/>
                  </a:solidFill>
                  <a:latin typeface="+mn-lt"/>
                  <a:ea typeface="+mn-ea"/>
                  <a:cs typeface="+mn-cs"/>
                </a:rPr>
                <a:t>4 / 5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09600" y="5162550"/>
              <a:ext cx="10953750" cy="9525"/>
            </a:xfrm>
            <a:prstGeom prst="rect">
              <a:avLst/>
            </a:prstGeom>
            <a:solidFill>
              <a:srgbClr val="CAD5C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29350" y="5429250"/>
              <a:ext cx="225425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880" b="1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81点 / 賃料28万円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972550" y="5429250"/>
              <a:ext cx="225425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880" b="1" dirty="0">
                  <a:solidFill>
                    <a:srgbClr val="21654C"/>
                  </a:solidFill>
                  <a:latin typeface="+mn-lt"/>
                  <a:ea typeface="+mn-ea"/>
                  <a:cs typeface="+mn-cs"/>
                </a:rPr>
                <a:t>82点 / 賃料18万円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604266" y="6315075"/>
            <a:ext cx="10563377" cy="234696"/>
            <a:chOff x="604266" y="6315075"/>
            <a:chExt cx="10563377" cy="234696"/>
          </a:xfrm>
        </p:grpSpPr>
        <p:sp>
          <p:nvSpPr>
            <p:cNvPr id="38" name="TextBox 38"/>
            <p:cNvSpPr txBox="1"/>
            <p:nvPr/>
          </p:nvSpPr>
          <p:spPr>
            <a:xfrm>
              <a:off x="604266" y="6340475"/>
              <a:ext cx="35711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050" dirty="0">
                  <a:solidFill>
                    <a:srgbClr val="53675E"/>
                  </a:solidFill>
                  <a:latin typeface="+mn-lt"/>
                  <a:ea typeface="+mn-ea"/>
                  <a:cs typeface="+mn-cs"/>
                </a:rPr>
                <a:t>架空の組織・数値による制作サンプル / STUDIO YEBISU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614279" y="6315075"/>
              <a:ext cx="7048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rgbClr val="53675E"/>
                  </a:solidFill>
                  <a:latin typeface="+mn-lt"/>
                  <a:ea typeface="+mn-ea"/>
                  <a:cs typeface="+mn-cs"/>
                </a:rPr>
                <a:t>03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3598" y="523875"/>
            <a:ext cx="4338262" cy="997077"/>
            <a:chOff x="593598" y="523875"/>
            <a:chExt cx="4338262" cy="997077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23875"/>
              <a:ext cx="1630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1654C"/>
                  </a:solidFill>
                  <a:latin typeface="+mn-lt"/>
                  <a:ea typeface="+mn-ea"/>
                  <a:cs typeface="+mn-cs"/>
                </a:rPr>
                <a:t>CAFE / PROPOSAL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904875"/>
              <a:ext cx="433826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150" b="1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損益分岐は、一日60人</a:t>
              </a:r>
            </a:p>
          </p:txBody>
        </p:sp>
      </p:grpSp>
      <p:grpSp>
        <p:nvGrpSpPr>
          <p:cNvPr id="16" name="content"/>
          <p:cNvGrpSpPr/>
          <p:nvPr/>
        </p:nvGrpSpPr>
        <p:grpSpPr>
          <a:xfrm>
            <a:off x="590550" y="1927225"/>
            <a:ext cx="9293135" cy="3964877"/>
            <a:chOff x="590550" y="1927225"/>
            <a:chExt cx="9293135" cy="3964877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1927225"/>
              <a:ext cx="2085975" cy="10763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5550" b="1" dirty="0">
                  <a:solidFill>
                    <a:srgbClr val="21654C"/>
                  </a:solidFill>
                  <a:latin typeface="+mn-lt"/>
                  <a:ea typeface="+mn-ea"/>
                  <a:cs typeface="+mn-cs"/>
                </a:rPr>
                <a:t>42.4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485263" y="2330450"/>
              <a:ext cx="3596485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02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万円 / 月の営業利益（仮定）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9694" y="2997200"/>
              <a:ext cx="268446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95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計画売上 234.52万円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9694" y="3549650"/>
              <a:ext cx="22479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95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変動費 82.08万円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9694" y="4102100"/>
              <a:ext cx="191611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95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固定費 110万円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24981" y="2270125"/>
              <a:ext cx="36639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80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売上 = 82人 × 1,100円 × 26日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24981" y="2860675"/>
              <a:ext cx="19224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80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変動費率 = 35%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24981" y="3451225"/>
              <a:ext cx="31861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80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損益分岐 = 110万円 ÷ 65%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24981" y="4041775"/>
              <a:ext cx="26622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80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必要客数 = 59.2人 / 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24600" y="4962525"/>
              <a:ext cx="3559085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880" b="1" dirty="0">
                  <a:solidFill>
                    <a:srgbClr val="A34327"/>
                  </a:solidFill>
                  <a:latin typeface="+mn-lt"/>
                  <a:ea typeface="+mn-ea"/>
                  <a:cs typeface="+mn-cs"/>
                </a:rPr>
                <a:t>55人 / 日なら -7.8万円の赤字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2361" y="5613400"/>
              <a:ext cx="62558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420" dirty="0">
                  <a:solidFill>
                    <a:srgbClr val="53675E"/>
                  </a:solidFill>
                  <a:latin typeface="+mn-lt"/>
                  <a:ea typeface="+mn-ea"/>
                  <a:cs typeface="+mn-cs"/>
                </a:rPr>
                <a:t>税・資金繰り・減価償却の別途精査が必要。初期費用880万円は仮見積。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604266" y="6315075"/>
            <a:ext cx="10563377" cy="234696"/>
            <a:chOff x="604266" y="6315075"/>
            <a:chExt cx="10563377" cy="234696"/>
          </a:xfrm>
        </p:grpSpPr>
        <p:sp>
          <p:nvSpPr>
            <p:cNvPr id="17" name="TextBox 17"/>
            <p:cNvSpPr txBox="1"/>
            <p:nvPr/>
          </p:nvSpPr>
          <p:spPr>
            <a:xfrm>
              <a:off x="604266" y="6340475"/>
              <a:ext cx="35711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050" dirty="0">
                  <a:solidFill>
                    <a:srgbClr val="53675E"/>
                  </a:solidFill>
                  <a:latin typeface="+mn-lt"/>
                  <a:ea typeface="+mn-ea"/>
                  <a:cs typeface="+mn-cs"/>
                </a:rPr>
                <a:t>架空の組織・数値による制作サンプル / STUDIO YEBISU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614279" y="6315075"/>
              <a:ext cx="7048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rgbClr val="53675E"/>
                  </a:solidFill>
                  <a:latin typeface="+mn-lt"/>
                  <a:ea typeface="+mn-ea"/>
                  <a:cs typeface="+mn-cs"/>
                </a:rPr>
                <a:t>04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3598" y="523875"/>
            <a:ext cx="5120640" cy="997077"/>
            <a:chOff x="593598" y="523875"/>
            <a:chExt cx="5120640" cy="997077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23875"/>
              <a:ext cx="1630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1654C"/>
                  </a:solidFill>
                  <a:latin typeface="+mn-lt"/>
                  <a:ea typeface="+mn-ea"/>
                  <a:cs typeface="+mn-cs"/>
                </a:rPr>
                <a:t>CAFE / PROPOSAL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904875"/>
              <a:ext cx="51206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150" b="1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仕込みと購買を共通化する</a:t>
              </a:r>
            </a:p>
          </p:txBody>
        </p:sp>
      </p:grpSp>
      <p:grpSp>
        <p:nvGrpSpPr>
          <p:cNvPr id="24" name="content"/>
          <p:cNvGrpSpPr/>
          <p:nvPr/>
        </p:nvGrpSpPr>
        <p:grpSpPr>
          <a:xfrm>
            <a:off x="601218" y="1885950"/>
            <a:ext cx="10962132" cy="4072382"/>
            <a:chOff x="601218" y="1885950"/>
            <a:chExt cx="10962132" cy="4072382"/>
          </a:xfrm>
        </p:grpSpPr>
        <p:sp>
          <p:nvSpPr>
            <p:cNvPr id="5" name="TextBox 5"/>
            <p:cNvSpPr txBox="1"/>
            <p:nvPr/>
          </p:nvSpPr>
          <p:spPr>
            <a:xfrm>
              <a:off x="601599" y="1885950"/>
              <a:ext cx="639699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80" dirty="0">
                  <a:solidFill>
                    <a:srgbClr val="53675E"/>
                  </a:solidFill>
                  <a:latin typeface="+mn-lt"/>
                  <a:ea typeface="+mn-ea"/>
                  <a:cs typeface="+mn-cs"/>
                </a:rPr>
                <a:t>運営体制の提案。仕込みの量・移送時間・繁忙時の負荷は未確認。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609600" y="2419350"/>
              <a:ext cx="4095750" cy="1581150"/>
            </a:xfrm>
            <a:prstGeom prst="rect">
              <a:avLst/>
            </a:prstGeom>
            <a:solidFill>
              <a:srgbClr val="E5EEE7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26770" y="2520950"/>
              <a:ext cx="188717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250" b="1" dirty="0">
                  <a:solidFill>
                    <a:srgbClr val="21654C"/>
                  </a:solidFill>
                  <a:latin typeface="+mn-lt"/>
                  <a:ea typeface="+mn-ea"/>
                  <a:cs typeface="+mn-cs"/>
                </a:rPr>
                <a:t>既存店：24席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9056" y="300355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80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日常使いの営業を維持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29056" y="3413125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80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仕込みの一部を支える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467600" y="2419350"/>
              <a:ext cx="4095750" cy="1581150"/>
            </a:xfrm>
            <a:prstGeom prst="rect">
              <a:avLst/>
            </a:prstGeom>
            <a:solidFill>
              <a:srgbClr val="E5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84770" y="2520950"/>
              <a:ext cx="158428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250" b="1" dirty="0">
                  <a:solidFill>
                    <a:srgbClr val="21654C"/>
                  </a:solidFill>
                  <a:latin typeface="+mn-lt"/>
                  <a:ea typeface="+mn-ea"/>
                  <a:cs typeface="+mn-cs"/>
                </a:rPr>
                <a:t>新店：32席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7056" y="300355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80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落ち着いて滞在する店舗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87056" y="3413125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80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店長候補の配置を先行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135118" y="267335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b="1" dirty="0">
                  <a:solidFill>
                    <a:srgbClr val="21654C"/>
                  </a:solidFill>
                  <a:latin typeface="+mn-lt"/>
                  <a:ea typeface="+mn-ea"/>
                  <a:cs typeface="+mn-cs"/>
                </a:rPr>
                <a:t>一部の仕込み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914900" y="3171825"/>
              <a:ext cx="2276475" cy="28575"/>
            </a:xfrm>
            <a:prstGeom prst="rect">
              <a:avLst/>
            </a:prstGeom>
            <a:solidFill>
              <a:srgbClr val="21654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016496" y="3000375"/>
              <a:ext cx="4445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550" b="1" dirty="0">
                  <a:solidFill>
                    <a:srgbClr val="21654C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64811" y="3536950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420" dirty="0">
                  <a:solidFill>
                    <a:srgbClr val="53675E"/>
                  </a:solidFill>
                  <a:latin typeface="+mn-lt"/>
                  <a:ea typeface="+mn-ea"/>
                  <a:cs typeface="+mn-cs"/>
                </a:rPr>
                <a:t>支援できる量を調べる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638425" y="4000500"/>
              <a:ext cx="28575" cy="438150"/>
            </a:xfrm>
            <a:prstGeom prst="rect">
              <a:avLst/>
            </a:prstGeom>
            <a:solidFill>
              <a:srgbClr val="21654C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9496425" y="4000500"/>
              <a:ext cx="28575" cy="438150"/>
            </a:xfrm>
            <a:prstGeom prst="rect">
              <a:avLst/>
            </a:prstGeom>
            <a:solidFill>
              <a:srgbClr val="21654C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09600" y="4438650"/>
              <a:ext cx="10953750" cy="1038225"/>
            </a:xfrm>
            <a:prstGeom prst="rect">
              <a:avLst/>
            </a:prstGeom>
            <a:solidFill>
              <a:srgbClr val="21654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7913" y="4549775"/>
              <a:ext cx="246796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両店でそろえるもの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8675" y="4972050"/>
              <a:ext cx="4321505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8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材料の購買　／　品質基準　／　日報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1218" y="5635625"/>
              <a:ext cx="60140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dirty="0">
                  <a:solidFill>
                    <a:srgbClr val="53675E"/>
                  </a:solidFill>
                  <a:latin typeface="+mn-lt"/>
                  <a:ea typeface="+mn-ea"/>
                  <a:cs typeface="+mn-cs"/>
                </a:rPr>
                <a:t>共通化の前に、既存店の営業を圧迫しないことを確かめる。</a:t>
              </a:r>
            </a:p>
          </p:txBody>
        </p:sp>
      </p:grpSp>
      <p:grpSp>
        <p:nvGrpSpPr>
          <p:cNvPr id="27" name="footer"/>
          <p:cNvGrpSpPr/>
          <p:nvPr/>
        </p:nvGrpSpPr>
        <p:grpSpPr>
          <a:xfrm>
            <a:off x="604266" y="6315075"/>
            <a:ext cx="10563377" cy="234696"/>
            <a:chOff x="604266" y="6315075"/>
            <a:chExt cx="10563377" cy="234696"/>
          </a:xfrm>
        </p:grpSpPr>
        <p:sp>
          <p:nvSpPr>
            <p:cNvPr id="25" name="TextBox 25"/>
            <p:cNvSpPr txBox="1"/>
            <p:nvPr/>
          </p:nvSpPr>
          <p:spPr>
            <a:xfrm>
              <a:off x="604266" y="6340475"/>
              <a:ext cx="35711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050" dirty="0">
                  <a:solidFill>
                    <a:srgbClr val="53675E"/>
                  </a:solidFill>
                  <a:latin typeface="+mn-lt"/>
                  <a:ea typeface="+mn-ea"/>
                  <a:cs typeface="+mn-cs"/>
                </a:rPr>
                <a:t>架空の組織・数値による制作サンプル / STUDIO YEBISU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614279" y="6315075"/>
              <a:ext cx="7048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rgbClr val="53675E"/>
                  </a:solidFill>
                  <a:latin typeface="+mn-lt"/>
                  <a:ea typeface="+mn-ea"/>
                  <a:cs typeface="+mn-cs"/>
                </a:rPr>
                <a:t>05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3598" y="523875"/>
            <a:ext cx="5789584" cy="997077"/>
            <a:chOff x="593598" y="523875"/>
            <a:chExt cx="5789584" cy="997077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23875"/>
              <a:ext cx="1630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1654C"/>
                  </a:solidFill>
                  <a:latin typeface="+mn-lt"/>
                  <a:ea typeface="+mn-ea"/>
                  <a:cs typeface="+mn-cs"/>
                </a:rPr>
                <a:t>CAFE / PROPOSAL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904875"/>
              <a:ext cx="578958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150" b="1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契約前に、3つのリスクを確認</a:t>
              </a:r>
            </a:p>
          </p:txBody>
        </p:sp>
      </p:grpSp>
      <p:grpSp>
        <p:nvGrpSpPr>
          <p:cNvPr id="33" name="content"/>
          <p:cNvGrpSpPr/>
          <p:nvPr/>
        </p:nvGrpSpPr>
        <p:grpSpPr>
          <a:xfrm>
            <a:off x="601218" y="1866900"/>
            <a:ext cx="10962132" cy="4234307"/>
            <a:chOff x="601218" y="1866900"/>
            <a:chExt cx="10962132" cy="4234307"/>
          </a:xfrm>
        </p:grpSpPr>
        <p:grpSp>
          <p:nvGrpSpPr>
            <p:cNvPr id="32" name="risk-confirmation"/>
            <p:cNvGrpSpPr/>
            <p:nvPr/>
          </p:nvGrpSpPr>
          <p:grpSpPr>
            <a:xfrm>
              <a:off x="601218" y="1866900"/>
              <a:ext cx="10962132" cy="4234307"/>
              <a:chOff x="601218" y="1866900"/>
              <a:chExt cx="10962132" cy="4234307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601599" y="1866900"/>
                <a:ext cx="5333492" cy="308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580" dirty="0">
                    <a:solidFill>
                      <a:srgbClr val="53675E"/>
                    </a:solidFill>
                    <a:latin typeface="+mn-lt"/>
                    <a:ea typeface="+mn-ea"/>
                    <a:cs typeface="+mn-cs"/>
                  </a:rPr>
                  <a:t>検証前の確認表。仮定が崩れた場合は計画を修正する。</a:t>
                </a:r>
              </a:p>
            </p:txBody>
          </p:sp>
          <p:sp>
            <p:nvSpPr>
              <p:cNvPr id="6" name="Rectangle 6"/>
              <p:cNvSpPr/>
              <p:nvPr/>
            </p:nvSpPr>
            <p:spPr>
              <a:xfrm>
                <a:off x="609600" y="2333625"/>
                <a:ext cx="10953750" cy="495300"/>
              </a:xfrm>
              <a:prstGeom prst="rect">
                <a:avLst/>
              </a:prstGeom>
              <a:solidFill>
                <a:srgbClr val="21654C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1906" y="2441575"/>
                <a:ext cx="7452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リスク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3705606" y="2441575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確認すること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010906" y="2441575"/>
                <a:ext cx="21991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次の判断に出す材料</a:t>
                </a:r>
              </a:p>
            </p:txBody>
          </p:sp>
          <p:sp>
            <p:nvSpPr>
              <p:cNvPr id="10" name="Rectangle 10"/>
              <p:cNvSpPr/>
              <p:nvPr/>
            </p:nvSpPr>
            <p:spPr>
              <a:xfrm>
                <a:off x="609600" y="2828925"/>
                <a:ext cx="10953750" cy="933450"/>
              </a:xfrm>
              <a:prstGeom prst="rect">
                <a:avLst/>
              </a:prstGeom>
              <a:solidFill>
                <a:srgbClr val="E5EEE7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71525" y="2990850"/>
                <a:ext cx="1284478" cy="367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880" b="1" dirty="0">
                    <a:solidFill>
                      <a:srgbClr val="21654C"/>
                    </a:solidFill>
                    <a:latin typeface="+mn-lt"/>
                    <a:ea typeface="+mn-ea"/>
                    <a:cs typeface="+mn-cs"/>
                  </a:rPr>
                  <a:t>客数が不足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3705987" y="2946400"/>
                <a:ext cx="199724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720" dirty="0">
                    <a:solidFill>
                      <a:srgbClr val="202C29"/>
                    </a:solidFill>
                    <a:latin typeface="+mn-lt"/>
                    <a:ea typeface="+mn-ea"/>
                    <a:cs typeface="+mn-cs"/>
                  </a:rPr>
                  <a:t>2週間の通行量調査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705987" y="3298825"/>
                <a:ext cx="2564536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720" dirty="0">
                    <a:solidFill>
                      <a:srgbClr val="202C29"/>
                    </a:solidFill>
                    <a:latin typeface="+mn-lt"/>
                    <a:ea typeface="+mn-ea"/>
                    <a:cs typeface="+mn-cs"/>
                  </a:rPr>
                  <a:t>試験販売で客単価を確認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011287" y="2946400"/>
                <a:ext cx="229825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720" dirty="0">
                    <a:solidFill>
                      <a:srgbClr val="202C29"/>
                    </a:solidFill>
                    <a:latin typeface="+mn-lt"/>
                    <a:ea typeface="+mn-ea"/>
                    <a:cs typeface="+mn-cs"/>
                  </a:rPr>
                  <a:t>計画82人・1,100円に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011287" y="3298825"/>
                <a:ext cx="1406804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720" dirty="0">
                    <a:solidFill>
                      <a:srgbClr val="202C29"/>
                    </a:solidFill>
                    <a:latin typeface="+mn-lt"/>
                    <a:ea typeface="+mn-ea"/>
                    <a:cs typeface="+mn-cs"/>
                  </a:rPr>
                  <a:t>根拠があるか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609600" y="3752850"/>
                <a:ext cx="10953750" cy="9525"/>
              </a:xfrm>
              <a:prstGeom prst="rect">
                <a:avLst/>
              </a:prstGeom>
              <a:solidFill>
                <a:srgbClr val="CAD5CC"/>
              </a:solidFill>
              <a:ln>
                <a:noFill/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609600" y="3762375"/>
                <a:ext cx="10953750" cy="933450"/>
              </a:xfrm>
              <a:prstGeom prst="rect">
                <a:avLst/>
              </a:prstGeom>
              <a:solidFill>
                <a:srgbClr val="F7F5EE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71525" y="3924300"/>
                <a:ext cx="1790649" cy="367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880" b="1" dirty="0">
                    <a:solidFill>
                      <a:srgbClr val="21654C"/>
                    </a:solidFill>
                    <a:latin typeface="+mn-lt"/>
                    <a:ea typeface="+mn-ea"/>
                    <a:cs typeface="+mn-cs"/>
                  </a:rPr>
                  <a:t>工事額が上振れ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705987" y="3879850"/>
                <a:ext cx="2228794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720" dirty="0">
                    <a:solidFill>
                      <a:srgbClr val="202C29"/>
                    </a:solidFill>
                    <a:latin typeface="+mn-lt"/>
                    <a:ea typeface="+mn-ea"/>
                    <a:cs typeface="+mn-cs"/>
                  </a:rPr>
                  <a:t>同じ条件で3社へ見積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705987" y="4232275"/>
                <a:ext cx="2101444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720" dirty="0">
                    <a:solidFill>
                      <a:srgbClr val="202C29"/>
                    </a:solidFill>
                    <a:latin typeface="+mn-lt"/>
                    <a:ea typeface="+mn-ea"/>
                    <a:cs typeface="+mn-cs"/>
                  </a:rPr>
                  <a:t>予備費と上限を確認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011287" y="3879850"/>
                <a:ext cx="2332990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720" dirty="0">
                    <a:solidFill>
                      <a:srgbClr val="202C29"/>
                    </a:solidFill>
                    <a:latin typeface="+mn-lt"/>
                    <a:ea typeface="+mn-ea"/>
                    <a:cs typeface="+mn-cs"/>
                  </a:rPr>
                  <a:t>見積額と予備費を含む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011287" y="4232275"/>
                <a:ext cx="943712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720" dirty="0">
                    <a:solidFill>
                      <a:srgbClr val="202C29"/>
                    </a:solidFill>
                    <a:latin typeface="+mn-lt"/>
                    <a:ea typeface="+mn-ea"/>
                    <a:cs typeface="+mn-cs"/>
                  </a:rPr>
                  <a:t>必要資金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609600" y="4686300"/>
                <a:ext cx="10953750" cy="9525"/>
              </a:xfrm>
              <a:prstGeom prst="rect">
                <a:avLst/>
              </a:prstGeom>
              <a:solidFill>
                <a:srgbClr val="CAD5CC"/>
              </a:solidFill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609600" y="4695825"/>
                <a:ext cx="10953750" cy="933450"/>
              </a:xfrm>
              <a:prstGeom prst="rect">
                <a:avLst/>
              </a:prstGeom>
              <a:solidFill>
                <a:srgbClr val="E5EEE7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1525" y="4857750"/>
                <a:ext cx="1284478" cy="367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880" b="1" dirty="0">
                    <a:solidFill>
                      <a:srgbClr val="21654C"/>
                    </a:solidFill>
                    <a:latin typeface="+mn-lt"/>
                    <a:ea typeface="+mn-ea"/>
                    <a:cs typeface="+mn-cs"/>
                  </a:rPr>
                  <a:t>店長が不足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705987" y="4813300"/>
                <a:ext cx="2796083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720" dirty="0">
                    <a:solidFill>
                      <a:srgbClr val="202C29"/>
                    </a:solidFill>
                    <a:latin typeface="+mn-lt"/>
                    <a:ea typeface="+mn-ea"/>
                    <a:cs typeface="+mn-cs"/>
                  </a:rPr>
                  <a:t>候補者の意向と配置を確認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705987" y="5165725"/>
                <a:ext cx="2564536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720" dirty="0">
                    <a:solidFill>
                      <a:srgbClr val="202C29"/>
                    </a:solidFill>
                    <a:latin typeface="+mn-lt"/>
                    <a:ea typeface="+mn-ea"/>
                    <a:cs typeface="+mn-cs"/>
                  </a:rPr>
                  <a:t>採用・育成の日程を確定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011287" y="4813300"/>
                <a:ext cx="1638351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720" dirty="0">
                    <a:solidFill>
                      <a:srgbClr val="202C29"/>
                    </a:solidFill>
                    <a:latin typeface="+mn-lt"/>
                    <a:ea typeface="+mn-ea"/>
                    <a:cs typeface="+mn-cs"/>
                  </a:rPr>
                  <a:t>配置の見通しと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011287" y="5165725"/>
                <a:ext cx="1869897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720" dirty="0">
                    <a:solidFill>
                      <a:srgbClr val="202C29"/>
                    </a:solidFill>
                    <a:latin typeface="+mn-lt"/>
                    <a:ea typeface="+mn-ea"/>
                    <a:cs typeface="+mn-cs"/>
                  </a:rPr>
                  <a:t>育成に必要な期間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609600" y="5619750"/>
                <a:ext cx="10953750" cy="9525"/>
              </a:xfrm>
              <a:prstGeom prst="rect">
                <a:avLst/>
              </a:prstGeom>
              <a:solidFill>
                <a:srgbClr val="CAD5CC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01218" y="5778500"/>
                <a:ext cx="645833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650" dirty="0">
                    <a:solidFill>
                      <a:srgbClr val="53675E"/>
                    </a:solidFill>
                    <a:latin typeface="+mn-lt"/>
                    <a:ea typeface="+mn-ea"/>
                    <a:cs typeface="+mn-cs"/>
                  </a:rPr>
                  <a:t>契約が前提ではない。確認結果と追加資金を、投資決裁へ出す。</a:t>
                </a:r>
              </a:p>
            </p:txBody>
          </p:sp>
        </p:grpSp>
      </p:grpSp>
      <p:grpSp>
        <p:nvGrpSpPr>
          <p:cNvPr id="36" name="footer"/>
          <p:cNvGrpSpPr/>
          <p:nvPr/>
        </p:nvGrpSpPr>
        <p:grpSpPr>
          <a:xfrm>
            <a:off x="604266" y="6315075"/>
            <a:ext cx="10563377" cy="234696"/>
            <a:chOff x="604266" y="6315075"/>
            <a:chExt cx="10563377" cy="234696"/>
          </a:xfrm>
        </p:grpSpPr>
        <p:sp>
          <p:nvSpPr>
            <p:cNvPr id="34" name="TextBox 34"/>
            <p:cNvSpPr txBox="1"/>
            <p:nvPr/>
          </p:nvSpPr>
          <p:spPr>
            <a:xfrm>
              <a:off x="604266" y="6340475"/>
              <a:ext cx="35711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050" dirty="0">
                  <a:solidFill>
                    <a:srgbClr val="53675E"/>
                  </a:solidFill>
                  <a:latin typeface="+mn-lt"/>
                  <a:ea typeface="+mn-ea"/>
                  <a:cs typeface="+mn-cs"/>
                </a:rPr>
                <a:t>架空の組織・数値による制作サンプル / STUDIO YEBISU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614279" y="6315075"/>
              <a:ext cx="7048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rgbClr val="53675E"/>
                  </a:solidFill>
                  <a:latin typeface="+mn-lt"/>
                  <a:ea typeface="+mn-ea"/>
                  <a:cs typeface="+mn-cs"/>
                </a:rPr>
                <a:t>06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3598" y="523875"/>
            <a:ext cx="4941478" cy="997077"/>
            <a:chOff x="593598" y="523875"/>
            <a:chExt cx="4941478" cy="997077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23875"/>
              <a:ext cx="1630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1654C"/>
                  </a:solidFill>
                  <a:latin typeface="+mn-lt"/>
                  <a:ea typeface="+mn-ea"/>
                  <a:cs typeface="+mn-cs"/>
                </a:rPr>
                <a:t>CAFE / PROPOSAL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904875"/>
              <a:ext cx="494147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150" b="1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5週目に、投資判断を置く</a:t>
              </a:r>
            </a:p>
          </p:txBody>
        </p:sp>
      </p:grpSp>
      <p:grpSp>
        <p:nvGrpSpPr>
          <p:cNvPr id="35" name="content"/>
          <p:cNvGrpSpPr/>
          <p:nvPr/>
        </p:nvGrpSpPr>
        <p:grpSpPr>
          <a:xfrm>
            <a:off x="600075" y="1838325"/>
            <a:ext cx="11018627" cy="4253865"/>
            <a:chOff x="600075" y="1838325"/>
            <a:chExt cx="11018627" cy="4253865"/>
          </a:xfrm>
        </p:grpSpPr>
        <p:sp>
          <p:nvSpPr>
            <p:cNvPr id="5" name="TextBox 5"/>
            <p:cNvSpPr txBox="1"/>
            <p:nvPr/>
          </p:nvSpPr>
          <p:spPr>
            <a:xfrm>
              <a:off x="601599" y="1838325"/>
              <a:ext cx="682238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80" dirty="0">
                  <a:solidFill>
                    <a:srgbClr val="53675E"/>
                  </a:solidFill>
                  <a:latin typeface="+mn-lt"/>
                  <a:ea typeface="+mn-ea"/>
                  <a:cs typeface="+mn-cs"/>
                </a:rPr>
                <a:t>仮日程：各週の終わりを目盛りにする。資料が不足すれば決裁は延期。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0075" y="2667000"/>
              <a:ext cx="103139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880" b="1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現地調査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980" y="3003550"/>
              <a:ext cx="7223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dirty="0">
                  <a:solidFill>
                    <a:srgbClr val="53675E"/>
                  </a:solidFill>
                  <a:latin typeface="+mn-lt"/>
                  <a:ea typeface="+mn-ea"/>
                  <a:cs typeface="+mn-cs"/>
                </a:rPr>
                <a:t>1〜2週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0075" y="3543300"/>
              <a:ext cx="1790649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880" b="1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見積・条件交渉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1980" y="3879850"/>
              <a:ext cx="7461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dirty="0">
                  <a:solidFill>
                    <a:srgbClr val="53675E"/>
                  </a:solidFill>
                  <a:latin typeface="+mn-lt"/>
                  <a:ea typeface="+mn-ea"/>
                  <a:cs typeface="+mn-cs"/>
                </a:rPr>
                <a:t>3〜4週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0075" y="4419600"/>
              <a:ext cx="103139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880" b="1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投資決裁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1980" y="4756150"/>
              <a:ext cx="4111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dirty="0">
                  <a:solidFill>
                    <a:srgbClr val="53675E"/>
                  </a:solidFill>
                  <a:latin typeface="+mn-lt"/>
                  <a:ea typeface="+mn-ea"/>
                  <a:cs typeface="+mn-cs"/>
                </a:rPr>
                <a:t>5週</a:t>
              </a:r>
            </a:p>
          </p:txBody>
        </p:sp>
        <p:grpSp>
          <p:nvGrpSpPr>
            <p:cNvPr id="31" name="decision-schedule-chartArea"/>
            <p:cNvGrpSpPr/>
            <p:nvPr/>
          </p:nvGrpSpPr>
          <p:grpSpPr>
            <a:xfrm>
              <a:off x="2870073" y="2133600"/>
              <a:ext cx="8748629" cy="2800350"/>
              <a:chOff x="2870073" y="2133600"/>
              <a:chExt cx="8748629" cy="28003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2952750" y="2381250"/>
                <a:ext cx="8429625" cy="19050"/>
              </a:xfrm>
              <a:prstGeom prst="rect">
                <a:avLst/>
              </a:prstGeom>
              <a:solidFill>
                <a:srgbClr val="53675E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2952750" y="2381250"/>
                <a:ext cx="9525" cy="2476500"/>
              </a:xfrm>
              <a:prstGeom prst="rect">
                <a:avLst/>
              </a:prstGeom>
              <a:solidFill>
                <a:srgbClr val="CAD5CC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2870073" y="2133600"/>
                <a:ext cx="390525" cy="2503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80" dirty="0">
                    <a:solidFill>
                      <a:srgbClr val="53675E"/>
                    </a:solidFill>
                    <a:latin typeface="+mn-lt"/>
                    <a:ea typeface="+mn-ea"/>
                    <a:cs typeface="+mn-cs"/>
                  </a:rPr>
                  <a:t>開始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4638675" y="2381250"/>
                <a:ext cx="9525" cy="2476500"/>
              </a:xfrm>
              <a:prstGeom prst="rect">
                <a:avLst/>
              </a:prstGeom>
              <a:solidFill>
                <a:srgbClr val="CAD5CC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422648" y="2133600"/>
                <a:ext cx="493714" cy="2503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80" dirty="0">
                    <a:solidFill>
                      <a:srgbClr val="53675E"/>
                    </a:solidFill>
                    <a:latin typeface="+mn-lt"/>
                    <a:ea typeface="+mn-ea"/>
                    <a:cs typeface="+mn-cs"/>
                  </a:rPr>
                  <a:t>1週末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6324600" y="2381250"/>
                <a:ext cx="9525" cy="2476500"/>
              </a:xfrm>
              <a:prstGeom prst="rect">
                <a:avLst/>
              </a:prstGeom>
              <a:solidFill>
                <a:srgbClr val="CAD5CC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6108573" y="2133600"/>
                <a:ext cx="514351" cy="2503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80" dirty="0">
                    <a:solidFill>
                      <a:srgbClr val="53675E"/>
                    </a:solidFill>
                    <a:latin typeface="+mn-lt"/>
                    <a:ea typeface="+mn-ea"/>
                    <a:cs typeface="+mn-cs"/>
                  </a:rPr>
                  <a:t>2週末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8010525" y="2381250"/>
                <a:ext cx="9525" cy="2476500"/>
              </a:xfrm>
              <a:prstGeom prst="rect">
                <a:avLst/>
              </a:prstGeom>
              <a:solidFill>
                <a:srgbClr val="CAD5CC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794498" y="2133600"/>
                <a:ext cx="514351" cy="2503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80" dirty="0">
                    <a:solidFill>
                      <a:srgbClr val="53675E"/>
                    </a:solidFill>
                    <a:latin typeface="+mn-lt"/>
                    <a:ea typeface="+mn-ea"/>
                    <a:cs typeface="+mn-cs"/>
                  </a:rPr>
                  <a:t>3週末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9696450" y="2381250"/>
                <a:ext cx="9525" cy="2476500"/>
              </a:xfrm>
              <a:prstGeom prst="rect">
                <a:avLst/>
              </a:prstGeom>
              <a:solidFill>
                <a:srgbClr val="CAD5CC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9480423" y="2133600"/>
                <a:ext cx="514351" cy="2503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80" dirty="0">
                    <a:solidFill>
                      <a:srgbClr val="53675E"/>
                    </a:solidFill>
                    <a:latin typeface="+mn-lt"/>
                    <a:ea typeface="+mn-ea"/>
                    <a:cs typeface="+mn-cs"/>
                  </a:rPr>
                  <a:t>4週末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11382375" y="2381250"/>
                <a:ext cx="9525" cy="2476500"/>
              </a:xfrm>
              <a:prstGeom prst="rect">
                <a:avLst/>
              </a:prstGeom>
              <a:solidFill>
                <a:srgbClr val="CAD5CC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1166348" y="2133600"/>
                <a:ext cx="514351" cy="2503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80" dirty="0">
                    <a:solidFill>
                      <a:srgbClr val="53675E"/>
                    </a:solidFill>
                    <a:latin typeface="+mn-lt"/>
                    <a:ea typeface="+mn-ea"/>
                    <a:cs typeface="+mn-cs"/>
                  </a:rPr>
                  <a:t>5週末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2952750" y="2762250"/>
                <a:ext cx="3371850" cy="419100"/>
              </a:xfrm>
              <a:prstGeom prst="rect">
                <a:avLst/>
              </a:prstGeom>
              <a:solidFill>
                <a:srgbClr val="21654C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3096387" y="2832100"/>
                <a:ext cx="828675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7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1〜2週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6324600" y="3638550"/>
                <a:ext cx="3371850" cy="419100"/>
              </a:xfrm>
              <a:prstGeom prst="rect">
                <a:avLst/>
              </a:prstGeom>
              <a:solidFill>
                <a:srgbClr val="21654C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6468237" y="3708400"/>
                <a:ext cx="857250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7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3〜4週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9696450" y="4514850"/>
                <a:ext cx="1685925" cy="419100"/>
              </a:xfrm>
              <a:prstGeom prst="rect">
                <a:avLst/>
              </a:prstGeom>
              <a:solidFill>
                <a:srgbClr val="21654C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9840087" y="4584700"/>
                <a:ext cx="47148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7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5週</a:t>
                </a:r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601218" y="5187950"/>
              <a:ext cx="6680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担当：調査は既存店長、運営設計は新店候補店長、決裁は経営者。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09600" y="5591175"/>
              <a:ext cx="10953750" cy="19050"/>
            </a:xfrm>
            <a:prstGeom prst="rect">
              <a:avLst/>
            </a:prstGeom>
            <a:solidFill>
              <a:srgbClr val="CAD5C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00075" y="5724525"/>
              <a:ext cx="786470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880" b="1" dirty="0">
                  <a:solidFill>
                    <a:srgbClr val="21654C"/>
                  </a:solidFill>
                  <a:latin typeface="+mn-lt"/>
                  <a:ea typeface="+mn-ea"/>
                  <a:cs typeface="+mn-cs"/>
                </a:rPr>
                <a:t>決裁後：内装・採用・開業準備　／　開業日はここでは確定しない。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604266" y="6315075"/>
            <a:ext cx="10563377" cy="234696"/>
            <a:chOff x="604266" y="6315075"/>
            <a:chExt cx="10563377" cy="234696"/>
          </a:xfrm>
        </p:grpSpPr>
        <p:sp>
          <p:nvSpPr>
            <p:cNvPr id="36" name="TextBox 36"/>
            <p:cNvSpPr txBox="1"/>
            <p:nvPr/>
          </p:nvSpPr>
          <p:spPr>
            <a:xfrm>
              <a:off x="604266" y="6340475"/>
              <a:ext cx="35711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050" dirty="0">
                  <a:solidFill>
                    <a:srgbClr val="53675E"/>
                  </a:solidFill>
                  <a:latin typeface="+mn-lt"/>
                  <a:ea typeface="+mn-ea"/>
                  <a:cs typeface="+mn-cs"/>
                </a:rPr>
                <a:t>架空の組織・数値による制作サンプル / STUDIO YEBISU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614279" y="6315075"/>
              <a:ext cx="7048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rgbClr val="53675E"/>
                  </a:solidFill>
                  <a:latin typeface="+mn-lt"/>
                  <a:ea typeface="+mn-ea"/>
                  <a:cs typeface="+mn-cs"/>
                </a:rPr>
                <a:t>07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3598" y="523875"/>
            <a:ext cx="6227498" cy="997077"/>
            <a:chOff x="593598" y="523875"/>
            <a:chExt cx="6227498" cy="997077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23875"/>
              <a:ext cx="1630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1654C"/>
                  </a:solidFill>
                  <a:latin typeface="+mn-lt"/>
                  <a:ea typeface="+mn-ea"/>
                  <a:cs typeface="+mn-cs"/>
                </a:rPr>
                <a:t>CAFE / PROPOSAL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904875"/>
              <a:ext cx="622749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150" b="1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今日の決裁：B案の調査を進める</a:t>
              </a:r>
            </a:p>
          </p:txBody>
        </p:sp>
      </p:grpSp>
      <p:grpSp>
        <p:nvGrpSpPr>
          <p:cNvPr id="21" name="content"/>
          <p:cNvGrpSpPr/>
          <p:nvPr/>
        </p:nvGrpSpPr>
        <p:grpSpPr>
          <a:xfrm>
            <a:off x="599313" y="2190750"/>
            <a:ext cx="10697337" cy="3424682"/>
            <a:chOff x="599313" y="2190750"/>
            <a:chExt cx="10697337" cy="3424682"/>
          </a:xfrm>
        </p:grpSpPr>
        <p:sp>
          <p:nvSpPr>
            <p:cNvPr id="5" name="Rectangle 5"/>
            <p:cNvSpPr/>
            <p:nvPr/>
          </p:nvSpPr>
          <p:spPr>
            <a:xfrm>
              <a:off x="609600" y="2190750"/>
              <a:ext cx="6667500" cy="1600200"/>
            </a:xfrm>
            <a:prstGeom prst="rect">
              <a:avLst/>
            </a:prstGeom>
            <a:solidFill>
              <a:srgbClr val="21654C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38200" y="2352675"/>
              <a:ext cx="3056077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今日、判断してほしいこと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36295" y="2787650"/>
              <a:ext cx="475110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B案の現地調査・条件交渉を進める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77912" y="2308225"/>
              <a:ext cx="233299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720" b="1" dirty="0">
                  <a:solidFill>
                    <a:srgbClr val="53675E"/>
                  </a:solidFill>
                  <a:latin typeface="+mn-lt"/>
                  <a:ea typeface="+mn-ea"/>
                  <a:cs typeface="+mn-cs"/>
                </a:rPr>
                <a:t>調査後に判断すること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76007" y="2755900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10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契約の締結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76007" y="326072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10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初期投資の承認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9313" y="4102100"/>
              <a:ext cx="398466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020" b="1" dirty="0">
                  <a:solidFill>
                    <a:srgbClr val="21654C"/>
                  </a:solidFill>
                  <a:latin typeface="+mn-lt"/>
                  <a:ea typeface="+mn-ea"/>
                  <a:cs typeface="+mn-cs"/>
                </a:rPr>
                <a:t>次回の決裁にそろえる3つの材料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09600" y="4619625"/>
              <a:ext cx="3257550" cy="19050"/>
            </a:xfrm>
            <a:prstGeom prst="rect">
              <a:avLst/>
            </a:prstGeom>
            <a:solidFill>
              <a:srgbClr val="21654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99313" y="4806950"/>
              <a:ext cx="138023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020" b="1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客数の根拠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1218" y="5292725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調査・試験販売の結果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324350" y="4619625"/>
              <a:ext cx="3257550" cy="19050"/>
            </a:xfrm>
            <a:prstGeom prst="rect">
              <a:avLst/>
            </a:prstGeom>
            <a:solidFill>
              <a:srgbClr val="21654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314063" y="4806950"/>
              <a:ext cx="110830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020" b="1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工事見積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15968" y="5292725"/>
              <a:ext cx="25822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同条件の3社見積と予備費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039100" y="4619625"/>
              <a:ext cx="3257550" cy="19050"/>
            </a:xfrm>
            <a:prstGeom prst="rect">
              <a:avLst/>
            </a:prstGeom>
            <a:solidFill>
              <a:srgbClr val="21654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028813" y="4806950"/>
              <a:ext cx="110830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020" b="1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店長配置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30718" y="5292725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配置の見通しと育成日程</a:t>
              </a:r>
            </a:p>
          </p:txBody>
        </p:sp>
      </p:grpSp>
      <p:grpSp>
        <p:nvGrpSpPr>
          <p:cNvPr id="24" name="footer"/>
          <p:cNvGrpSpPr/>
          <p:nvPr/>
        </p:nvGrpSpPr>
        <p:grpSpPr>
          <a:xfrm>
            <a:off x="604266" y="6315075"/>
            <a:ext cx="10563377" cy="234696"/>
            <a:chOff x="604266" y="6315075"/>
            <a:chExt cx="10563377" cy="234696"/>
          </a:xfrm>
        </p:grpSpPr>
        <p:sp>
          <p:nvSpPr>
            <p:cNvPr id="22" name="TextBox 22"/>
            <p:cNvSpPr txBox="1"/>
            <p:nvPr/>
          </p:nvSpPr>
          <p:spPr>
            <a:xfrm>
              <a:off x="604266" y="6340475"/>
              <a:ext cx="35711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050" dirty="0">
                  <a:solidFill>
                    <a:srgbClr val="53675E"/>
                  </a:solidFill>
                  <a:latin typeface="+mn-lt"/>
                  <a:ea typeface="+mn-ea"/>
                  <a:cs typeface="+mn-cs"/>
                </a:rPr>
                <a:t>架空の組織・数値による制作サンプル / STUDIO YEBISU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614279" y="6315075"/>
              <a:ext cx="7048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rgbClr val="53675E"/>
                  </a:solidFill>
                  <a:latin typeface="+mn-lt"/>
                  <a:ea typeface="+mn-ea"/>
                  <a:cs typeface="+mn-cs"/>
                </a:rPr>
                <a:t>08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ource">
  <a:themeElements>
    <a:clrScheme name="sour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ource">
      <a:majorFont>
        <a:latin typeface="BIZ UDPGothic"/>
        <a:ea typeface="BIZ UDPGothic"/>
        <a:cs typeface="BIZ UDPGothic"/>
        <a:font script="Jpan" typeface="BIZ UDPGothic"/>
        <a:font script="Hang" typeface="BIZ UDPGothic"/>
        <a:font script="Hans" typeface="BIZ UDPGothic"/>
        <a:font script="Hant" typeface="BIZ UDPGothi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IZ UDPGothic"/>
        <a:ea typeface="BIZ UDPGothic"/>
        <a:cs typeface="BIZ UDPGothic"/>
        <a:font script="Jpan" typeface="BIZ UDPGothic"/>
        <a:font script="Hang" typeface="BIZ UDPGothic"/>
        <a:font script="Hans" typeface="BIZ UDPGothic"/>
        <a:font script="Hant" typeface="BIZ UDPGothi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our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ource">
  <a:themeElements>
    <a:clrScheme name="sour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ource">
      <a:majorFont>
        <a:latin typeface="BIZ UDPGothic"/>
        <a:ea typeface="BIZ UDPGothic"/>
        <a:cs typeface="BIZ UDPGothic"/>
        <a:font script="Jpan" typeface="BIZ UDPGothic"/>
        <a:font script="Hang" typeface="BIZ UDPGothic"/>
        <a:font script="Hans" typeface="BIZ UDPGothic"/>
        <a:font script="Hant" typeface="BIZ UDPGothi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IZ UDPGothic"/>
        <a:ea typeface="BIZ UDPGothic"/>
        <a:cs typeface="BIZ UDPGothic"/>
        <a:font script="Jpan" typeface="BIZ UDPGothic"/>
        <a:font script="Hang" typeface="BIZ UDPGothic"/>
        <a:font script="Hans" typeface="BIZ UDPGothic"/>
        <a:font script="Hant" typeface="BIZ UDPGothi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our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ja-JP</dc:language>
  <cp:lastModifiedBy/>
  <cp:revision>1</cp:revision>
  <dcterms:created xsi:type="dcterms:W3CDTF">2026-10-15T17:59:38Z</dcterms:created>
  <dcterms:modified xsi:type="dcterms:W3CDTF">2026-10-15T17:59:38Z</dcterms:modified>
  <cp:category/>
  <cp:contentStatus/>
</cp:coreProperties>
</file>