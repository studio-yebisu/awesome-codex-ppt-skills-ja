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0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region-omega"/>
          <p:cNvSpPr/>
          <p:nvPr/>
        </p:nvSpPr>
        <p:spPr>
          <a:xfrm>
            <a:off x="533387" y="1409700"/>
            <a:ext cx="7619810" cy="4038600"/>
          </a:xfrm>
          <a:prstGeom prst="roundRect">
            <a:avLst/>
          </a:prstGeom>
          <a:solidFill>
            <a:srgbClr val="F5F9FC"/>
          </a:solidFill>
          <a:ln w="19050">
            <a:solidFill>
              <a:srgbClr val="1F5272"/>
            </a:solidFill>
            <a:prstDash val="solid"/>
          </a:ln>
        </p:spPr>
      </p:sp>
      <p:sp>
        <p:nvSpPr>
          <p:cNvPr id="3" name="Node-label:region-omega"/>
          <p:cNvSpPr/>
          <p:nvPr/>
        </p:nvSpPr>
        <p:spPr>
          <a:xfrm>
            <a:off x="800080" y="1615440"/>
            <a:ext cx="182875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反応領域 Ω</a:t>
            </a:r>
            <a:endParaRPr lang="en-US" sz="1900" dirty="0"/>
          </a:p>
        </p:txBody>
      </p:sp>
      <p:sp>
        <p:nvSpPr>
          <p:cNvPr id="4" name="Node:condition-u"/>
          <p:cNvSpPr/>
          <p:nvPr/>
        </p:nvSpPr>
        <p:spPr>
          <a:xfrm>
            <a:off x="8991375" y="1219200"/>
            <a:ext cx="2285943" cy="609600"/>
          </a:xfrm>
          <a:prstGeom prst="roundRect">
            <a:avLst/>
          </a:prstGeom>
          <a:solidFill>
            <a:srgbClr val="E9F2FA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5" name="Node-label:condition-u"/>
          <p:cNvSpPr/>
          <p:nvPr/>
        </p:nvSpPr>
        <p:spPr>
          <a:xfrm>
            <a:off x="8991375" y="1219200"/>
            <a:ext cx="228594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u</a:t>
            </a:r>
            <a:endParaRPr lang="en-US" sz="1800" dirty="0"/>
          </a:p>
        </p:txBody>
      </p:sp>
      <p:sp>
        <p:nvSpPr>
          <p:cNvPr id="6" name="Node:compartment-a"/>
          <p:cNvSpPr/>
          <p:nvPr/>
        </p:nvSpPr>
        <p:spPr>
          <a:xfrm>
            <a:off x="990575" y="2209800"/>
            <a:ext cx="2666933" cy="2514600"/>
          </a:xfrm>
          <a:prstGeom prst="roundRect">
            <a:avLst/>
          </a:prstGeom>
          <a:solidFill>
            <a:srgbClr val="E9F1F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7" name="Node-label:compartment-a"/>
          <p:cNvSpPr/>
          <p:nvPr/>
        </p:nvSpPr>
        <p:spPr>
          <a:xfrm>
            <a:off x="1257269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A</a:t>
            </a:r>
            <a:endParaRPr lang="en-US" sz="1800" dirty="0"/>
          </a:p>
        </p:txBody>
      </p:sp>
      <p:sp>
        <p:nvSpPr>
          <p:cNvPr id="8" name="Node:compartment-b"/>
          <p:cNvSpPr/>
          <p:nvPr/>
        </p:nvSpPr>
        <p:spPr>
          <a:xfrm>
            <a:off x="4952876" y="2209800"/>
            <a:ext cx="2666933" cy="2514600"/>
          </a:xfrm>
          <a:prstGeom prst="roundRect">
            <a:avLst/>
          </a:prstGeom>
          <a:solidFill>
            <a:srgbClr val="EDF2EC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Node-label:compartment-b"/>
          <p:cNvSpPr/>
          <p:nvPr/>
        </p:nvSpPr>
        <p:spPr>
          <a:xfrm>
            <a:off x="5219570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B</a:t>
            </a:r>
            <a:endParaRPr lang="en-US" sz="1800" dirty="0"/>
          </a:p>
        </p:txBody>
      </p:sp>
      <p:sp>
        <p:nvSpPr>
          <p:cNvPr id="10" name="Node:species-x"/>
          <p:cNvSpPr/>
          <p:nvPr/>
        </p:nvSpPr>
        <p:spPr>
          <a:xfrm>
            <a:off x="1676358" y="3352800"/>
            <a:ext cx="1295368" cy="7010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1" name="Node-label:species-x"/>
          <p:cNvSpPr/>
          <p:nvPr/>
        </p:nvSpPr>
        <p:spPr>
          <a:xfrm>
            <a:off x="1676358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X*</a:t>
            </a:r>
            <a:endParaRPr lang="en-US" sz="2200" dirty="0"/>
          </a:p>
        </p:txBody>
      </p:sp>
      <p:sp>
        <p:nvSpPr>
          <p:cNvPr id="12" name="Node:species-xr"/>
          <p:cNvSpPr/>
          <p:nvPr/>
        </p:nvSpPr>
        <p:spPr>
          <a:xfrm>
            <a:off x="5638659" y="3352800"/>
            <a:ext cx="1295368" cy="7010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3" name="Node-label:species-xr"/>
          <p:cNvSpPr/>
          <p:nvPr/>
        </p:nvSpPr>
        <p:spPr>
          <a:xfrm>
            <a:off x="5638659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X·R</a:t>
            </a:r>
            <a:endParaRPr lang="en-US" sz="2200" dirty="0"/>
          </a:p>
        </p:txBody>
      </p:sp>
      <p:sp>
        <p:nvSpPr>
          <p:cNvPr id="14" name="Edge:exchange-x-xr:segment-1"/>
          <p:cNvSpPr/>
          <p:nvPr/>
        </p:nvSpPr>
        <p:spPr>
          <a:xfrm>
            <a:off x="2971726" y="3703320"/>
            <a:ext cx="2666933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solid"/>
            <a:headEnd type="triangle"/>
            <a:tailEnd type="triangle"/>
          </a:ln>
        </p:spPr>
      </p:sp>
      <p:sp>
        <p:nvSpPr>
          <p:cNvPr id="15" name="Edge-label:exchange-x-xr"/>
          <p:cNvSpPr/>
          <p:nvPr/>
        </p:nvSpPr>
        <p:spPr>
          <a:xfrm>
            <a:off x="3809905" y="3154680"/>
            <a:ext cx="100581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可逆交換</a:t>
            </a:r>
            <a:endParaRPr lang="en-US" sz="1600" dirty="0"/>
          </a:p>
        </p:txBody>
      </p:sp>
      <p:sp>
        <p:nvSpPr>
          <p:cNvPr id="16" name="Edge:regulation-u-b:segment-1"/>
          <p:cNvSpPr/>
          <p:nvPr/>
        </p:nvSpPr>
        <p:spPr>
          <a:xfrm flipH="1">
            <a:off x="8381790" y="1524000"/>
            <a:ext cx="609585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7" name="Edge:regulation-u-b:segment-2"/>
          <p:cNvSpPr/>
          <p:nvPr/>
        </p:nvSpPr>
        <p:spPr>
          <a:xfrm>
            <a:off x="8381790" y="1524000"/>
            <a:ext cx="0" cy="152400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8" name="Edge:regulation-u-b:segment-3"/>
          <p:cNvSpPr/>
          <p:nvPr/>
        </p:nvSpPr>
        <p:spPr>
          <a:xfrm flipH="1">
            <a:off x="7619810" y="3048000"/>
            <a:ext cx="761981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triangle"/>
          </a:ln>
        </p:spPr>
      </p:sp>
      <p:sp>
        <p:nvSpPr>
          <p:cNvPr id="19" name="Edge-label:regulation-u-b"/>
          <p:cNvSpPr/>
          <p:nvPr/>
        </p:nvSpPr>
        <p:spPr>
          <a:xfrm>
            <a:off x="8473228" y="2164080"/>
            <a:ext cx="457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400" dirty="0"/>
          </a:p>
        </p:txBody>
      </p:sp>
      <p:pic>
        <p:nvPicPr>
          <p:cNvPr id="20" name="replaceable-image-local-composite" descr="局所像（合成入力）：差し替え可能な局所ラスター。内部文字「参考パネル」を含む"/>
          <p:cNvPicPr>
            <a:picLocks noChangeAspect="1"/>
          </p:cNvPicPr>
          <p:nvPr/>
        </p:nvPicPr>
        <p:blipFill>
          <a:blip r:embed="rId3"/>
          <a:srcRect l="73875" t="38556" r="7625" b="38556"/>
          <a:stretch/>
        </p:blipFill>
        <p:spPr>
          <a:xfrm>
            <a:off x="9006615" y="2644140"/>
            <a:ext cx="2255464" cy="1569720"/>
          </a:xfrm>
          <a:prstGeom prst="rect">
            <a:avLst/>
          </a:prstGeom>
        </p:spPr>
      </p:pic>
      <p:sp>
        <p:nvSpPr>
          <p:cNvPr id="21" name="Inset-frame:replaceable-image-local-composite"/>
          <p:cNvSpPr/>
          <p:nvPr/>
        </p:nvSpPr>
        <p:spPr>
          <a:xfrm>
            <a:off x="8998995" y="2636520"/>
            <a:ext cx="2270703" cy="1584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E8798"/>
            </a:solidFill>
            <a:prstDash val="solid"/>
          </a:ln>
        </p:spPr>
      </p:sp>
      <p:sp>
        <p:nvSpPr>
          <p:cNvPr id="22" name="Text:title"/>
          <p:cNvSpPr/>
          <p:nvPr/>
        </p:nvSpPr>
        <p:spPr>
          <a:xfrm>
            <a:off x="533387" y="434340"/>
            <a:ext cx="59434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2区画の可逆交換（概念モデル）</a:t>
            </a:r>
            <a:endParaRPr lang="en-US" sz="2600" dirty="0"/>
          </a:p>
        </p:txBody>
      </p:sp>
      <p:sp>
        <p:nvSpPr>
          <p:cNvPr id="23" name="Text:inset-heading"/>
          <p:cNvSpPr/>
          <p:nvPr/>
        </p:nvSpPr>
        <p:spPr>
          <a:xfrm>
            <a:off x="8991375" y="2263140"/>
            <a:ext cx="213354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局所像（合成入力）</a:t>
            </a:r>
            <a:endParaRPr lang="en-US" sz="1500" dirty="0"/>
          </a:p>
        </p:txBody>
      </p:sp>
      <p:sp>
        <p:nvSpPr>
          <p:cNvPr id="24" name="Text:note-purpose"/>
          <p:cNvSpPr/>
          <p:nvPr/>
        </p:nvSpPr>
        <p:spPr>
          <a:xfrm>
            <a:off x="533387" y="5875020"/>
            <a:ext cx="807699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実験結果ではない構造確認用の入力。矢印と破線の関係をそのまま保持する。</a:t>
            </a:r>
            <a:endParaRPr lang="en-US" sz="1600" dirty="0"/>
          </a:p>
        </p:txBody>
      </p:sp>
      <p:sp>
        <p:nvSpPr>
          <p:cNvPr id="25" name="Text:note-legend"/>
          <p:cNvSpPr/>
          <p:nvPr/>
        </p:nvSpPr>
        <p:spPr>
          <a:xfrm>
            <a:off x="533387" y="6217920"/>
            <a:ext cx="80769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双方向：可逆交換 ／ 破線：条件 u による区画 B の調整。強さや速度の値は示さない。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ワイド画面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2区画の可逆交換（概念モデル）</dc:title>
  <dc:subject>編集可能な科学模式図の再構成（構造確認用の概念図。実験結果ではない）</dc:subject>
  <dc:creator>Studio Yebisu</dc:creator>
  <cp:lastModifiedBy>恭彦 笹谷</cp:lastModifiedBy>
  <cp:revision>2</cp:revision>
  <dcterms:created xsi:type="dcterms:W3CDTF">2026-10-16T00:30:36Z</dcterms:created>
  <dcterms:modified xsi:type="dcterms:W3CDTF">2026-10-16T00:32:38Z</dcterms:modified>
</cp:coreProperties>
</file>