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架空の朝凪カフェで、通常10時開店前の8時から10時まで朝営業を試す提案です。2週間の平日10日間に限り、開始前に担当と準備量を決めます。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商品はコーヒーとトーストのセット1種類、仮価格650円です。調理と会計の役割を分け、通常営業の仕込みを圧迫しない方法を試します。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1日の販売数を15・25・35セットと仮定して売上を比較しています。価格650円を掛けた試算で、原価や追加人件費を引いた利益ではありません。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来店数・販売数・待ち時間・廃棄数を毎日記録する計画です。表の空欄は未収集を意味し、ゼロや達成済みという意味ではありません。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10日分を振り返り、需要と現場負担の両方を見て継続・変更・終了を選びます。数値の採否基準は開始前に店内で決め、今回の資料では未合意と明記します。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朝の2時間を、2週間だけ試す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1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朝営業の需要と、現場の負担を確かめる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6035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通常10時開店の前に試す企画案。
通常営業と両立できるか、10日間で確認する。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8:00–10:00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49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朝の営業時間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70916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10日間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5349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2週間の平日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091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650円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セットの仮価格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0" y="2514600"/>
            <a:ext cx="2468880" cy="2468880"/>
          </a:xfrm>
          <a:prstGeom prst="ellipse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6960" y="3246120"/>
            <a:ext cx="685800" cy="777240"/>
          </a:xfrm>
          <a:prstGeom prst="ellipse">
            <a:avLst/>
          </a:prstGeom>
          <a:solidFill>
            <a:srgbClr val="FBF5F0"/>
          </a:solidFill>
          <a:ln w="12700">
            <a:solidFill>
              <a:srgbClr val="8B6B5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2971800"/>
            <a:ext cx="1554480" cy="1234440"/>
          </a:xfrm>
          <a:prstGeom prst="round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2971800"/>
            <a:ext cx="1554480" cy="164592"/>
          </a:xfrm>
          <a:prstGeom prst="rect">
            <a:avLst/>
          </a:prstGeom>
          <a:solidFill>
            <a:srgbClr val="C470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45902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朝凪カフェ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メニューと役割を、小さく始める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2 / 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95728"/>
            <a:ext cx="3154680" cy="297180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633472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商品は1種類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337560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コーヒー＋トースト
1セット 650円（仮）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681728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追加メニューは設けない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651760"/>
            <a:ext cx="1965960" cy="658368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7614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会計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566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注文・会計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20840" y="2651760"/>
            <a:ext cx="1965960" cy="658368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0568" y="27614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調理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566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セットを準備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7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2651760"/>
            <a:ext cx="1965960" cy="658368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7" y="27614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提供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566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会計担当が提供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開始前に担当者を決める。役割は兼務も含めて確認。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074920"/>
            <a:ext cx="6949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9:45 追加仕込みを判断 → 10:00 通常営業へ切替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売上は仮定を変えて比べる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3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セット価格 650円 × 1日の販売数（仮定）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920240" y="2761488"/>
            <a:ext cx="6931152" cy="411480"/>
            <a:chOff x="1920240" y="2761488"/>
            <a:chExt cx="6931152" cy="411480"/>
          </a:xfrm>
        </p:grpSpPr>
        <p:sp>
          <p:nvSpPr>
            <p:cNvPr id="11" name="Rounded Rectangle 10"/>
            <p:cNvSpPr/>
            <p:nvPr/>
          </p:nvSpPr>
          <p:spPr>
            <a:xfrm>
              <a:off x="2743200" y="2788920"/>
              <a:ext cx="5486400" cy="384048"/>
            </a:xfrm>
            <a:prstGeom prst="roundRect">
              <a:avLst/>
            </a:prstGeom>
            <a:solidFill>
              <a:srgbClr val="F0E0D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743200" y="2788920"/>
              <a:ext cx="2351314" cy="384048"/>
            </a:xfrm>
            <a:prstGeom prst="roundRect">
              <a:avLst/>
            </a:prstGeom>
            <a:solidFill>
              <a:srgbClr val="C470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20240" y="2761488"/>
              <a:ext cx="7772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 lang="ja-JP">
                  <a:solidFill>
                    <a:srgbClr val="3D2B1F"/>
                  </a:solidFill>
                  <a:latin typeface="BIZ UDPGothic"/>
                  <a:ea typeface="BIZ UDPGothic"/>
                  <a:cs typeface="BIZ UDPGothic"/>
                </a:rPr>
                <a:t/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302752" y="2761488"/>
              <a:ext cx="5486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lang="ja-JP">
                  <a:solidFill>
                    <a:srgbClr val="3D2B1F"/>
                  </a:solidFill>
                  <a:latin typeface="BIZ UDPGothic"/>
                  <a:ea typeface="BIZ UDPGothic"/>
                  <a:cs typeface="BIZ UDPGothic"/>
                </a:rPr>
                <a:t/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77240" y="27340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15セット / 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974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9,750円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920240" y="3621024"/>
            <a:ext cx="6931152" cy="411480"/>
            <a:chOff x="1920240" y="3621024"/>
            <a:chExt cx="6931152" cy="411480"/>
          </a:xfrm>
        </p:grpSpPr>
        <p:sp>
          <p:nvSpPr>
            <p:cNvPr id="18" name="Rounded Rectangle 17"/>
            <p:cNvSpPr/>
            <p:nvPr/>
          </p:nvSpPr>
          <p:spPr>
            <a:xfrm>
              <a:off x="2743200" y="3648456"/>
              <a:ext cx="5486400" cy="384048"/>
            </a:xfrm>
            <a:prstGeom prst="roundRect">
              <a:avLst/>
            </a:prstGeom>
            <a:solidFill>
              <a:srgbClr val="F0E0D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743200" y="3648456"/>
              <a:ext cx="3918857" cy="384048"/>
            </a:xfrm>
            <a:prstGeom prst="roundRect">
              <a:avLst/>
            </a:prstGeom>
            <a:solidFill>
              <a:srgbClr val="C470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920240" y="3621024"/>
              <a:ext cx="7772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 lang="ja-JP">
                  <a:solidFill>
                    <a:srgbClr val="3D2B1F"/>
                  </a:solidFill>
                  <a:latin typeface="BIZ UDPGothic"/>
                  <a:ea typeface="BIZ UDPGothic"/>
                  <a:cs typeface="BIZ UDPGothic"/>
                </a:rPr>
                <a:t/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302752" y="3621024"/>
              <a:ext cx="5486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lang="ja-JP">
                  <a:solidFill>
                    <a:srgbClr val="3D2B1F"/>
                  </a:solidFill>
                  <a:latin typeface="BIZ UDPGothic"/>
                  <a:ea typeface="BIZ UDPGothic"/>
                  <a:cs typeface="BIZ UDPGothic"/>
                </a:rPr>
                <a:t/>
              </a: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777240" y="359359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25セット / 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557015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16,250円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920240" y="4480559"/>
            <a:ext cx="6931152" cy="411481"/>
            <a:chOff x="1920240" y="4480559"/>
            <a:chExt cx="6931152" cy="411481"/>
          </a:xfrm>
        </p:grpSpPr>
        <p:sp>
          <p:nvSpPr>
            <p:cNvPr id="25" name="Rounded Rectangle 24"/>
            <p:cNvSpPr/>
            <p:nvPr/>
          </p:nvSpPr>
          <p:spPr>
            <a:xfrm>
              <a:off x="2743200" y="4507992"/>
              <a:ext cx="5486400" cy="384048"/>
            </a:xfrm>
            <a:prstGeom prst="roundRect">
              <a:avLst/>
            </a:prstGeom>
            <a:solidFill>
              <a:srgbClr val="F0E0D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2743200" y="4507992"/>
              <a:ext cx="5486400" cy="384048"/>
            </a:xfrm>
            <a:prstGeom prst="roundRect">
              <a:avLst/>
            </a:prstGeom>
            <a:solidFill>
              <a:srgbClr val="C470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920240" y="4480559"/>
              <a:ext cx="7772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200" b="0" lang="ja-JP">
                  <a:solidFill>
                    <a:srgbClr val="3D2B1F"/>
                  </a:solidFill>
                  <a:latin typeface="BIZ UDPGothic"/>
                  <a:ea typeface="BIZ UDPGothic"/>
                  <a:cs typeface="BIZ UDPGothic"/>
                </a:rPr>
                <a:t/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302752" y="4480559"/>
              <a:ext cx="548640" cy="38404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lang="ja-JP">
                  <a:solidFill>
                    <a:srgbClr val="3D2B1F"/>
                  </a:solidFill>
                  <a:latin typeface="BIZ UDPGothic"/>
                  <a:ea typeface="BIZ UDPGothic"/>
                  <a:cs typeface="BIZ UDPGothic"/>
                </a:rPr>
                <a:t/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77240" y="44531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35セット / 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4165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22,750円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売上の試算です。原価・追加人件費などの費用は含まず、利益を示していません。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毎日、需要と負担を同じ表で残す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4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10日間、来店・販売・待ち時間・廃棄を同じ単位で記録する。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第1週：第1〜5日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200400"/>
            <a:ext cx="100584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日付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3200400"/>
            <a:ext cx="100584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来店数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3200400"/>
            <a:ext cx="100584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販売数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3200400"/>
            <a:ext cx="109728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2735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待ち時間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3200400"/>
            <a:ext cx="100584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廃棄数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639312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758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第1日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83080" y="3639312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36758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639312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6758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3639312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675887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3639312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36758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23360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59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第2日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83080" y="4023360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4059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88920" y="4023360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4059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94760" y="4023360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0" y="4059936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92040" y="4023360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4059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407408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443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第3日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83080" y="4407408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0" y="4443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920" y="4407408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4443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94760" y="4407408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40480" y="4443984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92040" y="4407408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443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" y="4791456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48280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第4日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83080" y="4791456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0" y="48280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88920" y="4791456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0" y="48280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94760" y="4791456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80" y="482803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892040" y="4791456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7760" y="48280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7240" y="5175504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5212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第5日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83080" y="5175504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0" y="5212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88920" y="5175504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34640" y="5212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94760" y="5175504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40480" y="521208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92040" y="5175504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937760" y="5212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第2週：第6〜10日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63640" y="3200400"/>
            <a:ext cx="100584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09359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日付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269479" y="3200400"/>
            <a:ext cx="100584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199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来店数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75319" y="3200400"/>
            <a:ext cx="100584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0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販売数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281159" y="3200400"/>
            <a:ext cx="109728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26880" y="32735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待ち時間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378439" y="3200400"/>
            <a:ext cx="1005840" cy="411480"/>
          </a:xfrm>
          <a:prstGeom prst="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24159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廃棄数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63640" y="3639312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09359" y="36758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第6日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269479" y="3639312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15199" y="36758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75319" y="3639312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21040" y="36758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281159" y="3639312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26880" y="3675887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378439" y="3639312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24159" y="3675887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263640" y="4023360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309359" y="4059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第7日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269479" y="4023360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15199" y="4059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275319" y="4023360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21040" y="4059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281159" y="4023360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326880" y="4059936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378439" y="4023360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424159" y="40599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63640" y="4407408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09359" y="4443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第8日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269479" y="4407408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15199" y="4443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75319" y="4407408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21040" y="4443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281159" y="4407408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326880" y="4443984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378439" y="4407408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424159" y="44439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263640" y="4791456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09359" y="48280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第9日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269479" y="4791456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15199" y="48280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275319" y="4791456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21040" y="48280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281159" y="4791456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326880" y="482803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378439" y="4791456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424159" y="48280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263640" y="5175504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309359" y="5212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第10日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9479" y="5175504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15199" y="5212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275319" y="5175504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321040" y="5212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281159" y="5175504"/>
            <a:ext cx="109728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326880" y="521208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378439" y="5175504"/>
            <a:ext cx="1005840" cy="365760"/>
          </a:xfrm>
          <a:prstGeom prst="rect">
            <a:avLst/>
          </a:prstGeom>
          <a:solidFill>
            <a:srgbClr val="FBF5F0"/>
          </a:solidFill>
          <a:ln w="12700">
            <a:solidFill>
              <a:srgbClr val="DDD0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424159" y="52120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77240" y="576072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— は未収集。0件ではない。待ち時間の測り方・集計単位は開始前に統一する。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301752"/>
          </a:xfrm>
          <a:prstGeom prst="rect">
            <a:avLst/>
          </a:prstGeom>
          <a:solidFill>
            <a:srgbClr val="8B6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ASANAGI CAFÉ  /  朝営業の試行計画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10972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2週間後に、続ける条件を確かめる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327648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9944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架空の企画案  •  提案値・仮定値  •  実績未収集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2996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確かめる観点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299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ja-JP">
                <a:solidFill>
                  <a:srgbClr val="8B6B5E"/>
                </a:solidFill>
                <a:latin typeface="BIZ UDPGothic"/>
                <a:ea typeface="BIZ UDPGothic"/>
                <a:cs typeface="BIZ UDPGothic"/>
              </a:rPr>
              <a:t>開始前に記入（未合意）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需要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603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販売数と来店の時間帯から
朝に開く意味があるか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56032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必要な販売数
____ セット／日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310127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45643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負担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456432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待ち時間・片づけ・仕込みから
無理なく続けられるか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456432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許容する待ち時間
____ 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06240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52544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lang="ja-JP">
                <a:solidFill>
                  <a:srgbClr val="3D2B1F"/>
                </a:solidFill>
                <a:latin typeface="Shippori Mincho"/>
                <a:ea typeface="Shippori Mincho"/>
                <a:cs typeface="BIZ UDPGothic"/>
              </a:rPr>
              <a:t>廃棄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352544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余りの数と準備量から
少量運用に調整できるか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352544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準備量と廃棄上限
____ ／ ____ セット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102352"/>
            <a:ext cx="10607040" cy="13716"/>
          </a:xfrm>
          <a:prstGeom prst="rect">
            <a:avLst/>
          </a:prstGeom>
          <a:solidFill>
            <a:srgbClr val="DDD0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" y="5458968"/>
            <a:ext cx="10607040" cy="640080"/>
          </a:xfrm>
          <a:prstGeom prst="roundRect">
            <a:avLst/>
          </a:prstGeom>
          <a:solidFill>
            <a:srgbClr val="F0E0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555955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lang="ja-JP">
                <a:solidFill>
                  <a:srgbClr val="3D2B1F"/>
                </a:solidFill>
                <a:latin typeface="BIZ UDPGothic"/>
                <a:ea typeface="BIZ UDPGothic"/>
                <a:cs typeface="BIZ UDPGothic"/>
              </a:rPr>
              <a:t>開始前に判断基準を合意  →  10日分を確認  →  継続・変更・終了を選ぶ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