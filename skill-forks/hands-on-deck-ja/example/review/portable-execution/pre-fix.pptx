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CDB6-39E7-472C-8F74-AF9A5A5C9299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D0E0C2-5493-4280-8AB8-7BB20C593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0462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既存の企画資料を公開前の確認手順へ編集した作例です。実在の運用実績や公開済みという意味ではありません。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43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SNS、Web、掲示板から一覧へ進み、各イベントの詳細へたどれるかを確認する案です。実際のリンク検証は未実施です。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38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表の不具合は想定例です。日時や場所の食い違い、費用や雨天対応の不足、連絡窓口の不明瞭さを、確認する人と次の対応へ結びます。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464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編集窓口が原稿を点検し、主催者が内容を確認してから公開します。公開後の変更連絡も担当を決めるという提案で、合意はまだありません。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01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公開前に利用者の目線で確認する計画です。結果を測定した表ではありません。問題が出たら対応と再確認日を記録します。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339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F85045-30DC-F683-F9AC-D845A46FF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F75B51-8104-55B8-D1FF-5211211FF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3D2298-0215-27AD-086A-EE9ECDCBB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6BD33B-288E-34B0-24AA-DF6E28463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5F0628-502E-760E-5787-33A5440BE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793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C5DF60-390D-3BE7-00F4-993E0F1E5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20DA09-CB94-C1B6-4705-9B3FAAC30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2F4536-5AB9-49CC-BD67-D4793D53C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727F12-A29F-B6B2-A762-DD85163BC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5B00B8-5136-10A6-7A41-78D0EF57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2746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93549A-D86D-3785-47A7-271122E54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4C0741-5003-F2AF-F876-0D3E4F677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F89529-31C7-AA9A-17DD-D35B934F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68D382-3061-7840-093B-245B9DFE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7C5FE2-3273-2F70-912F-AA7A54BA6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7072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6A8D0A-383B-D3D9-1CC6-7C79311E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F8E111-280F-98E2-6414-DCE70D271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40B80E-D9D3-F262-FD99-412E63345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85B6741-6A15-A8C5-14B1-A5B4AACA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68BD66-1F0A-D3DC-1E0E-4E75119C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84A61B-5872-462E-8C91-68FD48DE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426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5F7E21-582D-EEEB-3EC6-A9829EEEA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E39617-F9A5-4735-0F86-83D7BE96B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A25268-D6C8-DD07-248D-8BA5CD863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C91F4F2-527A-5404-2EB8-6D350E5D5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5AE2161-C28D-1CF1-9EDD-3FED84262B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EE52CFC-5C5F-02F6-C7EA-4A853EECF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55E6405-98EF-F64D-FAA6-B4B809CFC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6A90FFC-E5A8-AB53-D608-5AB61A64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8367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7BD8E6-26CB-CB93-7AC8-4E1DFCF26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998B9A7-9CDC-7F4F-B9BD-CDC2C5C50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2CBD4F1-DB04-4750-2985-0D770036C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06FD4-F287-1D2F-C6AE-C1B3D304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E4D30A8-DBE1-9B5F-FFCA-25FC9A7A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F54FDD6-4FE4-35E5-48F3-C4ED4503F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C33AA6-6261-DFC1-EFDB-4EFDAC665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686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A43962-5C53-BF7E-83A4-22FF3647C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504E77-512A-7F03-CD2B-129CC47CE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9EC8EE-C0B3-E78E-46DE-061F5171F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D5EC40-BCC6-9071-A7A4-50D92045E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C52BE77-C334-C53D-D0D2-AAFAEB95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4AFB5E-6EA8-8FF1-6CC4-2CAF469A4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044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DB8D2B-22C4-34F0-C692-B40588E5F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9D2573B-02F0-F6D6-CE1C-DF697B98F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6E6AB2-81C5-CE6B-D3A9-752CEFD2C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A55E9F-B86C-BF5B-3AF0-5155FFDA4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C50659-FC81-0A9C-764B-EA7E5C5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CB60A7-EF0D-7918-86CE-B2EEC51B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2345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06002E-BA32-B754-7461-A02C8B160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8DA3DD5-2DCE-0250-7071-5399F3C78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7312F5-4E7A-EAFA-999F-6122E0ED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EF5034-53A1-80D1-0B31-4E7D691F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A45911-D34C-7B26-DF6E-36ED0AE23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749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1552998-8591-05BD-BCFD-78CC5A873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83C84E9-E2F2-9F9E-5CAA-97B903873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CFC213-5820-9D3D-2BA5-009301E0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70008A-A10E-B3C7-AF1F-08AD501C6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D93158-AD11-B2F7-A56B-CCD0D84B0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2595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7727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C062BDD-AABF-1A5D-CBBC-458BB8697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64DFA6-CD3D-9E38-E9CF-4F8C01DAF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2B1730-B072-423F-F56E-DC8FC76A6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713A7B-13F9-FC53-9C91-20653A3D8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E9B218-1859-EE05-F9AE-16AB03E5D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49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accent"/>
          <p:cNvSpPr/>
          <p:nvPr/>
        </p:nvSpPr>
        <p:spPr>
          <a:xfrm>
            <a:off x="517710" y="874559"/>
            <a:ext cx="743752" cy="3644"/>
          </a:xfrm>
          <a:prstGeom prst="line">
            <a:avLst/>
          </a:prstGeom>
          <a:noFill/>
          <a:ln w="2032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3" name="title"/>
          <p:cNvSpPr/>
          <p:nvPr/>
        </p:nvSpPr>
        <p:spPr>
          <a:xfrm>
            <a:off x="495834" y="1144215"/>
            <a:ext cx="8968771" cy="1348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4400">
                <a:solidFill>
                  <a:srgbClr val="161616"/>
                </a:solidFill>
                <a:latin typeface="Yu Gothic"/>
              </a:rPr>
              <a:t>イベント案内の</a:t>
            </a:r>
            <a:endParaRPr lang="en-US" sz="4400" dirty="0"/>
          </a:p>
          <a:p>
            <a:pPr marL="0" indent="0">
              <a:buNone/>
            </a:pPr>
            <a:r>
              <a:rPr b="1" sz="4400">
                <a:solidFill>
                  <a:srgbClr val="161616"/>
                </a:solidFill>
                <a:latin typeface="Yu Gothic"/>
              </a:rPr>
              <a:t>公開前チェック</a:t>
            </a:r>
          </a:p>
        </p:txBody>
      </p:sp>
      <p:sp>
        <p:nvSpPr>
          <p:cNvPr id="4" name="subtitle"/>
          <p:cNvSpPr/>
          <p:nvPr/>
        </p:nvSpPr>
        <p:spPr>
          <a:xfrm>
            <a:off x="495834" y="2988077"/>
            <a:ext cx="473959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こもれび商店街｜運用のたたき台</a:t>
            </a:r>
            <a:endParaRPr lang="en-US" sz="1900" dirty="0"/>
          </a:p>
        </p:txBody>
      </p:sp>
      <p:sp>
        <p:nvSpPr>
          <p:cNvPr id="5" name="subtitle-rule"/>
          <p:cNvSpPr/>
          <p:nvPr/>
        </p:nvSpPr>
        <p:spPr>
          <a:xfrm>
            <a:off x="495834" y="2827741"/>
            <a:ext cx="3441675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6" name="page-number"/>
          <p:cNvSpPr/>
          <p:nvPr/>
        </p:nvSpPr>
        <p:spPr>
          <a:xfrm>
            <a:off x="10390649" y="255080"/>
            <a:ext cx="1385420" cy="1166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400" dirty="0">
                <a:solidFill>
                  <a:srgbClr val="9A5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9400" dirty="0"/>
          </a:p>
        </p:txBody>
      </p:sp>
      <p:sp>
        <p:nvSpPr>
          <p:cNvPr id="7" name="number-rule"/>
          <p:cNvSpPr/>
          <p:nvPr/>
        </p:nvSpPr>
        <p:spPr>
          <a:xfrm>
            <a:off x="10463566" y="1508614"/>
            <a:ext cx="1239586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8" name="circle-0"/>
          <p:cNvSpPr/>
          <p:nvPr/>
        </p:nvSpPr>
        <p:spPr>
          <a:xfrm>
            <a:off x="5250012" y="2732997"/>
            <a:ext cx="1239586" cy="1238959"/>
          </a:xfrm>
          <a:prstGeom prst="ellipse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pic>
        <p:nvPicPr>
          <p:cNvPr id="9" name="icon-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4388" y="3017228"/>
            <a:ext cx="670835" cy="670495"/>
          </a:xfrm>
          <a:prstGeom prst="rect">
            <a:avLst/>
          </a:prstGeom>
        </p:spPr>
      </p:pic>
      <p:sp>
        <p:nvSpPr>
          <p:cNvPr id="10" name="label-0"/>
          <p:cNvSpPr/>
          <p:nvPr/>
        </p:nvSpPr>
        <p:spPr>
          <a:xfrm>
            <a:off x="4943762" y="4103139"/>
            <a:ext cx="1859379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500">
                <a:solidFill>
                  <a:srgbClr val="161616"/>
                </a:solidFill>
                <a:latin typeface="Yu Gothic"/>
              </a:rPr>
              <a:t>見つける</a:t>
            </a:r>
            <a:endParaRPr lang="en-US" sz="2500" dirty="0"/>
          </a:p>
        </p:txBody>
      </p:sp>
      <p:sp>
        <p:nvSpPr>
          <p:cNvPr id="11" name="circle-1"/>
          <p:cNvSpPr/>
          <p:nvPr/>
        </p:nvSpPr>
        <p:spPr>
          <a:xfrm>
            <a:off x="7678143" y="2732997"/>
            <a:ext cx="1239586" cy="1238959"/>
          </a:xfrm>
          <a:prstGeom prst="ellipse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pic>
        <p:nvPicPr>
          <p:cNvPr id="12" name="icon-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2519" y="3017228"/>
            <a:ext cx="670835" cy="670495"/>
          </a:xfrm>
          <a:prstGeom prst="rect">
            <a:avLst/>
          </a:prstGeom>
        </p:spPr>
      </p:pic>
      <p:sp>
        <p:nvSpPr>
          <p:cNvPr id="13" name="label-1"/>
          <p:cNvSpPr/>
          <p:nvPr/>
        </p:nvSpPr>
        <p:spPr>
          <a:xfrm>
            <a:off x="7371892" y="4103139"/>
            <a:ext cx="1859379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400">
                <a:solidFill>
                  <a:srgbClr val="161616"/>
                </a:solidFill>
                <a:latin typeface="Yu Gothic"/>
              </a:rPr>
              <a:t>確かめる</a:t>
            </a:r>
            <a:endParaRPr lang="en-US" sz="2500" dirty="0"/>
          </a:p>
        </p:txBody>
      </p:sp>
      <p:sp>
        <p:nvSpPr>
          <p:cNvPr id="14" name="circle-2"/>
          <p:cNvSpPr/>
          <p:nvPr/>
        </p:nvSpPr>
        <p:spPr>
          <a:xfrm>
            <a:off x="10098982" y="2732997"/>
            <a:ext cx="1239586" cy="1238959"/>
          </a:xfrm>
          <a:prstGeom prst="ellipse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pic>
        <p:nvPicPr>
          <p:cNvPr id="15" name="icon-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83358" y="3017228"/>
            <a:ext cx="670835" cy="670495"/>
          </a:xfrm>
          <a:prstGeom prst="rect">
            <a:avLst/>
          </a:prstGeom>
        </p:spPr>
      </p:pic>
      <p:sp>
        <p:nvSpPr>
          <p:cNvPr id="16" name="label-2"/>
          <p:cNvSpPr/>
          <p:nvPr/>
        </p:nvSpPr>
        <p:spPr>
          <a:xfrm>
            <a:off x="9792731" y="4103139"/>
            <a:ext cx="1859379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500">
                <a:solidFill>
                  <a:srgbClr val="161616"/>
                </a:solidFill>
                <a:latin typeface="Yu Gothic"/>
              </a:rPr>
              <a:t>迷わず行く</a:t>
            </a:r>
            <a:endParaRPr lang="en-US" sz="2500" dirty="0"/>
          </a:p>
        </p:txBody>
      </p:sp>
      <p:sp>
        <p:nvSpPr>
          <p:cNvPr id="17" name="arrow-1"/>
          <p:cNvSpPr/>
          <p:nvPr/>
        </p:nvSpPr>
        <p:spPr>
          <a:xfrm>
            <a:off x="6657307" y="3359764"/>
            <a:ext cx="802085" cy="3644"/>
          </a:xfrm>
          <a:prstGeom prst="line">
            <a:avLst/>
          </a:prstGeom>
          <a:noFill/>
          <a:ln w="1651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arrow-2"/>
          <p:cNvSpPr/>
          <p:nvPr/>
        </p:nvSpPr>
        <p:spPr>
          <a:xfrm>
            <a:off x="9078146" y="3359764"/>
            <a:ext cx="809377" cy="3644"/>
          </a:xfrm>
          <a:prstGeom prst="line">
            <a:avLst/>
          </a:prstGeom>
          <a:noFill/>
          <a:ln w="1651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bottom-rule"/>
          <p:cNvSpPr/>
          <p:nvPr/>
        </p:nvSpPr>
        <p:spPr>
          <a:xfrm>
            <a:off x="495834" y="5298370"/>
            <a:ext cx="112146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20" name="takeaway"/>
          <p:cNvSpPr/>
          <p:nvPr/>
        </p:nvSpPr>
        <p:spPr>
          <a:xfrm>
            <a:off x="2260422" y="5575313"/>
            <a:ext cx="7947935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800">
                <a:solidFill>
                  <a:srgbClr val="9A5A2E"/>
                </a:solidFill>
                <a:latin typeface="Yu Mincho"/>
              </a:rPr>
              <a:t>公開前の確認と、変更時の連絡をそろえる。</a:t>
            </a:r>
            <a:endParaRPr lang="en-US" sz="2800" dirty="0"/>
          </a:p>
        </p:txBody>
      </p:sp>
      <p:sp>
        <p:nvSpPr>
          <p:cNvPr id="21" name="footer"/>
          <p:cNvSpPr/>
          <p:nvPr/>
        </p:nvSpPr>
        <p:spPr>
          <a:xfrm>
            <a:off x="8881271" y="6376993"/>
            <a:ext cx="2843757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000">
                <a:solidFill>
                  <a:srgbClr val="76716A"/>
                </a:solidFill>
                <a:latin typeface="Yu Gothic"/>
              </a:rPr>
              <a:t>架空の運用例。公開・確認は未実施。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83833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/>
          <p:nvPr/>
        </p:nvSpPr>
        <p:spPr>
          <a:xfrm>
            <a:off x="291667" y="349824"/>
            <a:ext cx="379168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number-rule"/>
          <p:cNvSpPr/>
          <p:nvPr/>
        </p:nvSpPr>
        <p:spPr>
          <a:xfrm>
            <a:off x="743752" y="247792"/>
            <a:ext cx="3646" cy="546599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4" name="title"/>
          <p:cNvSpPr/>
          <p:nvPr/>
        </p:nvSpPr>
        <p:spPr>
          <a:xfrm>
            <a:off x="1028127" y="196776"/>
            <a:ext cx="10645858" cy="583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3200">
                <a:solidFill>
                  <a:srgbClr val="161616"/>
                </a:solidFill>
                <a:latin typeface="Yu Gothic"/>
              </a:rPr>
              <a:t>入口から詳細まで、つながりを確認する</a:t>
            </a:r>
            <a:endParaRPr lang="en-US" sz="3600" dirty="0"/>
          </a:p>
        </p:txBody>
      </p:sp>
      <p:sp>
        <p:nvSpPr>
          <p:cNvPr id="5" name="subtitle"/>
          <p:cNvSpPr/>
          <p:nvPr/>
        </p:nvSpPr>
        <p:spPr>
          <a:xfrm>
            <a:off x="1035419" y="838119"/>
            <a:ext cx="10791692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000">
                <a:solidFill>
                  <a:srgbClr val="161616"/>
                </a:solidFill>
                <a:latin typeface="Yu Gothic"/>
              </a:rPr>
              <a:t>仮の掲載ページで、リンク切れと情報不足を確認する</a:t>
            </a:r>
            <a:endParaRPr lang="en-US" sz="2000" dirty="0"/>
          </a:p>
        </p:txBody>
      </p:sp>
      <p:sp>
        <p:nvSpPr>
          <p:cNvPr id="6" name="header-rule"/>
          <p:cNvSpPr/>
          <p:nvPr/>
        </p:nvSpPr>
        <p:spPr>
          <a:xfrm>
            <a:off x="291667" y="1326414"/>
            <a:ext cx="11608361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7" name="section"/>
          <p:cNvSpPr/>
          <p:nvPr/>
        </p:nvSpPr>
        <p:spPr>
          <a:xfrm>
            <a:off x="284376" y="1552342"/>
            <a:ext cx="6562515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100">
                <a:solidFill>
                  <a:srgbClr val="9A5A2E"/>
                </a:solidFill>
                <a:latin typeface="Yu Gothic"/>
              </a:rPr>
              <a:t>案内をたどる経路</a:t>
            </a:r>
            <a:endParaRPr lang="en-US" sz="2100" dirty="0"/>
          </a:p>
        </p:txBody>
      </p:sp>
      <p:sp>
        <p:nvSpPr>
          <p:cNvPr id="8" name="current"/>
          <p:cNvSpPr/>
          <p:nvPr/>
        </p:nvSpPr>
        <p:spPr>
          <a:xfrm>
            <a:off x="1050002" y="2186397"/>
            <a:ext cx="2078130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100">
                <a:solidFill>
                  <a:srgbClr val="161616"/>
                </a:solidFill>
                <a:latin typeface="Yu Gothic"/>
              </a:rPr>
              <a:t>入口</a:t>
            </a:r>
            <a:endParaRPr lang="en-US" sz="2100" dirty="0"/>
          </a:p>
        </p:txBody>
      </p:sp>
      <p:sp>
        <p:nvSpPr>
          <p:cNvPr id="9" name="proposal"/>
          <p:cNvSpPr/>
          <p:nvPr/>
        </p:nvSpPr>
        <p:spPr>
          <a:xfrm>
            <a:off x="5760430" y="2186397"/>
            <a:ext cx="729168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100">
                <a:solidFill>
                  <a:srgbClr val="9A5A2E"/>
                </a:solidFill>
                <a:latin typeface="Yu Gothic"/>
              </a:rPr>
              <a:t>一覧</a:t>
            </a:r>
            <a:endParaRPr lang="en-US" sz="2100" dirty="0"/>
          </a:p>
        </p:txBody>
      </p:sp>
      <p:sp>
        <p:nvSpPr>
          <p:cNvPr id="10" name="keep"/>
          <p:cNvSpPr/>
          <p:nvPr/>
        </p:nvSpPr>
        <p:spPr>
          <a:xfrm>
            <a:off x="9697939" y="2186397"/>
            <a:ext cx="1604170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100">
                <a:solidFill>
                  <a:srgbClr val="9A5A2E"/>
                </a:solidFill>
                <a:latin typeface="Yu Gothic"/>
              </a:rPr>
              <a:t>詳細</a:t>
            </a:r>
            <a:endParaRPr lang="en-US" sz="2100" dirty="0"/>
          </a:p>
        </p:txBody>
      </p:sp>
      <p:sp>
        <p:nvSpPr>
          <p:cNvPr id="11" name="source-box-0"/>
          <p:cNvSpPr/>
          <p:nvPr/>
        </p:nvSpPr>
        <p:spPr>
          <a:xfrm>
            <a:off x="532293" y="2630965"/>
            <a:ext cx="2413547" cy="670495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12" name="source-label-0"/>
          <p:cNvSpPr/>
          <p:nvPr/>
        </p:nvSpPr>
        <p:spPr>
          <a:xfrm>
            <a:off x="729168" y="2776725"/>
            <a:ext cx="20197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</a:t>
            </a:r>
            <a:endParaRPr lang="en-US" sz="2100" dirty="0"/>
          </a:p>
        </p:txBody>
      </p:sp>
      <p:sp>
        <p:nvSpPr>
          <p:cNvPr id="13" name="source-box-1"/>
          <p:cNvSpPr/>
          <p:nvPr/>
        </p:nvSpPr>
        <p:spPr>
          <a:xfrm>
            <a:off x="532293" y="3483660"/>
            <a:ext cx="2413547" cy="670495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14" name="source-label-1"/>
          <p:cNvSpPr/>
          <p:nvPr/>
        </p:nvSpPr>
        <p:spPr>
          <a:xfrm>
            <a:off x="729168" y="3629420"/>
            <a:ext cx="20197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</a:t>
            </a:r>
            <a:endParaRPr lang="en-US" sz="2100" dirty="0"/>
          </a:p>
        </p:txBody>
      </p:sp>
      <p:sp>
        <p:nvSpPr>
          <p:cNvPr id="15" name="source-box-2"/>
          <p:cNvSpPr/>
          <p:nvPr/>
        </p:nvSpPr>
        <p:spPr>
          <a:xfrm>
            <a:off x="532293" y="4336355"/>
            <a:ext cx="2413547" cy="670495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16" name="source-label-2"/>
          <p:cNvSpPr/>
          <p:nvPr/>
        </p:nvSpPr>
        <p:spPr>
          <a:xfrm>
            <a:off x="729168" y="4482115"/>
            <a:ext cx="20197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掲示板</a:t>
            </a:r>
            <a:endParaRPr lang="en-US" sz="2100" dirty="0"/>
          </a:p>
        </p:txBody>
      </p:sp>
      <p:sp>
        <p:nvSpPr>
          <p:cNvPr id="17" name="list-box"/>
          <p:cNvSpPr/>
          <p:nvPr/>
        </p:nvSpPr>
        <p:spPr>
          <a:xfrm>
            <a:off x="4375010" y="2856893"/>
            <a:ext cx="3441675" cy="1851150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18" name="list-label"/>
          <p:cNvSpPr/>
          <p:nvPr/>
        </p:nvSpPr>
        <p:spPr>
          <a:xfrm>
            <a:off x="4681261" y="3527388"/>
            <a:ext cx="2909382" cy="553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500">
                <a:solidFill>
                  <a:srgbClr val="161616"/>
                </a:solidFill>
                <a:latin typeface="Yu Gothic"/>
              </a:rPr>
              <a:t>イベント一覧</a:t>
            </a:r>
            <a:endParaRPr lang="en-US" sz="2500" dirty="0"/>
          </a:p>
        </p:txBody>
      </p:sp>
      <p:sp>
        <p:nvSpPr>
          <p:cNvPr id="19" name="details-box"/>
          <p:cNvSpPr/>
          <p:nvPr/>
        </p:nvSpPr>
        <p:spPr>
          <a:xfrm>
            <a:off x="8873979" y="2856893"/>
            <a:ext cx="3026049" cy="1851150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20" name="details-label"/>
          <p:cNvSpPr/>
          <p:nvPr/>
        </p:nvSpPr>
        <p:spPr>
          <a:xfrm>
            <a:off x="8983354" y="3439932"/>
            <a:ext cx="2807298" cy="728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1900">
                <a:solidFill>
                  <a:srgbClr val="161616"/>
                </a:solidFill>
                <a:latin typeface="Yu Gothic"/>
              </a:rPr>
              <a:t>各イベントの</a:t>
            </a:r>
            <a:endParaRPr lang="en-US" sz="1900" dirty="0"/>
          </a:p>
          <a:p>
            <a:pPr marL="0" indent="0" algn="ctr">
              <a:buNone/>
            </a:pPr>
            <a:r>
              <a:rPr b="1" sz="1900">
                <a:solidFill>
                  <a:srgbClr val="161616"/>
                </a:solidFill>
                <a:latin typeface="Yu Gothic"/>
              </a:rPr>
              <a:t>詳しい案内</a:t>
            </a:r>
          </a:p>
        </p:txBody>
      </p:sp>
      <p:sp>
        <p:nvSpPr>
          <p:cNvPr id="21" name="route-1"/>
          <p:cNvSpPr/>
          <p:nvPr/>
        </p:nvSpPr>
        <p:spPr>
          <a:xfrm>
            <a:off x="2945840" y="2966213"/>
            <a:ext cx="1421878" cy="532023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route-2"/>
          <p:cNvSpPr/>
          <p:nvPr/>
        </p:nvSpPr>
        <p:spPr>
          <a:xfrm>
            <a:off x="2945840" y="3797044"/>
            <a:ext cx="1421878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route-3"/>
          <p:cNvSpPr/>
          <p:nvPr/>
        </p:nvSpPr>
        <p:spPr>
          <a:xfrm flipV="1">
            <a:off x="2945840" y="4081275"/>
            <a:ext cx="1421878" cy="568463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route-4"/>
          <p:cNvSpPr/>
          <p:nvPr/>
        </p:nvSpPr>
        <p:spPr>
          <a:xfrm>
            <a:off x="7816685" y="3797044"/>
            <a:ext cx="1050002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caveat"/>
          <p:cNvSpPr/>
          <p:nvPr/>
        </p:nvSpPr>
        <p:spPr>
          <a:xfrm>
            <a:off x="284376" y="5312946"/>
            <a:ext cx="3645842" cy="26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>
                <a:solidFill>
                  <a:srgbClr val="161616"/>
                </a:solidFill>
                <a:latin typeface="Yu Gothic"/>
              </a:rPr>
              <a:t>確認用の架空データ</a:t>
            </a:r>
            <a:endParaRPr lang="en-US" sz="1400" dirty="0"/>
          </a:p>
        </p:txBody>
      </p:sp>
      <p:sp>
        <p:nvSpPr>
          <p:cNvPr id="26" name="bottom-rule"/>
          <p:cNvSpPr/>
          <p:nvPr/>
        </p:nvSpPr>
        <p:spPr>
          <a:xfrm>
            <a:off x="291667" y="5859545"/>
            <a:ext cx="11608361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27" name="takeaway"/>
          <p:cNvSpPr/>
          <p:nvPr/>
        </p:nvSpPr>
        <p:spPr>
          <a:xfrm>
            <a:off x="291667" y="6063609"/>
            <a:ext cx="9406272" cy="451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500">
                <a:solidFill>
                  <a:srgbClr val="9A5A2E"/>
                </a:solidFill>
                <a:latin typeface="Yu Gothic"/>
              </a:rPr>
              <a:t>入口から詳細へ、迷わずたどれるようにする。</a:t>
            </a:r>
            <a:endParaRPr lang="en-US" sz="2700" dirty="0"/>
          </a:p>
        </p:txBody>
      </p:sp>
      <p:sp>
        <p:nvSpPr>
          <p:cNvPr id="28" name="footer"/>
          <p:cNvSpPr/>
          <p:nvPr/>
        </p:nvSpPr>
        <p:spPr>
          <a:xfrm>
            <a:off x="9829190" y="6376993"/>
            <a:ext cx="2107297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800">
                <a:solidFill>
                  <a:srgbClr val="161616"/>
                </a:solidFill>
                <a:latin typeface="Yu Gothic"/>
              </a:rPr>
              <a:t>架空の運用例。実際の検証結果ではない。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69791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/>
          <p:nvPr/>
        </p:nvSpPr>
        <p:spPr>
          <a:xfrm>
            <a:off x="226042" y="247792"/>
            <a:ext cx="444793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300" dirty="0"/>
          </a:p>
        </p:txBody>
      </p:sp>
      <p:sp>
        <p:nvSpPr>
          <p:cNvPr id="3" name="number-rule"/>
          <p:cNvSpPr/>
          <p:nvPr/>
        </p:nvSpPr>
        <p:spPr>
          <a:xfrm>
            <a:off x="772918" y="189488"/>
            <a:ext cx="3646" cy="502871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4" name="title"/>
          <p:cNvSpPr/>
          <p:nvPr/>
        </p:nvSpPr>
        <p:spPr>
          <a:xfrm>
            <a:off x="1013544" y="167624"/>
            <a:ext cx="10645858" cy="57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3400">
                <a:solidFill>
                  <a:srgbClr val="161616"/>
                </a:solidFill>
                <a:latin typeface="Yu Gothic"/>
              </a:rPr>
              <a:t>見つけた問題を、次の対応につなげる</a:t>
            </a:r>
            <a:endParaRPr lang="en-US" sz="3400" dirty="0"/>
          </a:p>
        </p:txBody>
      </p:sp>
      <p:sp>
        <p:nvSpPr>
          <p:cNvPr id="5" name="subtitle"/>
          <p:cNvSpPr/>
          <p:nvPr/>
        </p:nvSpPr>
        <p:spPr>
          <a:xfrm>
            <a:off x="1020836" y="801679"/>
            <a:ext cx="10791692" cy="39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以下は不具合の想定例。実際の確認結果ではない。</a:t>
            </a:r>
            <a:endParaRPr lang="en-US" sz="2000" dirty="0"/>
          </a:p>
        </p:txBody>
      </p:sp>
      <p:sp>
        <p:nvSpPr>
          <p:cNvPr id="6" name="table-header"/>
          <p:cNvSpPr/>
          <p:nvPr/>
        </p:nvSpPr>
        <p:spPr>
          <a:xfrm>
            <a:off x="255209" y="1406582"/>
            <a:ext cx="11688569" cy="757951"/>
          </a:xfrm>
          <a:prstGeom prst="rect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able-v-0"/>
          <p:cNvSpPr/>
          <p:nvPr/>
        </p:nvSpPr>
        <p:spPr>
          <a:xfrm>
            <a:off x="255209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8" name="table-v-1"/>
          <p:cNvSpPr/>
          <p:nvPr/>
        </p:nvSpPr>
        <p:spPr>
          <a:xfrm>
            <a:off x="2617714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9" name="table-v-2"/>
          <p:cNvSpPr/>
          <p:nvPr/>
        </p:nvSpPr>
        <p:spPr>
          <a:xfrm>
            <a:off x="4951053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0" name="table-v-3"/>
          <p:cNvSpPr/>
          <p:nvPr/>
        </p:nvSpPr>
        <p:spPr>
          <a:xfrm>
            <a:off x="7335434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1" name="table-v-4"/>
          <p:cNvSpPr/>
          <p:nvPr/>
        </p:nvSpPr>
        <p:spPr>
          <a:xfrm>
            <a:off x="9617731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2" name="table-v-5"/>
          <p:cNvSpPr/>
          <p:nvPr/>
        </p:nvSpPr>
        <p:spPr>
          <a:xfrm>
            <a:off x="11943778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3" name="table-h-0"/>
          <p:cNvSpPr/>
          <p:nvPr/>
        </p:nvSpPr>
        <p:spPr>
          <a:xfrm>
            <a:off x="255209" y="1406582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4" name="table-h-1"/>
          <p:cNvSpPr/>
          <p:nvPr/>
        </p:nvSpPr>
        <p:spPr>
          <a:xfrm>
            <a:off x="255209" y="2164533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5" name="table-h-2"/>
          <p:cNvSpPr/>
          <p:nvPr/>
        </p:nvSpPr>
        <p:spPr>
          <a:xfrm>
            <a:off x="255209" y="3162988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6" name="table-h-3"/>
          <p:cNvSpPr/>
          <p:nvPr/>
        </p:nvSpPr>
        <p:spPr>
          <a:xfrm>
            <a:off x="255209" y="4190595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7" name="table-h-4"/>
          <p:cNvSpPr/>
          <p:nvPr/>
        </p:nvSpPr>
        <p:spPr>
          <a:xfrm>
            <a:off x="255209" y="5203626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8" name="header-0"/>
          <p:cNvSpPr/>
          <p:nvPr/>
        </p:nvSpPr>
        <p:spPr>
          <a:xfrm>
            <a:off x="328126" y="1530478"/>
            <a:ext cx="2216672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1900">
                <a:solidFill>
                  <a:srgbClr val="FFFFFF"/>
                </a:solidFill>
                <a:latin typeface="Yu Gothic"/>
              </a:rPr>
              <a:t>チェック項目</a:t>
            </a:r>
            <a:endParaRPr lang="en-US" sz="2200" dirty="0"/>
          </a:p>
        </p:txBody>
      </p:sp>
      <p:sp>
        <p:nvSpPr>
          <p:cNvPr id="19" name="header-1"/>
          <p:cNvSpPr/>
          <p:nvPr/>
        </p:nvSpPr>
        <p:spPr>
          <a:xfrm>
            <a:off x="2690631" y="1530478"/>
            <a:ext cx="2187505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見る場所</a:t>
            </a:r>
            <a:endParaRPr lang="en-US" sz="2200" dirty="0"/>
          </a:p>
        </p:txBody>
      </p:sp>
      <p:sp>
        <p:nvSpPr>
          <p:cNvPr id="20" name="header-2"/>
          <p:cNvSpPr/>
          <p:nvPr/>
        </p:nvSpPr>
        <p:spPr>
          <a:xfrm>
            <a:off x="5023970" y="1530478"/>
            <a:ext cx="2238547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1900">
                <a:solidFill>
                  <a:srgbClr val="FFFFFF"/>
                </a:solidFill>
                <a:latin typeface="Yu Gothic"/>
              </a:rPr>
              <a:t>確認する人</a:t>
            </a:r>
            <a:endParaRPr lang="en-US" sz="2200" dirty="0"/>
          </a:p>
        </p:txBody>
      </p:sp>
      <p:sp>
        <p:nvSpPr>
          <p:cNvPr id="21" name="header-3"/>
          <p:cNvSpPr/>
          <p:nvPr/>
        </p:nvSpPr>
        <p:spPr>
          <a:xfrm>
            <a:off x="7408351" y="1530478"/>
            <a:ext cx="2136463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1900">
                <a:solidFill>
                  <a:srgbClr val="FFFFFF"/>
                </a:solidFill>
                <a:latin typeface="Yu Gothic"/>
              </a:rPr>
              <a:t>想定する問題</a:t>
            </a:r>
            <a:endParaRPr lang="en-US" sz="2200" dirty="0"/>
          </a:p>
        </p:txBody>
      </p:sp>
      <p:sp>
        <p:nvSpPr>
          <p:cNvPr id="22" name="header-4"/>
          <p:cNvSpPr/>
          <p:nvPr/>
        </p:nvSpPr>
        <p:spPr>
          <a:xfrm>
            <a:off x="9690648" y="1530478"/>
            <a:ext cx="2180213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次の対応</a:t>
            </a:r>
            <a:endParaRPr lang="en-US" sz="2200" dirty="0"/>
          </a:p>
        </p:txBody>
      </p:sp>
      <p:sp>
        <p:nvSpPr>
          <p:cNvPr id="23" name="cell-0-0"/>
          <p:cNvSpPr/>
          <p:nvPr/>
        </p:nvSpPr>
        <p:spPr>
          <a:xfrm>
            <a:off x="452084" y="2310293"/>
            <a:ext cx="2019796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日時・場所</a:t>
            </a:r>
            <a:endParaRPr lang="en-US" sz="1900" dirty="0"/>
          </a:p>
        </p:txBody>
      </p:sp>
      <p:sp>
        <p:nvSpPr>
          <p:cNvPr id="24" name="cell-0-1"/>
          <p:cNvSpPr/>
          <p:nvPr/>
        </p:nvSpPr>
        <p:spPr>
          <a:xfrm>
            <a:off x="2814590" y="2310293"/>
            <a:ext cx="1990630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一覧と詳細</a:t>
            </a:r>
            <a:endParaRPr lang="en-US" sz="1900" dirty="0"/>
          </a:p>
        </p:txBody>
      </p:sp>
      <p:sp>
        <p:nvSpPr>
          <p:cNvPr id="25" name="cell-0-2"/>
          <p:cNvSpPr/>
          <p:nvPr/>
        </p:nvSpPr>
        <p:spPr>
          <a:xfrm>
            <a:off x="5147929" y="2310293"/>
            <a:ext cx="2041671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主催者</a:t>
            </a:r>
            <a:endParaRPr lang="en-US" sz="1900" dirty="0"/>
          </a:p>
        </p:txBody>
      </p:sp>
      <p:sp>
        <p:nvSpPr>
          <p:cNvPr id="26" name="cell-0-3"/>
          <p:cNvSpPr/>
          <p:nvPr/>
        </p:nvSpPr>
        <p:spPr>
          <a:xfrm>
            <a:off x="7532309" y="2310293"/>
            <a:ext cx="1939588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食い違い</a:t>
            </a:r>
            <a:endParaRPr lang="en-US" sz="1900" dirty="0"/>
          </a:p>
        </p:txBody>
      </p:sp>
      <p:sp>
        <p:nvSpPr>
          <p:cNvPr id="27" name="cell-0-4"/>
          <p:cNvSpPr/>
          <p:nvPr/>
        </p:nvSpPr>
        <p:spPr>
          <a:xfrm>
            <a:off x="9814606" y="2310293"/>
            <a:ext cx="1983338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確認して修正</a:t>
            </a:r>
            <a:endParaRPr lang="en-US" sz="1900" dirty="0"/>
          </a:p>
        </p:txBody>
      </p:sp>
      <p:sp>
        <p:nvSpPr>
          <p:cNvPr id="28" name="cell-1-0"/>
          <p:cNvSpPr/>
          <p:nvPr/>
        </p:nvSpPr>
        <p:spPr>
          <a:xfrm>
            <a:off x="452084" y="3308748"/>
            <a:ext cx="2019796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費用・雨天</a:t>
            </a:r>
            <a:endParaRPr lang="en-US" sz="1900" dirty="0"/>
          </a:p>
        </p:txBody>
      </p:sp>
      <p:sp>
        <p:nvSpPr>
          <p:cNvPr id="29" name="cell-1-1"/>
          <p:cNvSpPr/>
          <p:nvPr/>
        </p:nvSpPr>
        <p:spPr>
          <a:xfrm>
            <a:off x="2814590" y="3308748"/>
            <a:ext cx="1990630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詳細ページ</a:t>
            </a:r>
            <a:endParaRPr lang="en-US" sz="1900" dirty="0"/>
          </a:p>
        </p:txBody>
      </p:sp>
      <p:sp>
        <p:nvSpPr>
          <p:cNvPr id="30" name="cell-1-2"/>
          <p:cNvSpPr/>
          <p:nvPr/>
        </p:nvSpPr>
        <p:spPr>
          <a:xfrm>
            <a:off x="5147929" y="3308748"/>
            <a:ext cx="2041671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編集窓口</a:t>
            </a:r>
            <a:endParaRPr lang="en-US" sz="1900" dirty="0"/>
          </a:p>
        </p:txBody>
      </p:sp>
      <p:sp>
        <p:nvSpPr>
          <p:cNvPr id="31" name="cell-1-3"/>
          <p:cNvSpPr/>
          <p:nvPr/>
        </p:nvSpPr>
        <p:spPr>
          <a:xfrm>
            <a:off x="7532309" y="3308748"/>
            <a:ext cx="1939588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情報が不足</a:t>
            </a:r>
            <a:endParaRPr lang="en-US" sz="1900" dirty="0"/>
          </a:p>
        </p:txBody>
      </p:sp>
      <p:sp>
        <p:nvSpPr>
          <p:cNvPr id="32" name="cell-1-4"/>
          <p:cNvSpPr/>
          <p:nvPr/>
        </p:nvSpPr>
        <p:spPr>
          <a:xfrm>
            <a:off x="9814606" y="3308748"/>
            <a:ext cx="1983338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主催者へ確認</a:t>
            </a:r>
            <a:endParaRPr lang="en-US" sz="1900" dirty="0"/>
          </a:p>
        </p:txBody>
      </p:sp>
      <p:sp>
        <p:nvSpPr>
          <p:cNvPr id="33" name="cell-2-0"/>
          <p:cNvSpPr/>
          <p:nvPr/>
        </p:nvSpPr>
        <p:spPr>
          <a:xfrm>
            <a:off x="452084" y="4336355"/>
            <a:ext cx="2019796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連絡先</a:t>
            </a:r>
            <a:endParaRPr lang="en-US" sz="1900" dirty="0"/>
          </a:p>
        </p:txBody>
      </p:sp>
      <p:sp>
        <p:nvSpPr>
          <p:cNvPr id="34" name="cell-2-1"/>
          <p:cNvSpPr/>
          <p:nvPr/>
        </p:nvSpPr>
        <p:spPr>
          <a:xfrm>
            <a:off x="2814590" y="4336355"/>
            <a:ext cx="1990630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一覧の末尾</a:t>
            </a:r>
            <a:endParaRPr lang="en-US" sz="1900" dirty="0"/>
          </a:p>
        </p:txBody>
      </p:sp>
      <p:sp>
        <p:nvSpPr>
          <p:cNvPr id="35" name="cell-2-2"/>
          <p:cNvSpPr/>
          <p:nvPr/>
        </p:nvSpPr>
        <p:spPr>
          <a:xfrm>
            <a:off x="5147929" y="4336355"/>
            <a:ext cx="2041671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編集窓口</a:t>
            </a:r>
            <a:endParaRPr lang="en-US" sz="1900" dirty="0"/>
          </a:p>
        </p:txBody>
      </p:sp>
      <p:sp>
        <p:nvSpPr>
          <p:cNvPr id="36" name="cell-2-3"/>
          <p:cNvSpPr/>
          <p:nvPr/>
        </p:nvSpPr>
        <p:spPr>
          <a:xfrm>
            <a:off x="7532309" y="4336355"/>
            <a:ext cx="1939588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窓口が不明</a:t>
            </a:r>
            <a:endParaRPr lang="en-US" sz="1900" dirty="0"/>
          </a:p>
        </p:txBody>
      </p:sp>
      <p:sp>
        <p:nvSpPr>
          <p:cNvPr id="37" name="cell-2-4"/>
          <p:cNvSpPr/>
          <p:nvPr/>
        </p:nvSpPr>
        <p:spPr>
          <a:xfrm>
            <a:off x="9814606" y="4336355"/>
            <a:ext cx="1983338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連絡先を追記</a:t>
            </a:r>
            <a:endParaRPr lang="en-US" sz="1900" dirty="0"/>
          </a:p>
        </p:txBody>
      </p:sp>
      <p:sp>
        <p:nvSpPr>
          <p:cNvPr id="38" name="note-1"/>
          <p:cNvSpPr/>
          <p:nvPr/>
        </p:nvSpPr>
        <p:spPr>
          <a:xfrm>
            <a:off x="342709" y="5342098"/>
            <a:ext cx="10572941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500">
                <a:solidFill>
                  <a:srgbClr val="161616"/>
                </a:solidFill>
                <a:latin typeface="Yu Gothic"/>
              </a:rPr>
              <a:t>問題がなければ、確認日と確認者を記録する。</a:t>
            </a:r>
            <a:endParaRPr lang="en-US" sz="1500" dirty="0"/>
          </a:p>
        </p:txBody>
      </p:sp>
      <p:sp>
        <p:nvSpPr>
          <p:cNvPr id="39" name="note-2"/>
          <p:cNvSpPr/>
          <p:nvPr/>
        </p:nvSpPr>
        <p:spPr>
          <a:xfrm>
            <a:off x="342709" y="5691921"/>
            <a:ext cx="10718775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500">
                <a:solidFill>
                  <a:srgbClr val="161616"/>
                </a:solidFill>
                <a:latin typeface="Yu Gothic"/>
              </a:rPr>
              <a:t>不明な内容は推測で埋めず、主催者へ確かめる。</a:t>
            </a:r>
            <a:endParaRPr lang="en-US" sz="1500" dirty="0"/>
          </a:p>
        </p:txBody>
      </p:sp>
      <p:sp>
        <p:nvSpPr>
          <p:cNvPr id="40" name="bottom-rule"/>
          <p:cNvSpPr/>
          <p:nvPr/>
        </p:nvSpPr>
        <p:spPr>
          <a:xfrm>
            <a:off x="255209" y="6187505"/>
            <a:ext cx="11695861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41" name="takeaway"/>
          <p:cNvSpPr/>
          <p:nvPr/>
        </p:nvSpPr>
        <p:spPr>
          <a:xfrm>
            <a:off x="255209" y="6289537"/>
            <a:ext cx="8677104" cy="39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400">
                <a:solidFill>
                  <a:srgbClr val="9A5A2E"/>
                </a:solidFill>
                <a:latin typeface="Yu Gothic"/>
              </a:rPr>
              <a:t>見つけるだけで終えず、直す担当まで決める。</a:t>
            </a:r>
            <a:endParaRPr lang="en-US" sz="2400" dirty="0"/>
          </a:p>
        </p:txBody>
      </p:sp>
      <p:sp>
        <p:nvSpPr>
          <p:cNvPr id="42" name="footer"/>
          <p:cNvSpPr/>
          <p:nvPr/>
        </p:nvSpPr>
        <p:spPr>
          <a:xfrm>
            <a:off x="9318772" y="6457160"/>
            <a:ext cx="2661465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000">
                <a:solidFill>
                  <a:srgbClr val="161616"/>
                </a:solidFill>
                <a:latin typeface="Yu Gothic"/>
              </a:rPr>
              <a:t>架空の運用例。掲載情報はすべて例示。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3215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/>
          <p:nvPr/>
        </p:nvSpPr>
        <p:spPr>
          <a:xfrm>
            <a:off x="357293" y="138472"/>
            <a:ext cx="444793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2300" dirty="0"/>
          </a:p>
        </p:txBody>
      </p:sp>
      <p:sp>
        <p:nvSpPr>
          <p:cNvPr id="3" name="number-rule"/>
          <p:cNvSpPr/>
          <p:nvPr/>
        </p:nvSpPr>
        <p:spPr>
          <a:xfrm>
            <a:off x="875002" y="335248"/>
            <a:ext cx="10973984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4" name="title"/>
          <p:cNvSpPr/>
          <p:nvPr/>
        </p:nvSpPr>
        <p:spPr>
          <a:xfrm>
            <a:off x="357293" y="590327"/>
            <a:ext cx="11484402" cy="612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3500">
                <a:solidFill>
                  <a:srgbClr val="161616"/>
                </a:solidFill>
                <a:latin typeface="Yu Gothic"/>
              </a:rPr>
              <a:t>原稿の確認と、公開後の更新を分担する</a:t>
            </a:r>
            <a:endParaRPr lang="en-US" sz="3500" dirty="0"/>
          </a:p>
        </p:txBody>
      </p:sp>
      <p:sp>
        <p:nvSpPr>
          <p:cNvPr id="5" name="subtitle"/>
          <p:cNvSpPr/>
          <p:nvPr/>
        </p:nvSpPr>
        <p:spPr>
          <a:xfrm>
            <a:off x="357293" y="1268111"/>
            <a:ext cx="11302110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担当案を先に共有し、実際の運用前に合意する</a:t>
            </a:r>
            <a:endParaRPr lang="en-US" sz="2000" dirty="0"/>
          </a:p>
        </p:txBody>
      </p:sp>
      <p:sp>
        <p:nvSpPr>
          <p:cNvPr id="6" name="table-header"/>
          <p:cNvSpPr/>
          <p:nvPr/>
        </p:nvSpPr>
        <p:spPr>
          <a:xfrm>
            <a:off x="357293" y="1800134"/>
            <a:ext cx="11477110" cy="597615"/>
          </a:xfrm>
          <a:prstGeom prst="rect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able-v-0"/>
          <p:cNvSpPr/>
          <p:nvPr/>
        </p:nvSpPr>
        <p:spPr>
          <a:xfrm>
            <a:off x="357293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8" name="table-v-1"/>
          <p:cNvSpPr/>
          <p:nvPr/>
        </p:nvSpPr>
        <p:spPr>
          <a:xfrm>
            <a:off x="3572925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9" name="table-v-2"/>
          <p:cNvSpPr/>
          <p:nvPr/>
        </p:nvSpPr>
        <p:spPr>
          <a:xfrm>
            <a:off x="7510434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0" name="table-v-3"/>
          <p:cNvSpPr/>
          <p:nvPr/>
        </p:nvSpPr>
        <p:spPr>
          <a:xfrm>
            <a:off x="11834403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1" name="table-h-0"/>
          <p:cNvSpPr/>
          <p:nvPr/>
        </p:nvSpPr>
        <p:spPr>
          <a:xfrm>
            <a:off x="357293" y="1800134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2" name="table-h-1"/>
          <p:cNvSpPr/>
          <p:nvPr/>
        </p:nvSpPr>
        <p:spPr>
          <a:xfrm>
            <a:off x="357293" y="2397749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3" name="table-h-2"/>
          <p:cNvSpPr/>
          <p:nvPr/>
        </p:nvSpPr>
        <p:spPr>
          <a:xfrm>
            <a:off x="357293" y="3403492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4" name="table-h-3"/>
          <p:cNvSpPr/>
          <p:nvPr/>
        </p:nvSpPr>
        <p:spPr>
          <a:xfrm>
            <a:off x="357293" y="4409235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5" name="table-h-4"/>
          <p:cNvSpPr/>
          <p:nvPr/>
        </p:nvSpPr>
        <p:spPr>
          <a:xfrm>
            <a:off x="357293" y="5436842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6" name="header-0"/>
          <p:cNvSpPr/>
          <p:nvPr/>
        </p:nvSpPr>
        <p:spPr>
          <a:xfrm>
            <a:off x="430209" y="1924030"/>
            <a:ext cx="3069799" cy="37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段階</a:t>
            </a:r>
            <a:endParaRPr lang="en-US" sz="2200" dirty="0"/>
          </a:p>
        </p:txBody>
      </p:sp>
      <p:sp>
        <p:nvSpPr>
          <p:cNvPr id="17" name="header-1"/>
          <p:cNvSpPr/>
          <p:nvPr/>
        </p:nvSpPr>
        <p:spPr>
          <a:xfrm>
            <a:off x="3645842" y="1924030"/>
            <a:ext cx="3791676" cy="37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担当案</a:t>
            </a:r>
            <a:endParaRPr lang="en-US" sz="2200" dirty="0"/>
          </a:p>
        </p:txBody>
      </p:sp>
      <p:sp>
        <p:nvSpPr>
          <p:cNvPr id="18" name="header-2"/>
          <p:cNvSpPr/>
          <p:nvPr/>
        </p:nvSpPr>
        <p:spPr>
          <a:xfrm>
            <a:off x="7583351" y="1924030"/>
            <a:ext cx="4178135" cy="37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確認すること</a:t>
            </a:r>
            <a:endParaRPr lang="en-US" sz="2200" dirty="0"/>
          </a:p>
        </p:txBody>
      </p:sp>
      <p:sp>
        <p:nvSpPr>
          <p:cNvPr id="19" name="cell-0-0"/>
          <p:cNvSpPr/>
          <p:nvPr/>
        </p:nvSpPr>
        <p:spPr>
          <a:xfrm>
            <a:off x="1378128" y="2543509"/>
            <a:ext cx="2048963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000">
                <a:solidFill>
                  <a:srgbClr val="161616"/>
                </a:solidFill>
                <a:latin typeface="Yu Gothic"/>
              </a:rPr>
              <a:t>原稿を点検</a:t>
            </a:r>
            <a:endParaRPr lang="en-US" sz="2000" dirty="0"/>
          </a:p>
        </p:txBody>
      </p:sp>
      <p:sp>
        <p:nvSpPr>
          <p:cNvPr id="20" name="cell-0-1"/>
          <p:cNvSpPr/>
          <p:nvPr/>
        </p:nvSpPr>
        <p:spPr>
          <a:xfrm>
            <a:off x="3864592" y="2543509"/>
            <a:ext cx="3500008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編集窓口</a:t>
            </a:r>
            <a:endParaRPr lang="en-US" sz="2000" dirty="0"/>
          </a:p>
        </p:txBody>
      </p:sp>
      <p:sp>
        <p:nvSpPr>
          <p:cNvPr id="21" name="cell-0-2"/>
          <p:cNvSpPr/>
          <p:nvPr/>
        </p:nvSpPr>
        <p:spPr>
          <a:xfrm>
            <a:off x="7802102" y="2543509"/>
            <a:ext cx="3886467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内容・リンク・更新日</a:t>
            </a:r>
            <a:endParaRPr lang="en-US" sz="2000" dirty="0"/>
          </a:p>
        </p:txBody>
      </p:sp>
      <p:sp>
        <p:nvSpPr>
          <p:cNvPr id="22" name="step-disc-0"/>
          <p:cNvSpPr/>
          <p:nvPr/>
        </p:nvSpPr>
        <p:spPr>
          <a:xfrm>
            <a:off x="648960" y="2645541"/>
            <a:ext cx="437501" cy="437279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tep-number-0"/>
          <p:cNvSpPr/>
          <p:nvPr/>
        </p:nvSpPr>
        <p:spPr>
          <a:xfrm>
            <a:off x="663543" y="2681981"/>
            <a:ext cx="40833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400" dirty="0"/>
          </a:p>
        </p:txBody>
      </p:sp>
      <p:sp>
        <p:nvSpPr>
          <p:cNvPr id="24" name="step-arrow-0"/>
          <p:cNvSpPr/>
          <p:nvPr/>
        </p:nvSpPr>
        <p:spPr>
          <a:xfrm>
            <a:off x="867710" y="3133836"/>
            <a:ext cx="3646" cy="502871"/>
          </a:xfrm>
          <a:prstGeom prst="line">
            <a:avLst/>
          </a:prstGeom>
          <a:noFill/>
          <a:ln w="1524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cell-1-0"/>
          <p:cNvSpPr/>
          <p:nvPr/>
        </p:nvSpPr>
        <p:spPr>
          <a:xfrm>
            <a:off x="1378128" y="3549252"/>
            <a:ext cx="2048963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000">
                <a:solidFill>
                  <a:srgbClr val="161616"/>
                </a:solidFill>
                <a:latin typeface="Yu Gothic"/>
              </a:rPr>
              <a:t>主催者が確認</a:t>
            </a:r>
            <a:endParaRPr lang="en-US" sz="2000" dirty="0"/>
          </a:p>
        </p:txBody>
      </p:sp>
      <p:sp>
        <p:nvSpPr>
          <p:cNvPr id="26" name="cell-1-1"/>
          <p:cNvSpPr/>
          <p:nvPr/>
        </p:nvSpPr>
        <p:spPr>
          <a:xfrm>
            <a:off x="3864592" y="3549252"/>
            <a:ext cx="3500008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各店・主催者</a:t>
            </a:r>
            <a:endParaRPr lang="en-US" sz="2000" dirty="0"/>
          </a:p>
        </p:txBody>
      </p:sp>
      <p:sp>
        <p:nvSpPr>
          <p:cNvPr id="27" name="cell-1-2"/>
          <p:cNvSpPr/>
          <p:nvPr/>
        </p:nvSpPr>
        <p:spPr>
          <a:xfrm>
            <a:off x="7802102" y="3549252"/>
            <a:ext cx="3886467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日時・料金・雨天対応</a:t>
            </a:r>
            <a:endParaRPr lang="en-US" sz="2000" dirty="0"/>
          </a:p>
        </p:txBody>
      </p:sp>
      <p:sp>
        <p:nvSpPr>
          <p:cNvPr id="28" name="step-disc-1"/>
          <p:cNvSpPr/>
          <p:nvPr/>
        </p:nvSpPr>
        <p:spPr>
          <a:xfrm>
            <a:off x="648960" y="3680436"/>
            <a:ext cx="437501" cy="437279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tep-number-1"/>
          <p:cNvSpPr/>
          <p:nvPr/>
        </p:nvSpPr>
        <p:spPr>
          <a:xfrm>
            <a:off x="663543" y="3716876"/>
            <a:ext cx="40833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400" dirty="0"/>
          </a:p>
        </p:txBody>
      </p:sp>
      <p:sp>
        <p:nvSpPr>
          <p:cNvPr id="30" name="step-arrow-1"/>
          <p:cNvSpPr/>
          <p:nvPr/>
        </p:nvSpPr>
        <p:spPr>
          <a:xfrm>
            <a:off x="867710" y="4168731"/>
            <a:ext cx="3646" cy="502871"/>
          </a:xfrm>
          <a:prstGeom prst="line">
            <a:avLst/>
          </a:prstGeom>
          <a:noFill/>
          <a:ln w="1524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cell-2-0"/>
          <p:cNvSpPr/>
          <p:nvPr/>
        </p:nvSpPr>
        <p:spPr>
          <a:xfrm>
            <a:off x="1378128" y="4554995"/>
            <a:ext cx="2048963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000">
                <a:solidFill>
                  <a:srgbClr val="161616"/>
                </a:solidFill>
                <a:latin typeface="Yu Gothic"/>
              </a:rPr>
              <a:t>公開後も更新</a:t>
            </a:r>
            <a:endParaRPr lang="en-US" sz="2000" dirty="0"/>
          </a:p>
        </p:txBody>
      </p:sp>
      <p:sp>
        <p:nvSpPr>
          <p:cNvPr id="32" name="cell-2-1"/>
          <p:cNvSpPr/>
          <p:nvPr/>
        </p:nvSpPr>
        <p:spPr>
          <a:xfrm>
            <a:off x="3864592" y="4554995"/>
            <a:ext cx="3500008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主催者→編集窓口</a:t>
            </a:r>
            <a:endParaRPr lang="en-US" sz="2000" dirty="0"/>
          </a:p>
        </p:txBody>
      </p:sp>
      <p:sp>
        <p:nvSpPr>
          <p:cNvPr id="33" name="cell-2-2"/>
          <p:cNvSpPr/>
          <p:nvPr/>
        </p:nvSpPr>
        <p:spPr>
          <a:xfrm>
            <a:off x="7802102" y="4554995"/>
            <a:ext cx="3886467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変更内容・反映時刻</a:t>
            </a:r>
            <a:endParaRPr lang="en-US" sz="2000" dirty="0"/>
          </a:p>
        </p:txBody>
      </p:sp>
      <p:sp>
        <p:nvSpPr>
          <p:cNvPr id="34" name="step-disc-2"/>
          <p:cNvSpPr/>
          <p:nvPr/>
        </p:nvSpPr>
        <p:spPr>
          <a:xfrm>
            <a:off x="648960" y="4715330"/>
            <a:ext cx="437501" cy="437279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tep-number-2"/>
          <p:cNvSpPr/>
          <p:nvPr/>
        </p:nvSpPr>
        <p:spPr>
          <a:xfrm>
            <a:off x="663543" y="4751770"/>
            <a:ext cx="40833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400" dirty="0"/>
          </a:p>
        </p:txBody>
      </p:sp>
      <p:sp>
        <p:nvSpPr>
          <p:cNvPr id="36" name="note-1"/>
          <p:cNvSpPr/>
          <p:nvPr/>
        </p:nvSpPr>
        <p:spPr>
          <a:xfrm>
            <a:off x="364584" y="5633617"/>
            <a:ext cx="11229193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500">
                <a:solidFill>
                  <a:srgbClr val="161616"/>
                </a:solidFill>
                <a:latin typeface="Yu Gothic"/>
              </a:rPr>
              <a:t>急な変更があれば、主催者が編集窓口へ連絡する。</a:t>
            </a:r>
            <a:endParaRPr lang="en-US" sz="1500" dirty="0"/>
          </a:p>
        </p:txBody>
      </p:sp>
      <p:sp>
        <p:nvSpPr>
          <p:cNvPr id="37" name="bottom-rule"/>
          <p:cNvSpPr/>
          <p:nvPr/>
        </p:nvSpPr>
        <p:spPr>
          <a:xfrm>
            <a:off x="357293" y="6085473"/>
            <a:ext cx="11484402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38" name="takeaway"/>
          <p:cNvSpPr/>
          <p:nvPr/>
        </p:nvSpPr>
        <p:spPr>
          <a:xfrm>
            <a:off x="2916673" y="6187505"/>
            <a:ext cx="6365640" cy="42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400">
                <a:solidFill>
                  <a:srgbClr val="9A5A2E"/>
                </a:solidFill>
                <a:latin typeface="Yu Gothic"/>
              </a:rPr>
              <a:t>確認する人と、変更を伝える先を決める。</a:t>
            </a:r>
            <a:endParaRPr lang="en-US" sz="2400" dirty="0"/>
          </a:p>
        </p:txBody>
      </p:sp>
      <p:sp>
        <p:nvSpPr>
          <p:cNvPr id="39" name="footer"/>
          <p:cNvSpPr/>
          <p:nvPr/>
        </p:nvSpPr>
        <p:spPr>
          <a:xfrm>
            <a:off x="9391689" y="6515464"/>
            <a:ext cx="2471881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800">
                <a:solidFill>
                  <a:srgbClr val="161616"/>
                </a:solidFill>
                <a:latin typeface="Yu Gothic"/>
              </a:rPr>
              <a:t>架空の運用例。担当者との合意は未取得。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8566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-disc"/>
          <p:cNvSpPr/>
          <p:nvPr/>
        </p:nvSpPr>
        <p:spPr>
          <a:xfrm>
            <a:off x="371876" y="320672"/>
            <a:ext cx="780210" cy="779815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page-number"/>
          <p:cNvSpPr/>
          <p:nvPr/>
        </p:nvSpPr>
        <p:spPr>
          <a:xfrm>
            <a:off x="466668" y="451855"/>
            <a:ext cx="597918" cy="481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3300" dirty="0"/>
          </a:p>
        </p:txBody>
      </p:sp>
      <p:sp>
        <p:nvSpPr>
          <p:cNvPr id="4" name="title"/>
          <p:cNvSpPr/>
          <p:nvPr/>
        </p:nvSpPr>
        <p:spPr>
          <a:xfrm>
            <a:off x="1414587" y="364400"/>
            <a:ext cx="10390649" cy="685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3800">
                <a:solidFill>
                  <a:srgbClr val="161616"/>
                </a:solidFill>
                <a:latin typeface="Yu Gothic"/>
              </a:rPr>
              <a:t>最後は、使う人の目線で確かめる</a:t>
            </a:r>
            <a:endParaRPr lang="en-US" sz="3800" dirty="0"/>
          </a:p>
        </p:txBody>
      </p:sp>
      <p:sp>
        <p:nvSpPr>
          <p:cNvPr id="5" name="subtitle"/>
          <p:cNvSpPr/>
          <p:nvPr/>
        </p:nvSpPr>
        <p:spPr>
          <a:xfrm>
            <a:off x="1436462" y="1144215"/>
            <a:ext cx="10354191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公開前に試す確認案｜利用者テストは未実施</a:t>
            </a:r>
            <a:endParaRPr lang="en-US" sz="2000" dirty="0"/>
          </a:p>
        </p:txBody>
      </p:sp>
      <p:sp>
        <p:nvSpPr>
          <p:cNvPr id="6" name="table-header"/>
          <p:cNvSpPr/>
          <p:nvPr/>
        </p:nvSpPr>
        <p:spPr>
          <a:xfrm>
            <a:off x="371876" y="1734542"/>
            <a:ext cx="11440652" cy="634055"/>
          </a:xfrm>
          <a:prstGeom prst="rect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able-v-0"/>
          <p:cNvSpPr/>
          <p:nvPr/>
        </p:nvSpPr>
        <p:spPr>
          <a:xfrm>
            <a:off x="371876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8" name="table-v-1"/>
          <p:cNvSpPr/>
          <p:nvPr/>
        </p:nvSpPr>
        <p:spPr>
          <a:xfrm>
            <a:off x="3682300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9" name="table-v-2"/>
          <p:cNvSpPr/>
          <p:nvPr/>
        </p:nvSpPr>
        <p:spPr>
          <a:xfrm>
            <a:off x="7823977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0" name="table-v-3"/>
          <p:cNvSpPr/>
          <p:nvPr/>
        </p:nvSpPr>
        <p:spPr>
          <a:xfrm>
            <a:off x="11812528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1" name="table-h-0"/>
          <p:cNvSpPr/>
          <p:nvPr/>
        </p:nvSpPr>
        <p:spPr>
          <a:xfrm>
            <a:off x="371876" y="1734542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2" name="table-h-1"/>
          <p:cNvSpPr/>
          <p:nvPr/>
        </p:nvSpPr>
        <p:spPr>
          <a:xfrm>
            <a:off x="371876" y="2368597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3" name="table-h-2"/>
          <p:cNvSpPr/>
          <p:nvPr/>
        </p:nvSpPr>
        <p:spPr>
          <a:xfrm>
            <a:off x="371876" y="3265020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4" name="table-h-3"/>
          <p:cNvSpPr/>
          <p:nvPr/>
        </p:nvSpPr>
        <p:spPr>
          <a:xfrm>
            <a:off x="371876" y="4022971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5" name="table-h-4"/>
          <p:cNvSpPr/>
          <p:nvPr/>
        </p:nvSpPr>
        <p:spPr>
          <a:xfrm>
            <a:off x="371876" y="4780922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6" name="header-0"/>
          <p:cNvSpPr/>
          <p:nvPr/>
        </p:nvSpPr>
        <p:spPr>
          <a:xfrm>
            <a:off x="444793" y="1858438"/>
            <a:ext cx="3164591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確認したいこと</a:t>
            </a:r>
            <a:endParaRPr lang="en-US" sz="2200" dirty="0"/>
          </a:p>
        </p:txBody>
      </p:sp>
      <p:sp>
        <p:nvSpPr>
          <p:cNvPr id="17" name="header-1"/>
          <p:cNvSpPr/>
          <p:nvPr/>
        </p:nvSpPr>
        <p:spPr>
          <a:xfrm>
            <a:off x="3755217" y="1858438"/>
            <a:ext cx="3995843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確かめ方</a:t>
            </a:r>
            <a:endParaRPr lang="en-US" sz="2200" dirty="0"/>
          </a:p>
        </p:txBody>
      </p:sp>
      <p:sp>
        <p:nvSpPr>
          <p:cNvPr id="18" name="header-2"/>
          <p:cNvSpPr/>
          <p:nvPr/>
        </p:nvSpPr>
        <p:spPr>
          <a:xfrm>
            <a:off x="7896893" y="1858438"/>
            <a:ext cx="3842717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記録すること</a:t>
            </a:r>
            <a:endParaRPr lang="en-US" sz="2200" dirty="0"/>
          </a:p>
        </p:txBody>
      </p:sp>
      <p:sp>
        <p:nvSpPr>
          <p:cNvPr id="19" name="cell-0-0"/>
          <p:cNvSpPr/>
          <p:nvPr/>
        </p:nvSpPr>
        <p:spPr>
          <a:xfrm>
            <a:off x="663543" y="2514357"/>
            <a:ext cx="2872923" cy="60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1800">
                <a:solidFill>
                  <a:srgbClr val="161616"/>
                </a:solidFill>
                <a:latin typeface="Yu Gothic"/>
              </a:rPr>
              <a:t>入口をたどれるか</a:t>
            </a:r>
            <a:endParaRPr lang="en-US" sz="2000" dirty="0"/>
          </a:p>
        </p:txBody>
      </p:sp>
      <p:sp>
        <p:nvSpPr>
          <p:cNvPr id="20" name="cell-0-1"/>
          <p:cNvSpPr/>
          <p:nvPr/>
        </p:nvSpPr>
        <p:spPr>
          <a:xfrm>
            <a:off x="3973968" y="2514357"/>
            <a:ext cx="3704175" cy="60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SNSや掲示から一覧を開く</a:t>
            </a:r>
            <a:endParaRPr lang="en-US" sz="2000" dirty="0"/>
          </a:p>
        </p:txBody>
      </p:sp>
      <p:sp>
        <p:nvSpPr>
          <p:cNvPr id="21" name="cell-0-2"/>
          <p:cNvSpPr/>
          <p:nvPr/>
        </p:nvSpPr>
        <p:spPr>
          <a:xfrm>
            <a:off x="8115644" y="2514357"/>
            <a:ext cx="3551050" cy="60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行き止まり・リンク切れ</a:t>
            </a:r>
            <a:endParaRPr lang="en-US" sz="2000" dirty="0"/>
          </a:p>
        </p:txBody>
      </p:sp>
      <p:sp>
        <p:nvSpPr>
          <p:cNvPr id="22" name="cell-1-0"/>
          <p:cNvSpPr/>
          <p:nvPr/>
        </p:nvSpPr>
        <p:spPr>
          <a:xfrm>
            <a:off x="663543" y="3410780"/>
            <a:ext cx="2872923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1800">
                <a:solidFill>
                  <a:srgbClr val="161616"/>
                </a:solidFill>
                <a:latin typeface="Yu Gothic"/>
              </a:rPr>
              <a:t>必要な情報があるか</a:t>
            </a:r>
            <a:endParaRPr lang="en-US" sz="2000" dirty="0"/>
          </a:p>
        </p:txBody>
      </p:sp>
      <p:sp>
        <p:nvSpPr>
          <p:cNvPr id="23" name="cell-1-1"/>
          <p:cNvSpPr/>
          <p:nvPr/>
        </p:nvSpPr>
        <p:spPr>
          <a:xfrm>
            <a:off x="3973968" y="3410780"/>
            <a:ext cx="3704175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日時と場所を探してもらう</a:t>
            </a:r>
            <a:endParaRPr lang="en-US" sz="2000" dirty="0"/>
          </a:p>
        </p:txBody>
      </p:sp>
      <p:sp>
        <p:nvSpPr>
          <p:cNvPr id="24" name="cell-1-2"/>
          <p:cNvSpPr/>
          <p:nvPr/>
        </p:nvSpPr>
        <p:spPr>
          <a:xfrm>
            <a:off x="8115644" y="3410780"/>
            <a:ext cx="355105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見つからない項目</a:t>
            </a:r>
            <a:endParaRPr lang="en-US" sz="2000" dirty="0"/>
          </a:p>
        </p:txBody>
      </p:sp>
      <p:sp>
        <p:nvSpPr>
          <p:cNvPr id="25" name="cell-2-0"/>
          <p:cNvSpPr/>
          <p:nvPr/>
        </p:nvSpPr>
        <p:spPr>
          <a:xfrm>
            <a:off x="663543" y="4168731"/>
            <a:ext cx="2872923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1800">
                <a:solidFill>
                  <a:srgbClr val="161616"/>
                </a:solidFill>
                <a:latin typeface="Yu Gothic"/>
              </a:rPr>
              <a:t>紙でも読めるか</a:t>
            </a:r>
            <a:endParaRPr lang="en-US" sz="2000" dirty="0"/>
          </a:p>
        </p:txBody>
      </p:sp>
      <p:sp>
        <p:nvSpPr>
          <p:cNvPr id="26" name="cell-2-1"/>
          <p:cNvSpPr/>
          <p:nvPr/>
        </p:nvSpPr>
        <p:spPr>
          <a:xfrm>
            <a:off x="3973968" y="4168731"/>
            <a:ext cx="3704175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印刷した一覧で同じ案内を探す</a:t>
            </a:r>
            <a:endParaRPr lang="en-US" sz="2000" dirty="0"/>
          </a:p>
        </p:txBody>
      </p:sp>
      <p:sp>
        <p:nvSpPr>
          <p:cNvPr id="27" name="cell-2-2"/>
          <p:cNvSpPr/>
          <p:nvPr/>
        </p:nvSpPr>
        <p:spPr>
          <a:xfrm>
            <a:off x="8115644" y="4168731"/>
            <a:ext cx="355105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小さい文字・読めない情報</a:t>
            </a:r>
            <a:endParaRPr lang="en-US" sz="2000" dirty="0"/>
          </a:p>
        </p:txBody>
      </p:sp>
      <p:sp>
        <p:nvSpPr>
          <p:cNvPr id="28" name="note-1"/>
          <p:cNvSpPr/>
          <p:nvPr/>
        </p:nvSpPr>
        <p:spPr>
          <a:xfrm>
            <a:off x="364584" y="4977698"/>
            <a:ext cx="11302110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実施前：確認するページと担当者を決める</a:t>
            </a:r>
            <a:endParaRPr lang="en-US" sz="1900" dirty="0"/>
          </a:p>
        </p:txBody>
      </p:sp>
      <p:sp>
        <p:nvSpPr>
          <p:cNvPr id="29" name="note-2"/>
          <p:cNvSpPr/>
          <p:nvPr/>
        </p:nvSpPr>
        <p:spPr>
          <a:xfrm>
            <a:off x="364584" y="5363962"/>
            <a:ext cx="11302110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実施後：問題・対応・再確認日を記録する</a:t>
            </a:r>
            <a:endParaRPr lang="en-US" sz="1900" dirty="0"/>
          </a:p>
        </p:txBody>
      </p:sp>
      <p:sp>
        <p:nvSpPr>
          <p:cNvPr id="30" name="bottom-rule"/>
          <p:cNvSpPr/>
          <p:nvPr/>
        </p:nvSpPr>
        <p:spPr>
          <a:xfrm>
            <a:off x="371876" y="5910561"/>
            <a:ext cx="11447943" cy="3644"/>
          </a:xfrm>
          <a:prstGeom prst="line">
            <a:avLst/>
          </a:prstGeom>
          <a:noFill/>
          <a:ln w="1778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31" name="takeaway"/>
          <p:cNvSpPr/>
          <p:nvPr/>
        </p:nvSpPr>
        <p:spPr>
          <a:xfrm>
            <a:off x="371876" y="6041745"/>
            <a:ext cx="9114605" cy="546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900">
                <a:solidFill>
                  <a:srgbClr val="9A5A2E"/>
                </a:solidFill>
                <a:latin typeface="Yu Gothic"/>
              </a:rPr>
              <a:t>使える案内かを、公開する前に確かめる。</a:t>
            </a:r>
            <a:endParaRPr lang="en-US" sz="2900" dirty="0"/>
          </a:p>
        </p:txBody>
      </p:sp>
      <p:sp>
        <p:nvSpPr>
          <p:cNvPr id="32" name="footer"/>
          <p:cNvSpPr/>
          <p:nvPr/>
        </p:nvSpPr>
        <p:spPr>
          <a:xfrm>
            <a:off x="9479189" y="6376993"/>
            <a:ext cx="2406256" cy="2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161616"/>
                </a:solidFill>
                <a:latin typeface="Yu Gothic"/>
              </a:rPr>
              <a:t>架空の運用例。テストは提案であり未実施。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54899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ユーザー設定</PresentationFormat>
  <Paragraphs>109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游ゴシック</vt:lpstr>
      <vt:lpstr>游ゴシック</vt:lpstr>
      <vt:lpstr>游ゴシック Light</vt:lpstr>
      <vt:lpstr>Yu Mincho</vt:lpstr>
      <vt:lpstr>Arial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イベント案内の公開前チェック</dc:title>
  <dc:creator>Japanese Example Project</dc:creator>
  <cp:lastModifiedBy>Japanese Example Project</cp:lastModifiedBy>
  <cp:revision>1</cp:revision>
  <dcterms:created xsi:type="dcterms:W3CDTF">2026-10-13T20:33:12Z</dcterms:created>
  <dcterms:modified xsi:type="dcterms:W3CDTF">2026-10-13T20:33:12Z</dcterms:modified>
  <dc:subject>Japanese editing example</dc:subject>
</cp:coreProperties>
</file>