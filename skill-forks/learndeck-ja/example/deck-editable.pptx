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_div_accent_1_shape"/>
          <p:cNvSpPr/>
          <p:nvPr/>
        </p:nvSpPr>
        <p:spPr>
          <a:xfrm>
            <a:off x="619125" y="1638300"/>
            <a:ext cx="809625" cy="76200"/>
          </a:xfrm>
          <a:prstGeom prst="rect">
            <a:avLst/>
          </a:prstGeom>
          <a:solidFill>
            <a:srgbClr val="D842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s1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050" y="666750"/>
            <a:ext cx="4286250" cy="6191250"/>
          </a:xfrm>
          <a:prstGeom prst="rect">
            <a:avLst/>
          </a:prstGeom>
        </p:spPr>
      </p:pic>
      <p:sp>
        <p:nvSpPr>
          <p:cNvPr id="5" name="s1_p_label_0_text"/>
          <p:cNvSpPr/>
          <p:nvPr/>
        </p:nvSpPr>
        <p:spPr>
          <a:xfrm>
            <a:off x="647700" y="495300"/>
            <a:ext cx="21717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2"/>
              </a:lnSpc>
              <a:buNone/>
            </a:pPr>
            <a:r>
              <a:rPr lang="en-US" sz="1575" spc="150" kern="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花の定期便 提供案</a:t>
            </a:r>
            <a:endParaRPr lang="en-US" sz="1575" dirty="0"/>
          </a:p>
        </p:txBody>
      </p:sp>
      <p:sp>
        <p:nvSpPr>
          <p:cNvPr id="6" name="s1_h1_jp-dela_2_text"/>
          <p:cNvSpPr/>
          <p:nvPr/>
        </p:nvSpPr>
        <p:spPr>
          <a:xfrm>
            <a:off x="590550" y="2114550"/>
            <a:ext cx="8839200" cy="3034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35"/>
              </a:lnSpc>
              <a:buNone/>
            </a:pPr>
            <a:r>
              <a:rPr lang="en-US" sz="8100" spc="-450" kern="0" dirty="0">
                <a:solidFill>
                  <a:srgbClr val="211F1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花を、</a:t>
            </a:r>
            <a:pPr algn="l" indent="0" marL="0">
              <a:lnSpc>
                <a:spcPts val="10935"/>
              </a:lnSpc>
              <a:buNone/>
            </a:pPr>
            <a:r>
              <a:rPr lang="en-US" sz="8100" spc="-450" kern="0" dirty="0">
                <a:solidFill>
                  <a:srgbClr val="211F1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
</a:t>
            </a:r>
            <a:pPr algn="l" indent="0" marL="0">
              <a:lnSpc>
                <a:spcPts val="10935"/>
              </a:lnSpc>
              <a:buNone/>
            </a:pPr>
            <a:r>
              <a:rPr lang="en-US" sz="8100" spc="-450" kern="0" dirty="0">
                <a:solidFill>
                  <a:srgbClr val="211F1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一本から。</a:t>
            </a:r>
            <a:endParaRPr lang="en-US" sz="8100" dirty="0"/>
          </a:p>
        </p:txBody>
      </p:sp>
      <p:sp>
        <p:nvSpPr>
          <p:cNvPr id="7" name="s1_p_intro_3_text"/>
          <p:cNvSpPr/>
          <p:nvPr/>
        </p:nvSpPr>
        <p:spPr>
          <a:xfrm>
            <a:off x="685800" y="5000625"/>
            <a:ext cx="702945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5"/>
              </a:lnSpc>
              <a:buNone/>
            </a:pPr>
            <a:r>
              <a:rPr lang="en-US" sz="217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花のある暮らしを、</a:t>
            </a:r>
            <a:pPr algn="l" indent="0" marL="0">
              <a:lnSpc>
                <a:spcPts val="3915"/>
              </a:lnSpc>
              <a:buNone/>
            </a:pPr>
            <a:r>
              <a:rPr lang="en-US" sz="217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915"/>
              </a:lnSpc>
              <a:buNone/>
            </a:pPr>
            <a:r>
              <a:rPr lang="en-US" sz="217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小さな一輪から始める。</a:t>
            </a:r>
            <a:endParaRPr lang="en-US" sz="2175" dirty="0"/>
          </a:p>
        </p:txBody>
      </p:sp>
      <p:sp>
        <p:nvSpPr>
          <p:cNvPr id="8" name="s1_p_foot_18_text"/>
          <p:cNvSpPr/>
          <p:nvPr/>
        </p:nvSpPr>
        <p:spPr>
          <a:xfrm>
            <a:off x="619125" y="6385173"/>
            <a:ext cx="10227945" cy="27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6D67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架空サービスの提供案。価格・配送条件・提供内容は未確定。</a:t>
            </a:r>
            <a:endParaRPr lang="en-US" sz="1275" dirty="0"/>
          </a:p>
        </p:txBody>
      </p:sp>
      <p:sp>
        <p:nvSpPr>
          <p:cNvPr id="9" name="s1_p_page_number_19_text"/>
          <p:cNvSpPr/>
          <p:nvPr/>
        </p:nvSpPr>
        <p:spPr>
          <a:xfrm>
            <a:off x="11072217" y="6372225"/>
            <a:ext cx="7502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05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2_div_vase_14_shape"/>
          <p:cNvSpPr/>
          <p:nvPr/>
        </p:nvSpPr>
        <p:spPr>
          <a:xfrm>
            <a:off x="2038350" y="4505325"/>
            <a:ext cx="1047750" cy="1381125"/>
          </a:xfrm>
          <a:prstGeom prst="rect">
            <a:avLst/>
          </a:prstGeom>
          <a:solidFill>
            <a:srgbClr val="D842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2_div_shelf_15_shape"/>
          <p:cNvSpPr/>
          <p:nvPr/>
        </p:nvSpPr>
        <p:spPr>
          <a:xfrm>
            <a:off x="619125" y="5857875"/>
            <a:ext cx="4324350" cy="95250"/>
          </a:xfrm>
          <a:prstGeom prst="rect">
            <a:avLst/>
          </a:prstGeom>
          <a:solidFill>
            <a:srgbClr val="211F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s2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575"/>
            <a:ext cx="4000500" cy="5038725"/>
          </a:xfrm>
          <a:prstGeom prst="rect">
            <a:avLst/>
          </a:prstGeom>
        </p:spPr>
      </p:pic>
      <p:sp>
        <p:nvSpPr>
          <p:cNvPr id="6" name="s2_p_art-note_16_text"/>
          <p:cNvSpPr/>
          <p:nvPr/>
        </p:nvSpPr>
        <p:spPr>
          <a:xfrm>
            <a:off x="647700" y="6067425"/>
            <a:ext cx="449770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D67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窓辺、机、玄関。小さな器と、いつもの場所。</a:t>
            </a:r>
            <a:endParaRPr lang="en-US" sz="1350" dirty="0"/>
          </a:p>
        </p:txBody>
      </p:sp>
      <p:sp>
        <p:nvSpPr>
          <p:cNvPr id="7" name="s2_p_label_17_text"/>
          <p:cNvSpPr/>
          <p:nvPr/>
        </p:nvSpPr>
        <p:spPr>
          <a:xfrm>
            <a:off x="6096000" y="857250"/>
            <a:ext cx="1535162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2"/>
              </a:lnSpc>
              <a:buNone/>
            </a:pPr>
            <a:r>
              <a:rPr lang="en-US" sz="1575" spc="150" kern="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小さく始める</a:t>
            </a:r>
            <a:endParaRPr lang="en-US" sz="1575" dirty="0"/>
          </a:p>
        </p:txBody>
      </p:sp>
      <p:sp>
        <p:nvSpPr>
          <p:cNvPr id="8" name="s2_h2_jp-mincho_18_text"/>
          <p:cNvSpPr/>
          <p:nvPr/>
        </p:nvSpPr>
        <p:spPr>
          <a:xfrm>
            <a:off x="6057900" y="1657350"/>
            <a:ext cx="6019800" cy="271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spc="-150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一本なら、</a:t>
            </a:r>
            <a:pPr algn="l" indent="0" marL="0">
              <a:lnSpc>
                <a:spcPts val="6720"/>
              </a:lnSpc>
              <a:buNone/>
            </a:pPr>
            <a:r>
              <a:rPr lang="en-US" sz="4800" b="1" spc="-150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
</a:t>
            </a:r>
            <a:pPr algn="l" indent="0" marL="0">
              <a:lnSpc>
                <a:spcPts val="6720"/>
              </a:lnSpc>
              <a:buNone/>
            </a:pPr>
            <a:r>
              <a:rPr lang="en-US" sz="4800" b="1" spc="-150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置く場所を</a:t>
            </a:r>
            <a:pPr algn="l" indent="0" marL="0">
              <a:lnSpc>
                <a:spcPts val="6720"/>
              </a:lnSpc>
              <a:buNone/>
            </a:pPr>
            <a:r>
              <a:rPr lang="en-US" sz="4800" b="1" spc="-150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
</a:t>
            </a:r>
            <a:pPr algn="l" indent="0" marL="0">
              <a:lnSpc>
                <a:spcPts val="6720"/>
              </a:lnSpc>
              <a:buNone/>
            </a:pPr>
            <a:r>
              <a:rPr lang="en-US" sz="4800" b="1" spc="-150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選べる。</a:t>
            </a:r>
            <a:endParaRPr lang="en-US" sz="4800" dirty="0"/>
          </a:p>
        </p:txBody>
      </p:sp>
      <p:sp>
        <p:nvSpPr>
          <p:cNvPr id="9" name="s2_p_body_19_text"/>
          <p:cNvSpPr/>
          <p:nvPr/>
        </p:nvSpPr>
        <p:spPr>
          <a:xfrm>
            <a:off x="6115050" y="4076700"/>
            <a:ext cx="5429250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37"/>
              </a:lnSpc>
              <a:buNone/>
            </a:pPr>
            <a:r>
              <a:rPr lang="en-US" sz="225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大きな花束を置く前に、</a:t>
            </a:r>
            <a:pPr algn="l" indent="0" marL="0">
              <a:lnSpc>
                <a:spcPts val="3937"/>
              </a:lnSpc>
              <a:buNone/>
            </a:pPr>
            <a:r>
              <a:rPr lang="en-US" sz="225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937"/>
              </a:lnSpc>
              <a:buNone/>
            </a:pPr>
            <a:r>
              <a:rPr lang="en-US" sz="225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ふだんの景色へ、一輪。</a:t>
            </a:r>
            <a:endParaRPr lang="en-US" sz="2250" dirty="0"/>
          </a:p>
        </p:txBody>
      </p:sp>
      <p:sp>
        <p:nvSpPr>
          <p:cNvPr id="10" name="s2_p_foot_20_text"/>
          <p:cNvSpPr/>
          <p:nvPr/>
        </p:nvSpPr>
        <p:spPr>
          <a:xfrm>
            <a:off x="619125" y="6385173"/>
            <a:ext cx="10227945" cy="27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6D67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架空サービスの提供案。価格・配送条件・提供内容は未確定。</a:t>
            </a:r>
            <a:endParaRPr lang="en-US" sz="1275" dirty="0"/>
          </a:p>
        </p:txBody>
      </p:sp>
      <p:sp>
        <p:nvSpPr>
          <p:cNvPr id="11" name="s2_p_page_number_21_text"/>
          <p:cNvSpPr/>
          <p:nvPr/>
        </p:nvSpPr>
        <p:spPr>
          <a:xfrm>
            <a:off x="11041410" y="6372225"/>
            <a:ext cx="78102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05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84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42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3_div_vertical_2_shape"/>
          <p:cNvSpPr/>
          <p:nvPr/>
        </p:nvSpPr>
        <p:spPr>
          <a:xfrm>
            <a:off x="3476625" y="2409825"/>
            <a:ext cx="19050" cy="3333750"/>
          </a:xfrm>
          <a:prstGeom prst="rect">
            <a:avLst/>
          </a:prstGeom>
          <a:solidFill>
            <a:srgbClr val="F2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3_div_vertical_v2_3_shape"/>
          <p:cNvSpPr/>
          <p:nvPr/>
        </p:nvSpPr>
        <p:spPr>
          <a:xfrm>
            <a:off x="7343775" y="2409825"/>
            <a:ext cx="19050" cy="3333750"/>
          </a:xfrm>
          <a:prstGeom prst="rect">
            <a:avLst/>
          </a:prstGeom>
          <a:solidFill>
            <a:srgbClr val="F2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s3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9425" y="2400300"/>
            <a:ext cx="781050" cy="819150"/>
          </a:xfrm>
          <a:prstGeom prst="rect">
            <a:avLst/>
          </a:prstGeom>
        </p:spPr>
      </p:pic>
      <p:pic>
        <p:nvPicPr>
          <p:cNvPr id="6" name="s3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2400300"/>
            <a:ext cx="781050" cy="819150"/>
          </a:xfrm>
          <a:prstGeom prst="rect">
            <a:avLst/>
          </a:prstGeom>
        </p:spPr>
      </p:pic>
      <p:pic>
        <p:nvPicPr>
          <p:cNvPr id="7" name="s3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725" y="2400300"/>
            <a:ext cx="781050" cy="819150"/>
          </a:xfrm>
          <a:prstGeom prst="rect">
            <a:avLst/>
          </a:prstGeom>
        </p:spPr>
      </p:pic>
      <p:sp>
        <p:nvSpPr>
          <p:cNvPr id="8" name="s3_p_label_0_text"/>
          <p:cNvSpPr/>
          <p:nvPr/>
        </p:nvSpPr>
        <p:spPr>
          <a:xfrm>
            <a:off x="619125" y="495300"/>
            <a:ext cx="2167682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2"/>
              </a:lnSpc>
              <a:buNone/>
            </a:pPr>
            <a:r>
              <a:rPr lang="en-US" sz="1575" spc="150" kern="0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利用の流れ 提供案</a:t>
            </a:r>
            <a:endParaRPr lang="en-US" sz="1575" dirty="0"/>
          </a:p>
        </p:txBody>
      </p:sp>
      <p:sp>
        <p:nvSpPr>
          <p:cNvPr id="9" name="s3_h2_jp-mincho_1_text"/>
          <p:cNvSpPr/>
          <p:nvPr/>
        </p:nvSpPr>
        <p:spPr>
          <a:xfrm>
            <a:off x="609600" y="1123950"/>
            <a:ext cx="1131570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5100" b="1" spc="-150" kern="0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選ぶ。届く。飾る。</a:t>
            </a:r>
            <a:endParaRPr lang="en-US" sz="5100" dirty="0"/>
          </a:p>
        </p:txBody>
      </p:sp>
      <p:sp>
        <p:nvSpPr>
          <p:cNvPr id="10" name="s3_p_step-n_number_6_text"/>
          <p:cNvSpPr/>
          <p:nvPr/>
        </p:nvSpPr>
        <p:spPr>
          <a:xfrm>
            <a:off x="619125" y="2400300"/>
            <a:ext cx="9906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5700" dirty="0"/>
          </a:p>
        </p:txBody>
      </p:sp>
      <p:sp>
        <p:nvSpPr>
          <p:cNvPr id="11" name="s3_h3_jp-mincho_18_text"/>
          <p:cNvSpPr/>
          <p:nvPr/>
        </p:nvSpPr>
        <p:spPr>
          <a:xfrm>
            <a:off x="619125" y="3390900"/>
            <a:ext cx="1666875" cy="67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選ぶ。</a:t>
            </a:r>
            <a:endParaRPr lang="en-US" sz="3675" dirty="0"/>
          </a:p>
        </p:txBody>
      </p:sp>
      <p:sp>
        <p:nvSpPr>
          <p:cNvPr id="12" name="s3_p_body_19_text"/>
          <p:cNvSpPr/>
          <p:nvPr/>
        </p:nvSpPr>
        <p:spPr>
          <a:xfrm>
            <a:off x="619125" y="4210050"/>
            <a:ext cx="333375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好きな雰囲気を伝える。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花の選び方は、検討中。</a:t>
            </a:r>
            <a:endParaRPr lang="en-US" sz="2025" dirty="0"/>
          </a:p>
        </p:txBody>
      </p:sp>
      <p:sp>
        <p:nvSpPr>
          <p:cNvPr id="13" name="s3_p_step-n_number_21_text"/>
          <p:cNvSpPr/>
          <p:nvPr/>
        </p:nvSpPr>
        <p:spPr>
          <a:xfrm>
            <a:off x="4486275" y="2400300"/>
            <a:ext cx="1120973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5700" dirty="0"/>
          </a:p>
        </p:txBody>
      </p:sp>
      <p:sp>
        <p:nvSpPr>
          <p:cNvPr id="14" name="s3_h3_jp-mincho_33_text"/>
          <p:cNvSpPr/>
          <p:nvPr/>
        </p:nvSpPr>
        <p:spPr>
          <a:xfrm>
            <a:off x="4486275" y="3390900"/>
            <a:ext cx="1666875" cy="67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届く。</a:t>
            </a:r>
            <a:endParaRPr lang="en-US" sz="3675" dirty="0"/>
          </a:p>
        </p:txBody>
      </p:sp>
      <p:sp>
        <p:nvSpPr>
          <p:cNvPr id="15" name="s3_p_body_34_text"/>
          <p:cNvSpPr/>
          <p:nvPr/>
        </p:nvSpPr>
        <p:spPr>
          <a:xfrm>
            <a:off x="4486275" y="4210050"/>
            <a:ext cx="333375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受け取る日を決める。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配送方法は、これから。</a:t>
            </a:r>
            <a:endParaRPr lang="en-US" sz="2025" dirty="0"/>
          </a:p>
        </p:txBody>
      </p:sp>
      <p:sp>
        <p:nvSpPr>
          <p:cNvPr id="16" name="s3_p_step-n_number_36_text"/>
          <p:cNvSpPr/>
          <p:nvPr/>
        </p:nvSpPr>
        <p:spPr>
          <a:xfrm>
            <a:off x="8353425" y="2400300"/>
            <a:ext cx="1108621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5700" dirty="0"/>
          </a:p>
        </p:txBody>
      </p:sp>
      <p:sp>
        <p:nvSpPr>
          <p:cNvPr id="17" name="s3_h3_jp-mincho_48_text"/>
          <p:cNvSpPr/>
          <p:nvPr/>
        </p:nvSpPr>
        <p:spPr>
          <a:xfrm>
            <a:off x="8353425" y="3390900"/>
            <a:ext cx="1666875" cy="676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3675" b="1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飾る。</a:t>
            </a:r>
            <a:endParaRPr lang="en-US" sz="3675" dirty="0"/>
          </a:p>
        </p:txBody>
      </p:sp>
      <p:sp>
        <p:nvSpPr>
          <p:cNvPr id="18" name="s3_p_body_49_text"/>
          <p:cNvSpPr/>
          <p:nvPr/>
        </p:nvSpPr>
        <p:spPr>
          <a:xfrm>
            <a:off x="8353425" y="4210050"/>
            <a:ext cx="333375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小さな器に、一輪。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飾り方の案も添える。</a:t>
            </a:r>
            <a:endParaRPr lang="en-US" sz="2025" dirty="0"/>
          </a:p>
        </p:txBody>
      </p:sp>
      <p:sp>
        <p:nvSpPr>
          <p:cNvPr id="19" name="s3_p_foot_50_text"/>
          <p:cNvSpPr/>
          <p:nvPr/>
        </p:nvSpPr>
        <p:spPr>
          <a:xfrm>
            <a:off x="619125" y="6385173"/>
            <a:ext cx="10227945" cy="27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架空サービスの提供案。価格・配送条件・提供内容は未確定。</a:t>
            </a:r>
            <a:endParaRPr lang="en-US" sz="1275" dirty="0"/>
          </a:p>
        </p:txBody>
      </p:sp>
      <p:sp>
        <p:nvSpPr>
          <p:cNvPr id="20" name="s3_p_page_number_51_text"/>
          <p:cNvSpPr/>
          <p:nvPr/>
        </p:nvSpPr>
        <p:spPr>
          <a:xfrm>
            <a:off x="11044386" y="6372225"/>
            <a:ext cx="77804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B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05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1F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4_div_fine-line_36_shape"/>
          <p:cNvSpPr/>
          <p:nvPr/>
        </p:nvSpPr>
        <p:spPr>
          <a:xfrm>
            <a:off x="647700" y="5619750"/>
            <a:ext cx="5905500" cy="19050"/>
          </a:xfrm>
          <a:prstGeom prst="rect">
            <a:avLst/>
          </a:prstGeom>
          <a:solidFill>
            <a:srgbClr val="D842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s4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6675" y="1047750"/>
            <a:ext cx="4171950" cy="5362575"/>
          </a:xfrm>
          <a:prstGeom prst="rect">
            <a:avLst/>
          </a:prstGeom>
        </p:spPr>
      </p:pic>
      <p:sp>
        <p:nvSpPr>
          <p:cNvPr id="5" name="s4_p_label_0_text"/>
          <p:cNvSpPr/>
          <p:nvPr/>
        </p:nvSpPr>
        <p:spPr>
          <a:xfrm>
            <a:off x="619125" y="552450"/>
            <a:ext cx="2761059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2"/>
              </a:lnSpc>
              <a:buNone/>
            </a:pPr>
            <a:r>
              <a:rPr lang="en-US" sz="1575" spc="150" kern="0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暮らしに合わせる 提供案</a:t>
            </a:r>
            <a:endParaRPr lang="en-US" sz="1575" dirty="0"/>
          </a:p>
        </p:txBody>
      </p:sp>
      <p:sp>
        <p:nvSpPr>
          <p:cNvPr id="6" name="s4_h2_jp-mincho_1_text"/>
          <p:cNvSpPr/>
          <p:nvPr/>
        </p:nvSpPr>
        <p:spPr>
          <a:xfrm>
            <a:off x="609600" y="1628775"/>
            <a:ext cx="7553325" cy="202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90"/>
              </a:lnSpc>
              <a:buNone/>
            </a:pPr>
            <a:r>
              <a:rPr lang="en-US" sz="5400" b="1" spc="-225" kern="0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束にする日も、</a:t>
            </a:r>
            <a:pPr algn="l" indent="0" marL="0">
              <a:lnSpc>
                <a:spcPts val="7290"/>
              </a:lnSpc>
              <a:buNone/>
            </a:pPr>
            <a:r>
              <a:rPr lang="en-US" sz="5400" b="1" spc="-225" kern="0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
</a:t>
            </a:r>
            <a:pPr algn="l" indent="0" marL="0">
              <a:lnSpc>
                <a:spcPts val="7290"/>
              </a:lnSpc>
              <a:buNone/>
            </a:pPr>
            <a:r>
              <a:rPr lang="en-US" sz="5400" b="1" spc="-225" kern="0" dirty="0">
                <a:solidFill>
                  <a:srgbClr val="F2EBD9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休む日も。</a:t>
            </a:r>
            <a:endParaRPr lang="en-US" sz="5400" dirty="0"/>
          </a:p>
        </p:txBody>
      </p:sp>
      <p:sp>
        <p:nvSpPr>
          <p:cNvPr id="7" name="s4_p_body_2_text"/>
          <p:cNvSpPr/>
          <p:nvPr/>
        </p:nvSpPr>
        <p:spPr>
          <a:xfrm>
            <a:off x="666750" y="4000500"/>
            <a:ext cx="69246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5"/>
              </a:lnSpc>
              <a:buNone/>
            </a:pPr>
            <a:r>
              <a:rPr lang="en-US" sz="2100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受け取る本数と頻度を、</a:t>
            </a:r>
            <a:pPr algn="l" indent="0" marL="0">
              <a:lnSpc>
                <a:spcPts val="3675"/>
              </a:lnSpc>
              <a:buNone/>
            </a:pPr>
            <a:r>
              <a:rPr lang="en-US" sz="2100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675"/>
              </a:lnSpc>
              <a:buNone/>
            </a:pPr>
            <a:r>
              <a:rPr lang="en-US" sz="2100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暮らしのリズムに合わせて選ぶ。</a:t>
            </a:r>
            <a:endParaRPr lang="en-US" sz="2100" dirty="0"/>
          </a:p>
        </p:txBody>
      </p:sp>
      <p:sp>
        <p:nvSpPr>
          <p:cNvPr id="8" name="s4_p_rest_37_text"/>
          <p:cNvSpPr/>
          <p:nvPr/>
        </p:nvSpPr>
        <p:spPr>
          <a:xfrm>
            <a:off x="647700" y="5819775"/>
            <a:ext cx="710565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F2EB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本数の変更・お休みは機能案です。販売条件は未確定。</a:t>
            </a:r>
            <a:endParaRPr lang="en-US" sz="1575" dirty="0"/>
          </a:p>
        </p:txBody>
      </p:sp>
      <p:sp>
        <p:nvSpPr>
          <p:cNvPr id="9" name="s4_p_foot_38_text"/>
          <p:cNvSpPr/>
          <p:nvPr/>
        </p:nvSpPr>
        <p:spPr>
          <a:xfrm>
            <a:off x="619125" y="6385173"/>
            <a:ext cx="10227945" cy="27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BAAF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架空サービスの提供案。価格・配送条件・提供内容は未確定。</a:t>
            </a:r>
            <a:endParaRPr lang="en-US" sz="1275" dirty="0"/>
          </a:p>
        </p:txBody>
      </p:sp>
      <p:sp>
        <p:nvSpPr>
          <p:cNvPr id="10" name="s4_p_page_number_39_text"/>
          <p:cNvSpPr/>
          <p:nvPr/>
        </p:nvSpPr>
        <p:spPr>
          <a:xfrm>
            <a:off x="11037987" y="6372225"/>
            <a:ext cx="78444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B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05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B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5_div_big-disc_1_shape"/>
          <p:cNvSpPr/>
          <p:nvPr/>
        </p:nvSpPr>
        <p:spPr>
          <a:xfrm>
            <a:off x="8277225" y="1190625"/>
            <a:ext cx="3028950" cy="3028950"/>
          </a:xfrm>
          <a:prstGeom prst="ellipse">
            <a:avLst/>
          </a:prstGeom>
          <a:solidFill>
            <a:srgbClr val="D842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5_div_close-line_3_shape"/>
          <p:cNvSpPr/>
          <p:nvPr/>
        </p:nvSpPr>
        <p:spPr>
          <a:xfrm>
            <a:off x="647700" y="3962400"/>
            <a:ext cx="7048500" cy="38100"/>
          </a:xfrm>
          <a:prstGeom prst="rect">
            <a:avLst/>
          </a:prstGeom>
          <a:solidFill>
            <a:srgbClr val="211F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5_p_label_0_text"/>
          <p:cNvSpPr/>
          <p:nvPr/>
        </p:nvSpPr>
        <p:spPr>
          <a:xfrm>
            <a:off x="619125" y="523875"/>
            <a:ext cx="214848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2"/>
              </a:lnSpc>
              <a:buNone/>
            </a:pPr>
            <a:r>
              <a:rPr lang="en-US" sz="1575" spc="150" kern="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これから決めること</a:t>
            </a:r>
            <a:endParaRPr lang="en-US" sz="1575" dirty="0"/>
          </a:p>
        </p:txBody>
      </p:sp>
      <p:sp>
        <p:nvSpPr>
          <p:cNvPr id="6" name="s5_h2_jp-mincho_2_text"/>
          <p:cNvSpPr/>
          <p:nvPr/>
        </p:nvSpPr>
        <p:spPr>
          <a:xfrm>
            <a:off x="628650" y="1552575"/>
            <a:ext cx="10458450" cy="2163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96"/>
              </a:lnSpc>
              <a:buNone/>
            </a:pPr>
            <a:r>
              <a:rPr lang="en-US" sz="5775" b="1" spc="-225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次の一輪を、</a:t>
            </a:r>
            <a:pPr algn="l" indent="0" marL="0">
              <a:lnSpc>
                <a:spcPts val="7796"/>
              </a:lnSpc>
              <a:buNone/>
            </a:pPr>
            <a:r>
              <a:rPr lang="en-US" sz="5775" b="1" spc="-225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
</a:t>
            </a:r>
            <a:pPr algn="l" indent="0" marL="0">
              <a:lnSpc>
                <a:spcPts val="7796"/>
              </a:lnSpc>
              <a:buNone/>
            </a:pPr>
            <a:r>
              <a:rPr lang="en-US" sz="5775" b="1" spc="-225" kern="0" dirty="0">
                <a:solidFill>
                  <a:srgbClr val="211F1B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楽しみにする。</a:t>
            </a:r>
            <a:endParaRPr lang="en-US" sz="5775" dirty="0"/>
          </a:p>
        </p:txBody>
      </p:sp>
      <p:sp>
        <p:nvSpPr>
          <p:cNvPr id="7" name="s5_p_body_4_text"/>
          <p:cNvSpPr/>
          <p:nvPr/>
        </p:nvSpPr>
        <p:spPr>
          <a:xfrm>
            <a:off x="695325" y="4286250"/>
            <a:ext cx="10458450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価格、配送地域、花の選び方は未確定。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
</a:t>
            </a:r>
            <a:pPr algn="l" indent="0" marL="0">
              <a:lnSpc>
                <a:spcPts val="3645"/>
              </a:lnSpc>
              <a:buNone/>
            </a:pPr>
            <a:r>
              <a:rPr lang="en-US" sz="2025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季節と配送品質を確かめながら、内容を決める。</a:t>
            </a:r>
            <a:endParaRPr lang="en-US" sz="2025" dirty="0"/>
          </a:p>
        </p:txBody>
      </p:sp>
      <p:sp>
        <p:nvSpPr>
          <p:cNvPr id="8" name="s5_p_definition_5_text"/>
          <p:cNvSpPr/>
          <p:nvPr/>
        </p:nvSpPr>
        <p:spPr>
          <a:xfrm>
            <a:off x="695325" y="5619750"/>
            <a:ext cx="10934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11F1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この資料は架空サービスの提供案です。受付中の商品や、導入実績ではありません。</a:t>
            </a:r>
            <a:endParaRPr lang="en-US" sz="1500" dirty="0"/>
          </a:p>
        </p:txBody>
      </p:sp>
      <p:sp>
        <p:nvSpPr>
          <p:cNvPr id="9" name="s5_p_foot_6_text"/>
          <p:cNvSpPr/>
          <p:nvPr/>
        </p:nvSpPr>
        <p:spPr>
          <a:xfrm>
            <a:off x="619125" y="6385173"/>
            <a:ext cx="10227945" cy="27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9"/>
              </a:lnSpc>
              <a:buNone/>
            </a:pPr>
            <a:r>
              <a:rPr lang="en-US" sz="1275" dirty="0">
                <a:solidFill>
                  <a:srgbClr val="6D67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架空サービスの提供案。価格・配送条件・提供内容は未確定。</a:t>
            </a:r>
            <a:endParaRPr lang="en-US" sz="1275" dirty="0"/>
          </a:p>
        </p:txBody>
      </p:sp>
      <p:sp>
        <p:nvSpPr>
          <p:cNvPr id="10" name="s5_p_page_number_7_text"/>
          <p:cNvSpPr/>
          <p:nvPr/>
        </p:nvSpPr>
        <p:spPr>
          <a:xfrm>
            <a:off x="11040070" y="6372225"/>
            <a:ext cx="78236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11F1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05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>Editable PPTX converted from HTML with DOM positions</dc:subject>
  <dc:creator>Codex</dc:creator>
  <cp:lastModifiedBy>Codex</cp:lastModifiedBy>
  <cp:revision>1</cp:revision>
  <dcterms:created xsi:type="dcterms:W3CDTF">2026-10-14T02:29:25Z</dcterms:created>
  <dcterms:modified xsi:type="dcterms:W3CDTF">2026-10-14T02:29:25Z</dcterms:modified>
</cp:coreProperties>
</file>