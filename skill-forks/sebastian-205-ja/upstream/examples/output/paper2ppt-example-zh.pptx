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开场：这是一项方法论文，问题不是只追求像素分割准确率，而是同时关注预测校准。今天的主线是：多模型输出、用验证集校准误差赋权、再看性能与不确定性指标是否共同改善。来源为全文可读的 PLOS ONE 论文；本页不包含实验结果。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先定义问题。论文把医学图像处理视为安全关键应用，认为高预测不确定性意味着较低的预测可靠性。这里不能把校准误差直接等同于临床安全；ECE 和 MCE 是论文选择的模型校准指标。转场：下一页先看作者用什么数据和评估设计回答问题。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本页说明评估边界。全文报告数据集含 6,402 张 AP/PA 胸部 X 光/CT 影像，并带有像素级肺区多边形标注；作者按 70%、10%、20% 划分训练、验证和测试集。验证集用于估计校准误差，测试集用于最终加权预测。Fig 3 仅是一例原图与标注，不代表总体样本分布。转场：校准误差如何进入 ensemble 权重？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方法页。作者先在同一训练数据上训练多个异构分割模型，再在验证集上计算 ECE 或 MCE。测试时使用与校准误差成反比的权重做像素级投票，即较低 CE 对应较高权重。右侧为论文原始 Fig 1，不是重新绘制的实验流程。限制：该权重规则依赖验证集校准误差能代表测试条件。转场：看 Table 2 的主结果。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结果页。请先看左侧 F1：F32_R50 为 94.3±3.8%，EECE 为 97.1±1.5%，EMVEM 为 98.4±0.8%。右侧比较最佳单模型与 EMVEM：ECE 从 2.3 降至 2.1，MCE 从 29.8 降至 20.1。这里的条形图从 90% 起始，已经在图中明确标注，避免把小差异视觉夸大。论文未在 Table 2 报告显著性检验，因此只陈述本表中的数值排序与差异。转场：定性图是否呈现一致方向？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结果页。图中 (a) 是原始影像，(b) 是 ground truth，(c)–(g) 为单模型，(h)–(j) 为 ensemble。作者把黄色解释为错误预测区域，并指出 UNet 的黄色区域更明显，而 EECE 与 EMVEM 更少。该图只是一张代表性样例，不能替代总体统计；它与 Table 2 的方向一致，但不构成独立的统计验证。转场：模型数量是否也影响结果？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结果页。Table 3 中，EMVEM 从 3 个模型到 5 个模型时，F1 由 98.1±1.0% 变为 98.4±0.8%，ECE 都为 2.1±1.1%，MCE 由 21.1±10.6% 变为 20.1±10.1%。Fig 5 是定性示例，作者认为加入更多模型后黄色错误区域减少。不能据此推断模型数量单调增加一定持续改善，也没有展示成本收益权衡。转场：因此结论必须放回研究边界。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批判性阅读页，不是作者原始结果页。左列总结全文直接报告的验证范围；中列是基于全文的阅读者综合：文章没有展示独立外部数据集、临床终点、显著性检验或计算成本比较。右列来自作者结论与未来工作，计划把分类和分割做成端到端模型。最重要的边界是：ECE/MCE 改善属于模型校准证据，不能等同于临床安全已经被验证。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收束。本文的可迁移设计是把模型校准从事后评价转成 ensemble 的决策权重。结果页显示，在这项测试设置中，EMVEM 的 F1、ECE 与 MCE 组合最好；但证据仍限于一个数据集与论文报告的实验设置。讨论可聚焦于：当真实部署发生分布偏移时，验证集上的 1/CE 权重是否稳定，以及应如何加入外部验证、临床效用和计算成本。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DCD2"/>
                </a:solidFill>
                <a:latin typeface="Arial Unicode MS"/>
              </a:rPr>
              <a:t>PAPER2PPT · 开放许可示例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04672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1">
                <a:solidFill>
                  <a:srgbClr val="FFFFFF"/>
                </a:solidFill>
                <a:latin typeface="Arial Unicode MS"/>
              </a:rPr>
              <a:t>校准加权的 Bagging</a:t>
            </a:r>
            <a:br/>
            <a:r>
              <a:rPr sz="3200" b="1">
                <a:solidFill>
                  <a:srgbClr val="FFFFFF"/>
                </a:solidFill>
                <a:latin typeface="Arial Unicode MS"/>
              </a:rPr>
              <a:t>能否同时改善分割与不确定性？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52928"/>
            <a:ext cx="6675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CBD3D4"/>
                </a:solidFill>
                <a:latin typeface="Arial Unicode MS"/>
              </a:rPr>
              <a:t>COVID-19 胸部影像语义分割 · 论文解读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914400"/>
            <a:ext cx="2651760" cy="4526280"/>
          </a:xfrm>
          <a:prstGeom prst="roundRect">
            <a:avLst/>
          </a:prstGeom>
          <a:solidFill>
            <a:srgbClr val="252E33"/>
          </a:solidFill>
          <a:ln w="12700">
            <a:solidFill>
              <a:srgbClr val="4C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298448"/>
            <a:ext cx="1965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7CDCD2"/>
                </a:solidFill>
                <a:latin typeface="Arial Unicode MS"/>
              </a:rPr>
              <a:t>核心思路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874519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8580"/>
                </a:solidFill>
                <a:latin typeface="Arial Unicode M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2912" y="1847088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 Unicode MS"/>
              </a:rPr>
              <a:t>多模型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2912" y="2167127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CB7B9"/>
                </a:solidFill>
                <a:latin typeface="Arial Unicode MS"/>
              </a:rPr>
              <a:t>5 个分割基线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834639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EEBE3E"/>
                </a:solidFill>
                <a:latin typeface="Arial Unicode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2807208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 Unicode MS"/>
              </a:rPr>
              <a:t>校准误差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82912" y="3127247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CB7B9"/>
                </a:solidFill>
                <a:latin typeface="Arial Unicode MS"/>
              </a:rPr>
              <a:t>ECE / MCE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79476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2912" y="3767328"/>
            <a:ext cx="1325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 Unicode MS"/>
              </a:rPr>
              <a:t>加权投票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2912" y="408736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CB7B9"/>
                </a:solidFill>
                <a:latin typeface="Arial Unicode MS"/>
              </a:rPr>
              <a:t>低误差 → 高权重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58384"/>
            <a:ext cx="5029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rial Unicode MS"/>
              </a:rPr>
              <a:t>Nwosu et al. · PLOS ONE ·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760720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AB5B7"/>
                </a:solidFill>
                <a:latin typeface="Arial Unicode MS"/>
              </a:rPr>
              <a:t>DOI 10.1371/journal.pone.0276250 · CC BY 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364224"/>
            <a:ext cx="5486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AAB5B7"/>
                </a:solidFill>
                <a:latin typeface="Arial Unicode MS"/>
              </a:rPr>
              <a:t>01/9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医学分割不仅要“分得准”，还要知道“有多可信”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5166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73352"/>
            <a:ext cx="1554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5B656B"/>
                </a:solidFill>
                <a:latin typeface="Arial Unicode MS"/>
              </a:rPr>
              <a:t>传统关注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2971800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1">
                <a:solidFill>
                  <a:srgbClr val="1E2429"/>
                </a:solidFill>
                <a:latin typeface="Arial Unicode MS"/>
              </a:rPr>
              <a:t>像素级</a:t>
            </a:r>
            <a:br/>
            <a:r>
              <a:rPr sz="3100" b="1">
                <a:solidFill>
                  <a:srgbClr val="1E2429"/>
                </a:solidFill>
                <a:latin typeface="Arial Unicode MS"/>
              </a:rPr>
              <a:t>分割性能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73552"/>
            <a:ext cx="4023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76391"/>
                </a:solidFill>
                <a:latin typeface="Arial Unicode MS"/>
              </a:rPr>
              <a:t>Accuracy · F1 · Sensitivity · Specificity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931920"/>
            <a:ext cx="4297680" cy="36576"/>
          </a:xfrm>
          <a:prstGeom prst="rect">
            <a:avLst/>
          </a:prstGeom>
          <a:solidFill>
            <a:srgbClr val="D1D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42816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E5E52"/>
                </a:solidFill>
                <a:latin typeface="Arial Unicode MS"/>
              </a:rPr>
              <a:t>论文指出的缺口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645152"/>
            <a:ext cx="4251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E2429"/>
                </a:solidFill>
                <a:latin typeface="Arial Unicode MS"/>
              </a:rPr>
              <a:t>CXR 语义分割中的预测不确定性，尚未被充分研究。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325880"/>
            <a:ext cx="5532120" cy="4526280"/>
          </a:xfrm>
          <a:prstGeom prst="roundRect">
            <a:avLst/>
          </a:prstGeom>
          <a:solidFill>
            <a:srgbClr val="1E2429"/>
          </a:solidFill>
          <a:ln w="12700">
            <a:solidFill>
              <a:srgbClr val="1E2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82496"/>
            <a:ext cx="4297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7CDCD2"/>
                </a:solidFill>
                <a:latin typeface="Arial Unicode MS"/>
              </a:rPr>
              <a:t>安全关键场景的第二坐标轴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85416"/>
            <a:ext cx="438912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Arial Unicode MS"/>
              </a:rPr>
              <a:t>高置信度
</a:t>
            </a:r>
            <a:r>
              <a:rPr sz="3100" b="1">
                <a:solidFill>
                  <a:srgbClr val="EEBE3E"/>
                </a:solidFill>
                <a:latin typeface="Arial Unicode MS"/>
              </a:rPr>
              <a:t>≠</a:t>
            </a:r>
            <a:r>
              <a:rPr sz="2800" b="1">
                <a:solidFill>
                  <a:srgbClr val="FFFFFF"/>
                </a:solidFill>
                <a:latin typeface="Arial Unicode MS"/>
              </a:rPr>
              <a:t> 一定正确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64408"/>
            <a:ext cx="44805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D8DEDF"/>
                </a:solidFill>
                <a:latin typeface="Arial Unicode MS"/>
              </a:rPr>
              <a:t>模型校准关注：预测置信度是否与实际正确率相匹配。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224528"/>
            <a:ext cx="4572000" cy="694944"/>
          </a:xfrm>
          <a:prstGeom prst="roundRect">
            <a:avLst/>
          </a:prstGeom>
          <a:solidFill>
            <a:srgbClr val="31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4416552"/>
            <a:ext cx="4169663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Arial Unicode MS"/>
              </a:rPr>
              <a:t>本文问题：能否让分割性能 ↑，同时让 ECE / MCE ↓？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76088"/>
            <a:ext cx="4572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9CAAAC"/>
                </a:solidFill>
                <a:latin typeface="Arial Unicode MS"/>
              </a:rPr>
              <a:t>↑ / ↓ 仅表示本文采用的指标方向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Introduction 与 §3.3 · DOI 10.1371/journal.pone.0276250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研究设计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6,402 张影像被划分为训练、校准与测试三部分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98448"/>
            <a:ext cx="589788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18488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8580"/>
                </a:solidFill>
                <a:latin typeface="Arial Unicode MS"/>
              </a:rPr>
              <a:t>数据与任务</a:t>
            </a:r>
          </a:p>
        </p:txBody>
      </p:sp>
      <p:pic>
        <p:nvPicPr>
          <p:cNvPr id="8" name="Picture 7" descr="fig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24481"/>
            <a:ext cx="5230368" cy="23061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2688" y="4681728"/>
            <a:ext cx="1508760" cy="310896"/>
          </a:xfrm>
          <a:prstGeom prst="roundRect">
            <a:avLst/>
          </a:prstGeom>
          <a:solidFill>
            <a:srgbClr val="E2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22876"/>
            <a:ext cx="13624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376391"/>
                </a:solidFill>
                <a:latin typeface="Arial Unicode MS"/>
              </a:rPr>
              <a:t>输入：胸部影像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4681728"/>
            <a:ext cx="1920240" cy="310896"/>
          </a:xfrm>
          <a:prstGeom prst="roundRect">
            <a:avLst/>
          </a:prstGeom>
          <a:solidFill>
            <a:srgbClr val="DC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722876"/>
            <a:ext cx="177393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输出：Lung / NonLung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129784"/>
            <a:ext cx="510235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56B"/>
                </a:solidFill>
                <a:latin typeface="Arial Unicode MS"/>
              </a:rPr>
              <a:t>像素级多边形肺区标注；Fig 3 展示原图与 ground truth。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298448"/>
            <a:ext cx="4837176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1627632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8580"/>
                </a:solidFill>
                <a:latin typeface="Arial Unicode MS"/>
              </a:rPr>
              <a:t>固定数据划分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14032" y="2185416"/>
            <a:ext cx="2777947" cy="47548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2304288"/>
            <a:ext cx="2777947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 Unicode MS"/>
              </a:rPr>
              <a:t>70%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91979" y="2185416"/>
            <a:ext cx="396849" cy="475488"/>
          </a:xfrm>
          <a:prstGeom prst="rect">
            <a:avLst/>
          </a:prstGeom>
          <a:solidFill>
            <a:srgbClr val="EEB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88828" y="2185416"/>
            <a:ext cx="793699" cy="475488"/>
          </a:xfrm>
          <a:prstGeom prst="rect">
            <a:avLst/>
          </a:prstGeom>
          <a:solidFill>
            <a:srgbClr val="DE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8828" y="2304288"/>
            <a:ext cx="793699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Arial Unicode MS"/>
              </a:rPr>
              <a:t>20%</a:t>
            </a:r>
          </a:p>
        </p:txBody>
      </p:sp>
      <p:sp>
        <p:nvSpPr>
          <p:cNvPr id="21" name="Oval 20"/>
          <p:cNvSpPr/>
          <p:nvPr/>
        </p:nvSpPr>
        <p:spPr>
          <a:xfrm>
            <a:off x="7114032" y="3108960"/>
            <a:ext cx="109728" cy="109728"/>
          </a:xfrm>
          <a:prstGeom prst="ellipse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51775" y="3063240"/>
            <a:ext cx="914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3063240"/>
            <a:ext cx="658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0F8580"/>
                </a:solidFill>
                <a:latin typeface="Arial Unicode MS"/>
              </a:rPr>
              <a:t>70%</a:t>
            </a:r>
          </a:p>
        </p:txBody>
      </p:sp>
      <p:sp>
        <p:nvSpPr>
          <p:cNvPr id="24" name="Oval 23"/>
          <p:cNvSpPr/>
          <p:nvPr/>
        </p:nvSpPr>
        <p:spPr>
          <a:xfrm>
            <a:off x="7114032" y="3712463"/>
            <a:ext cx="109728" cy="109728"/>
          </a:xfrm>
          <a:prstGeom prst="ellipse">
            <a:avLst/>
          </a:prstGeom>
          <a:solidFill>
            <a:srgbClr val="EEB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3666744"/>
            <a:ext cx="914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666744"/>
            <a:ext cx="658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EEBE3E"/>
                </a:solidFill>
                <a:latin typeface="Arial Unicode MS"/>
              </a:rPr>
              <a:t>10%</a:t>
            </a:r>
          </a:p>
        </p:txBody>
      </p:sp>
      <p:sp>
        <p:nvSpPr>
          <p:cNvPr id="27" name="Oval 26"/>
          <p:cNvSpPr/>
          <p:nvPr/>
        </p:nvSpPr>
        <p:spPr>
          <a:xfrm>
            <a:off x="7114032" y="4315968"/>
            <a:ext cx="109728" cy="109728"/>
          </a:xfrm>
          <a:prstGeom prst="ellipse">
            <a:avLst/>
          </a:prstGeom>
          <a:solidFill>
            <a:srgbClr val="DE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5" y="4270248"/>
            <a:ext cx="9144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测试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4270248"/>
            <a:ext cx="65836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DE5E52"/>
                </a:solidFill>
                <a:latin typeface="Arial Unicode MS"/>
              </a:rPr>
              <a:t>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5001768"/>
            <a:ext cx="3968496" cy="27432"/>
          </a:xfrm>
          <a:prstGeom prst="rect">
            <a:avLst/>
          </a:prstGeom>
          <a:solidFill>
            <a:srgbClr val="D1D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2" y="5230368"/>
            <a:ext cx="1005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对比范围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5202936"/>
            <a:ext cx="28529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5 个单模型 + 多种 ensemble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§3.1–3.3 与 Fig 3（PDF p6）· CC BY 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校准误差把“可信度”直接转成 ensemble 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98448"/>
            <a:ext cx="3794760" cy="4681728"/>
          </a:xfrm>
          <a:prstGeom prst="roundRect">
            <a:avLst/>
          </a:prstGeom>
          <a:solidFill>
            <a:srgbClr val="1E2429"/>
          </a:solidFill>
          <a:ln w="12700">
            <a:solidFill>
              <a:srgbClr val="1E2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700784"/>
            <a:ext cx="475488" cy="475488"/>
          </a:xfrm>
          <a:prstGeom prst="ellipse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682496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 Unicode MS"/>
              </a:rPr>
              <a:t>训练异构模型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048256"/>
            <a:ext cx="2240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4BFC1"/>
                </a:solidFill>
                <a:latin typeface="Arial Unicode MS"/>
              </a:rPr>
              <a:t>UNet、PSPNet、FCN 系列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97864" y="2267712"/>
            <a:ext cx="0" cy="374904"/>
          </a:xfrm>
          <a:prstGeom prst="line">
            <a:avLst/>
          </a:prstGeom>
          <a:ln w="17780">
            <a:solidFill>
              <a:srgbClr val="69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60120" y="2834640"/>
            <a:ext cx="475488" cy="475488"/>
          </a:xfrm>
          <a:prstGeom prst="ellipse">
            <a:avLst/>
          </a:prstGeom>
          <a:solidFill>
            <a:srgbClr val="EEB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E2429"/>
                </a:solidFill>
                <a:latin typeface="Arial Unicode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2816352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 Unicode MS"/>
              </a:rPr>
              <a:t>在验证集算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182112"/>
            <a:ext cx="2240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4BFC1"/>
                </a:solidFill>
                <a:latin typeface="Arial Unicode MS"/>
              </a:rPr>
              <a:t>ECE 与 MCE 衡量校准误差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97864" y="3401568"/>
            <a:ext cx="0" cy="374904"/>
          </a:xfrm>
          <a:prstGeom prst="line">
            <a:avLst/>
          </a:prstGeom>
          <a:ln w="17780">
            <a:solidFill>
              <a:srgbClr val="69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0120" y="3968496"/>
            <a:ext cx="475488" cy="475488"/>
          </a:xfrm>
          <a:prstGeom prst="ellipse">
            <a:avLst/>
          </a:prstGeom>
          <a:solidFill>
            <a:srgbClr val="DE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78224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950208"/>
            <a:ext cx="2240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rial Unicode MS"/>
              </a:rPr>
              <a:t>按 1 / CE 加权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315968"/>
            <a:ext cx="22402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B4BFC1"/>
                </a:solidFill>
                <a:latin typeface="Arial Unicode MS"/>
              </a:rPr>
              <a:t>误差更低的模型获得更高权重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5166360"/>
            <a:ext cx="3090672" cy="484632"/>
          </a:xfrm>
          <a:prstGeom prst="roundRect">
            <a:avLst/>
          </a:prstGeom>
          <a:solidFill>
            <a:srgbClr val="31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85232"/>
            <a:ext cx="277063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Arial Unicode MS"/>
              </a:rPr>
              <a:t>wᵢ ∝ 1 / CEᵢ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1298448"/>
            <a:ext cx="6940296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853" y="1581912"/>
            <a:ext cx="4676892" cy="40873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10912" y="5623560"/>
            <a:ext cx="6080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5B656B"/>
                </a:solidFill>
                <a:latin typeface="Arial Unicode MS"/>
              </a:rPr>
              <a:t>论文原始 Fig 1：训练 → 校准 → 加权投票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§2.3 与 Fig 1（PDF p3）· CC BY 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主结果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EMVEM 在本文测试中取得最高 F1，并降低校准误差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98448"/>
            <a:ext cx="55778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18488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8580"/>
                </a:solidFill>
                <a:latin typeface="Arial Unicode MS"/>
              </a:rPr>
              <a:t>分割性能：F1 score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4206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56B"/>
                </a:solidFill>
                <a:latin typeface="Arial Unicode MS"/>
              </a:rPr>
              <a:t>显示区间 90–100%；数值为均值 ± 标准差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429"/>
                </a:solidFill>
                <a:latin typeface="Arial Unicode MS"/>
              </a:rPr>
              <a:t>F32_R50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2551176"/>
            <a:ext cx="2990088" cy="164592"/>
          </a:xfrm>
          <a:prstGeom prst="rect">
            <a:avLst/>
          </a:prstGeom>
          <a:solidFill>
            <a:srgbClr val="E6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6" y="2551176"/>
            <a:ext cx="1285737" cy="164592"/>
          </a:xfrm>
          <a:prstGeom prst="rect">
            <a:avLst/>
          </a:prstGeom>
          <a:solidFill>
            <a:srgbClr val="37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2487168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376391"/>
                </a:solidFill>
                <a:latin typeface="Arial Unicode MS"/>
              </a:rPr>
              <a:t>94.3%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72968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429"/>
                </a:solidFill>
                <a:latin typeface="Arial Unicode MS"/>
              </a:rPr>
              <a:t>EECE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56816" y="3227832"/>
            <a:ext cx="2990088" cy="164592"/>
          </a:xfrm>
          <a:prstGeom prst="rect">
            <a:avLst/>
          </a:prstGeom>
          <a:solidFill>
            <a:srgbClr val="E6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56816" y="3227832"/>
            <a:ext cx="2122962" cy="164592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3163824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0F8580"/>
                </a:solidFill>
                <a:latin typeface="Arial Unicode MS"/>
              </a:rPr>
              <a:t>97.1%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849624"/>
            <a:ext cx="960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E2429"/>
                </a:solidFill>
                <a:latin typeface="Arial Unicode MS"/>
              </a:rPr>
              <a:t>EMVEM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56816" y="3904487"/>
            <a:ext cx="2990088" cy="164592"/>
          </a:xfrm>
          <a:prstGeom prst="rect">
            <a:avLst/>
          </a:prstGeom>
          <a:solidFill>
            <a:srgbClr val="E6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56816" y="3904487"/>
            <a:ext cx="2511673" cy="164592"/>
          </a:xfrm>
          <a:prstGeom prst="rect">
            <a:avLst/>
          </a:prstGeom>
          <a:solidFill>
            <a:srgbClr val="DE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840480"/>
            <a:ext cx="7498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98.4%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645152"/>
            <a:ext cx="1417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376391"/>
                </a:solidFill>
                <a:latin typeface="Arial Unicode MS"/>
              </a:rPr>
              <a:t>94.3 ± 3.8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6312" y="4645152"/>
            <a:ext cx="1417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8580"/>
                </a:solidFill>
                <a:latin typeface="Arial Unicode MS"/>
              </a:rPr>
              <a:t>97.1 ± 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4645152"/>
            <a:ext cx="1417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98.4 ± 0.8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37760"/>
            <a:ext cx="1417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F32_R50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4937760"/>
            <a:ext cx="1417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EECE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791" y="4937760"/>
            <a:ext cx="14173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EMVEM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088" y="1298448"/>
            <a:ext cx="5166360" cy="4526280"/>
          </a:xfrm>
          <a:prstGeom prst="roundRect">
            <a:avLst/>
          </a:prstGeom>
          <a:solidFill>
            <a:srgbClr val="1E2429"/>
          </a:solidFill>
          <a:ln w="12700">
            <a:solidFill>
              <a:srgbClr val="1E2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618488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7CDCD2"/>
                </a:solidFill>
                <a:latin typeface="Arial Unicode MS"/>
              </a:rPr>
              <a:t>校准误差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130552"/>
            <a:ext cx="120700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AEBEC1"/>
                </a:solidFill>
                <a:latin typeface="Arial Unicode MS"/>
              </a:rPr>
              <a:t>F32_R50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9216" y="2130552"/>
            <a:ext cx="120700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EMVEM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56448" y="2258568"/>
            <a:ext cx="1325880" cy="0"/>
          </a:xfrm>
          <a:prstGeom prst="line">
            <a:avLst/>
          </a:prstGeom>
          <a:ln w="19050">
            <a:solidFill>
              <a:srgbClr val="6B8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766560" y="274320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76391"/>
                </a:solidFill>
                <a:latin typeface="Arial Unicode MS"/>
              </a:rPr>
              <a:t>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36976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ECE (%)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743200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7CDCD2"/>
                </a:solidFill>
                <a:latin typeface="Arial Unicode MS"/>
              </a:rPr>
              <a:t>2.1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3236976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ECE (%)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096512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376391"/>
                </a:solidFill>
                <a:latin typeface="Arial Unicode MS"/>
              </a:rPr>
              <a:t>29.8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59028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MCE 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4096512"/>
            <a:ext cx="1481328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DE5E52"/>
                </a:solidFill>
                <a:latin typeface="Arial Unicode MS"/>
              </a:rPr>
              <a:t>20.1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4590288"/>
            <a:ext cx="14813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2429"/>
                </a:solidFill>
                <a:latin typeface="Arial Unicode MS"/>
              </a:rPr>
              <a:t>MCE (%)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980944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7CDCD2"/>
                </a:solidFill>
                <a:latin typeface="Arial Unicode MS"/>
              </a:rPr>
              <a:t>−0.2 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334256"/>
            <a:ext cx="1234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DE5E52"/>
                </a:solidFill>
                <a:latin typeface="Arial Unicode MS"/>
              </a:rPr>
              <a:t>−9.7 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303520"/>
            <a:ext cx="42245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AA8AB"/>
                </a:solidFill>
                <a:latin typeface="Arial Unicode MS"/>
              </a:rPr>
              <a:t>对比最佳单模型 F32_R50；pp = percentage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Table 2（PDF p8）· 数值为论文报告的均值 ± 标准差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定性证据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定性示例中，ensemble 的黄色漏分区域更少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07592"/>
            <a:ext cx="960120" cy="310896"/>
          </a:xfrm>
          <a:prstGeom prst="roundRect">
            <a:avLst/>
          </a:prstGeom>
          <a:solidFill>
            <a:srgbClr val="ED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348739"/>
            <a:ext cx="8138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551E5F"/>
                </a:solidFill>
                <a:latin typeface="Arial Unicode MS"/>
              </a:rPr>
              <a:t>紫：背景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9072" y="1307592"/>
            <a:ext cx="1234440" cy="310896"/>
          </a:xfrm>
          <a:prstGeom prst="roundRect">
            <a:avLst/>
          </a:prstGeom>
          <a:solidFill>
            <a:srgbClr val="FAF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2224" y="1348739"/>
            <a:ext cx="108813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866305"/>
                </a:solidFill>
                <a:latin typeface="Arial Unicode MS"/>
              </a:rPr>
              <a:t>黄：错误预测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1307592"/>
            <a:ext cx="1234440" cy="310896"/>
          </a:xfrm>
          <a:prstGeom prst="roundRect">
            <a:avLst/>
          </a:prstGeom>
          <a:solidFill>
            <a:srgbClr val="DC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348739"/>
            <a:ext cx="108813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青：正确预测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44168"/>
            <a:ext cx="6528816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1E2429"/>
                </a:solidFill>
                <a:latin typeface="Arial Unicode MS"/>
              </a:rPr>
              <a:t>作者解读：UNet（g）出现明显黄色区域；EECE（i）与 EMVEM（j）更少。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1847088"/>
            <a:ext cx="1098194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2124555"/>
            <a:ext cx="10524744" cy="35415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Fig 4（PDF p8）· 原图未裁切 · CC BY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敏感性分析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从 3 个到 5 个模型，EMVEM 的 F1 小幅上升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298448"/>
            <a:ext cx="3657600" cy="4681728"/>
          </a:xfrm>
          <a:prstGeom prst="roundRect">
            <a:avLst/>
          </a:prstGeom>
          <a:solidFill>
            <a:srgbClr val="1E2429"/>
          </a:solidFill>
          <a:ln w="12700">
            <a:solidFill>
              <a:srgbClr val="1E2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7CDCD2"/>
                </a:solidFill>
                <a:latin typeface="Arial Unicode MS"/>
              </a:rPr>
              <a:t>Table 3 · EMVEM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ACBABC"/>
                </a:solidFill>
                <a:latin typeface="Arial Unicode MS"/>
              </a:rPr>
              <a:t>3 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2212848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Arial Unicode MS"/>
              </a:rPr>
              <a:t>5 模型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2340864"/>
            <a:ext cx="640080" cy="0"/>
          </a:xfrm>
          <a:prstGeom prst="line">
            <a:avLst/>
          </a:prstGeom>
          <a:ln w="17780">
            <a:solidFill>
              <a:srgbClr val="687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2880360"/>
            <a:ext cx="5303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71216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4CDCE"/>
                </a:solidFill>
                <a:latin typeface="Arial Unicode MS"/>
              </a:rPr>
              <a:t>98.1 ±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8336" y="2871216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98.4 ± 0.8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246120"/>
            <a:ext cx="2834640" cy="18288"/>
          </a:xfrm>
          <a:prstGeom prst="rect">
            <a:avLst/>
          </a:prstGeom>
          <a:solidFill>
            <a:srgbClr val="41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39312"/>
            <a:ext cx="5303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8580"/>
                </a:solidFill>
                <a:latin typeface="Arial Unicode MS"/>
              </a:rPr>
              <a:t>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630168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4CDCE"/>
                </a:solidFill>
                <a:latin typeface="Arial Unicode MS"/>
              </a:rPr>
              <a:t>2.1 ± 1.1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3630168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2.1 ± 1.1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005072"/>
            <a:ext cx="2834640" cy="18288"/>
          </a:xfrm>
          <a:prstGeom prst="rect">
            <a:avLst/>
          </a:prstGeom>
          <a:solidFill>
            <a:srgbClr val="41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98264"/>
            <a:ext cx="53035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EEBE3E"/>
                </a:solidFill>
                <a:latin typeface="Arial Unicode MS"/>
              </a:rPr>
              <a:t>MCE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89120"/>
            <a:ext cx="10789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C4CDCE"/>
                </a:solidFill>
                <a:latin typeface="Arial Unicode MS"/>
              </a:rPr>
              <a:t>21.1 ± 10.6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4389120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 Unicode MS"/>
              </a:rPr>
              <a:t>20.1 ± 10.1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764024"/>
            <a:ext cx="2834640" cy="18288"/>
          </a:xfrm>
          <a:prstGeom prst="rect">
            <a:avLst/>
          </a:prstGeom>
          <a:solidFill>
            <a:srgbClr val="41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13248"/>
            <a:ext cx="2834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7A5A8"/>
                </a:solidFill>
                <a:latin typeface="Arial Unicode MS"/>
              </a:rPr>
              <a:t>均为 %；数值为均值 ± 标准差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1298448"/>
            <a:ext cx="7077456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ig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525" y="1536192"/>
            <a:ext cx="4914101" cy="41696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46320" y="5650992"/>
            <a:ext cx="634593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5B656B"/>
                </a:solidFill>
                <a:latin typeface="Arial Unicode MS"/>
              </a:rPr>
              <a:t>Fig 5：黄色越少代表该样例中的错误区域越小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来源：Nwosu et al. (2022), Table 3（PDF p9）与 Fig 5（PDF p10）· CC BY 4.0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8580"/>
                </a:solidFill>
                <a:latin typeface="Arial Unicode MS"/>
              </a:rPr>
              <a:t>证据边界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88136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1E2429"/>
                </a:solidFill>
                <a:latin typeface="Arial Unicode MS"/>
              </a:rPr>
              <a:t>结论成立于本文设置；临床泛化仍需独立验证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20040"/>
            <a:ext cx="3840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>
                <a:solidFill>
                  <a:srgbClr val="5B656B"/>
                </a:solidFill>
                <a:latin typeface="Arial Unicode M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417320"/>
            <a:ext cx="344728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417320"/>
            <a:ext cx="3447288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279806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8580"/>
                </a:solidFill>
                <a:latin typeface="Arial Unicode MS"/>
              </a:rPr>
              <a:t>已被本文支持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32888"/>
            <a:ext cx="201168" cy="201168"/>
          </a:xfrm>
          <a:prstGeom prst="ellipse">
            <a:avLst/>
          </a:prstGeom>
          <a:solidFill>
            <a:srgbClr val="DCF0ED"/>
          </a:solidFill>
          <a:ln w="12700">
            <a:solidFill>
              <a:srgbClr val="0F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74036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F8580"/>
                </a:solidFill>
                <a:latin typeface="Arial Unicode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87168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单一公开数据集上的 70/10/20 划分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74136"/>
            <a:ext cx="201168" cy="201168"/>
          </a:xfrm>
          <a:prstGeom prst="ellipse">
            <a:avLst/>
          </a:prstGeom>
          <a:solidFill>
            <a:srgbClr val="DCF0ED"/>
          </a:solidFill>
          <a:ln w="12700">
            <a:solidFill>
              <a:srgbClr val="0F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15284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F8580"/>
                </a:solidFill>
                <a:latin typeface="Arial Unicode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28416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与 5 个单模型及 ensemble 基线比较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15384"/>
            <a:ext cx="201168" cy="201168"/>
          </a:xfrm>
          <a:prstGeom prst="ellipse">
            <a:avLst/>
          </a:prstGeom>
          <a:solidFill>
            <a:srgbClr val="DCF0ED"/>
          </a:solidFill>
          <a:ln w="12700">
            <a:solidFill>
              <a:srgbClr val="0F8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6532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0F8580"/>
                </a:solidFill>
                <a:latin typeface="Arial Unicode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69664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性能指标与 ECE/MCE 同时报告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26974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阅读者综合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1417320"/>
            <a:ext cx="344728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1417320"/>
            <a:ext cx="3447288" cy="109728"/>
          </a:xfrm>
          <a:prstGeom prst="rect">
            <a:avLst/>
          </a:prstGeom>
          <a:solidFill>
            <a:srgbClr val="DE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792224"/>
            <a:ext cx="279806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E5E52"/>
                </a:solidFill>
                <a:latin typeface="Arial Unicode MS"/>
              </a:rPr>
              <a:t>本文未展示</a:t>
            </a:r>
          </a:p>
        </p:txBody>
      </p:sp>
      <p:sp>
        <p:nvSpPr>
          <p:cNvPr id="22" name="Oval 21"/>
          <p:cNvSpPr/>
          <p:nvPr/>
        </p:nvSpPr>
        <p:spPr>
          <a:xfrm>
            <a:off x="4681728" y="2532888"/>
            <a:ext cx="201168" cy="201168"/>
          </a:xfrm>
          <a:prstGeom prst="ellipse">
            <a:avLst/>
          </a:prstGeom>
          <a:solidFill>
            <a:srgbClr val="F9E5E0"/>
          </a:solidFill>
          <a:ln w="12700">
            <a:solidFill>
              <a:srgbClr val="DE5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2574036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DE5E52"/>
                </a:solidFill>
                <a:latin typeface="Arial Unicode M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487168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独立外部数据集验证</a:t>
            </a:r>
          </a:p>
        </p:txBody>
      </p:sp>
      <p:sp>
        <p:nvSpPr>
          <p:cNvPr id="25" name="Oval 24"/>
          <p:cNvSpPr/>
          <p:nvPr/>
        </p:nvSpPr>
        <p:spPr>
          <a:xfrm>
            <a:off x="4681728" y="3374136"/>
            <a:ext cx="201168" cy="201168"/>
          </a:xfrm>
          <a:prstGeom prst="ellipse">
            <a:avLst/>
          </a:prstGeom>
          <a:solidFill>
            <a:srgbClr val="F9E5E0"/>
          </a:solidFill>
          <a:ln w="12700">
            <a:solidFill>
              <a:srgbClr val="DE5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415284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DE5E52"/>
                </a:solidFill>
                <a:latin typeface="Arial Unicode M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328416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临床终点或真实工作流效用</a:t>
            </a:r>
          </a:p>
        </p:txBody>
      </p:sp>
      <p:sp>
        <p:nvSpPr>
          <p:cNvPr id="28" name="Oval 27"/>
          <p:cNvSpPr/>
          <p:nvPr/>
        </p:nvSpPr>
        <p:spPr>
          <a:xfrm>
            <a:off x="4681728" y="4215384"/>
            <a:ext cx="201168" cy="201168"/>
          </a:xfrm>
          <a:prstGeom prst="ellipse">
            <a:avLst/>
          </a:prstGeom>
          <a:solidFill>
            <a:srgbClr val="F9E5E0"/>
          </a:solidFill>
          <a:ln w="12700">
            <a:solidFill>
              <a:srgbClr val="DE5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4256532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DE5E52"/>
                </a:solidFill>
                <a:latin typeface="Arial Unicode M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169664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显著性检验与推理成本权衡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5285232"/>
            <a:ext cx="26974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阅读者综合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417320"/>
            <a:ext cx="344728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417320"/>
            <a:ext cx="3447288" cy="109728"/>
          </a:xfrm>
          <a:prstGeom prst="rect">
            <a:avLst/>
          </a:prstGeom>
          <a:solidFill>
            <a:srgbClr val="37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1792224"/>
            <a:ext cx="279806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76391"/>
                </a:solidFill>
                <a:latin typeface="Arial Unicode MS"/>
              </a:rPr>
              <a:t>作者提出的下一步</a:t>
            </a:r>
          </a:p>
        </p:txBody>
      </p:sp>
      <p:sp>
        <p:nvSpPr>
          <p:cNvPr id="35" name="Oval 34"/>
          <p:cNvSpPr/>
          <p:nvPr/>
        </p:nvSpPr>
        <p:spPr>
          <a:xfrm>
            <a:off x="8449056" y="2532888"/>
            <a:ext cx="201168" cy="201168"/>
          </a:xfrm>
          <a:prstGeom prst="ellipse">
            <a:avLst/>
          </a:prstGeom>
          <a:solidFill>
            <a:srgbClr val="E2EBF4"/>
          </a:solidFill>
          <a:ln w="12700">
            <a:solidFill>
              <a:srgbClr val="37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574036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376391"/>
                </a:solidFill>
                <a:latin typeface="Arial Unicode M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2487168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扩展为端到端模型</a:t>
            </a:r>
          </a:p>
        </p:txBody>
      </p:sp>
      <p:sp>
        <p:nvSpPr>
          <p:cNvPr id="38" name="Oval 37"/>
          <p:cNvSpPr/>
          <p:nvPr/>
        </p:nvSpPr>
        <p:spPr>
          <a:xfrm>
            <a:off x="8449056" y="3374136"/>
            <a:ext cx="201168" cy="201168"/>
          </a:xfrm>
          <a:prstGeom prst="ellipse">
            <a:avLst/>
          </a:prstGeom>
          <a:solidFill>
            <a:srgbClr val="E2EBF4"/>
          </a:solidFill>
          <a:ln w="12700">
            <a:solidFill>
              <a:srgbClr val="37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3415284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376391"/>
                </a:solidFill>
                <a:latin typeface="Arial Unicode M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4816" y="3328416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同时完成 COVID-19 分类</a:t>
            </a:r>
          </a:p>
        </p:txBody>
      </p:sp>
      <p:sp>
        <p:nvSpPr>
          <p:cNvPr id="41" name="Oval 40"/>
          <p:cNvSpPr/>
          <p:nvPr/>
        </p:nvSpPr>
        <p:spPr>
          <a:xfrm>
            <a:off x="8449056" y="4215384"/>
            <a:ext cx="201168" cy="201168"/>
          </a:xfrm>
          <a:prstGeom prst="ellipse">
            <a:avLst/>
          </a:prstGeom>
          <a:solidFill>
            <a:srgbClr val="E2EBF4"/>
          </a:solidFill>
          <a:ln w="12700">
            <a:solidFill>
              <a:srgbClr val="376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4256532"/>
            <a:ext cx="201168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1">
                <a:solidFill>
                  <a:srgbClr val="376391"/>
                </a:solidFill>
                <a:latin typeface="Arial Unicode M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4816" y="4169664"/>
            <a:ext cx="239572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2429"/>
                </a:solidFill>
                <a:latin typeface="Arial Unicode MS"/>
              </a:rPr>
              <a:t>与影像分割联合建模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49056" y="5285232"/>
            <a:ext cx="26974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论文 §5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43584" y="5961888"/>
            <a:ext cx="9692640" cy="384048"/>
          </a:xfrm>
          <a:prstGeom prst="roundRect">
            <a:avLst/>
          </a:prstGeom>
          <a:solidFill>
            <a:srgbClr val="FAF1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81328" y="6053328"/>
            <a:ext cx="92171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5D4706"/>
                </a:solidFill>
                <a:latin typeface="Arial Unicode MS"/>
              </a:rPr>
              <a:t>校准误差下降 ≠ 临床安全已被证明；它是这篇论文中的模型层证据。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" y="6510528"/>
            <a:ext cx="10332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B656B"/>
                </a:solidFill>
                <a:latin typeface="Arial Unicode MS"/>
              </a:rPr>
              <a:t>来源：全文研究设计、结果与 §5；“本文未展示”为基于全文的阅读者综合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0528"/>
            <a:ext cx="47548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B656B"/>
                </a:solidFill>
                <a:latin typeface="Arial Unicode MS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828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7CDCD2"/>
                </a:solidFill>
                <a:latin typeface="Arial Unicode M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804672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100" b="1">
                <a:solidFill>
                  <a:srgbClr val="FFFFFF"/>
                </a:solidFill>
                <a:latin typeface="Arial Unicode MS"/>
              </a:rPr>
              <a:t>把校准误差变成权重，</a:t>
            </a:r>
            <a:br/>
            <a:r>
              <a:rPr sz="3100" b="1">
                <a:solidFill>
                  <a:srgbClr val="FFFFFF"/>
                </a:solidFill>
                <a:latin typeface="Arial Unicode MS"/>
              </a:rPr>
              <a:t>是这篇论文最可迁移的设计思想。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88920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8580"/>
                </a:solidFill>
                <a:latin typeface="Arial Unicode M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761488"/>
            <a:ext cx="640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 Unicode MS"/>
              </a:rPr>
              <a:t>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761488"/>
            <a:ext cx="6263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CBD3D4"/>
                </a:solidFill>
                <a:latin typeface="Arial Unicode MS"/>
              </a:rPr>
              <a:t>验证集计算 ECE/MCE；测试时按 1/CE 加权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630168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602736"/>
            <a:ext cx="640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 Unicode MS"/>
              </a:rPr>
              <a:t>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602736"/>
            <a:ext cx="6263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CBD3D4"/>
                </a:solidFill>
                <a:latin typeface="Arial Unicode MS"/>
              </a:rPr>
              <a:t>EMVEM：F1 98.4±0.8%，ECE 2.1±1.1%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4471416"/>
            <a:ext cx="4023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EEBE3E"/>
                </a:solidFill>
                <a:latin typeface="Arial Unicode M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443983"/>
            <a:ext cx="64008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 Unicode MS"/>
              </a:rPr>
              <a:t>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443983"/>
            <a:ext cx="62636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CBD3D4"/>
                </a:solidFill>
                <a:latin typeface="Arial Unicode MS"/>
              </a:rPr>
              <a:t>单一数据集结果；外部与临床验证仍缺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987552"/>
            <a:ext cx="2615184" cy="4498848"/>
          </a:xfrm>
          <a:prstGeom prst="roundRect">
            <a:avLst/>
          </a:prstGeom>
          <a:solidFill>
            <a:srgbClr val="252E33"/>
          </a:solidFill>
          <a:ln w="12700">
            <a:solidFill>
              <a:srgbClr val="4A5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389888"/>
            <a:ext cx="193852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7CDCD2"/>
                </a:solidFill>
                <a:latin typeface="Arial Unicode MS"/>
              </a:rPr>
              <a:t>讨论问题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011680"/>
            <a:ext cx="1947672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FFFFFF"/>
                </a:solidFill>
                <a:latin typeface="Arial Unicode MS"/>
              </a:rPr>
              <a:t>1 / CE 的简单权重，</a:t>
            </a:r>
            <a:br/>
            <a:r>
              <a:rPr sz="2100" b="1">
                <a:solidFill>
                  <a:srgbClr val="FFFFFF"/>
                </a:solidFill>
                <a:latin typeface="Arial Unicode MS"/>
              </a:rPr>
              <a:t>在分布偏移时还可靠吗？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3557016"/>
            <a:ext cx="1920240" cy="36576"/>
          </a:xfrm>
          <a:prstGeom prst="rect">
            <a:avLst/>
          </a:prstGeom>
          <a:solidFill>
            <a:srgbClr val="4D5C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3913632"/>
            <a:ext cx="190195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E5E52"/>
                </a:solidFill>
                <a:latin typeface="Arial Unicode MS"/>
              </a:rPr>
              <a:t>下一步验证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343400"/>
            <a:ext cx="192024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CBD3D4"/>
                </a:solidFill>
                <a:latin typeface="Arial Unicode MS"/>
              </a:rPr>
              <a:t>外部数据 · 校准漂移</a:t>
            </a:r>
            <a:br/>
            <a:r>
              <a:rPr sz="1400" b="1">
                <a:solidFill>
                  <a:srgbClr val="CBD3D4"/>
                </a:solidFill>
                <a:latin typeface="Arial Unicode MS"/>
              </a:rPr>
              <a:t>临床效用 · 推理成本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190488"/>
            <a:ext cx="98298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9DABAE"/>
                </a:solidFill>
                <a:latin typeface="Arial Unicode MS"/>
              </a:rPr>
              <a:t>来源：Nwosu et al. (2022), Tables 2–3 与 §5 · DOI 10.1371/journal.pone.0276250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364224"/>
            <a:ext cx="5486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AAB5B7"/>
                </a:solidFill>
                <a:latin typeface="Arial Unicode MS"/>
              </a:rPr>
              <a:t>09/9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