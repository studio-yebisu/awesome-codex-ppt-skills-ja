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入力§1。架空・未実施のデザイン研究計画。廃棄原因全体ではなく、何があるか分からない情報の問題に絞る。図は入力記述に基づく説明図。</a:t>
            </a:r>
          </a:p>
          <a:p>
            <a:r>
              <a:t>主張: 家庭内在庫を一覧にするUIを提案し、「何があるか分からない」問題に対象を絞る。</a:t>
            </a:r>
          </a:p>
          <a:p>
            <a:r>
              <a:t>出典: input/BRIEF.md §1</a:t>
            </a:r>
          </a:p>
          <a:p>
            <a:r>
              <a:t>資料の限界: 廃棄原因全体を解決する提案ではなく、食品ロス削減効果は未検証。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入力§2。研究の問いと三つの利用場面。毎回アプリを開く前提は未検証。見る価値が生じる場面を確かめる。</a:t>
            </a:r>
          </a:p>
          <a:p>
            <a:r>
              <a:t>主張: 買い物前・調理前・片づけ時の三場面で、表示が判断に使えるかを確かめる。</a:t>
            </a:r>
          </a:p>
          <a:p>
            <a:r>
              <a:t>出典: input/BRIEF.md §2</a:t>
            </a:r>
          </a:p>
          <a:p>
            <a:r>
              <a:t>資料の限界: 毎回アプリを開く価値があるかは確認していない。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入力§3。仮説Aは保存場所の一覧、仮説Bは粗い残量段階。記録精度と更新負担のトレードオフであり、優劣の結果ではない。</a:t>
            </a:r>
          </a:p>
          <a:p>
            <a:r>
              <a:t>主張: 場所別一覧と大まかな残量は、探しやすさと更新負担についての二つの仮説である。</a:t>
            </a:r>
          </a:p>
          <a:p>
            <a:r>
              <a:t>出典: input/BRIEF.md §3</a:t>
            </a:r>
          </a:p>
          <a:p>
            <a:r>
              <a:t>資料の限界: 更新が続くという結果ではない。継続と正確さの両方を評価する計画。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入力§4。提案UIは説明用の架空表示。食品名・残量・更新時点・包装表示からの期限転記を区別。期限未登録は期限がないことを意味しない。安全を保証しない。</a:t>
            </a:r>
          </a:p>
          <a:p>
            <a:r>
              <a:t>主張: 提案UIでは、残量・更新時点・包装表示から転記する期限を分け、不明を隠さない。</a:t>
            </a:r>
          </a:p>
          <a:p>
            <a:r>
              <a:t>出典: input/BRIEF.md §4</a:t>
            </a:r>
          </a:p>
          <a:p>
            <a:r>
              <a:t>資料の限界: 表示例は架空。「未登録」は期限なしを意味せず、安全を保証しない。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入力§5。選択→残量変更→保存場所確認の提案。使い切りを取り消せる設計を検討。家族の共有は同意・権限を要し、自動的には許可されない。</a:t>
            </a:r>
          </a:p>
          <a:p>
            <a:r>
              <a:t>主張: 選択→残量変更→保存場所確認の操作案に、取り消しと共有時の同意・権限を検討する。</a:t>
            </a:r>
          </a:p>
          <a:p>
            <a:r>
              <a:t>出典: input/BRIEF.md §5</a:t>
            </a:r>
          </a:p>
          <a:p>
            <a:r>
              <a:t>資料の限界: 操作の短さや共有設計の有効性を利用者で評価していない。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入力§6。紙試作→操作可能な試作の計画。課題、観察、操作記録、振り返りを組み合わせる。数値・結果なし。家庭で継続評価する場合はデータ最小化と参加・共有の別の同意が必要。</a:t>
            </a:r>
          </a:p>
          <a:p>
            <a:r>
              <a:t>主張: 三課題を、観察・操作記録・振り返りで評価する計画である。</a:t>
            </a:r>
          </a:p>
          <a:p>
            <a:r>
              <a:t>出典: input/BRIEF.md §6</a:t>
            </a:r>
          </a:p>
          <a:p>
            <a:r>
              <a:t>資料の限界: 観察人数・実測値・評価結果はない。継続評価ではデータ最小化と別の同意が必要。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入力§7。未入力・更新忘れ・家族の利用でずれる。UIだけで食品ロス削減の証明はできない。期限表示は安全保証ではなく、実物と包装表示を確認する。</a:t>
            </a:r>
          </a:p>
          <a:p>
            <a:r>
              <a:t>主張: 未入力・更新忘れ・家族の利用により、画面の在庫と実物はずれうる。</a:t>
            </a:r>
          </a:p>
          <a:p>
            <a:r>
              <a:t>出典: input/BRIEF.md §7</a:t>
            </a:r>
          </a:p>
          <a:p>
            <a:r>
              <a:t>資料の限界: UIだけで食品ロス削減を証明できず、可食判断を自動化しない。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入力§8。未実施研究計画の次の一歩。棚を決める→試作→課題→修正。通知やレシピを最初から増やさず、基本一覧と更新が判断に使えるかを検証する。</a:t>
            </a:r>
          </a:p>
          <a:p>
            <a:r>
              <a:t>主張: まず一つの棚を想定した試作で、一覧と更新が判断に使えるかを確かめる。</a:t>
            </a:r>
          </a:p>
          <a:p>
            <a:r>
              <a:t>出典: input/BRIEF.md §8</a:t>
            </a:r>
          </a:p>
          <a:p>
            <a:r>
              <a:t>資料の限界: 試作も利用者による検証も未実施。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C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D3EF64"/>
                </a:solidFill>
                <a:latin typeface="Noto Sans CJK JP"/>
              </a:defRPr>
            </a:pPr>
            <a:r>
              <a:t>PAPER2PPT  /  RESEARCH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E8F0E9"/>
                </a:solidFill>
                <a:latin typeface="Noto Sans CJK JP"/>
              </a:defRPr>
            </a:pPr>
            <a:r>
              <a:t>出典：BRIEF §1  |  架空・未実施の研究計画  |  実測結果なし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AFCF7"/>
                </a:solidFill>
                <a:latin typeface="Noto Sans CJK JP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640080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5800" b="1">
                <a:solidFill>
                  <a:srgbClr val="FAFCF7"/>
                </a:solidFill>
                <a:latin typeface="Noto Sans CJK JP"/>
              </a:defRPr>
            </a:pPr>
            <a:r>
              <a:t>捨てる前の</a:t>
            </a:r>
          </a:p>
          <a:p>
            <a:pPr>
              <a:spcAft>
                <a:spcPts val="800"/>
              </a:spcAft>
              <a:defRPr sz="5800" b="1">
                <a:solidFill>
                  <a:srgbClr val="FAFCF7"/>
                </a:solidFill>
                <a:latin typeface="Noto Sans CJK JP"/>
              </a:defRPr>
            </a:pPr>
            <a:r>
              <a:t>一目。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703320"/>
            <a:ext cx="60350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D3EF64"/>
                </a:solidFill>
                <a:latin typeface="Noto Sans CJK JP"/>
              </a:defRPr>
            </a:pPr>
            <a:r>
              <a:t>冷蔵庫の奥を、画面の手前へ。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709160"/>
            <a:ext cx="6035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FAFCF7"/>
                </a:solidFill>
                <a:latin typeface="Noto Sans CJK JP"/>
              </a:defRPr>
            </a:pPr>
            <a:r>
              <a:t>食品在庫の可視化UIを考える</a:t>
            </a:r>
          </a:p>
          <a:p>
            <a:pPr>
              <a:spcAft>
                <a:spcPts val="800"/>
              </a:spcAft>
              <a:defRPr sz="2100" b="0">
                <a:solidFill>
                  <a:srgbClr val="FAFCF7"/>
                </a:solidFill>
                <a:latin typeface="Noto Sans CJK JP"/>
              </a:defRPr>
            </a:pPr>
            <a:r>
              <a:t>デザイン研究計画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1280160"/>
            <a:ext cx="3566160" cy="4480560"/>
          </a:xfrm>
          <a:prstGeom prst="rect">
            <a:avLst/>
          </a:prstGeom>
          <a:solidFill>
            <a:srgbClr val="096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26679" y="1536192"/>
            <a:ext cx="3108960" cy="3968496"/>
          </a:xfrm>
          <a:prstGeom prst="rect">
            <a:avLst/>
          </a:prstGeom>
          <a:solidFill>
            <a:srgbClr val="163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0" y="2651760"/>
            <a:ext cx="3017520" cy="36576"/>
          </a:xfrm>
          <a:prstGeom prst="rect">
            <a:avLst/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0" y="3931920"/>
            <a:ext cx="3017520" cy="36576"/>
          </a:xfrm>
          <a:prstGeom prst="rect">
            <a:avLst/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0" y="5212080"/>
            <a:ext cx="3017520" cy="36576"/>
          </a:xfrm>
          <a:prstGeom prst="rect">
            <a:avLst/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2011680"/>
            <a:ext cx="640080" cy="521207"/>
          </a:xfrm>
          <a:prstGeom prst="rect">
            <a:avLst/>
          </a:prstGeom>
          <a:solidFill>
            <a:srgbClr val="D3E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961120" y="1920240"/>
            <a:ext cx="1188720" cy="521207"/>
          </a:xfrm>
          <a:prstGeom prst="rect">
            <a:avLst/>
          </a:prstGeom>
          <a:solidFill>
            <a:srgbClr val="D3E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3246120"/>
            <a:ext cx="1051560" cy="521207"/>
          </a:xfrm>
          <a:prstGeom prst="rect">
            <a:avLst/>
          </a:prstGeom>
          <a:solidFill>
            <a:srgbClr val="D3E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784080" y="4389120"/>
            <a:ext cx="548640" cy="521207"/>
          </a:xfrm>
          <a:prstGeom prst="rect">
            <a:avLst/>
          </a:prstGeom>
          <a:solidFill>
            <a:srgbClr val="D3E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59436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FAFCF7"/>
                </a:solidFill>
                <a:latin typeface="Noto Sans CJK JP"/>
              </a:defRPr>
            </a:pPr>
            <a:r>
              <a:t>何があるか、を見渡す。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9644D"/>
                </a:solidFill>
                <a:latin typeface="Noto Sans CJK JP"/>
              </a:defRPr>
            </a:pPr>
            <a:r>
              <a:t>PAPER2PPT  /  RESEARCH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68096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63C36"/>
                </a:solidFill>
                <a:latin typeface="Noto Sans CJK JP"/>
              </a:defRPr>
            </a:pPr>
            <a:r>
              <a:t>買う前と、使う前に思い出せるか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26D63"/>
                </a:solidFill>
                <a:latin typeface="Noto Sans CJK JP"/>
              </a:defRPr>
            </a:pPr>
            <a:r>
              <a:t>出典：BRIEF §2  |  架空・未実施の研究計画  |  実測結果なし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63C36"/>
                </a:solidFill>
                <a:latin typeface="Noto Sans CJK JP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1168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9644D"/>
                </a:solidFill>
                <a:latin typeface="Noto Sans CJK JP"/>
              </a:defRPr>
            </a:pPr>
            <a:r>
              <a:t>在庫の所在と状態を、どう判断につなぐ？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977639"/>
            <a:ext cx="10607040" cy="45720"/>
          </a:xfrm>
          <a:prstGeom prst="rect">
            <a:avLst/>
          </a:prstGeom>
          <a:solidFill>
            <a:srgbClr val="096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3227832"/>
            <a:ext cx="685800" cy="685800"/>
          </a:xfrm>
          <a:prstGeom prst="ellipse">
            <a:avLst/>
          </a:prstGeom>
          <a:solidFill>
            <a:srgbClr val="096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3364992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AFCF7"/>
                </a:solidFill>
                <a:latin typeface="Noto Sans CJK JP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976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3C36"/>
                </a:solidFill>
                <a:latin typeface="Noto Sans CJK JP"/>
              </a:defRPr>
            </a:pPr>
            <a:r>
              <a:t>買い物前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3776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526D63"/>
                </a:solidFill>
                <a:latin typeface="Noto Sans CJK JP"/>
              </a:defRPr>
            </a:pPr>
            <a:r>
              <a:t>重複を確認</a:t>
            </a:r>
          </a:p>
        </p:txBody>
      </p:sp>
      <p:sp>
        <p:nvSpPr>
          <p:cNvPr id="12" name="Oval 11"/>
          <p:cNvSpPr/>
          <p:nvPr/>
        </p:nvSpPr>
        <p:spPr>
          <a:xfrm>
            <a:off x="4480560" y="3227832"/>
            <a:ext cx="685800" cy="685800"/>
          </a:xfrm>
          <a:prstGeom prst="ellipse">
            <a:avLst/>
          </a:prstGeom>
          <a:solidFill>
            <a:srgbClr val="096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3364992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AFCF7"/>
                </a:solidFill>
                <a:latin typeface="Noto Sans CJK JP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42976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3C36"/>
                </a:solidFill>
                <a:latin typeface="Noto Sans CJK JP"/>
              </a:defRPr>
            </a:pPr>
            <a:r>
              <a:t>調理前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493776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526D63"/>
                </a:solidFill>
                <a:latin typeface="Noto Sans CJK JP"/>
              </a:defRPr>
            </a:pPr>
            <a:r>
              <a:t>使う候補を選ぶ</a:t>
            </a:r>
          </a:p>
        </p:txBody>
      </p:sp>
      <p:sp>
        <p:nvSpPr>
          <p:cNvPr id="16" name="Oval 15"/>
          <p:cNvSpPr/>
          <p:nvPr/>
        </p:nvSpPr>
        <p:spPr>
          <a:xfrm>
            <a:off x="8138160" y="3227832"/>
            <a:ext cx="685800" cy="685800"/>
          </a:xfrm>
          <a:prstGeom prst="ellipse">
            <a:avLst/>
          </a:prstGeom>
          <a:solidFill>
            <a:srgbClr val="096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3364992"/>
            <a:ext cx="502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FAFCF7"/>
                </a:solidFill>
                <a:latin typeface="Noto Sans CJK JP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2976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3C36"/>
                </a:solidFill>
                <a:latin typeface="Noto Sans CJK JP"/>
              </a:defRPr>
            </a:pPr>
            <a:r>
              <a:t>片づけ時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493776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526D63"/>
                </a:solidFill>
                <a:latin typeface="Noto Sans CJK JP"/>
              </a:defRPr>
            </a:pPr>
            <a:r>
              <a:t>残量を更新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6072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09644D"/>
                </a:solidFill>
                <a:latin typeface="Noto Sans CJK JP"/>
              </a:defRPr>
            </a:pPr>
            <a:r>
              <a:t>確認すること：どの場面で、開く価値があるか。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9644D"/>
                </a:solidFill>
                <a:latin typeface="Noto Sans CJK JP"/>
              </a:defRPr>
            </a:pPr>
            <a:r>
              <a:t>PAPER2PPT  /  RESEARCH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68096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63C36"/>
                </a:solidFill>
                <a:latin typeface="Noto Sans CJK JP"/>
              </a:defRPr>
            </a:pPr>
            <a:r>
              <a:t>入力の負担が、見える在庫を支える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26D63"/>
                </a:solidFill>
                <a:latin typeface="Noto Sans CJK JP"/>
              </a:defRPr>
            </a:pPr>
            <a:r>
              <a:t>出典：BRIEF §3  |  架空・未実施の研究計画  |  実測結果なし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63C36"/>
                </a:solidFill>
                <a:latin typeface="Noto Sans CJK JP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46634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09644D"/>
                </a:solidFill>
                <a:latin typeface="Noto Sans CJK JP"/>
              </a:defRPr>
            </a:pPr>
            <a:r>
              <a:t>記録の細かさ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2011680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09644D"/>
                </a:solidFill>
                <a:latin typeface="Noto Sans CJK JP"/>
              </a:defRPr>
            </a:pPr>
            <a:r>
              <a:t>更新の手軽さ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3035808"/>
            <a:ext cx="9601200" cy="73152"/>
          </a:xfrm>
          <a:prstGeom prst="rect">
            <a:avLst/>
          </a:prstGeom>
          <a:solidFill>
            <a:srgbClr val="163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>
            <a:off x="5623560" y="3127248"/>
            <a:ext cx="960120" cy="914400"/>
          </a:xfrm>
          <a:prstGeom prst="triangle">
            <a:avLst/>
          </a:prstGeom>
          <a:solidFill>
            <a:srgbClr val="163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474720"/>
            <a:ext cx="4389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0">
                <a:solidFill>
                  <a:srgbClr val="163C36"/>
                </a:solidFill>
                <a:latin typeface="Noto Sans CJK JP"/>
              </a:defRPr>
            </a:pPr>
            <a:r>
              <a:t>場所の一覧が</a:t>
            </a:r>
          </a:p>
          <a:p>
            <a:pPr>
              <a:spcAft>
                <a:spcPts val="800"/>
              </a:spcAft>
              <a:defRPr sz="2300" b="0">
                <a:solidFill>
                  <a:srgbClr val="163C36"/>
                </a:solidFill>
                <a:latin typeface="Noto Sans CJK JP"/>
              </a:defRPr>
            </a:pPr>
            <a:r>
              <a:t>探す手がかりになるか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3474720"/>
            <a:ext cx="4297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0">
                <a:solidFill>
                  <a:srgbClr val="163C36"/>
                </a:solidFill>
                <a:latin typeface="Noto Sans CJK JP"/>
              </a:defRPr>
            </a:pPr>
            <a:r>
              <a:t>大まかな残量なら</a:t>
            </a:r>
          </a:p>
          <a:p>
            <a:pPr>
              <a:spcAft>
                <a:spcPts val="800"/>
              </a:spcAft>
              <a:defRPr sz="2300" b="0">
                <a:solidFill>
                  <a:srgbClr val="163C36"/>
                </a:solidFill>
                <a:latin typeface="Noto Sans CJK JP"/>
              </a:defRPr>
            </a:pPr>
            <a:r>
              <a:t>更新を続けやすいか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892040"/>
            <a:ext cx="2578608" cy="658368"/>
          </a:xfrm>
          <a:prstGeom prst="rect">
            <a:avLst/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02920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63C36"/>
                </a:solidFill>
                <a:latin typeface="Noto Sans CJK JP"/>
              </a:defRPr>
            </a:pPr>
            <a:r>
              <a:t>多め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93592" y="4892040"/>
            <a:ext cx="2578608" cy="658368"/>
          </a:xfrm>
          <a:prstGeom prst="rect">
            <a:avLst/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76472" y="502920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63C36"/>
                </a:solidFill>
                <a:latin typeface="Noto Sans CJK JP"/>
              </a:defRPr>
            </a:pPr>
            <a:r>
              <a:t>半分ほど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9944" y="4892040"/>
            <a:ext cx="2578608" cy="658368"/>
          </a:xfrm>
          <a:prstGeom prst="rect">
            <a:avLst/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92824" y="502920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63C36"/>
                </a:solidFill>
                <a:latin typeface="Noto Sans CJK JP"/>
              </a:defRPr>
            </a:pPr>
            <a:r>
              <a:t>少なめ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26296" y="4892040"/>
            <a:ext cx="2578608" cy="658368"/>
          </a:xfrm>
          <a:prstGeom prst="rect">
            <a:avLst/>
          </a:prstGeom>
          <a:solidFill>
            <a:srgbClr val="D3E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9176" y="5029200"/>
            <a:ext cx="22402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163C36"/>
                </a:solidFill>
                <a:latin typeface="Noto Sans CJK JP"/>
              </a:defRPr>
            </a:pPr>
            <a:r>
              <a:t>不明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7607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526D63"/>
                </a:solidFill>
                <a:latin typeface="Noto Sans CJK JP"/>
              </a:defRPr>
            </a:pPr>
            <a:r>
              <a:t>設計上のトレードオフ。継続と正確さの両方を評価する。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9644D"/>
                </a:solidFill>
                <a:latin typeface="Noto Sans CJK JP"/>
              </a:defRPr>
            </a:pPr>
            <a:r>
              <a:t>PAPER2PPT  /  RESEARCH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68096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63C36"/>
                </a:solidFill>
                <a:latin typeface="Noto Sans CJK JP"/>
              </a:defRPr>
            </a:pPr>
            <a:r>
              <a:t>場所から探し、状態で選ぶ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26D63"/>
                </a:solidFill>
                <a:latin typeface="Noto Sans CJK JP"/>
              </a:defRPr>
            </a:pPr>
            <a:r>
              <a:t>出典：BRIEF §4  |  架空・未実施の研究計画  |  実測結果なし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63C36"/>
                </a:solidFill>
                <a:latin typeface="Noto Sans CJK JP"/>
              </a:defRPr>
            </a:pPr>
            <a: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856231"/>
            <a:ext cx="5532120" cy="4251960"/>
          </a:xfrm>
          <a:prstGeom prst="rect">
            <a:avLst/>
          </a:prstGeom>
          <a:solidFill>
            <a:srgbClr val="163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2039112"/>
            <a:ext cx="5166360" cy="3886200"/>
          </a:xfrm>
          <a:prstGeom prst="rect">
            <a:avLst/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28600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9644D"/>
                </a:solidFill>
                <a:latin typeface="Noto Sans CJK JP"/>
              </a:defRPr>
            </a:pPr>
            <a:r>
              <a:t>冷蔵   /   冷凍   /   常温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2852928"/>
            <a:ext cx="4690872" cy="822960"/>
          </a:xfrm>
          <a:prstGeom prst="rect">
            <a:avLst/>
          </a:prstGeom>
          <a:solidFill>
            <a:srgbClr val="FA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53312" y="2926080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63C36"/>
                </a:solidFill>
                <a:latin typeface="Noto Sans CJK JP"/>
              </a:defRPr>
            </a:pPr>
            <a:r>
              <a:t>にんじん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980944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09644D"/>
                </a:solidFill>
                <a:latin typeface="Noto Sans CJK JP"/>
              </a:defRPr>
            </a:pPr>
            <a:r>
              <a:t>少なめ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3310128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26D63"/>
                </a:solidFill>
                <a:latin typeface="Noto Sans CJK JP"/>
              </a:defRPr>
            </a:pPr>
            <a:r>
              <a:t>更新：前回の買い物時 / 期限：未登録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3803904"/>
            <a:ext cx="4690872" cy="822960"/>
          </a:xfrm>
          <a:prstGeom prst="rect">
            <a:avLst/>
          </a:prstGeom>
          <a:solidFill>
            <a:srgbClr val="FA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53312" y="3877056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63C36"/>
                </a:solidFill>
                <a:latin typeface="Noto Sans CJK JP"/>
              </a:defRPr>
            </a:pPr>
            <a:r>
              <a:t>豆腐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931920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09644D"/>
                </a:solidFill>
                <a:latin typeface="Noto Sans CJK JP"/>
              </a:defRPr>
            </a:pPr>
            <a:r>
              <a:t>半分ほど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4261104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26D63"/>
                </a:solidFill>
                <a:latin typeface="Noto Sans CJK JP"/>
              </a:defRPr>
            </a:pPr>
            <a:r>
              <a:t>更新：前回の買い物時 / 期限：未登録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88720" y="4754880"/>
            <a:ext cx="4690872" cy="822960"/>
          </a:xfrm>
          <a:prstGeom prst="rect">
            <a:avLst/>
          </a:prstGeom>
          <a:solidFill>
            <a:srgbClr val="FA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53312" y="4828032"/>
            <a:ext cx="2514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63C36"/>
                </a:solidFill>
                <a:latin typeface="Noto Sans CJK JP"/>
              </a:defRPr>
            </a:pPr>
            <a:r>
              <a:t>冷凍ごはん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4882896"/>
            <a:ext cx="1691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09644D"/>
                </a:solidFill>
                <a:latin typeface="Noto Sans CJK JP"/>
              </a:defRPr>
            </a:pPr>
            <a:r>
              <a:t>不明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2" y="521208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00" b="0">
                <a:solidFill>
                  <a:srgbClr val="526D63"/>
                </a:solidFill>
                <a:latin typeface="Noto Sans CJK JP"/>
              </a:defRPr>
            </a:pPr>
            <a:r>
              <a:t>更新：前回の買い物時 / 期限：未登録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194560"/>
            <a:ext cx="45720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09644D"/>
                </a:solidFill>
                <a:latin typeface="Noto Sans CJK JP"/>
              </a:defRPr>
            </a:pPr>
            <a:r>
              <a:t>不明な状態を、</a:t>
            </a:r>
          </a:p>
          <a:p>
            <a:pPr>
              <a:spcAft>
                <a:spcPts val="800"/>
              </a:spcAft>
              <a:defRPr sz="3200" b="1">
                <a:solidFill>
                  <a:srgbClr val="09644D"/>
                </a:solidFill>
                <a:latin typeface="Noto Sans CJK JP"/>
              </a:defRPr>
            </a:pPr>
            <a:r>
              <a:t>隠さない。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703320"/>
            <a:ext cx="438912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0">
                <a:solidFill>
                  <a:srgbClr val="163C36"/>
                </a:solidFill>
                <a:latin typeface="Noto Sans CJK JP"/>
              </a:defRPr>
            </a:pPr>
            <a:r>
              <a:t>残量と期限は別の情報。</a:t>
            </a:r>
          </a:p>
          <a:p>
            <a:pPr>
              <a:spcAft>
                <a:spcPts val="800"/>
              </a:spcAft>
              <a:defRPr sz="2300" b="0">
                <a:solidFill>
                  <a:srgbClr val="163C36"/>
                </a:solidFill>
                <a:latin typeface="Noto Sans CJK JP"/>
              </a:defRPr>
            </a:pPr>
            <a:r>
              <a:t>更新時点を示し、</a:t>
            </a:r>
          </a:p>
          <a:p>
            <a:pPr>
              <a:spcAft>
                <a:spcPts val="800"/>
              </a:spcAft>
              <a:defRPr sz="2300" b="0">
                <a:solidFill>
                  <a:srgbClr val="163C36"/>
                </a:solidFill>
                <a:latin typeface="Noto Sans CJK JP"/>
              </a:defRPr>
            </a:pPr>
            <a:r>
              <a:t>包装の表示と区別する。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5669280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F5A34"/>
                </a:solidFill>
                <a:latin typeface="Noto Sans CJK JP"/>
              </a:defRPr>
            </a:pPr>
            <a:r>
              <a:t>説明用の架空表示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9644D"/>
                </a:solidFill>
                <a:latin typeface="Noto Sans CJK JP"/>
              </a:defRPr>
            </a:pPr>
            <a:r>
              <a:t>PAPER2PPT  /  RESEARCH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68096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63C36"/>
                </a:solidFill>
                <a:latin typeface="Noto Sans CJK JP"/>
              </a:defRPr>
            </a:pPr>
            <a:r>
              <a:t>「使った」を、短い操作にする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26D63"/>
                </a:solidFill>
                <a:latin typeface="Noto Sans CJK JP"/>
              </a:defRPr>
            </a:pPr>
            <a:r>
              <a:t>出典：BRIEF §5  |  架空・未実施の研究計画  |  実測結果なし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63C36"/>
                </a:solidFill>
                <a:latin typeface="Noto Sans CJK JP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2996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9644D"/>
                </a:solidFill>
                <a:latin typeface="Noto Sans CJK JP"/>
              </a:defRPr>
            </a:pPr>
            <a:r>
              <a:t>01  選択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70048"/>
            <a:ext cx="3154680" cy="2651760"/>
          </a:xfrm>
          <a:prstGeom prst="rect">
            <a:avLst/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86968" y="2907792"/>
            <a:ext cx="2834640" cy="539496"/>
          </a:xfrm>
          <a:prstGeom prst="rect">
            <a:avLst/>
          </a:prstGeom>
          <a:solidFill>
            <a:srgbClr val="D3E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953512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63C36"/>
                </a:solidFill>
                <a:latin typeface="Noto Sans CJK JP"/>
              </a:defRPr>
            </a:pPr>
            <a:r>
              <a:t>にんじん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93591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3C36"/>
                </a:solidFill>
                <a:latin typeface="Noto Sans CJK JP"/>
              </a:defRPr>
            </a:pPr>
            <a:r>
              <a:t>豆腐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233672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3C36"/>
                </a:solidFill>
                <a:latin typeface="Noto Sans CJK JP"/>
              </a:defRPr>
            </a:pPr>
            <a:r>
              <a:t>冷凍ごはん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02996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9644D"/>
                </a:solidFill>
                <a:latin typeface="Noto Sans CJK JP"/>
              </a:defRPr>
            </a:pPr>
            <a:r>
              <a:t>02  残量変更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26280" y="2670048"/>
            <a:ext cx="3154680" cy="2651760"/>
          </a:xfrm>
          <a:prstGeom prst="rect">
            <a:avLst/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2953512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3C36"/>
                </a:solidFill>
                <a:latin typeface="Noto Sans CJK JP"/>
              </a:defRPr>
            </a:pPr>
            <a:r>
              <a:t>多め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81728" y="3547872"/>
            <a:ext cx="2834640" cy="539496"/>
          </a:xfrm>
          <a:prstGeom prst="rect">
            <a:avLst/>
          </a:prstGeom>
          <a:solidFill>
            <a:srgbClr val="D3E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00600" y="3593591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63C36"/>
                </a:solidFill>
                <a:latin typeface="Noto Sans CJK JP"/>
              </a:defRPr>
            </a:pPr>
            <a:r>
              <a:t>半分ほど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4233672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3C36"/>
                </a:solidFill>
                <a:latin typeface="Noto Sans CJK JP"/>
              </a:defRPr>
            </a:pPr>
            <a:r>
              <a:t>少なめ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02996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9644D"/>
                </a:solidFill>
                <a:latin typeface="Noto Sans CJK JP"/>
              </a:defRPr>
            </a:pPr>
            <a:r>
              <a:t>03  確認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2670048"/>
            <a:ext cx="3154680" cy="2651760"/>
          </a:xfrm>
          <a:prstGeom prst="rect">
            <a:avLst/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0" y="2953512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3C36"/>
                </a:solidFill>
                <a:latin typeface="Noto Sans CJK JP"/>
              </a:defRPr>
            </a:pPr>
            <a:r>
              <a:t>保存場所：冷蔵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3593591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3C36"/>
                </a:solidFill>
                <a:latin typeface="Noto Sans CJK JP"/>
              </a:defRPr>
            </a:pPr>
            <a:r>
              <a:t>更新する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76488" y="4187952"/>
            <a:ext cx="2834640" cy="539496"/>
          </a:xfrm>
          <a:prstGeom prst="rect">
            <a:avLst/>
          </a:prstGeom>
          <a:solidFill>
            <a:srgbClr val="096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0" y="4233672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FAFCF7"/>
                </a:solidFill>
                <a:latin typeface="Noto Sans CJK JP"/>
              </a:defRPr>
            </a:pPr>
            <a:r>
              <a:t>取り消す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6984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09644D"/>
                </a:solidFill>
                <a:latin typeface="Noto Sans CJK JP"/>
              </a:defRPr>
            </a:pPr>
            <a:r>
              <a:t>共有する前に、誰に何を見せるかを決める。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9644D"/>
                </a:solidFill>
                <a:latin typeface="Noto Sans CJK JP"/>
              </a:defRPr>
            </a:pPr>
            <a:r>
              <a:t>PAPER2PPT  /  RESEARCH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68096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63C36"/>
                </a:solidFill>
                <a:latin typeface="Noto Sans CJK JP"/>
              </a:defRPr>
            </a:pPr>
            <a:r>
              <a:t>見つけやすさと、更新しやすさを評価する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26D63"/>
                </a:solidFill>
                <a:latin typeface="Noto Sans CJK JP"/>
              </a:defRPr>
            </a:pPr>
            <a:r>
              <a:t>出典：BRIEF §6  |  架空・未実施の研究計画  |  実測結果なし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63C36"/>
                </a:solidFill>
                <a:latin typeface="Noto Sans CJK JP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3852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09644D"/>
                </a:solidFill>
                <a:latin typeface="Noto Sans CJK JP"/>
              </a:defRPr>
            </a:pPr>
            <a:r>
              <a:t>紙の試作 → 操作可能な試作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97480"/>
            <a:ext cx="3520440" cy="566928"/>
          </a:xfrm>
          <a:prstGeom prst="rect">
            <a:avLst/>
          </a:prstGeom>
          <a:solidFill>
            <a:srgbClr val="096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798064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AFCF7"/>
                </a:solidFill>
                <a:latin typeface="Noto Sans CJK JP"/>
              </a:defRPr>
            </a:pPr>
            <a:r>
              <a:t>課題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2697480"/>
            <a:ext cx="3154680" cy="566928"/>
          </a:xfrm>
          <a:prstGeom prst="rect">
            <a:avLst/>
          </a:prstGeom>
          <a:solidFill>
            <a:srgbClr val="096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26864" y="2798064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AFCF7"/>
                </a:solidFill>
                <a:latin typeface="Noto Sans CJK JP"/>
              </a:defRPr>
            </a:pPr>
            <a:r>
              <a:t>観察する点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2697480"/>
            <a:ext cx="3611880" cy="566928"/>
          </a:xfrm>
          <a:prstGeom prst="rect">
            <a:avLst/>
          </a:prstGeom>
          <a:solidFill>
            <a:srgbClr val="096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18704" y="2798064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AFCF7"/>
                </a:solidFill>
                <a:latin typeface="Noto Sans CJK JP"/>
              </a:defRPr>
            </a:pPr>
            <a:r>
              <a:t>聞くこと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337560"/>
            <a:ext cx="3520440" cy="667512"/>
          </a:xfrm>
          <a:prstGeom prst="rect">
            <a:avLst/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350215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3C36"/>
                </a:solidFill>
                <a:latin typeface="Noto Sans CJK JP"/>
              </a:defRPr>
            </a:pPr>
            <a:r>
              <a:t>食材を見つける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3337560"/>
            <a:ext cx="3154680" cy="667512"/>
          </a:xfrm>
          <a:prstGeom prst="rect">
            <a:avLst/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6864" y="3502152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3C36"/>
                </a:solidFill>
                <a:latin typeface="Noto Sans CJK JP"/>
              </a:defRPr>
            </a:pPr>
            <a:r>
              <a:t>見落とし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3337560"/>
            <a:ext cx="3611880" cy="667512"/>
          </a:xfrm>
          <a:prstGeom prst="rect">
            <a:avLst/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18704" y="3502152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3C36"/>
                </a:solidFill>
                <a:latin typeface="Noto Sans CJK JP"/>
              </a:defRPr>
            </a:pPr>
            <a:r>
              <a:t>探した手がかり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069080"/>
            <a:ext cx="3520440" cy="667512"/>
          </a:xfrm>
          <a:prstGeom prst="rect">
            <a:avLst/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423367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3C36"/>
                </a:solidFill>
                <a:latin typeface="Noto Sans CJK JP"/>
              </a:defRPr>
            </a:pPr>
            <a:r>
              <a:t>使う候補を選ぶ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4069080"/>
            <a:ext cx="3154680" cy="667512"/>
          </a:xfrm>
          <a:prstGeom prst="rect">
            <a:avLst/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26864" y="4233672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3C36"/>
                </a:solidFill>
                <a:latin typeface="Noto Sans CJK JP"/>
              </a:defRPr>
            </a:pPr>
            <a:r>
              <a:t>選択理由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0" y="4069080"/>
            <a:ext cx="3611880" cy="667512"/>
          </a:xfrm>
          <a:prstGeom prst="rect">
            <a:avLst/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18704" y="4233672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3C36"/>
                </a:solidFill>
                <a:latin typeface="Noto Sans CJK JP"/>
              </a:defRPr>
            </a:pPr>
            <a:r>
              <a:t>不明情報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800600"/>
            <a:ext cx="3520440" cy="667512"/>
          </a:xfrm>
          <a:prstGeom prst="rect">
            <a:avLst/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496519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3C36"/>
                </a:solidFill>
                <a:latin typeface="Noto Sans CJK JP"/>
              </a:defRPr>
            </a:pPr>
            <a:r>
              <a:t>残量を更新する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80560" y="4800600"/>
            <a:ext cx="3154680" cy="667512"/>
          </a:xfrm>
          <a:prstGeom prst="rect">
            <a:avLst/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26864" y="4965192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3C36"/>
                </a:solidFill>
                <a:latin typeface="Noto Sans CJK JP"/>
              </a:defRPr>
            </a:pPr>
            <a:r>
              <a:t>操作の迷い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0" y="4800600"/>
            <a:ext cx="3611880" cy="667512"/>
          </a:xfrm>
          <a:prstGeom prst="rect">
            <a:avLst/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18704" y="4965192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63C36"/>
                </a:solidFill>
                <a:latin typeface="Noto Sans CJK JP"/>
              </a:defRPr>
            </a:pPr>
            <a:r>
              <a:t>負担感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806440"/>
            <a:ext cx="106984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26D63"/>
                </a:solidFill>
                <a:latin typeface="Noto Sans CJK JP"/>
              </a:defRPr>
            </a:pPr>
            <a:r>
              <a:t>観察・操作記録・振り返りを組み合わせる。評価結果はまだない。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C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D3EF64"/>
                </a:solidFill>
                <a:latin typeface="Noto Sans CJK JP"/>
              </a:defRPr>
            </a:pPr>
            <a:r>
              <a:t>PAPER2PPT  /  RESEARCH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68096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FAFCF7"/>
                </a:solidFill>
                <a:latin typeface="Noto Sans CJK JP"/>
              </a:defRPr>
            </a:pPr>
            <a:r>
              <a:t>画面の在庫と、実物はずれる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E8F0E9"/>
                </a:solidFill>
                <a:latin typeface="Noto Sans CJK JP"/>
              </a:defRPr>
            </a:pPr>
            <a:r>
              <a:t>出典：BRIEF §7  |  架空・未実施の研究計画  |  実測結果なし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AFCF7"/>
                </a:solidFill>
                <a:latin typeface="Noto Sans CJK JP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D3EF64"/>
                </a:solidFill>
                <a:latin typeface="Noto Sans CJK JP"/>
              </a:defRPr>
            </a:pPr>
            <a:r>
              <a:t>画面の一覧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05740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D3EF64"/>
                </a:solidFill>
                <a:latin typeface="Noto Sans CJK JP"/>
              </a:defRPr>
            </a:pPr>
            <a:r>
              <a:t>実物の棚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880360"/>
            <a:ext cx="3840480" cy="411480"/>
          </a:xfrm>
          <a:prstGeom prst="rect">
            <a:avLst/>
          </a:prstGeom>
          <a:solidFill>
            <a:srgbClr val="096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502152"/>
            <a:ext cx="3840480" cy="411480"/>
          </a:xfrm>
          <a:prstGeom prst="rect">
            <a:avLst/>
          </a:prstGeom>
          <a:solidFill>
            <a:srgbClr val="096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4123944"/>
            <a:ext cx="3840480" cy="411480"/>
          </a:xfrm>
          <a:prstGeom prst="rect">
            <a:avLst/>
          </a:prstGeom>
          <a:solidFill>
            <a:srgbClr val="096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60920" y="3108960"/>
            <a:ext cx="4023360" cy="54864"/>
          </a:xfrm>
          <a:prstGeom prst="rect">
            <a:avLst/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60920" y="3977639"/>
            <a:ext cx="4023360" cy="54864"/>
          </a:xfrm>
          <a:prstGeom prst="rect">
            <a:avLst/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60920" y="4846320"/>
            <a:ext cx="4023360" cy="54864"/>
          </a:xfrm>
          <a:prstGeom prst="rect">
            <a:avLst/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2697480"/>
            <a:ext cx="1005840" cy="411480"/>
          </a:xfrm>
          <a:prstGeom prst="rect">
            <a:avLst/>
          </a:prstGeom>
          <a:solidFill>
            <a:srgbClr val="D3E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509760" y="3474720"/>
            <a:ext cx="1005840" cy="411480"/>
          </a:xfrm>
          <a:prstGeom prst="rect">
            <a:avLst/>
          </a:prstGeom>
          <a:solidFill>
            <a:srgbClr val="D3E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0" y="4389120"/>
            <a:ext cx="1005840" cy="411480"/>
          </a:xfrm>
          <a:prstGeom prst="rect">
            <a:avLst/>
          </a:prstGeom>
          <a:solidFill>
            <a:srgbClr val="D3E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00600" y="352044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FAFCF7"/>
                </a:solidFill>
                <a:latin typeface="Noto Sans CJK JP"/>
              </a:defRPr>
            </a:pPr>
            <a:r>
              <a:t>更新の</a:t>
            </a:r>
          </a:p>
          <a:p>
            <a:pPr>
              <a:spcAft>
                <a:spcPts val="800"/>
              </a:spcAft>
              <a:defRPr sz="2300" b="1">
                <a:solidFill>
                  <a:srgbClr val="FAFCF7"/>
                </a:solidFill>
                <a:latin typeface="Noto Sans CJK JP"/>
              </a:defRPr>
            </a:pPr>
            <a:r>
              <a:t>ずれ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34924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D3EF64"/>
                </a:solidFill>
                <a:latin typeface="Noto Sans CJK JP"/>
              </a:defRPr>
            </a:pPr>
            <a:r>
              <a:t>可食判断を、自動化しない。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961888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FAFCF7"/>
                </a:solidFill>
                <a:latin typeface="Noto Sans CJK JP"/>
              </a:defRPr>
            </a:pPr>
            <a:r>
              <a:t>未入力・更新忘れ・共有による変化。実物と包装表示の確認が必要。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468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9644D"/>
                </a:solidFill>
                <a:latin typeface="Noto Sans CJK JP"/>
              </a:defRPr>
            </a:pPr>
            <a:r>
              <a:t>PAPER2PPT  /  RESEARCH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68096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63C36"/>
                </a:solidFill>
                <a:latin typeface="Noto Sans CJK JP"/>
              </a:defRPr>
            </a:pPr>
            <a:r>
              <a:t>一つの棚から、始める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526D63"/>
                </a:solidFill>
                <a:latin typeface="Noto Sans CJK JP"/>
              </a:defRPr>
            </a:pPr>
            <a:r>
              <a:t>出典：BRIEF §8  |  架空・未実施の研究計画  |  実測結果なし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63C36"/>
                </a:solidFill>
                <a:latin typeface="Noto Sans CJK JP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09644D"/>
                </a:solidFill>
                <a:latin typeface="Noto Sans CJK JP"/>
              </a:defRPr>
            </a:pPr>
            <a:r>
              <a:t>「見える」を、判断に「使える」へ。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114800"/>
            <a:ext cx="2514600" cy="118872"/>
          </a:xfrm>
          <a:prstGeom prst="rect">
            <a:avLst/>
          </a:prstGeom>
          <a:solidFill>
            <a:srgbClr val="096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38912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63C36"/>
                </a:solidFill>
                <a:latin typeface="Noto Sans CJK JP"/>
              </a:defRPr>
            </a:pPr>
            <a:r>
              <a:t>棚を決める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02920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526D63"/>
                </a:solidFill>
                <a:latin typeface="Noto Sans CJK JP"/>
              </a:defRPr>
            </a:pPr>
            <a:r>
              <a:t>範囲を小さく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84448" y="3813048"/>
            <a:ext cx="2514600" cy="118872"/>
          </a:xfrm>
          <a:prstGeom prst="rect">
            <a:avLst/>
          </a:prstGeom>
          <a:solidFill>
            <a:srgbClr val="096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84448" y="4087368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63C36"/>
                </a:solidFill>
                <a:latin typeface="Noto Sans CJK JP"/>
              </a:defRPr>
            </a:pPr>
            <a:r>
              <a:t>試作する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4727448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526D63"/>
                </a:solidFill>
                <a:latin typeface="Noto Sans CJK JP"/>
              </a:defRPr>
            </a:pPr>
            <a:r>
              <a:t>優先順位を形に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91655" y="3511296"/>
            <a:ext cx="2514600" cy="118872"/>
          </a:xfrm>
          <a:prstGeom prst="rect">
            <a:avLst/>
          </a:prstGeom>
          <a:solidFill>
            <a:srgbClr val="096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1655" y="3785615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63C36"/>
                </a:solidFill>
                <a:latin typeface="Noto Sans CJK JP"/>
              </a:defRPr>
            </a:pPr>
            <a:r>
              <a:t>課題を試す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655" y="4425696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526D63"/>
                </a:solidFill>
                <a:latin typeface="Noto Sans CJK JP"/>
              </a:defRPr>
            </a:pPr>
            <a:r>
              <a:t>迷いを観察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98863" y="3209544"/>
            <a:ext cx="2514600" cy="118872"/>
          </a:xfrm>
          <a:prstGeom prst="rect">
            <a:avLst/>
          </a:prstGeom>
          <a:solidFill>
            <a:srgbClr val="0964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98863" y="3483863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163C36"/>
                </a:solidFill>
                <a:latin typeface="Noto Sans CJK JP"/>
              </a:defRPr>
            </a:pPr>
            <a:r>
              <a:t>表示を直す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8863" y="4123944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526D63"/>
                </a:solidFill>
                <a:latin typeface="Noto Sans CJK JP"/>
              </a:defRPr>
            </a:pPr>
            <a:r>
              <a:t>必要なら減らす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94360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CF5A34"/>
                </a:solidFill>
                <a:latin typeface="Noto Sans CJK JP"/>
              </a:defRPr>
            </a:pPr>
            <a:r>
              <a:t>未実施の研究計画  /  最初の試作で確かめる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