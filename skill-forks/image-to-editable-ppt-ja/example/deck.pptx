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ページでは、エディターでの保存、Gitへの記録、リモートへの共有を区別します。保存だけでは履歴に残らず、コミットだけでは共有先へ送られません。この作例は元画像から文字とカードを編集可能に再構成し、アイコンは画像として保持しています。この案内ノートはカタログ制作時に新規追加したもので、元画像から抽出したもの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変更は作業ツリー、ステージ、ローカル履歴の順に進みます。git addで次に記録する内容を選び、git commitでその内容を手元の履歴に残します。add後の追加編集は自動でステージへ入らないため、必要なら再度addして確認します。この案内ノートはカタログ制作時に新規追加したものです。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411214" y="5553450"/>
            <a:ext cx="11369267" cy="925575"/>
          </a:xfrm>
          <a:prstGeom prst="roundRect">
            <a:avLst>
              <a:gd name="adj" fmla="val 25197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80870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1161877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572657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5053665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464445" y="2375885"/>
            <a:ext cx="3068244" cy="2886045"/>
          </a:xfrm>
          <a:prstGeom prst="roundRect">
            <a:avLst>
              <a:gd name="adj" fmla="val 7576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45452" y="4095851"/>
            <a:ext cx="2091654" cy="575751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Polygon 9"/>
          <p:cNvSpPr/>
          <p:nvPr/>
        </p:nvSpPr>
        <p:spPr>
          <a:xfrm>
            <a:off x="3894874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Polygon 10"/>
          <p:cNvSpPr/>
          <p:nvPr/>
        </p:nvSpPr>
        <p:spPr>
          <a:xfrm>
            <a:off x="7786662" y="3243156"/>
            <a:ext cx="561175" cy="699647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400"/>
                </a:moveTo>
                <a:lnTo>
                  <a:pt x="10660" y="5400"/>
                </a:lnTo>
                <a:lnTo>
                  <a:pt x="10660" y="0"/>
                </a:lnTo>
                <a:lnTo>
                  <a:pt x="21600" y="10800"/>
                </a:lnTo>
                <a:lnTo>
                  <a:pt x="10660" y="21600"/>
                </a:lnTo>
                <a:lnTo>
                  <a:pt x="1066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1" name="document"/>
          <p:cNvPicPr/>
          <p:nvPr/>
        </p:nvPicPr>
        <p:blipFill>
          <a:blip r:embed="rId2"/>
          <a:stretch>
            <a:fillRect/>
          </a:stretch>
        </p:blipFill>
        <p:spPr>
          <a:xfrm>
            <a:off x="1489837" y="2492493"/>
            <a:ext cx="1464886" cy="1588782"/>
          </a:xfrm>
          <a:prstGeom prst="rect">
            <a:avLst/>
          </a:prstGeom>
        </p:spPr>
      </p:pic>
      <p:pic>
        <p:nvPicPr>
          <p:cNvPr id="12" name="history"/>
          <p:cNvPicPr/>
          <p:nvPr/>
        </p:nvPicPr>
        <p:blipFill>
          <a:blip r:embed="rId3"/>
          <a:stretch>
            <a:fillRect/>
          </a:stretch>
        </p:blipFill>
        <p:spPr>
          <a:xfrm>
            <a:off x="5257729" y="2543509"/>
            <a:ext cx="1836574" cy="1508614"/>
          </a:xfrm>
          <a:prstGeom prst="rect">
            <a:avLst/>
          </a:prstGeom>
        </p:spPr>
      </p:pic>
      <p:pic>
        <p:nvPicPr>
          <p:cNvPr id="13" name="upload"/>
          <p:cNvPicPr/>
          <p:nvPr/>
        </p:nvPicPr>
        <p:blipFill>
          <a:blip r:embed="rId4"/>
          <a:stretch>
            <a:fillRect/>
          </a:stretch>
        </p:blipFill>
        <p:spPr>
          <a:xfrm>
            <a:off x="8952740" y="2521645"/>
            <a:ext cx="2062502" cy="1537766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64262" y="393552"/>
            <a:ext cx="9182869" cy="115150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09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Gitの保存・記録・共有</a:t>
            </a:r>
            <a:endParaRPr lang="zh-CN" sz="7090"/>
          </a:p>
        </p:txBody>
      </p:sp>
      <p:sp>
        <p:nvSpPr>
          <p:cNvPr id="15" name="TextBox 15"/>
          <p:cNvSpPr txBox="1"/>
          <p:nvPr/>
        </p:nvSpPr>
        <p:spPr>
          <a:xfrm>
            <a:off x="637142" y="1545054"/>
            <a:ext cx="6012593" cy="641343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6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はじめてのGit・3分入門</a:t>
            </a:r>
            <a:endParaRPr lang="zh-CN" sz="3600"/>
          </a:p>
        </p:txBody>
      </p:sp>
      <p:sp>
        <p:nvSpPr>
          <p:cNvPr id="16" name="TextBox 16"/>
          <p:cNvSpPr txBox="1"/>
          <p:nvPr/>
        </p:nvSpPr>
        <p:spPr>
          <a:xfrm>
            <a:off x="1161877" y="5677345"/>
            <a:ext cx="9926244" cy="69964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6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保存しただけでは、履歴にも共有先にも届かない</a:t>
            </a:r>
            <a:endParaRPr lang="zh-CN" sz="3600"/>
          </a:p>
        </p:txBody>
      </p:sp>
      <p:sp>
        <p:nvSpPr>
          <p:cNvPr id="17" name="TextBox 17"/>
          <p:cNvSpPr txBox="1"/>
          <p:nvPr/>
        </p:nvSpPr>
        <p:spPr>
          <a:xfrm>
            <a:off x="1161877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保存</a:t>
            </a:r>
            <a:endParaRPr lang="zh-CN" sz="3200"/>
          </a:p>
        </p:txBody>
      </p:sp>
      <p:sp>
        <p:nvSpPr>
          <p:cNvPr id="18" name="TextBox 18"/>
          <p:cNvSpPr txBox="1"/>
          <p:nvPr/>
        </p:nvSpPr>
        <p:spPr>
          <a:xfrm>
            <a:off x="855782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ファイルに反映</a:t>
            </a:r>
            <a:endParaRPr lang="zh-CN" sz="2300"/>
          </a:p>
        </p:txBody>
      </p:sp>
      <p:sp>
        <p:nvSpPr>
          <p:cNvPr id="19" name="TextBox 19"/>
          <p:cNvSpPr txBox="1"/>
          <p:nvPr/>
        </p:nvSpPr>
        <p:spPr>
          <a:xfrm>
            <a:off x="5053665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記録</a:t>
            </a:r>
            <a:endParaRPr lang="zh-CN" sz="3200"/>
          </a:p>
        </p:txBody>
      </p:sp>
      <p:sp>
        <p:nvSpPr>
          <p:cNvPr id="20" name="TextBox 20"/>
          <p:cNvSpPr txBox="1"/>
          <p:nvPr/>
        </p:nvSpPr>
        <p:spPr>
          <a:xfrm>
            <a:off x="4747569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手元の履歴に残す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8945452" y="4095851"/>
            <a:ext cx="2091654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3200" b="1">
                <a:solidFill>
                  <a:srgbClr val="FFFFFF"/>
                </a:solidFill>
                <a:latin typeface="BIZ UDPGothic"/>
                <a:ea typeface="BIZ UDPGothic"/>
                <a:cs typeface="BIZ UDPGothic"/>
              </a:rPr>
              <a:t>共有</a:t>
            </a:r>
            <a:endParaRPr lang="zh-CN" sz="3200"/>
          </a:p>
        </p:txBody>
      </p:sp>
      <p:sp>
        <p:nvSpPr>
          <p:cNvPr id="22" name="TextBox 22"/>
          <p:cNvSpPr txBox="1"/>
          <p:nvPr/>
        </p:nvSpPr>
        <p:spPr>
          <a:xfrm>
            <a:off x="8639357" y="4737194"/>
            <a:ext cx="2718421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BIZ UDPGothic"/>
                <a:ea typeface="BIZ UDPGothic"/>
                <a:cs typeface="BIZ UDPGothic"/>
              </a:rPr>
              <a:t>リモートへ送る</a:t>
            </a:r>
            <a:endParaRPr lang="zh-CN" sz="23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rect 2"/>
          <p:cNvSpPr/>
          <p:nvPr/>
        </p:nvSpPr>
        <p:spPr>
          <a:xfrm>
            <a:off x="396638" y="1690814"/>
            <a:ext cx="11412995" cy="3680436"/>
          </a:xfrm>
          <a:prstGeom prst="roundRect">
            <a:avLst>
              <a:gd name="adj" fmla="val 5941"/>
            </a:avLst>
          </a:prstGeom>
          <a:solidFill>
            <a:srgbClr val="F5FBFD"/>
          </a:solidFill>
          <a:ln w="57150">
            <a:solidFill>
              <a:srgbClr val="B1DEF5"/>
            </a:solidFill>
          </a:ln>
        </p:spPr>
        <p:txBody>
          <a:bodyPr/>
          <a:lstStyle/>
          <a:p/>
        </p:txBody>
      </p:sp>
      <p:sp>
        <p:nvSpPr>
          <p:cNvPr id="3" name="Roundrect 3"/>
          <p:cNvSpPr/>
          <p:nvPr/>
        </p:nvSpPr>
        <p:spPr>
          <a:xfrm>
            <a:off x="622566" y="2397749"/>
            <a:ext cx="2951637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Roundrect 4"/>
          <p:cNvSpPr/>
          <p:nvPr/>
        </p:nvSpPr>
        <p:spPr>
          <a:xfrm>
            <a:off x="877646" y="4037547"/>
            <a:ext cx="2485205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oundrect 5"/>
          <p:cNvSpPr/>
          <p:nvPr/>
        </p:nvSpPr>
        <p:spPr>
          <a:xfrm>
            <a:off x="4718417" y="2397749"/>
            <a:ext cx="2754861" cy="2776725"/>
          </a:xfrm>
          <a:prstGeom prst="roundRect">
            <a:avLst>
              <a:gd name="adj" fmla="val 767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Roundrect 6"/>
          <p:cNvSpPr/>
          <p:nvPr/>
        </p:nvSpPr>
        <p:spPr>
          <a:xfrm>
            <a:off x="4995361" y="4037547"/>
            <a:ext cx="2200973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Roundrect 7"/>
          <p:cNvSpPr/>
          <p:nvPr/>
        </p:nvSpPr>
        <p:spPr>
          <a:xfrm>
            <a:off x="8712237" y="2397749"/>
            <a:ext cx="2864181" cy="2776725"/>
          </a:xfrm>
          <a:prstGeom prst="roundRect">
            <a:avLst>
              <a:gd name="adj" fmla="val 7612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8938164" y="4037547"/>
            <a:ext cx="2426901" cy="553887"/>
          </a:xfrm>
          <a:prstGeom prst="roundRect">
            <a:avLst>
              <a:gd name="adj" fmla="val 50000"/>
            </a:avLst>
          </a:pr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03926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Roundrect 10"/>
          <p:cNvSpPr/>
          <p:nvPr/>
        </p:nvSpPr>
        <p:spPr>
          <a:xfrm>
            <a:off x="6168728" y="5560738"/>
            <a:ext cx="5633617" cy="903711"/>
          </a:xfrm>
          <a:prstGeom prst="roundRect">
            <a:avLst>
              <a:gd name="adj" fmla="val 22581"/>
            </a:avLst>
          </a:prstGeom>
          <a:solidFill>
            <a:srgbClr val="E7F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Polygon 11"/>
          <p:cNvSpPr/>
          <p:nvPr/>
        </p:nvSpPr>
        <p:spPr>
          <a:xfrm>
            <a:off x="3836570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sp>
        <p:nvSpPr>
          <p:cNvPr id="12" name="Polygon 12"/>
          <p:cNvSpPr/>
          <p:nvPr/>
        </p:nvSpPr>
        <p:spPr>
          <a:xfrm>
            <a:off x="7786662" y="3228580"/>
            <a:ext cx="648631" cy="655919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5520"/>
                </a:moveTo>
                <a:lnTo>
                  <a:pt x="9951" y="5520"/>
                </a:lnTo>
                <a:lnTo>
                  <a:pt x="9951" y="0"/>
                </a:lnTo>
                <a:lnTo>
                  <a:pt x="21600" y="10800"/>
                </a:lnTo>
                <a:lnTo>
                  <a:pt x="9951" y="21600"/>
                </a:lnTo>
                <a:lnTo>
                  <a:pt x="9951" y="16080"/>
                </a:lnTo>
                <a:lnTo>
                  <a:pt x="0" y="16080"/>
                </a:lnTo>
                <a:close/>
              </a:path>
            </a:pathLst>
          </a:custGeom>
          <a:solidFill>
            <a:srgbClr val="12949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3" name="laptop"/>
          <p:cNvPicPr/>
          <p:nvPr/>
        </p:nvPicPr>
        <p:blipFill>
          <a:blip r:embed="rId2"/>
          <a:stretch>
            <a:fillRect/>
          </a:stretch>
        </p:blipFill>
        <p:spPr>
          <a:xfrm>
            <a:off x="731886" y="1763694"/>
            <a:ext cx="692359" cy="546599"/>
          </a:xfrm>
          <a:prstGeom prst="rect">
            <a:avLst/>
          </a:prstGeom>
        </p:spPr>
      </p:pic>
      <p:pic>
        <p:nvPicPr>
          <p:cNvPr id="14" name="document"/>
          <p:cNvPicPr/>
          <p:nvPr/>
        </p:nvPicPr>
        <p:blipFill>
          <a:blip r:embed="rId3"/>
          <a:stretch>
            <a:fillRect/>
          </a:stretch>
        </p:blipFill>
        <p:spPr>
          <a:xfrm>
            <a:off x="1416957" y="2470629"/>
            <a:ext cx="1435734" cy="1559630"/>
          </a:xfrm>
          <a:prstGeom prst="rect">
            <a:avLst/>
          </a:prstGeom>
        </p:spPr>
      </p:pic>
      <p:pic>
        <p:nvPicPr>
          <p:cNvPr id="15" name="staging"/>
          <p:cNvPicPr/>
          <p:nvPr/>
        </p:nvPicPr>
        <p:blipFill>
          <a:blip r:embed="rId4"/>
          <a:stretch>
            <a:fillRect/>
          </a:stretch>
        </p:blipFill>
        <p:spPr>
          <a:xfrm>
            <a:off x="5381624" y="2492493"/>
            <a:ext cx="1443022" cy="1515902"/>
          </a:xfrm>
          <a:prstGeom prst="rect">
            <a:avLst/>
          </a:prstGeom>
        </p:spPr>
      </p:pic>
      <p:pic>
        <p:nvPicPr>
          <p:cNvPr id="16" name="database"/>
          <p:cNvPicPr/>
          <p:nvPr/>
        </p:nvPicPr>
        <p:blipFill>
          <a:blip r:embed="rId5"/>
          <a:stretch>
            <a:fillRect/>
          </a:stretch>
        </p:blipFill>
        <p:spPr>
          <a:xfrm>
            <a:off x="9499340" y="2514357"/>
            <a:ext cx="1260823" cy="1494038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564262" y="386264"/>
            <a:ext cx="10166748" cy="11733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745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変更は3つの場所を進む</a:t>
            </a:r>
            <a:endParaRPr lang="zh-CN" sz="7450"/>
          </a:p>
        </p:txBody>
      </p:sp>
      <p:sp>
        <p:nvSpPr>
          <p:cNvPr id="18" name="TextBox 18"/>
          <p:cNvSpPr txBox="1"/>
          <p:nvPr/>
        </p:nvSpPr>
        <p:spPr>
          <a:xfrm>
            <a:off x="1518989" y="1807422"/>
            <a:ext cx="4737194" cy="4810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7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自分のパソコン（ローカル）</a:t>
            </a:r>
            <a:endParaRPr lang="zh-CN" sz="2700"/>
          </a:p>
        </p:txBody>
      </p:sp>
      <p:sp>
        <p:nvSpPr>
          <p:cNvPr id="19" name="TextBox 19"/>
          <p:cNvSpPr txBox="1"/>
          <p:nvPr/>
        </p:nvSpPr>
        <p:spPr>
          <a:xfrm>
            <a:off x="877646" y="4037547"/>
            <a:ext cx="2485205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作業ツリー</a:t>
            </a:r>
            <a:endParaRPr lang="zh-CN" sz="2700"/>
          </a:p>
        </p:txBody>
      </p:sp>
      <p:sp>
        <p:nvSpPr>
          <p:cNvPr id="20" name="TextBox 20"/>
          <p:cNvSpPr txBox="1"/>
          <p:nvPr/>
        </p:nvSpPr>
        <p:spPr>
          <a:xfrm>
            <a:off x="739174" y="4642451"/>
            <a:ext cx="2718421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編集中のファイル</a:t>
            </a:r>
            <a:endParaRPr lang="zh-CN" sz="2300"/>
          </a:p>
        </p:txBody>
      </p:sp>
      <p:sp>
        <p:nvSpPr>
          <p:cNvPr id="21" name="TextBox 21"/>
          <p:cNvSpPr txBox="1"/>
          <p:nvPr/>
        </p:nvSpPr>
        <p:spPr>
          <a:xfrm>
            <a:off x="4995361" y="4037547"/>
            <a:ext cx="2200973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ステージ</a:t>
            </a:r>
            <a:endParaRPr lang="zh-CN" sz="2700"/>
          </a:p>
        </p:txBody>
      </p:sp>
      <p:sp>
        <p:nvSpPr>
          <p:cNvPr id="22" name="TextBox 22"/>
          <p:cNvSpPr txBox="1"/>
          <p:nvPr/>
        </p:nvSpPr>
        <p:spPr>
          <a:xfrm>
            <a:off x="4835025" y="4642451"/>
            <a:ext cx="252164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次に記録する内容</a:t>
            </a:r>
            <a:endParaRPr lang="zh-CN" sz="2300"/>
          </a:p>
        </p:txBody>
      </p:sp>
      <p:sp>
        <p:nvSpPr>
          <p:cNvPr id="23" name="TextBox 23"/>
          <p:cNvSpPr txBox="1"/>
          <p:nvPr/>
        </p:nvSpPr>
        <p:spPr>
          <a:xfrm>
            <a:off x="8938164" y="4037547"/>
            <a:ext cx="2426901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7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ローカル履歴</a:t>
            </a:r>
            <a:endParaRPr lang="zh-CN" sz="2700"/>
          </a:p>
        </p:txBody>
      </p:sp>
      <p:sp>
        <p:nvSpPr>
          <p:cNvPr id="24" name="TextBox 24"/>
          <p:cNvSpPr txBox="1"/>
          <p:nvPr/>
        </p:nvSpPr>
        <p:spPr>
          <a:xfrm>
            <a:off x="8828844" y="4642451"/>
            <a:ext cx="2630965" cy="42999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コミットの記録</a:t>
            </a:r>
            <a:endParaRPr lang="zh-CN" sz="2300"/>
          </a:p>
        </p:txBody>
      </p:sp>
      <p:sp>
        <p:nvSpPr>
          <p:cNvPr id="25" name="TextBox 25"/>
          <p:cNvSpPr txBox="1"/>
          <p:nvPr/>
        </p:nvSpPr>
        <p:spPr>
          <a:xfrm>
            <a:off x="3639794" y="3986531"/>
            <a:ext cx="102031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0D2C56"/>
                </a:solidFill>
                <a:latin typeface="Arial"/>
                <a:ea typeface="Arial"/>
                <a:cs typeface="Arial"/>
              </a:rPr>
              <a:t>git add</a:t>
            </a:r>
            <a:endParaRPr lang="zh-CN" sz="2150"/>
          </a:p>
        </p:txBody>
      </p:sp>
      <p:sp>
        <p:nvSpPr>
          <p:cNvPr id="26" name="TextBox 26"/>
          <p:cNvSpPr txBox="1"/>
          <p:nvPr/>
        </p:nvSpPr>
        <p:spPr>
          <a:xfrm>
            <a:off x="7517006" y="3986531"/>
            <a:ext cx="1166079" cy="3862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150" b="1">
                <a:solidFill>
                  <a:srgbClr val="0D2C56"/>
                </a:solidFill>
                <a:latin typeface="Arial Narrow"/>
                <a:ea typeface="Arial Narrow"/>
                <a:cs typeface="Arial Narrow"/>
              </a:rPr>
              <a:t>git commit</a:t>
            </a:r>
            <a:endParaRPr lang="zh-CN" sz="2150"/>
          </a:p>
        </p:txBody>
      </p:sp>
      <p:sp>
        <p:nvSpPr>
          <p:cNvPr id="27" name="TextBox 27"/>
          <p:cNvSpPr txBox="1"/>
          <p:nvPr/>
        </p:nvSpPr>
        <p:spPr>
          <a:xfrm>
            <a:off x="637142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add は記録する内容を選ぶ</a:t>
            </a:r>
            <a:endParaRPr lang="zh-CN" sz="2900"/>
          </a:p>
        </p:txBody>
      </p:sp>
      <p:sp>
        <p:nvSpPr>
          <p:cNvPr id="28" name="TextBox 28"/>
          <p:cNvSpPr txBox="1"/>
          <p:nvPr/>
        </p:nvSpPr>
        <p:spPr>
          <a:xfrm>
            <a:off x="6401943" y="5713785"/>
            <a:ext cx="5167186" cy="575751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900" b="1">
                <a:solidFill>
                  <a:srgbClr val="0D2C56"/>
                </a:solidFill>
                <a:latin typeface="Yu Gothic"/>
                <a:ea typeface="Yu Gothic"/>
                <a:cs typeface="Yu Gothic"/>
              </a:rPr>
              <a:t>git commitで手元の履歴に残す</a:t>
            </a:r>
            <a:endParaRPr lang="zh-CN" sz="2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