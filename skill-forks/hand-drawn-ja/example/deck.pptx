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表紙。原典Step5に沿い、章ラベルや大きな図を置かず、小さな装飾マークだけを添える。 日本語グリフだけYu Minchoを明示する派生。欧文Georgia/Calibri、原典の字号・位置は保持。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観察した場面を集める章。原典#1の虫眼鏡を対応させた。章扉なので本文の手順や集計は含まない。 日本語グリフだけYu Minchoを明示する派生。欧文Georgia/Calibri、原典の字号・位置は保持。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集めた気づきについて意見を共有する章。原典#2の吹き出しを対応させた。 日本語グリフだけYu Minchoを明示する派生。欧文Georgia/Calibri、原典の字号・位置は保持。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一度に大きく変えず、試行を進める章。原典#20の階段を対応させた。 日本語グリフだけYu Minchoを明示する派生。欧文Georgia/Calibri、原典の字号・位置は保持。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試した結果を記録する章。原典#23のチェックリストを対応させた。旧版の循環矢印は使用しない。 日本語グリフだけYu Minchoを明示する派生。欧文Georgia/Calibri、原典の字号・位置は保持。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1">
    <ns0:bg>
      <ns0:bgPr>
        <ns1:solidFill>
          <ns1:srgbClr val="E2DACC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9784080" y="1005840"/>
            <ns1:ext cx="822960" cy="685800"/>
          </ns1:xfrm>
          <ns1:prstGeom prst="rect">
            <ns1:avLst/>
          </ns1:prstGeom>
        </ns0:spPr>
      </ns0:pic>
      <ns0:sp>
        <ns0:nvSpPr>
          <ns0:cNvPr id="3" name="Text 0"/>
          <ns0:cNvSpPr/>
          <ns0:nvPr/>
        </ns0:nvSpPr>
        <ns0:spPr>
          <ns1:xfrm>
            <ns1:off x="914400" y="1645920"/>
            <ns1:ext cx="8229600" cy="1920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5400" dirty="0">
                <ns1:solidFill>
                  <ns1:srgbClr val="141413"/>
                </ns1:solidFill>
                <ns1:latin typeface="Georgia" pitchFamily="34" charset="0"/>
                <ns1:ea typeface="Yu Mincho" pitchFamily="34" charset="-122"/>
                <ns1:cs typeface="Georgia" pitchFamily="34" charset="-120"/>
              </ns1:rPr>
              <ns1:t>話し合いの</ns1:t>
            </ns1:r>
            <ns1:endParaRPr lang="en-US" sz="5400" dirty="0"/>
          </ns1:p>
          <ns1:p>
            <ns1:pPr indent="0" marL="0">
              <ns1:buNone/>
            </ns1:pPr>
            <ns1:r>
              <ns1:rPr lang="en-US" sz="5400" dirty="0">
                <ns1:solidFill>
                  <ns1:srgbClr val="141413"/>
                </ns1:solidFill>
                <ns1:latin typeface="Georgia" pitchFamily="34" charset="0"/>
                <ns1:ea typeface="Yu Mincho" pitchFamily="34" charset="-122"/>
                <ns1:cs typeface="Georgia" pitchFamily="34" charset="-120"/>
              </ns1:rPr>
              <ns1:t>進め方</ns1:t>
            </ns1:r>
            <ns1:endParaRPr lang="en-US" sz="5400" dirty="0"/>
          </ns1:p>
        </ns0:txBody>
      </ns0:sp>
      <ns0:sp>
        <ns0:nvSpPr>
          <ns0:cNvPr id="4" name="Text 1"/>
          <ns0:cNvSpPr/>
          <ns0:nvPr/>
        </ns0:nvSpPr>
        <ns0:spPr>
          <ns1:xfrm>
            <ns1:off x="11247120" y="6400800"/>
            <ns1:ext cx="4572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r"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</ns1:t>
            </ns1:r>
            <ns1:endParaRPr lang="en-US" sz="1400" dirty="0"/>
          </ns1:p>
        </ns0:txBody>
      </ns0:sp>
    </ns0:spTree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2">
    <ns0:bg>
      <ns0:bgPr>
        <ns1:solidFill>
          <ns1:srgbClr val="BBD1C9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4572000" y="365760"/>
            <ns1:ext cx="7315200" cy="5029200"/>
          </ns1:xfrm>
          <ns1:prstGeom prst="rect">
            <ns1:avLst/>
          </ns1:prstGeom>
        </ns0:spPr>
      </ns0:pic>
      <ns0:sp>
        <ns0:nvSpPr>
          <ns0:cNvPr id="3" name="Text 0"/>
          <ns0:cNvSpPr/>
          <ns0:nvPr/>
        </ns0:nvSpPr>
        <ns0:spPr>
          <ns1:xfrm>
            <ns1:off x="914400" y="4572000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Chapter 1</ns1:t>
            </ns1:r>
            <ns1:endParaRPr lang="en-US" sz="1400" dirty="0"/>
          </ns1:p>
        </ns0:txBody>
      </ns0:sp>
      <ns0:sp>
        <ns0:nvSpPr>
          <ns0:cNvPr id="4" name="Text 1"/>
          <ns0:cNvSpPr/>
          <ns0:nvPr/>
        </ns0:nvSpPr>
        <ns0:spPr>
          <ns1:xfrm>
            <ns1:off x="914400" y="4846320"/>
            <ns1:ext cx="8229600" cy="9144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4000" dirty="0">
                <ns1:solidFill>
                  <ns1:srgbClr val="141413"/>
                </ns1:solidFill>
                <ns1:latin typeface="Georgia" pitchFamily="34" charset="0"/>
                <ns1:ea typeface="Yu Mincho" pitchFamily="34" charset="-122"/>
                <ns1:cs typeface="Georgia" pitchFamily="34" charset="-120"/>
              </ns1:rPr>
              <ns1:t>気づきを集める</ns1:t>
            </ns1:r>
            <ns1:endParaRPr lang="en-US" sz="4000" dirty="0"/>
          </ns1:p>
        </ns0:txBody>
      </ns0:sp>
      <ns0:sp>
        <ns0:nvSpPr>
          <ns0:cNvPr id="5" name="Text 2"/>
          <ns0:cNvSpPr/>
          <ns0:nvPr/>
        </ns0:nvSpPr>
        <ns0:spPr>
          <ns1:xfrm>
            <ns1:off x="11247120" y="6400800"/>
            <ns1:ext cx="4572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r"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</ns1:t>
            </ns1:r>
            <ns1:endParaRPr lang="en-US" sz="1400" dirty="0"/>
          </ns1:p>
        </ns0:txBody>
      </ns0:sp>
    </ns0:spTree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3">
    <ns0:bg>
      <ns0:bgPr>
        <ns1:solidFill>
          <ns1:srgbClr val="DEB89C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4572000" y="365760"/>
            <ns1:ext cx="7315200" cy="5029200"/>
          </ns1:xfrm>
          <ns1:prstGeom prst="rect">
            <ns1:avLst/>
          </ns1:prstGeom>
        </ns0:spPr>
      </ns0:pic>
      <ns0:sp>
        <ns0:nvSpPr>
          <ns0:cNvPr id="3" name="Text 0"/>
          <ns0:cNvSpPr/>
          <ns0:nvPr/>
        </ns0:nvSpPr>
        <ns0:spPr>
          <ns1:xfrm>
            <ns1:off x="914400" y="4572000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Chapter 2</ns1:t>
            </ns1:r>
            <ns1:endParaRPr lang="en-US" sz="1400" dirty="0"/>
          </ns1:p>
        </ns0:txBody>
      </ns0:sp>
      <ns0:sp>
        <ns0:nvSpPr>
          <ns0:cNvPr id="4" name="Text 1"/>
          <ns0:cNvSpPr/>
          <ns0:nvPr/>
        </ns0:nvSpPr>
        <ns0:spPr>
          <ns1:xfrm>
            <ns1:off x="914400" y="4846320"/>
            <ns1:ext cx="8229600" cy="9144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4000" dirty="0">
                <ns1:solidFill>
                  <ns1:srgbClr val="141413"/>
                </ns1:solidFill>
                <ns1:latin typeface="Georgia" pitchFamily="34" charset="0"/>
                <ns1:ea typeface="Yu Mincho" pitchFamily="34" charset="-122"/>
                <ns1:cs typeface="Georgia" pitchFamily="34" charset="-120"/>
              </ns1:rPr>
              <ns1:t>意見を共有する</ns1:t>
            </ns1:r>
            <ns1:endParaRPr lang="en-US" sz="4000" dirty="0"/>
          </ns1:p>
        </ns0:txBody>
      </ns0:sp>
      <ns0:sp>
        <ns0:nvSpPr>
          <ns0:cNvPr id="5" name="Text 2"/>
          <ns0:cNvSpPr/>
          <ns0:nvPr/>
        </ns0:nvSpPr>
        <ns0:spPr>
          <ns1:xfrm>
            <ns1:off x="11247120" y="6400800"/>
            <ns1:ext cx="4572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r"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</ns1:t>
            </ns1:r>
            <ns1:endParaRPr lang="en-US" sz="1400" dirty="0"/>
          </ns1:p>
        </ns0:txBody>
      </ns0:sp>
    </ns0:spTree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4">
    <ns0:bg>
      <ns0:bgPr>
        <ns1:solidFill>
          <ns1:srgbClr val="7B9EB2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4572000" y="365760"/>
            <ns1:ext cx="7315200" cy="5029200"/>
          </ns1:xfrm>
          <ns1:prstGeom prst="rect">
            <ns1:avLst/>
          </ns1:prstGeom>
        </ns0:spPr>
      </ns0:pic>
      <ns0:sp>
        <ns0:nvSpPr>
          <ns0:cNvPr id="3" name="Text 0"/>
          <ns0:cNvSpPr/>
          <ns0:nvPr/>
        </ns0:nvSpPr>
        <ns0:spPr>
          <ns1:xfrm>
            <ns1:off x="914400" y="4572000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Chapter 3</ns1:t>
            </ns1:r>
            <ns1:endParaRPr lang="en-US" sz="1400" dirty="0"/>
          </ns1:p>
        </ns0:txBody>
      </ns0:sp>
      <ns0:sp>
        <ns0:nvSpPr>
          <ns0:cNvPr id="4" name="Text 1"/>
          <ns0:cNvSpPr/>
          <ns0:nvPr/>
        </ns0:nvSpPr>
        <ns0:spPr>
          <ns1:xfrm>
            <ns1:off x="914400" y="4846320"/>
            <ns1:ext cx="8229600" cy="9144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4000" dirty="0">
                <ns1:solidFill>
                  <ns1:srgbClr val="141413"/>
                </ns1:solidFill>
                <ns1:latin typeface="Georgia" pitchFamily="34" charset="0"/>
                <ns1:ea typeface="Yu Mincho" pitchFamily="34" charset="-122"/>
                <ns1:cs typeface="Georgia" pitchFamily="34" charset="-120"/>
              </ns1:rPr>
              <ns1:t>小さく試す</ns1:t>
            </ns1:r>
            <ns1:endParaRPr lang="en-US" sz="4000" dirty="0"/>
          </ns1:p>
        </ns0:txBody>
      </ns0:sp>
      <ns0:sp>
        <ns0:nvSpPr>
          <ns0:cNvPr id="5" name="Text 2"/>
          <ns0:cNvSpPr/>
          <ns0:nvPr/>
        </ns0:nvSpPr>
        <ns0:spPr>
          <ns1:xfrm>
            <ns1:off x="11247120" y="6400800"/>
            <ns1:ext cx="4572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r"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</ns1:t>
            </ns1:r>
            <ns1:endParaRPr lang="en-US" sz="1400" dirty="0"/>
          </ns1:p>
        </ns0:txBody>
      </ns0:sp>
    </ns0:spTree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 name="Slide 5">
    <ns0:bg>
      <ns0:bgPr>
        <ns1:solidFill>
          <ns1:srgbClr val="C9A96E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2" name="Image 0" descr="preencoded.png">    </ns0:cNvPr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4572000" y="365760"/>
            <ns1:ext cx="7315200" cy="5029200"/>
          </ns1:xfrm>
          <ns1:prstGeom prst="rect">
            <ns1:avLst/>
          </ns1:prstGeom>
        </ns0:spPr>
      </ns0:pic>
      <ns0:sp>
        <ns0:nvSpPr>
          <ns0:cNvPr id="3" name="Text 0"/>
          <ns0:cNvSpPr/>
          <ns0:nvPr/>
        </ns0:nvSpPr>
        <ns0:spPr>
          <ns1:xfrm>
            <ns1:off x="914400" y="4572000"/>
            <ns1:ext cx="3657600" cy="27432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Chapter 4</ns1:t>
            </ns1:r>
            <ns1:endParaRPr lang="en-US" sz="1400" dirty="0"/>
          </ns1:p>
        </ns0:txBody>
      </ns0:sp>
      <ns0:sp>
        <ns0:nvSpPr>
          <ns0:cNvPr id="4" name="Text 1"/>
          <ns0:cNvSpPr/>
          <ns0:nvPr/>
        </ns0:nvSpPr>
        <ns0:spPr>
          <ns1:xfrm>
            <ns1:off x="914400" y="4846320"/>
            <ns1:ext cx="8229600" cy="9144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4000" dirty="0">
                <ns1:solidFill>
                  <ns1:srgbClr val="141413"/>
                </ns1:solidFill>
                <ns1:latin typeface="Georgia" pitchFamily="34" charset="0"/>
                <ns1:ea typeface="Yu Mincho" pitchFamily="34" charset="-122"/>
                <ns1:cs typeface="Georgia" pitchFamily="34" charset="-120"/>
              </ns1:rPr>
              <ns1:t>結果を記録する</ns1:t>
            </ns1:r>
            <ns1:endParaRPr lang="en-US" sz="4000" dirty="0"/>
          </ns1:p>
        </ns0:txBody>
      </ns0:sp>
      <ns0:sp>
        <ns0:nvSpPr>
          <ns0:cNvPr id="5" name="Text 2"/>
          <ns0:cNvSpPr/>
          <ns0:nvPr/>
        </ns0:nvSpPr>
        <ns0:spPr>
          <ns1:xfrm>
            <ns1:off x="11247120" y="6400800"/>
            <ns1:ext cx="457200" cy="2286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r" indent="0" marL="0">
              <ns1:buNone/>
            </ns1:pPr>
            <ns1:r>
              <ns1:rPr lang="en-US" sz="1400" dirty="0">
                <ns1:solidFill>
                  <ns1:srgbClr val="14141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</ns1:t>
            </ns1:r>
            <ns1:endParaRPr lang="en-US" sz="1400" dirty="0"/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Studio Yebisu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話し合いの進め方</dc:title>
  <dc:subject>原典の配色・章扉配置による日本語作例</dc:subject>
  <dc:creator>Studio Yebisu</dc:creator>
  <cp:lastModifiedBy>Studio Yebisu</cp:lastModifiedBy>
  <cp:revision>1</cp:revision>
  <dcterms:created xsi:type="dcterms:W3CDTF">2026-10-15T18:13:08Z</dcterms:created>
  <dcterms:modified xsi:type="dcterms:W3CDTF">2026-10-15T18:13:08Z</dcterms:modified>
</cp:coreProperties>
</file>