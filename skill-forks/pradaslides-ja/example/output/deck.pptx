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架空の町内会を想定した手順案です。実際の貸出規則ではありません。右側は返却まで引き継ぐ記録票の空欄例で、貸出番号・受取数と返却数・返却日時・担当者の確認を残す構成です。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申込書の例を見せます。折りたたみ椅子10脚、10月20日9時から16時、集会所前での受取りと返却という架空の設定です。実際の担当窓口と貸出条件を確認して記入します。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受取りの場面です。申込書と現物の品名・数量・付属品を比べ、貸出前の傷や汚れ、欠品を担当者と記録します。この受取記録を返却の照合に使います。返却時の確認は5頁で分けて説明します。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異常時は使用を止めて担当者に知らせ、扱いの指示を確認する架空の案です。下の空欄は、品名・数量、気づいた時刻、状態と窓口の指示を残すための記録例です。実際の規則と窓口の指示を優先します。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数量、付属品、状態を記録と照合し、担当者の確認を受けて返却を完了する案です。無人で置いていく可否も各町内会のルールによるため、事前に返却方法を聞きます。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実際の貸出ルールと窓口を確認することが次の行動です。この6ページは相談用の架空の手順案で、既存の運用規則の代わりにはなりません。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町内会の備品貸出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7406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Yu Gothic"/>
              </a:defRPr>
            </a:pPr>
            <a:r>
              <a:t>町内会の備品貸出を、</a:t>
            </a:r>
          </a:p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Yu Gothic"/>
              </a:defRPr>
            </a:pPr>
            <a:r>
              <a:t>迷わない手順に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200400"/>
            <a:ext cx="82296" cy="1033271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82112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借りる前に、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返すところまで決める。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257800"/>
            <a:ext cx="7132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FFFFFF"/>
                </a:solidFill>
                <a:latin typeface="Yu Gothic"/>
              </a:defRPr>
            </a:pPr>
            <a:r>
              <a:t>申込み → 受取り → 使用 → 返却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847088"/>
            <a:ext cx="3063240" cy="3950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21031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24A"/>
                </a:solidFill>
                <a:latin typeface="Yu Gothic"/>
              </a:defRPr>
            </a:pPr>
            <a:r>
              <a:t>返却までの記録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743200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7472A"/>
                </a:solidFill>
                <a:latin typeface="Yu Gothic"/>
              </a:defRPr>
            </a:pPr>
            <a:r>
              <a:t>貸出番号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3026664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324A"/>
                </a:solidFill>
                <a:latin typeface="Yu Gothic"/>
              </a:defRPr>
            </a:pPr>
            <a:r>
              <a:t>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3401568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7472A"/>
                </a:solidFill>
                <a:latin typeface="Yu Gothic"/>
              </a:defRPr>
            </a:pPr>
            <a:r>
              <a:t>受取数 / 返却数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685031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324A"/>
                </a:solidFill>
                <a:latin typeface="Yu Gothic"/>
              </a:defRPr>
            </a:pPr>
            <a:r>
              <a:t>______ /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4059935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7472A"/>
                </a:solidFill>
                <a:latin typeface="Yu Gothic"/>
              </a:defRPr>
            </a:pPr>
            <a:r>
              <a:t>返す日時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4343399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324A"/>
                </a:solidFill>
                <a:latin typeface="Yu Gothic"/>
              </a:defRPr>
            </a:pPr>
            <a:r>
              <a:t>____月____日____時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4718304"/>
            <a:ext cx="2587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7472A"/>
                </a:solidFill>
                <a:latin typeface="Yu Gothic"/>
              </a:defRPr>
            </a:pPr>
            <a:r>
              <a:t>担当者の確認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5001768"/>
            <a:ext cx="2587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2324A"/>
                </a:solidFill>
                <a:latin typeface="Yu Gothic"/>
              </a:defRPr>
            </a:pPr>
            <a:r>
              <a:t>□ 返却確認済み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2324A"/>
                </a:solidFill>
                <a:latin typeface="Yu Gothic"/>
              </a:defRPr>
            </a:pPr>
            <a:r>
              <a:t>品名・数量・日時を、まとめて伝える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48256"/>
            <a:ext cx="10835640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85416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B7472A"/>
                </a:solidFill>
                <a:latin typeface="Yu Gothic"/>
              </a:defRPr>
            </a:pPr>
            <a:r>
              <a:t>申込みの記入例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品名・数量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4176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折りたたみ椅子 10脚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18688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利用日時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34670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10月20日 9:00〜16:00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22191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受取・返却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95020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集会所前で担当者と確認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25696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連絡先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55371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申込み時に窓口へ伝える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029200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42432"/>
            <a:ext cx="10789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2324A"/>
                </a:solidFill>
                <a:latin typeface="Yu Gothic"/>
              </a:defRPr>
            </a:pPr>
            <a:r>
              <a:t>受付方法と貸出条件は、実際の窓口で確認する。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2324A"/>
                </a:solidFill>
                <a:latin typeface="Yu Gothic"/>
              </a:defRPr>
            </a:pPr>
            <a:r>
              <a:t>受取りは、記録と現物を照合する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255264" cy="41148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7472A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7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324A"/>
                </a:solidFill>
                <a:latin typeface="Yu Gothic"/>
              </a:defRPr>
            </a:pPr>
            <a:r>
              <a:t>品名と数を照合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申込書と現物の</a:t>
            </a:r>
          </a:p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数量・付属品を比べる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2514600"/>
            <a:ext cx="3255264" cy="41148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9019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7472A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907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324A"/>
                </a:solidFill>
                <a:latin typeface="Yu Gothic"/>
              </a:defRPr>
            </a:pPr>
            <a:r>
              <a:t>貸出前の状態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3840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傷・汚れ・欠品を</a:t>
            </a:r>
          </a:p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担当者と記録する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2514600"/>
            <a:ext cx="3255264" cy="41148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19019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7472A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907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324A"/>
                </a:solidFill>
                <a:latin typeface="Yu Gothic"/>
              </a:defRPr>
            </a:pPr>
            <a:r>
              <a:t>受取記録を保存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3840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受取数・状態・担当者を</a:t>
            </a:r>
          </a:p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返却時まで残す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509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2324A"/>
                </a:solidFill>
                <a:latin typeface="Yu Gothic"/>
              </a:defRPr>
            </a:pPr>
            <a:r>
              <a:t>受取記録を、返却時の照合に使う。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町内会の備品貸出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不具合に気づいたら、使う前に窓口へ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66543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Yu Gothic"/>
              </a:defRPr>
            </a:pPr>
            <a:r>
              <a:t>受取りのとき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0662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Yu Gothic"/>
              </a:defRPr>
            </a:pPr>
            <a:r>
              <a:t>傷や欠品があった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59" y="2066543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Yu Gothic"/>
              </a:defRPr>
            </a:pPr>
            <a:r>
              <a:t>使っているとき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70662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Yu Gothic"/>
              </a:defRPr>
            </a:pPr>
            <a:r>
              <a:t>ぐらつきや破損に気づいた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11296"/>
            <a:ext cx="10698480" cy="18288"/>
          </a:xfrm>
          <a:prstGeom prst="rect">
            <a:avLst/>
          </a:prstGeom>
          <a:solidFill>
            <a:srgbClr val="779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使用を止め、窓口へ。扱いを確認する。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90288"/>
            <a:ext cx="1069848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690872"/>
            <a:ext cx="10149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B7472A"/>
                </a:solidFill>
                <a:latin typeface="Yu Gothic"/>
              </a:defRPr>
            </a:pPr>
            <a:r>
              <a:t>窓口へ伝える記録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516636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2324A"/>
                </a:solidFill>
                <a:latin typeface="Yu Gothic"/>
              </a:defRPr>
            </a:pPr>
            <a:r>
              <a:t>品名・数量  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16636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2324A"/>
                </a:solidFill>
                <a:latin typeface="Yu Gothic"/>
              </a:defRPr>
            </a:pPr>
            <a:r>
              <a:t>気づいた時刻  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605272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2324A"/>
                </a:solidFill>
                <a:latin typeface="Yu Gothic"/>
              </a:defRPr>
            </a:pPr>
            <a:r>
              <a:t>状態・窓口の指示  ___________________________________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2324A"/>
                </a:solidFill>
                <a:latin typeface="Yu Gothic"/>
              </a:defRPr>
            </a:pPr>
            <a:r>
              <a:t>返却は、置くだけで終わらせない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94560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数量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29514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借りた数と、返す数が合うか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862072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99232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付属品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099815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袋・部品などの戻し忘れはないか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3666744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03904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03904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状態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3904488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使用中の変化を担当者へ伝えたか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4471416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08576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608576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7091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担当者の確認を記録したか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5276088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7900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2324A"/>
                </a:solidFill>
                <a:latin typeface="Yu Gothic"/>
              </a:defRPr>
            </a:pPr>
            <a:r>
              <a:t>無人で置いてよいかも、あらかじめ確認する。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41832"/>
            <a:ext cx="109728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12324A"/>
                </a:solidFill>
                <a:latin typeface="Yu Gothic"/>
              </a:defRPr>
            </a:pPr>
            <a:r>
              <a:t>借りる前に、</a:t>
            </a:r>
          </a:p>
          <a:p>
            <a:pPr>
              <a:spcAft>
                <a:spcPts val="800"/>
              </a:spcAft>
              <a:defRPr sz="4300" b="1">
                <a:solidFill>
                  <a:srgbClr val="12324A"/>
                </a:solidFill>
                <a:latin typeface="Yu Gothic"/>
              </a:defRPr>
            </a:pPr>
            <a:r>
              <a:t>返却方法まで聞こう。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9232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472A"/>
                </a:solidFill>
                <a:latin typeface="Yu Gothic"/>
              </a:defRPr>
            </a:pPr>
            <a:r>
              <a:t>誰に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7" y="2999232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12324A"/>
                </a:solidFill>
                <a:latin typeface="Yu Gothic"/>
              </a:defRPr>
            </a:pPr>
            <a:r>
              <a:t>申込みと返却の窓口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59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472A"/>
                </a:solidFill>
                <a:latin typeface="Yu Gothic"/>
              </a:defRPr>
            </a:pPr>
            <a:r>
              <a:t>いつ・どこで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3794759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12324A"/>
                </a:solidFill>
                <a:latin typeface="Yu Gothic"/>
              </a:defRPr>
            </a:pPr>
            <a:r>
              <a:t>受取りと返却の日時・場所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9028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472A"/>
                </a:solidFill>
                <a:latin typeface="Yu Gothic"/>
              </a:defRPr>
            </a:pPr>
            <a:r>
              <a:t>変わったら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459028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12324A"/>
                </a:solidFill>
                <a:latin typeface="Yu Gothic"/>
              </a:defRPr>
            </a:pPr>
            <a:r>
              <a:t>予定変更や不具合の連絡先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0585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2324A"/>
                </a:solidFill>
                <a:latin typeface="Yu Gothic"/>
              </a:defRPr>
            </a:pPr>
            <a:r>
              <a:t>実際の貸出ルールを確認してから、申し込む。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