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学部ゼミ向けの仮想研究です。地点・辺・時間は学習用設定、観測・実測ではありません。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所要時間だけでなく、雨にさらされる時間を評価する経路選択の問題を考えます。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自宅Hと学校Gの間に、交差点A、アーケードB、橋Cを置いた仮想グラフ。辺の時間はinput/routes.jsonに記録しています。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近道14分・露出14分、屋根道18分・露出3分、川沿い16分・露出16分。全て設定値からの合計です。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評価値J=移動時間+λ×露出時間。λ=0なら近道、λ=0.5なら屋根道が最小。コードでの仮想試算で、行動調査の結果ではありません。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一定速度や混雑なし等の仮定を置きました。次は仮想条件を増やし、実測する場合は時間と露出の測定設計を先に決めます。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BIZ UDPGothic"/>
              </a:rPr>
              <a:t>ゼミ研究発表 / 仮想試算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830604"/>
                </a:solidFill>
                <a:latin typeface="Shippori Mincho"/>
              </a:rPr>
              <a:t>通学ルートの選択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BIZ UDPGothic"/>
              </a:rPr>
              <a:t>雨の日の、通学ルート。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BIZ UDPGothic"/>
              </a:rPr>
              <a:t>学部ゼミ向け / 学習用の仮想研究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419088"/>
            <a:ext cx="1088136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53D"/>
                </a:solidFill>
                <a:latin typeface="BIZ UDPGothic"/>
              </a:rPr>
              <a:t>学習用の設定値 / 仮想試算。実在地点・観測結果ではありません。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5989320"/>
            <a:ext cx="91440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830604"/>
                </a:solidFill>
                <a:latin typeface="BIZ UDPGothic"/>
              </a:rPr>
              <a:t>01 /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2468880"/>
            <a:ext cx="2194560" cy="91440"/>
          </a:xfrm>
          <a:prstGeom prst="rect">
            <a:avLst/>
          </a:prstGeom>
          <a:solidFill>
            <a:srgbClr val="1B253D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3246120"/>
            <a:ext cx="2834640" cy="91440"/>
          </a:xfrm>
          <a:prstGeom prst="rect">
            <a:avLst/>
          </a:prstGeom>
          <a:solidFill>
            <a:srgbClr val="830604"/>
          </a:solidFill>
          <a:ln w="1524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023360"/>
            <a:ext cx="2514600" cy="91440"/>
          </a:xfrm>
          <a:prstGeom prst="rect">
            <a:avLst/>
          </a:prstGeom>
          <a:solidFill>
            <a:srgbClr val="1B253D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92040"/>
            <a:ext cx="7680960" cy="4572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B253D"/>
                </a:solidFill>
                <a:latin typeface="Shippori Mincho"/>
              </a:rPr>
              <a:t>速さと濡れにくさを比べる</a:t>
            </a:r>
          </a:p>
        </p:txBody>
      </p:sp>
    </p:spTree>
    <p:extLst>
      <p:ext uri="{BB962C8B-B14F-4D97-AF65-F5344CB8AC3E}">
        <p14:creationId xmlns:p14="http://schemas.microsoft.com/office/powerpoint/2010/main" val="2524477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研究課題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到着までの速さ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雨にさらされる時間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19088"/>
            <a:ext cx="1088136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53D"/>
                </a:solidFill>
                <a:latin typeface="BIZ UDPGothic"/>
              </a:rPr>
              <a:t>学習用の設定値 / 仮想試算。実在地点・観測結果ではありません。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5989320"/>
            <a:ext cx="91440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830604"/>
                </a:solidFill>
                <a:latin typeface="BIZ UDPGothic"/>
              </a:rPr>
              <a:t>02 /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95728"/>
            <a:ext cx="4297680" cy="6949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830604"/>
                </a:solidFill>
                <a:latin typeface="Shippori Mincho"/>
              </a:rPr>
              <a:t>14分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429768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近道の移動時間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4297680" cy="98755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最短時間だけで
経路を選ぶ考え方。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95728"/>
            <a:ext cx="4297680" cy="6949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3400" b="1">
                <a:solidFill>
                  <a:srgbClr val="830604"/>
                </a:solidFill>
                <a:latin typeface="Shippori Mincho"/>
              </a:rPr>
              <a:t>3分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37560"/>
            <a:ext cx="429768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屋根道の露出時間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4297680" cy="98755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濡れにくさも含めて
経路を選ぶ考え方。</a:t>
            </a:r>
          </a:p>
        </p:txBody>
      </p:sp>
    </p:spTree>
    <p:extLst>
      <p:ext uri="{BB962C8B-B14F-4D97-AF65-F5344CB8AC3E}">
        <p14:creationId xmlns:p14="http://schemas.microsoft.com/office/powerpoint/2010/main" val="124903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経路モデル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架空の5地点と6本の辺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辺の時間を足して比較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19088"/>
            <a:ext cx="1088136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53D"/>
                </a:solidFill>
                <a:latin typeface="BIZ UDPGothic"/>
              </a:rPr>
              <a:t>学習用の設定値 / 仮想試算。実在地点・観測結果ではありません。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5989320"/>
            <a:ext cx="91440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830604"/>
                </a:solidFill>
                <a:latin typeface="BIZ UDPGothic"/>
              </a:rPr>
              <a:t>03 / 06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71600" y="2651760"/>
            <a:ext cx="1920240" cy="1097279"/>
          </a:xfrm>
          <a:prstGeom prst="line">
            <a:avLst/>
          </a:prstGeom>
          <a:ln w="29209">
            <a:solidFill>
              <a:srgbClr val="1B2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75687" y="2971800"/>
            <a:ext cx="640080" cy="26517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B253D"/>
                </a:solidFill>
                <a:latin typeface="BIZ UDPGothic"/>
              </a:rPr>
              <a:t>6分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2651760"/>
            <a:ext cx="1920240" cy="1097279"/>
          </a:xfrm>
          <a:prstGeom prst="line">
            <a:avLst/>
          </a:prstGeom>
          <a:ln w="29209">
            <a:solidFill>
              <a:srgbClr val="1B2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95928" y="2971800"/>
            <a:ext cx="640080" cy="26517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B253D"/>
                </a:solidFill>
                <a:latin typeface="BIZ UDPGothic"/>
              </a:rPr>
              <a:t>8分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3749039"/>
            <a:ext cx="1920240" cy="0"/>
          </a:xfrm>
          <a:prstGeom prst="line">
            <a:avLst/>
          </a:prstGeom>
          <a:ln w="29209">
            <a:solidFill>
              <a:srgbClr val="8306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75687" y="3822191"/>
            <a:ext cx="640080" cy="26517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830604"/>
                </a:solidFill>
                <a:latin typeface="BIZ UDPGothic"/>
              </a:rPr>
              <a:t>8分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3749039"/>
            <a:ext cx="1920240" cy="0"/>
          </a:xfrm>
          <a:prstGeom prst="line">
            <a:avLst/>
          </a:prstGeom>
          <a:ln w="29209">
            <a:solidFill>
              <a:srgbClr val="8306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95928" y="3822191"/>
            <a:ext cx="640080" cy="26517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830604"/>
                </a:solidFill>
                <a:latin typeface="BIZ UDPGothic"/>
              </a:rPr>
              <a:t>10分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71600" y="3749039"/>
            <a:ext cx="1920240" cy="1143001"/>
          </a:xfrm>
          <a:prstGeom prst="line">
            <a:avLst/>
          </a:prstGeom>
          <a:ln w="29209">
            <a:solidFill>
              <a:srgbClr val="1B2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075687" y="4393692"/>
            <a:ext cx="640080" cy="26517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B253D"/>
                </a:solidFill>
                <a:latin typeface="BIZ UDPGothic"/>
              </a:rPr>
              <a:t>7分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291840" y="3749039"/>
            <a:ext cx="1920240" cy="1143001"/>
          </a:xfrm>
          <a:prstGeom prst="line">
            <a:avLst/>
          </a:prstGeom>
          <a:ln w="29209">
            <a:solidFill>
              <a:srgbClr val="1B2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95928" y="4393692"/>
            <a:ext cx="640080" cy="26517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1B253D"/>
                </a:solidFill>
                <a:latin typeface="BIZ UDPGothic"/>
              </a:rPr>
              <a:t>9分</a:t>
            </a:r>
          </a:p>
        </p:txBody>
      </p:sp>
      <p:sp>
        <p:nvSpPr>
          <p:cNvPr id="29" name="Oval 28"/>
          <p:cNvSpPr/>
          <p:nvPr/>
        </p:nvSpPr>
        <p:spPr>
          <a:xfrm>
            <a:off x="1179576" y="3557015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97864" y="3584447"/>
            <a:ext cx="347472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B253D"/>
                </a:solidFill>
                <a:latin typeface="BIZ UDPGothic"/>
              </a:rPr>
              <a:t>H</a:t>
            </a:r>
          </a:p>
        </p:txBody>
      </p:sp>
      <p:sp>
        <p:nvSpPr>
          <p:cNvPr id="31" name="Oval 30"/>
          <p:cNvSpPr/>
          <p:nvPr/>
        </p:nvSpPr>
        <p:spPr>
          <a:xfrm>
            <a:off x="3099816" y="2459736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18104" y="2487168"/>
            <a:ext cx="347472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B253D"/>
                </a:solidFill>
                <a:latin typeface="BIZ UDPGothic"/>
              </a:rP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3099816" y="3557015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18104" y="3584447"/>
            <a:ext cx="347472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B253D"/>
                </a:solidFill>
                <a:latin typeface="BIZ UDPGothic"/>
              </a:rPr>
              <a:t>B</a:t>
            </a:r>
          </a:p>
        </p:txBody>
      </p:sp>
      <p:sp>
        <p:nvSpPr>
          <p:cNvPr id="35" name="Oval 34"/>
          <p:cNvSpPr/>
          <p:nvPr/>
        </p:nvSpPr>
        <p:spPr>
          <a:xfrm>
            <a:off x="3099816" y="4700016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18104" y="4727448"/>
            <a:ext cx="347472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B253D"/>
                </a:solidFill>
                <a:latin typeface="BIZ UDPGothic"/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5020056" y="3557015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38344" y="3584447"/>
            <a:ext cx="347472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B253D"/>
                </a:solidFill>
                <a:latin typeface="BIZ UDPGothic"/>
              </a:rPr>
              <a:t>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4206240"/>
            <a:ext cx="137160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B253D"/>
                </a:solidFill>
                <a:latin typeface="BIZ UDPGothic"/>
              </a:rPr>
              <a:t>自宅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5464" y="4206240"/>
            <a:ext cx="137160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B253D"/>
                </a:solidFill>
                <a:latin typeface="BIZ UDPGothic"/>
              </a:rPr>
              <a:t>学校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2121408"/>
            <a:ext cx="137160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B253D"/>
                </a:solidFill>
                <a:latin typeface="BIZ UDPGothic"/>
              </a:rPr>
              <a:t>交差点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87752" y="4069080"/>
            <a:ext cx="137160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830604"/>
                </a:solidFill>
                <a:latin typeface="BIZ UDPGothic"/>
              </a:rPr>
              <a:t>屋根のある道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0088" y="5266944"/>
            <a:ext cx="137160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B253D"/>
                </a:solidFill>
                <a:latin typeface="BIZ UDPGothic"/>
              </a:rPr>
              <a:t>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2331720"/>
            <a:ext cx="4480560" cy="43891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B253D"/>
                </a:solidFill>
                <a:latin typeface="Shippori Mincho"/>
              </a:rPr>
              <a:t>HからGまでの3候補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3108960"/>
            <a:ext cx="4389120" cy="1554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近道：H–A–G
屋根道：H–B–G
川沿い：H–C–G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754880"/>
            <a:ext cx="4480560" cy="6858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移動時間 t と露出時間 e を
別々に足し合わせる。</a:t>
            </a:r>
          </a:p>
        </p:txBody>
      </p:sp>
    </p:spTree>
    <p:extLst>
      <p:ext uri="{BB962C8B-B14F-4D97-AF65-F5344CB8AC3E}">
        <p14:creationId xmlns:p14="http://schemas.microsoft.com/office/powerpoint/2010/main" val="358207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候補の比較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移動時間と露出時間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露出時間だけを比べる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19088"/>
            <a:ext cx="1088136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53D"/>
                </a:solidFill>
                <a:latin typeface="BIZ UDPGothic"/>
              </a:rPr>
              <a:t>学習用の設定値 / 仮想試算。実在地点・観測結果ではありません。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5989320"/>
            <a:ext cx="91440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830604"/>
                </a:solidFill>
                <a:latin typeface="BIZ UDPGothic"/>
              </a:rPr>
              <a:t>04 / 06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60120" y="2331720"/>
          <a:ext cx="46634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IZ UDPGothic"/>
                        </a:rPr>
                        <a:t>候補</a:t>
                      </a:r>
                    </a:p>
                  </a:txBody>
                  <a:tcPr marL="73152" marR="36576" anchor="ctr">
                    <a:solidFill>
                      <a:srgbClr val="8306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IZ UDPGothic"/>
                        </a:rPr>
                        <a:t>移動 t</a:t>
                      </a:r>
                    </a:p>
                  </a:txBody>
                  <a:tcPr marL="73152" marR="36576" anchor="ctr">
                    <a:solidFill>
                      <a:srgbClr val="8306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IZ UDPGothic"/>
                        </a:rPr>
                        <a:t>露出 e</a:t>
                      </a:r>
                    </a:p>
                  </a:txBody>
                  <a:tcPr marL="73152" marR="36576" anchor="ctr">
                    <a:solidFill>
                      <a:srgbClr val="83060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近道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14分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14分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屋根道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18分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3分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川沿い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16分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16分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537960" y="2468880"/>
            <a:ext cx="123444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近道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496312"/>
            <a:ext cx="2440304" cy="256032"/>
          </a:xfrm>
          <a:prstGeom prst="rect">
            <a:avLst/>
          </a:prstGeom>
          <a:solidFill>
            <a:srgbClr val="1B253D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798064"/>
            <a:ext cx="278892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14分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10128"/>
            <a:ext cx="123444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屋根道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337560"/>
            <a:ext cx="522922" cy="256032"/>
          </a:xfrm>
          <a:prstGeom prst="rect">
            <a:avLst/>
          </a:prstGeom>
          <a:solidFill>
            <a:srgbClr val="830604"/>
          </a:solidFill>
          <a:ln w="1524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3639312"/>
            <a:ext cx="278892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830604"/>
                </a:solidFill>
                <a:latin typeface="BIZ UDPGothic"/>
              </a:rPr>
              <a:t>3分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151376"/>
            <a:ext cx="123444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川沿い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4178808"/>
            <a:ext cx="2788920" cy="256032"/>
          </a:xfrm>
          <a:prstGeom prst="rect">
            <a:avLst/>
          </a:prstGeom>
          <a:solidFill>
            <a:srgbClr val="1B253D"/>
          </a:solidFill>
          <a:ln w="15240">
            <a:solidFill>
              <a:srgbClr val="1B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480560"/>
            <a:ext cx="278892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16分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074920"/>
            <a:ext cx="10149840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屋根道は4分長いが、露出は11分短い。</a:t>
            </a:r>
          </a:p>
        </p:txBody>
      </p:sp>
    </p:spTree>
    <p:extLst>
      <p:ext uri="{BB962C8B-B14F-4D97-AF65-F5344CB8AC3E}">
        <p14:creationId xmlns:p14="http://schemas.microsoft.com/office/powerpoint/2010/main" val="277587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仮想試算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重みを変えると選択が変わる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λ = 0.5 の評価値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19088"/>
            <a:ext cx="1088136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53D"/>
                </a:solidFill>
                <a:latin typeface="BIZ UDPGothic"/>
              </a:rPr>
              <a:t>学習用の設定値 / 仮想試算。実在地点・観測結果ではありません。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5989320"/>
            <a:ext cx="91440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830604"/>
                </a:solidFill>
                <a:latin typeface="BIZ UDPGothic"/>
              </a:rPr>
              <a:t>05 /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23160"/>
            <a:ext cx="4663440" cy="56692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1B253D"/>
                </a:solidFill>
                <a:latin typeface="Shippori Mincho"/>
              </a:rPr>
              <a:t>J = t + λ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37560"/>
            <a:ext cx="4663440" cy="1042415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λ = 0　　近道が最小
λ = 0.5　 屋根道が最小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λ は露出時間への重み。
単位は分にそろえて比較。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37960" y="2331720"/>
          <a:ext cx="46634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</a:tblGrid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IZ UDPGothic"/>
                        </a:rPr>
                        <a:t>候補</a:t>
                      </a:r>
                    </a:p>
                  </a:txBody>
                  <a:tcPr marL="73152" marR="36576" anchor="ctr">
                    <a:solidFill>
                      <a:srgbClr val="83060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IZ UDPGothic"/>
                        </a:rPr>
                        <a:t>評価値 J</a:t>
                      </a:r>
                    </a:p>
                  </a:txBody>
                  <a:tcPr marL="73152" marR="36576" anchor="ctr">
                    <a:solidFill>
                      <a:srgbClr val="830604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近道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21.0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屋根道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19.5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川沿い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253D"/>
                          </a:solidFill>
                          <a:latin typeface="BIZ UDPGothic"/>
                        </a:rPr>
                        <a:t>24.0</a:t>
                      </a:r>
                    </a:p>
                  </a:txBody>
                  <a:tcPr marL="73152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37960" y="5074920"/>
            <a:ext cx="4663440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最小値 19.5：屋根道</a:t>
            </a:r>
          </a:p>
        </p:txBody>
      </p:sp>
    </p:spTree>
    <p:extLst>
      <p:ext uri="{BB962C8B-B14F-4D97-AF65-F5344CB8AC3E}">
        <p14:creationId xmlns:p14="http://schemas.microsoft.com/office/powerpoint/2010/main" val="228390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まとめ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限界と展望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今回置いた仮定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次の実験へ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19088"/>
            <a:ext cx="10881360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53D"/>
                </a:solidFill>
                <a:latin typeface="BIZ UDPGothic"/>
              </a:rPr>
              <a:t>学習用の設定値 / 仮想試算。実在地点・観測結果ではありません。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5989320"/>
            <a:ext cx="91440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830604"/>
                </a:solidFill>
                <a:latin typeface="BIZ UDPGothic"/>
              </a:rPr>
              <a:t>06 / 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68880"/>
            <a:ext cx="4663440" cy="20116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一定速度・混雑なし
露出の影響は線形
安全性や選好は未検証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17720"/>
            <a:ext cx="4663440" cy="7772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1B253D"/>
                </a:solidFill>
                <a:latin typeface="BIZ UDPGothic"/>
              </a:rPr>
              <a:t>風・雨量・待ち時間を
次の条件へ加える。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685800" cy="3657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830604"/>
                </a:solidFill>
                <a:latin typeface="BIZ UDPGothi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423160"/>
            <a:ext cx="3749039" cy="3657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待ち時間を変える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392" y="3054096"/>
            <a:ext cx="4480560" cy="16459"/>
          </a:xfrm>
          <a:prstGeom prst="rect">
            <a:avLst/>
          </a:prstGeom>
          <a:solidFill>
            <a:srgbClr val="ECECEE"/>
          </a:solidFill>
          <a:ln w="15240">
            <a:solidFill>
              <a:srgbClr val="E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410712"/>
            <a:ext cx="685800" cy="3657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830604"/>
                </a:solidFill>
                <a:latin typeface="BIZ UDP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3410712"/>
            <a:ext cx="3749039" cy="3657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露出時間を変える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4041648"/>
            <a:ext cx="4480560" cy="16459"/>
          </a:xfrm>
          <a:prstGeom prst="rect">
            <a:avLst/>
          </a:prstGeom>
          <a:solidFill>
            <a:srgbClr val="ECECEE"/>
          </a:solidFill>
          <a:ln w="15240">
            <a:solidFill>
              <a:srgbClr val="E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398264"/>
            <a:ext cx="685800" cy="3657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830604"/>
                </a:solidFill>
                <a:latin typeface="BIZ UDPGothi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4398264"/>
            <a:ext cx="3749039" cy="36576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1B253D"/>
                </a:solidFill>
                <a:latin typeface="BIZ UDPGothic"/>
              </a:rPr>
              <a:t>測定方法を決める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5392" y="5029200"/>
            <a:ext cx="4480560" cy="16459"/>
          </a:xfrm>
          <a:prstGeom prst="rect">
            <a:avLst/>
          </a:prstGeom>
          <a:solidFill>
            <a:srgbClr val="ECECEE"/>
          </a:solidFill>
          <a:ln w="15240">
            <a:solidFill>
              <a:srgbClr val="EC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385816"/>
            <a:ext cx="4663440" cy="2377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B253D"/>
                </a:solidFill>
                <a:latin typeface="BIZ UDPGothic"/>
              </a:rPr>
              <a:t>実測は今後の計画。まだ実施していません。</a:t>
            </a:r>
          </a:p>
        </p:txBody>
      </p:sp>
    </p:spTree>
    <p:extLst>
      <p:ext uri="{BB962C8B-B14F-4D97-AF65-F5344CB8AC3E}">
        <p14:creationId xmlns:p14="http://schemas.microsoft.com/office/powerpoint/2010/main" val="51453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ワイド画面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UDPGothic</vt:lpstr>
      <vt:lpstr>Shippori Mincho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恭彦 笹谷</cp:lastModifiedBy>
  <cp:revision>2</cp:revision>
  <dcterms:created xsi:type="dcterms:W3CDTF">2013-01-27T09:14:16Z</dcterms:created>
  <dcterms:modified xsi:type="dcterms:W3CDTF">2026-10-14T03:01:56Z</dcterms:modified>
  <cp:category/>
</cp:coreProperties>
</file>