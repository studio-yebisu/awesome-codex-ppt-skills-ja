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学部ゼミ向けの仮想研究です。地点・辺・時間は学習用設定、観測・実測ではありません。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所要時間だけでなく、雨にさらされる時間を評価する経路選択の問題を考えます。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自宅Hと学校Gの間に、交差点A、アーケードB、橋Cを置いた仮想グラフ。辺の時間はinput/routes.jsonに記録しています。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近道14分・露出14分、屋根道18分・露出3分、川沿い16分・露出16分。全て設定値からの合計です。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評価値J=移動時間+λ×露出時間。λ=0なら近道、λ=0.5なら屋根道が最小。コードでの仮想試算で、行動調査の結果ではありません。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一定速度や混雑なし等の仮定を置きました。次は仮想条件を増やし、実測する場合は時間と露出の測定設計を先に決めます。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BIZ UDPGothic"/>
              </a:rPr>
              <a:t>ゼミ研究発表 / 仮想試算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830604"/>
                </a:solidFill>
                <a:latin typeface="Shippori Mincho"/>
              </a:rPr>
              <a:t>通学ルートの選択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BIZ UDPGothic"/>
              </a:rPr>
              <a:t>雨の日の、通学ルート。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6583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BIZ UDPGothic"/>
              </a:rPr>
              <a:t>学部ゼミ向け / 学習用の仮想研究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01 / 06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468880"/>
            <a:ext cx="2194560" cy="91440"/>
          </a:xfrm>
          <a:prstGeom prst="rect">
            <a:avLst/>
          </a:prstGeom>
          <a:solidFill>
            <a:srgbClr val="1B253D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0" y="3246120"/>
            <a:ext cx="2834640" cy="91440"/>
          </a:xfrm>
          <a:prstGeom prst="rect">
            <a:avLst/>
          </a:prstGeom>
          <a:solidFill>
            <a:srgbClr val="830604"/>
          </a:solidFill>
          <a:ln w="1524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0" y="4023360"/>
            <a:ext cx="2514600" cy="91440"/>
          </a:xfrm>
          <a:prstGeom prst="rect">
            <a:avLst/>
          </a:prstGeom>
          <a:solidFill>
            <a:srgbClr val="1B253D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92040"/>
            <a:ext cx="7680960" cy="4572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B253D"/>
                </a:solidFill>
                <a:latin typeface="Shippori Mincho"/>
              </a:rPr>
              <a:t>速さと濡れにくさを比べる</a:t>
            </a:r>
          </a:p>
        </p:txBody>
      </p:sp>
    </p:spTree>
    <p:extLst>
      <p:ext uri="{BB962C8B-B14F-4D97-AF65-F5344CB8AC3E}">
        <p14:creationId xmlns:p14="http://schemas.microsoft.com/office/powerpoint/2010/main" val="12800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結果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まとめ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Shippori Mincho"/>
              </a:rPr>
              <a:t>研究課題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近道 H–A–G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屋根道 H–B–G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02 /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95728"/>
            <a:ext cx="4297680" cy="69494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3400" b="1">
                <a:solidFill>
                  <a:srgbClr val="830604"/>
                </a:solidFill>
                <a:latin typeface="Shippori Mincho"/>
              </a:rPr>
              <a:t>14分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37560"/>
            <a:ext cx="4297680" cy="41148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雨にさらされる時間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4297680" cy="987552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移動14分＝露出14分。
全区間で雨にさらされる。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395728"/>
            <a:ext cx="4297680" cy="69494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3400" b="1">
                <a:solidFill>
                  <a:srgbClr val="830604"/>
                </a:solidFill>
                <a:latin typeface="Shippori Mincho"/>
              </a:rPr>
              <a:t>3分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297680" cy="41148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雨にさらされる時間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60520"/>
            <a:ext cx="4297680" cy="987552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移動18分のうち露出3分。
移動は長いが露出は短い。</a:t>
            </a:r>
          </a:p>
        </p:txBody>
      </p:sp>
    </p:spTree>
    <p:extLst>
      <p:ext uri="{BB962C8B-B14F-4D97-AF65-F5344CB8AC3E}">
        <p14:creationId xmlns:p14="http://schemas.microsoft.com/office/powerpoint/2010/main" val="394549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結果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まとめ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Shippori Mincho"/>
              </a:rPr>
              <a:t>経路モデル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架空の5地点と6本の辺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辺の時間を足して比較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03 / 06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371600" y="2651760"/>
            <a:ext cx="1920240" cy="1097279"/>
          </a:xfrm>
          <a:prstGeom prst="line">
            <a:avLst/>
          </a:prstGeom>
          <a:ln w="29209">
            <a:solidFill>
              <a:srgbClr val="1B2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20239" y="3049524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6 / 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2651760"/>
            <a:ext cx="1920240" cy="1097279"/>
          </a:xfrm>
          <a:prstGeom prst="line">
            <a:avLst/>
          </a:prstGeom>
          <a:ln w="29209">
            <a:solidFill>
              <a:srgbClr val="1B2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40480" y="3049524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8 / 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71600" y="3749039"/>
            <a:ext cx="1920240" cy="0"/>
          </a:xfrm>
          <a:prstGeom prst="line">
            <a:avLst/>
          </a:prstGeom>
          <a:ln w="29209">
            <a:solidFill>
              <a:srgbClr val="83060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20239" y="3598163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830604"/>
                </a:solidFill>
                <a:latin typeface="BIZ UDPGothic"/>
              </a:rPr>
              <a:t>8 / 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91840" y="3749039"/>
            <a:ext cx="1920240" cy="0"/>
          </a:xfrm>
          <a:prstGeom prst="line">
            <a:avLst/>
          </a:prstGeom>
          <a:ln w="29209">
            <a:solidFill>
              <a:srgbClr val="83060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40480" y="3598163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830604"/>
                </a:solidFill>
                <a:latin typeface="BIZ UDPGothic"/>
              </a:rPr>
              <a:t>10 /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71600" y="3749039"/>
            <a:ext cx="1920240" cy="1143001"/>
          </a:xfrm>
          <a:prstGeom prst="line">
            <a:avLst/>
          </a:prstGeom>
          <a:ln w="29209">
            <a:solidFill>
              <a:srgbClr val="1B2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20239" y="4169663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7 / 7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3291840" y="3749039"/>
            <a:ext cx="1920240" cy="1143001"/>
          </a:xfrm>
          <a:prstGeom prst="line">
            <a:avLst/>
          </a:prstGeom>
          <a:ln w="29209">
            <a:solidFill>
              <a:srgbClr val="1B2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0" y="4169663"/>
            <a:ext cx="82296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9 / 9</a:t>
            </a:r>
          </a:p>
        </p:txBody>
      </p:sp>
      <p:sp>
        <p:nvSpPr>
          <p:cNvPr id="29" name="Oval 28"/>
          <p:cNvSpPr/>
          <p:nvPr/>
        </p:nvSpPr>
        <p:spPr>
          <a:xfrm>
            <a:off x="1179576" y="3557015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7864" y="3584447"/>
            <a:ext cx="347472" cy="3200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H</a:t>
            </a:r>
          </a:p>
        </p:txBody>
      </p:sp>
      <p:sp>
        <p:nvSpPr>
          <p:cNvPr id="31" name="Oval 30"/>
          <p:cNvSpPr/>
          <p:nvPr/>
        </p:nvSpPr>
        <p:spPr>
          <a:xfrm>
            <a:off x="3099816" y="2459736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18104" y="2487168"/>
            <a:ext cx="347472" cy="3200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A</a:t>
            </a:r>
          </a:p>
        </p:txBody>
      </p:sp>
      <p:sp>
        <p:nvSpPr>
          <p:cNvPr id="33" name="Oval 32"/>
          <p:cNvSpPr/>
          <p:nvPr/>
        </p:nvSpPr>
        <p:spPr>
          <a:xfrm>
            <a:off x="3099816" y="3557015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4" y="3584447"/>
            <a:ext cx="347472" cy="3200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B</a:t>
            </a:r>
          </a:p>
        </p:txBody>
      </p:sp>
      <p:sp>
        <p:nvSpPr>
          <p:cNvPr id="35" name="Oval 34"/>
          <p:cNvSpPr/>
          <p:nvPr/>
        </p:nvSpPr>
        <p:spPr>
          <a:xfrm>
            <a:off x="3099816" y="4700016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18104" y="4727448"/>
            <a:ext cx="347472" cy="3200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C</a:t>
            </a:r>
          </a:p>
        </p:txBody>
      </p:sp>
      <p:sp>
        <p:nvSpPr>
          <p:cNvPr id="37" name="Oval 36"/>
          <p:cNvSpPr/>
          <p:nvPr/>
        </p:nvSpPr>
        <p:spPr>
          <a:xfrm>
            <a:off x="5020056" y="3557015"/>
            <a:ext cx="384048" cy="3840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38344" y="3584447"/>
            <a:ext cx="347472" cy="3200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1B253D"/>
                </a:solidFill>
                <a:latin typeface="BIZ UDPGothic"/>
              </a:rPr>
              <a:t>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4023360"/>
            <a:ext cx="137160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B253D"/>
                </a:solidFill>
                <a:latin typeface="BIZ UDPGothic"/>
              </a:rPr>
              <a:t>自宅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5464" y="4023360"/>
            <a:ext cx="137160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B253D"/>
                </a:solidFill>
                <a:latin typeface="BIZ UDPGothic"/>
              </a:rPr>
              <a:t>学校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1488" y="2121408"/>
            <a:ext cx="137160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B253D"/>
                </a:solidFill>
                <a:latin typeface="BIZ UDPGothic"/>
              </a:rPr>
              <a:t>交差点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3236976"/>
            <a:ext cx="137160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830604"/>
                </a:solidFill>
                <a:latin typeface="BIZ UDPGothic"/>
              </a:rPr>
              <a:t>アーケード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90088" y="5266944"/>
            <a:ext cx="137160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B253D"/>
                </a:solidFill>
                <a:latin typeface="BIZ UDPGothic"/>
              </a:rPr>
              <a:t>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331720"/>
            <a:ext cx="4480560" cy="438912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B253D"/>
                </a:solidFill>
                <a:latin typeface="Shippori Mincho"/>
              </a:rPr>
              <a:t>HからGまでの3候補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3108960"/>
            <a:ext cx="4389120" cy="155448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近道：H–A–G
屋根道：H–B–G
川沿い：H–C–G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754880"/>
            <a:ext cx="4480560" cy="6858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各辺は 移動 t / 露出 e（分）。
t と e は別々に足し合わせる。</a:t>
            </a:r>
          </a:p>
        </p:txBody>
      </p:sp>
    </p:spTree>
    <p:extLst>
      <p:ext uri="{BB962C8B-B14F-4D97-AF65-F5344CB8AC3E}">
        <p14:creationId xmlns:p14="http://schemas.microsoft.com/office/powerpoint/2010/main" val="2817996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</a:rPr>
              <a:t>結果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まとめ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Shippori Mincho"/>
              </a:rPr>
              <a:t>候補の比較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移動時間と露出時間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露出時間だけを比べる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04 / 06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0120" y="2331720"/>
          <a:ext cx="46634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</a:tblGrid>
              <a:tr h="60579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BIZ UDPGothic"/>
                        </a:rPr>
                        <a:t>候補</a:t>
                      </a:r>
                    </a:p>
                  </a:txBody>
                  <a:tcPr marL="73152" marR="36576" anchor="ctr">
                    <a:solidFill>
                      <a:srgbClr val="8306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BIZ UDPGothic"/>
                        </a:rPr>
                        <a:t>移動 t</a:t>
                      </a:r>
                    </a:p>
                  </a:txBody>
                  <a:tcPr marL="73152" marR="36576" anchor="ctr">
                    <a:solidFill>
                      <a:srgbClr val="8306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BIZ UDPGothic"/>
                        </a:rPr>
                        <a:t>露出 e</a:t>
                      </a:r>
                    </a:p>
                  </a:txBody>
                  <a:tcPr marL="73152" marR="36576" anchor="ctr">
                    <a:solidFill>
                      <a:srgbClr val="830604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近道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14分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14分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屋根道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18分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3分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川沿い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16分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16分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537960" y="2468880"/>
            <a:ext cx="123444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近道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2496312"/>
            <a:ext cx="2440304" cy="256032"/>
          </a:xfrm>
          <a:prstGeom prst="rect">
            <a:avLst/>
          </a:prstGeom>
          <a:solidFill>
            <a:srgbClr val="1B253D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798064"/>
            <a:ext cx="2788920" cy="292608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14分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310128"/>
            <a:ext cx="123444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屋根道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337560"/>
            <a:ext cx="522922" cy="256032"/>
          </a:xfrm>
          <a:prstGeom prst="rect">
            <a:avLst/>
          </a:prstGeom>
          <a:solidFill>
            <a:srgbClr val="830604"/>
          </a:solidFill>
          <a:ln w="1524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3639312"/>
            <a:ext cx="2788920" cy="292608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830604"/>
                </a:solidFill>
                <a:latin typeface="BIZ UDPGothic"/>
              </a:rPr>
              <a:t>3分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151376"/>
            <a:ext cx="1234440" cy="329184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川沿い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4178808"/>
            <a:ext cx="2788920" cy="256032"/>
          </a:xfrm>
          <a:prstGeom prst="rect">
            <a:avLst/>
          </a:prstGeom>
          <a:solidFill>
            <a:srgbClr val="1B253D"/>
          </a:solidFill>
          <a:ln w="15240">
            <a:solidFill>
              <a:srgbClr val="1B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80560"/>
            <a:ext cx="2788920" cy="292608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16分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074920"/>
            <a:ext cx="10149840" cy="347472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屋根道は4分長いが、露出は11分短い。</a:t>
            </a:r>
          </a:p>
        </p:txBody>
      </p:sp>
    </p:spTree>
    <p:extLst>
      <p:ext uri="{BB962C8B-B14F-4D97-AF65-F5344CB8AC3E}">
        <p14:creationId xmlns:p14="http://schemas.microsoft.com/office/powerpoint/2010/main" val="437853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</a:rPr>
              <a:t>結果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まとめ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Shippori Mincho"/>
              </a:rPr>
              <a:t>仮想試算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重みを変えると選択が変わる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λ = 0.5 の評価値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05 /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423160"/>
            <a:ext cx="4663440" cy="566928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400" b="1">
                <a:solidFill>
                  <a:srgbClr val="1B253D"/>
                </a:solidFill>
                <a:latin typeface="Shippori Mincho"/>
              </a:rPr>
              <a:t>J = t + λ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37560"/>
            <a:ext cx="4663440" cy="1042415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λ = 0　　近道が最小
λ = 0.5　 屋根道が最小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17720"/>
            <a:ext cx="4663440" cy="7772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λ は露出時間への重み。
単位は分にそろえて比較。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37960" y="2331720"/>
          <a:ext cx="46634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331720"/>
              </a:tblGrid>
              <a:tr h="60579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BIZ UDPGothic"/>
                        </a:rPr>
                        <a:t>候補</a:t>
                      </a:r>
                    </a:p>
                  </a:txBody>
                  <a:tcPr marL="73152" marR="36576" anchor="ctr">
                    <a:solidFill>
                      <a:srgbClr val="8306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BIZ UDPGothic"/>
                        </a:rPr>
                        <a:t>評価値 J</a:t>
                      </a:r>
                    </a:p>
                  </a:txBody>
                  <a:tcPr marL="73152" marR="36576" anchor="ctr">
                    <a:solidFill>
                      <a:srgbClr val="830604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近道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21.0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屋根道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19.5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川沿い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53D"/>
                          </a:solidFill>
                          <a:latin typeface="BIZ UDPGothic"/>
                        </a:rPr>
                        <a:t>24.0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537960" y="5074920"/>
            <a:ext cx="4663440" cy="347472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最小値 19.5：屋根道</a:t>
            </a:r>
          </a:p>
        </p:txBody>
      </p:sp>
    </p:spTree>
    <p:extLst>
      <p:ext uri="{BB962C8B-B14F-4D97-AF65-F5344CB8AC3E}">
        <p14:creationId xmlns:p14="http://schemas.microsoft.com/office/powerpoint/2010/main" val="2101470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背景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74519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28600"/>
            <a:ext cx="1005840" cy="347472"/>
          </a:xfrm>
          <a:prstGeom prst="roundRect">
            <a:avLst/>
          </a:prstGeom>
          <a:solidFill>
            <a:srgbClr val="F7F3F1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830604"/>
                </a:solidFill>
                <a:latin typeface="BIZ UDPGothic"/>
              </a:rPr>
              <a:t>結果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"/>
            <a:ext cx="1005840" cy="347472"/>
          </a:xfrm>
          <a:prstGeom prst="roundRect">
            <a:avLst/>
          </a:prstGeom>
          <a:solidFill>
            <a:srgbClr val="830604"/>
          </a:solidFill>
          <a:ln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46888"/>
            <a:ext cx="1005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</a:rPr>
              <a:t>まとめ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841248"/>
            <a:ext cx="2926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830604"/>
                </a:solidFill>
                <a:latin typeface="Shippori Mincho"/>
              </a:rPr>
              <a:t>限界と展望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12080" cy="4297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306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今回置いた仮定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69164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0604"/>
                </a:solidFill>
                <a:latin typeface="BIZ UDPGothic"/>
              </a:rPr>
              <a:t>次の実験へ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419088"/>
            <a:ext cx="10881360" cy="22860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1B253D"/>
                </a:solidFill>
                <a:latin typeface="BIZ UDPGothic"/>
              </a:rPr>
              <a:t>学習用の設定値 / 仮想試算。実在地点・観測結果ではありません。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5989320"/>
            <a:ext cx="914400" cy="274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830604"/>
                </a:solidFill>
                <a:latin typeface="BIZ UDPGothic"/>
              </a:rPr>
              <a:t>06 /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468880"/>
            <a:ext cx="4663440" cy="141732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一定速度・混雑なし
露出の影響は線形
安全性や選好は未検証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43400"/>
            <a:ext cx="4663440" cy="77724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500" b="0">
                <a:solidFill>
                  <a:srgbClr val="1B253D"/>
                </a:solidFill>
                <a:latin typeface="BIZ UDPGothic"/>
              </a:rPr>
              <a:t>風・雨量・待ち時間を
次の条件へ加える。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423160"/>
            <a:ext cx="685800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830604"/>
                </a:solidFill>
                <a:latin typeface="BIZ UDPGothic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2423160"/>
            <a:ext cx="3749039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待ち時間を変える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65392" y="3054096"/>
            <a:ext cx="4480560" cy="16459"/>
          </a:xfrm>
          <a:prstGeom prst="rect">
            <a:avLst/>
          </a:prstGeom>
          <a:solidFill>
            <a:srgbClr val="ECECEE"/>
          </a:solidFill>
          <a:ln w="15240">
            <a:solidFill>
              <a:srgbClr val="E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410712"/>
            <a:ext cx="685800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830604"/>
                </a:solidFill>
                <a:latin typeface="BIZ UDPGothic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3410712"/>
            <a:ext cx="3749039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露出時間を変える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65392" y="4041648"/>
            <a:ext cx="4480560" cy="16459"/>
          </a:xfrm>
          <a:prstGeom prst="rect">
            <a:avLst/>
          </a:prstGeom>
          <a:solidFill>
            <a:srgbClr val="ECECEE"/>
          </a:solidFill>
          <a:ln w="15240">
            <a:solidFill>
              <a:srgbClr val="E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398264"/>
            <a:ext cx="685800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830604"/>
                </a:solidFill>
                <a:latin typeface="BIZ UDPGothi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7" y="4398264"/>
            <a:ext cx="3749039" cy="36576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800" b="0">
                <a:solidFill>
                  <a:srgbClr val="1B253D"/>
                </a:solidFill>
                <a:latin typeface="BIZ UDPGothic"/>
              </a:rPr>
              <a:t>測定方法を決める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5029200"/>
            <a:ext cx="4480560" cy="16459"/>
          </a:xfrm>
          <a:prstGeom prst="rect">
            <a:avLst/>
          </a:prstGeom>
          <a:solidFill>
            <a:srgbClr val="ECECEE"/>
          </a:solidFill>
          <a:ln w="15240">
            <a:solidFill>
              <a:srgbClr val="EC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5074920"/>
            <a:ext cx="4663440" cy="411480"/>
          </a:xfrm>
          <a:prstGeom prst="rect">
            <a:avLst/>
          </a:prstGeom>
          <a:noFill/>
        </p:spPr>
        <p:txBody>
          <a:bodyPr wrap="non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1B253D"/>
                </a:solidFill>
                <a:latin typeface="BIZ UDPGothic"/>
              </a:rPr>
              <a:t>実測は未実施。次に測り方を決める。</a:t>
            </a:r>
          </a:p>
        </p:txBody>
      </p:sp>
    </p:spTree>
    <p:extLst>
      <p:ext uri="{BB962C8B-B14F-4D97-AF65-F5344CB8AC3E}">
        <p14:creationId xmlns:p14="http://schemas.microsoft.com/office/powerpoint/2010/main" val="1152057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49</Words>
  <Application>Microsoft Office PowerPoint</Application>
  <PresentationFormat>ワイド画面</PresentationFormat>
  <Paragraphs>39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BIZ UDPGothic</vt:lpstr>
      <vt:lpstr>Shippori Mincho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恭彦 笹谷</cp:lastModifiedBy>
  <cp:revision>2</cp:revision>
  <dcterms:created xsi:type="dcterms:W3CDTF">2013-01-27T09:14:16Z</dcterms:created>
  <dcterms:modified xsi:type="dcterms:W3CDTF">2026-10-15T17:45:34Z</dcterms:modified>
  <cp:category/>
</cp:coreProperties>
</file>