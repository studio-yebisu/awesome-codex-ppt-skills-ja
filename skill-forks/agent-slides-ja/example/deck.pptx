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空の一日ワークショップ企画。原典の1枚企画書として生成。午前10時・正午・午後3時は仮の行程案で開催実績や確定予定ではない。開催日時、人数、会場、材料、安全管理、参加条件は未定。右の関係図は、人・道具・街が場に関わる概念で、時系列や相互契約を意味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Workshop Cover">
    <p:bg>
      <p:bgPr>
        <a:solidFill>
          <a:srgbClr val="10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kshop Cover Band"/>
          <p:cNvSpPr/>
          <p:nvPr userDrawn="1"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F6A13"/>
          </a:solidFill>
          <a:ln>
            <a:noFill/>
          </a:ln>
        </p:spPr>
      </p:sp>
      <p:sp>
        <p:nvSpPr>
          <p:cNvPr id="5" name="Workshop Cover Rule"/>
          <p:cNvSpPr/>
          <p:nvPr userDrawn="1"/>
        </p:nvSpPr>
        <p:spPr>
          <a:xfrm>
            <a:off x="5547208" y="4087368"/>
            <a:ext cx="1097280" cy="64008"/>
          </a:xfrm>
          <a:prstGeom prst="rect">
            <a:avLst/>
          </a:prstGeom>
          <a:solidFill>
            <a:srgbClr val="FF6A13"/>
          </a:solidFill>
          <a:ln>
            <a:noFill/>
          </a:ln>
        </p:spPr>
      </p:sp>
      <p:sp>
        <p:nvSpPr>
          <p:cNvPr id="6" name="Workshop Cover Label"/>
          <p:cNvSpPr txBox="1"/>
          <p:nvPr userDrawn="1"/>
        </p:nvSpPr>
        <p:spPr>
          <a:xfrm>
            <a:off x="2026768" y="566928"/>
            <a:ext cx="8138160" cy="3108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algn="ctr"/>
            <a:r>
              <a:rPr lang="en-US" dirty="0" sz="1200" b="0">
                <a:solidFill>
                  <a:srgbClr val="D9E7F1"/>
                </a:solidFill>
                <a:latin typeface="Manrope"/>
                <a:ea typeface="Zen Kaku Gothic New"/>
                <a:cs typeface="Manrope"/>
              </a:rPr>
              <a:t>A DAY TO MAKE / CONCEPT PROPOSAL</a:t>
            </a:r>
          </a:p>
        </p:txBody>
      </p:sp>
      <p:sp>
        <p:nvSpPr>
          <p:cNvPr id="2" name="Workshop Cover Title"/>
          <p:cNvSpPr>
            <a:spLocks noGrp="1"/>
          </p:cNvSpPr>
          <p:nvPr>
            <p:ph type="ctrTitle" hasCustomPrompt="1"/>
          </p:nvPr>
        </p:nvSpPr>
        <p:spPr>
          <a:xfrm>
            <a:off x="822960" y="2011680"/>
            <a:ext cx="10545775" cy="1920240"/>
          </a:xfrm>
        </p:spPr>
        <p:txBody>
          <a:bodyPr vert="horz" wrap="square" lIns="91440" tIns="45720" rIns="91440" bIns="4572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1pPr>
          </a:lstStyle>
          <a:p>
            <a:pPr>
              <a:defRPr sz="4800" b="1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pPr>
            <a:r>
              <a:rPr lang="ja-JP" altLang="en-US"/>
              <a:t>表紙の見出しを入力</a:t>
            </a:r>
          </a:p>
        </p:txBody>
      </p:sp>
      <p:sp>
        <p:nvSpPr>
          <p:cNvPr id="3" name="Workshop Cover Subtitle"/>
          <p:cNvSpPr>
            <a:spLocks noGrp="1"/>
          </p:cNvSpPr>
          <p:nvPr>
            <p:ph type="subTitle" idx="1" hasCustomPrompt="1"/>
          </p:nvPr>
        </p:nvSpPr>
        <p:spPr>
          <a:xfrm>
            <a:off x="1524305" y="4343400"/>
            <a:ext cx="9144000" cy="914400"/>
          </a:xfrm>
        </p:spPr>
        <p:txBody>
          <a:bodyPr vert="horz" wrap="square" lIns="91440" tIns="45720" rIns="91440" bIns="45720" rtlCol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>
                <a:solidFill>
                  <a:srgbClr val="D9E7F1"/>
                </a:solidFill>
                <a:latin typeface="Zen Kaku Gothic New"/>
                <a:ea typeface="Zen Kaku Gothic New"/>
                <a:cs typeface="Zen Kaku Gothic New"/>
              </a:defRPr>
            </a:lvl1pPr>
          </a:lstStyle>
          <a:p>
            <a:pPr>
              <a:defRPr sz="2000" b="0">
                <a:solidFill>
                  <a:srgbClr val="D9E7F1"/>
                </a:solidFill>
                <a:latin typeface="Zen Kaku Gothic New"/>
                <a:ea typeface="Zen Kaku Gothic New"/>
                <a:cs typeface="Zen Kaku Gothic New"/>
              </a:defRPr>
            </a:pPr>
            <a:r>
              <a:rPr lang="ja-JP" altLang="en-US"/>
              <a:t>補足の一文を入力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orkshop Split">
    <p:bg>
      <p:bgPr>
        <a:solidFill>
          <a:srgbClr val="102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kshop Side Panel"/>
          <p:cNvSpPr/>
          <p:nvPr userDrawn="1"/>
        </p:nvSpPr>
        <p:spPr>
          <a:xfrm>
            <a:off x="9162288" y="0"/>
            <a:ext cx="3029712" cy="6858000"/>
          </a:xfrm>
          <a:prstGeom prst="rect">
            <a:avLst/>
          </a:prstGeom>
          <a:solidFill>
            <a:srgbClr val="FF6A13"/>
          </a:solidFill>
          <a:ln>
            <a:noFill/>
          </a:ln>
        </p:spPr>
      </p:sp>
      <p:sp>
        <p:nvSpPr>
          <p:cNvPr id="5" name="Workshop Label"/>
          <p:cNvSpPr txBox="1"/>
          <p:nvPr userDrawn="1"/>
        </p:nvSpPr>
        <p:spPr>
          <a:xfrm>
            <a:off x="566928" y="301752"/>
            <a:ext cx="8138160" cy="3108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dirty="0" sz="1200" b="0">
                <a:solidFill>
                  <a:srgbClr val="D9E7F1"/>
                </a:solidFill>
                <a:latin typeface="Manrope"/>
                <a:ea typeface="Zen Kaku Gothic New"/>
                <a:cs typeface="Manrope"/>
              </a:rPr>
              <a:t>A DAY TO MAKE / CONCEPT PROPOSAL</a:t>
            </a:r>
          </a:p>
        </p:txBody>
      </p:sp>
      <p:sp>
        <p:nvSpPr>
          <p:cNvPr id="2" name="Workshop Title"/>
          <p:cNvSpPr>
            <a:spLocks noGrp="1"/>
          </p:cNvSpPr>
          <p:nvPr>
            <p:ph type="title" hasCustomPrompt="1"/>
          </p:nvPr>
        </p:nvSpPr>
        <p:spPr>
          <a:xfrm>
            <a:off x="530352" y="822960"/>
            <a:ext cx="8321040" cy="2084832"/>
          </a:xfrm>
        </p:spPr>
        <p:txBody>
          <a:bodyPr vert="horz" wrap="square" lIns="91440" tIns="45720" rIns="91440" bIns="4572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5200" b="1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1pPr>
          </a:lstStyle>
          <a:p>
            <a:pPr>
              <a:defRPr sz="5200" b="1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pPr>
            <a:r>
              <a:rPr lang="ja-JP" altLang="en-US"/>
              <a:t>見出しを入力</a:t>
            </a:r>
          </a:p>
        </p:txBody>
      </p:sp>
      <p:sp>
        <p:nvSpPr>
          <p:cNvPr id="3" name="Workshop Body"/>
          <p:cNvSpPr>
            <a:spLocks noGrp="1"/>
          </p:cNvSpPr>
          <p:nvPr>
            <p:ph idx="1" type="body" hasCustomPrompt="1"/>
          </p:nvPr>
        </p:nvSpPr>
        <p:spPr>
          <a:xfrm>
            <a:off x="594360" y="3063240"/>
            <a:ext cx="7973568" cy="868680"/>
          </a:xfrm>
        </p:spPr>
        <p:txBody>
          <a:bodyPr vert="horz" wrap="square" lIns="91440" tIns="45720" rIns="91440" bIns="45720" rtlCol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1pPr>
            <a:lvl2pPr marL="274320" indent="0" algn="l">
              <a:lnSpc>
                <a:spcPct val="100000"/>
              </a:lnSpc>
              <a:spcBef>
                <a:spcPts val="0"/>
              </a:spcBef>
              <a:buNone/>
              <a:defRPr sz="2300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2pPr>
            <a:lvl3pPr marL="548640" indent="0" algn="l">
              <a:lnSpc>
                <a:spcPct val="100000"/>
              </a:lnSpc>
              <a:spcBef>
                <a:spcPts val="0"/>
              </a:spcBef>
              <a:buNone/>
              <a:defRPr sz="2300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3pPr>
            <a:lvl4pPr marL="822960" indent="0" algn="l">
              <a:lnSpc>
                <a:spcPct val="100000"/>
              </a:lnSpc>
              <a:spcBef>
                <a:spcPts val="0"/>
              </a:spcBef>
              <a:buNone/>
              <a:defRPr sz="2300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4pPr>
            <a:lvl5pPr marL="1097280" indent="0" algn="l">
              <a:lnSpc>
                <a:spcPct val="100000"/>
              </a:lnSpc>
              <a:spcBef>
                <a:spcPts val="0"/>
              </a:spcBef>
              <a:buNone/>
              <a:defRPr sz="2300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lvl5pPr>
          </a:lstStyle>
          <a:p>
            <a:pPr>
              <a:defRPr sz="2300" b="0">
                <a:solidFill>
                  <a:srgbClr val="FFFFFF"/>
                </a:solidFill>
                <a:latin typeface="Zen Kaku Gothic New"/>
                <a:ea typeface="Zen Kaku Gothic New"/>
                <a:cs typeface="Zen Kaku Gothic New"/>
              </a:defRPr>
            </a:pPr>
            <a:r>
              <a:rPr lang="ja-JP" altLang="en-US"/>
              <a:t>本文を入力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[slides-slideuid:s00000001]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土曜日を、</a:t>
            </a:r>
          </a:p>
          <a:p>
            <a:r>
              <a:t>街の作業場に。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つくる人も、見る人も。</a:t>
            </a:r>
          </a:p>
          <a:p>
            <a:r>
              <a:t>一日だけ、同じ作業台に集まる。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242816"/>
            <a:ext cx="76809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D9E7F1"/>
                </a:solidFill>
                <a:latin typeface="Zen Kaku Gothic New"/>
              </a:rPr>
              <a:t>一日の流れ（仮のプログラム）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60704" y="4846320"/>
            <a:ext cx="5989320" cy="0"/>
          </a:xfrm>
          <a:prstGeom prst="line">
            <a:avLst/>
          </a:prstGeom>
          <a:ln w="21590">
            <a:solidFill>
              <a:srgbClr val="D9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60120" y="4745736"/>
            <a:ext cx="201168" cy="201168"/>
          </a:xfrm>
          <a:prstGeom prst="ellipse">
            <a:avLst/>
          </a:prstGeom>
          <a:solidFill>
            <a:srgbClr val="FF6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5102352"/>
            <a:ext cx="23774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FF6A13"/>
                </a:solidFill>
                <a:latin typeface="Manrope"/>
              </a:rPr>
              <a:t>10:00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5541264"/>
            <a:ext cx="2423160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FFFFFF"/>
                </a:solidFill>
                <a:latin typeface="Zen Kaku Gothic New"/>
              </a:rPr>
              <a:t>見つける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6035040"/>
            <a:ext cx="244144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D9E7F1"/>
                </a:solidFill>
                <a:latin typeface="Zen Kaku Gothic New"/>
              </a:rPr>
              <a:t>素材とアイデアに触れる</a:t>
            </a:r>
          </a:p>
        </p:txBody>
      </p:sp>
      <p:sp>
        <p:nvSpPr>
          <p:cNvPr id="10" name="Oval 9"/>
          <p:cNvSpPr/>
          <p:nvPr/>
        </p:nvSpPr>
        <p:spPr>
          <a:xfrm>
            <a:off x="3968496" y="4745736"/>
            <a:ext cx="201168" cy="201168"/>
          </a:xfrm>
          <a:prstGeom prst="ellipse">
            <a:avLst/>
          </a:prstGeom>
          <a:solidFill>
            <a:srgbClr val="FF6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5102352"/>
            <a:ext cx="23774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FF6A13"/>
                </a:solidFill>
                <a:latin typeface="Manrope"/>
              </a:rPr>
              <a:t>12:00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5541264"/>
            <a:ext cx="2423160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FFFFFF"/>
                </a:solidFill>
                <a:latin typeface="Zen Kaku Gothic New"/>
              </a:rPr>
              <a:t>つくる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6035040"/>
            <a:ext cx="244144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D9E7F1"/>
                </a:solidFill>
                <a:latin typeface="Zen Kaku Gothic New"/>
              </a:rPr>
              <a:t>試しながら、手を動かす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0" y="4745736"/>
            <a:ext cx="201168" cy="201168"/>
          </a:xfrm>
          <a:prstGeom prst="ellipse">
            <a:avLst/>
          </a:prstGeom>
          <a:solidFill>
            <a:srgbClr val="FF6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5102352"/>
            <a:ext cx="23774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FF6A13"/>
                </a:solidFill>
                <a:latin typeface="Manrope"/>
              </a:rPr>
              <a:t>15:00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5541264"/>
            <a:ext cx="2423160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FFFFFF"/>
                </a:solidFill>
                <a:latin typeface="Zen Kaku Gothic New"/>
              </a:rPr>
              <a:t>見せる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6035040"/>
            <a:ext cx="244144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D9E7F1"/>
                </a:solidFill>
                <a:latin typeface="Zen Kaku Gothic New"/>
              </a:rPr>
              <a:t>途中も完成も、持ち寄る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28232"/>
            <a:ext cx="81838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D9E7F1"/>
                </a:solidFill>
                <a:latin typeface="Zen Kaku Gothic New"/>
              </a:rPr>
              <a:t>架空の企画 / 開催日時・人数・会場・参加条件は未定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685800"/>
            <a:ext cx="237744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102D45"/>
                </a:solidFill>
                <a:latin typeface="Manrope"/>
              </a:rPr>
              <a:t>SATURDAY</a:t>
            </a:r>
            <a:br/>
            <a:r>
              <a:rPr sz="2400" b="1">
                <a:solidFill>
                  <a:srgbClr val="102D45"/>
                </a:solidFill>
                <a:latin typeface="Manrope"/>
              </a:rPr>
              <a:t>WORKSHOP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1856231"/>
            <a:ext cx="233172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02D45"/>
                </a:solidFill>
                <a:latin typeface="Zen Kaku Gothic New"/>
              </a:rPr>
              <a:t>街に、ひらく。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2487168"/>
            <a:ext cx="2423160" cy="7955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>
                <a:solidFill>
                  <a:srgbClr val="102D45"/>
                </a:solidFill>
                <a:latin typeface="Zen Kaku Gothic New"/>
              </a:rPr>
              <a:t>人・道具・街が</a:t>
            </a:r>
            <a:br/>
            <a:r>
              <a:rPr sz="2000" b="0">
                <a:solidFill>
                  <a:srgbClr val="102D45"/>
                </a:solidFill>
                <a:latin typeface="Zen Kaku Gothic New"/>
              </a:rPr>
              <a:t>出会う一日。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9866376" y="3858768"/>
            <a:ext cx="768096" cy="740664"/>
          </a:xfrm>
          <a:prstGeom prst="line">
            <a:avLst/>
          </a:prstGeom>
          <a:ln w="22860">
            <a:solidFill>
              <a:srgbClr val="10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34472" y="3858768"/>
            <a:ext cx="813816" cy="740664"/>
          </a:xfrm>
          <a:prstGeom prst="line">
            <a:avLst/>
          </a:prstGeom>
          <a:ln w="22860">
            <a:solidFill>
              <a:srgbClr val="10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634472" y="4599432"/>
            <a:ext cx="0" cy="1097280"/>
          </a:xfrm>
          <a:prstGeom prst="line">
            <a:avLst/>
          </a:prstGeom>
          <a:ln w="22860">
            <a:solidFill>
              <a:srgbClr val="10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113264" y="4133087"/>
            <a:ext cx="1042415" cy="1042415"/>
          </a:xfrm>
          <a:prstGeom prst="ellipse">
            <a:avLst/>
          </a:prstGeom>
          <a:solidFill>
            <a:srgbClr val="10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37192" y="3529584"/>
            <a:ext cx="667512" cy="6675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91672" y="3529584"/>
            <a:ext cx="667512" cy="6675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05288" y="5367528"/>
            <a:ext cx="667512" cy="6675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4379976"/>
            <a:ext cx="603504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FFFFFF"/>
                </a:solidFill>
                <a:latin typeface="Zen Kaku Gothic New"/>
              </a:rPr>
              <a:t>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65208" y="3694176"/>
            <a:ext cx="4754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02D45"/>
                </a:solidFill>
                <a:latin typeface="Zen Kaku Gothic New"/>
              </a:rPr>
              <a:t>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3712463"/>
            <a:ext cx="594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02D45"/>
                </a:solidFill>
                <a:latin typeface="Zen Kaku Gothic New"/>
              </a:rPr>
              <a:t>道具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3304" y="5522976"/>
            <a:ext cx="4754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02D45"/>
                </a:solidFill>
                <a:latin typeface="Zen Kaku Gothic New"/>
              </a:rPr>
              <a:t>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6336" y="6327648"/>
            <a:ext cx="2331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102D45"/>
                </a:solidFill>
                <a:latin typeface="Manrope"/>
              </a:rPr>
              <a:t>PLAN / NOT AN ACTUAL EVENT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shop Theme">
  <a:themeElements>
    <a:clrScheme name="Workshop Palette">
      <a:dk1>
        <a:srgbClr val="102D45"/>
      </a:dk1>
      <a:lt1>
        <a:srgbClr val="FFFFFF"/>
      </a:lt1>
      <a:dk2>
        <a:srgbClr val="1F497D"/>
      </a:dk2>
      <a:lt2>
        <a:srgbClr val="EEECE1"/>
      </a:lt2>
      <a:accent1>
        <a:srgbClr val="FF6A13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orkshop Type">
      <a:majorFont>
        <a:latin typeface="Zen Kaku Gothic New"/>
        <a:ea typeface="Zen Kaku Gothic New"/>
        <a:cs typeface=""/>
        <a:font script="Jpan" typeface="Zen Kaku Gothic New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Zen Kaku Gothic New"/>
        <a:ea typeface="Zen Kaku Gothic New"/>
        <a:cs typeface=""/>
        <a:font script="Jpan" typeface="Zen Kaku Gothic New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土曜日を、街の作業場に。</dc:title>
  <dc:subject>架空の一日ワークショップ企画</dc:subject>
  <dc:creator>Studio Yebisu</dc:creator>
  <cp:keywords>fictional concept; original agent-slides native operations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