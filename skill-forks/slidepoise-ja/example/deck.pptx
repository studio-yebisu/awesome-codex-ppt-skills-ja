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仮想の地域ワークショップ予約サイトの設計案。操作数・完了率・時間は仮想設定と目標であり、実測ではありません。
画面例の会場名と120分も架空の設定です。
[SlidePoise sources]
Generated target visual: M:\Codex\Projects\awesome-codex-ppt-skills-ja\examples\repositories\slidepoise-showcase\slides\reduce-steps\work\accepted-slide.png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仮想の地域ワークショップ予約サイトの設計案。操作数・完了率・時間は仮想設定と目標であり、実測ではありません。
画面例の会場名と120分も架空の設定です。
[SlidePoise sources]
Generated target visual: M:\Codex\Projects\awesome-codex-ppt-skills-ja\examples\repositories\slidepoise-showcase\slides\branch-and-information\work\accepted-slide.png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仮想の地域ワークショップ予約サイトの設計案。操作数・完了率・時間は仮想設定と目標であり、実測ではありません。
画面例の会場名と120分も架空の設定です。
[SlidePoise sources]
Generated target visual: M:\Codex\Projects\awesome-codex-ppt-skills-ja\examples\repositories\slidepoise-showcase\slides\targets-and-order\work\accepted-slide.png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-badge"/>
          <p:cNvSpPr/>
          <p:nvPr/>
        </p:nvSpPr>
        <p:spPr>
          <a:xfrm>
            <a:off x="434340" y="2324100"/>
            <a:ext cx="1501140" cy="396240"/>
          </a:xfrm>
          <a:prstGeom prst="roundRect">
            <a:avLst>
              <a:gd name="adj" fmla="val 49661"/>
            </a:avLst>
          </a:prstGeom>
          <a:solidFill>
            <a:srgbClr val="3031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arget-badge"/>
          <p:cNvSpPr/>
          <p:nvPr/>
        </p:nvSpPr>
        <p:spPr>
          <a:xfrm>
            <a:off x="434340" y="4312920"/>
            <a:ext cx="1501140" cy="396240"/>
          </a:xfrm>
          <a:prstGeom prst="roundRect">
            <a:avLst>
              <a:gd name="adj" fmla="val 49661"/>
            </a:avLst>
          </a:prstGeom>
          <a:solidFill>
            <a:srgbClr val="3031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old-step-0"/>
          <p:cNvSpPr/>
          <p:nvPr/>
        </p:nvSpPr>
        <p:spPr>
          <a:xfrm>
            <a:off x="2057400" y="2827020"/>
            <a:ext cx="1234440" cy="815340"/>
          </a:xfrm>
          <a:custGeom>
            <a:avLst/>
            <a:gdLst/>
            <a:ahLst/>
            <a:cxnLst/>
            <a:rect l="l" t="t" r="r" b="b"/>
            <a:pathLst>
              <a:path w="1234440" h="815340">
                <a:moveTo>
                  <a:pt x="-2210" y="686"/>
                </a:moveTo>
                <a:lnTo>
                  <a:pt x="981685" y="686"/>
                </a:lnTo>
                <a:lnTo>
                  <a:pt x="1229487" y="408813"/>
                </a:lnTo>
                <a:lnTo>
                  <a:pt x="981685" y="816940"/>
                </a:lnTo>
                <a:lnTo>
                  <a:pt x="-2210" y="816940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5" name="old-step-1"/>
          <p:cNvSpPr/>
          <p:nvPr/>
        </p:nvSpPr>
        <p:spPr>
          <a:xfrm>
            <a:off x="3147060" y="2827020"/>
            <a:ext cx="1394460" cy="815340"/>
          </a:xfrm>
          <a:custGeom>
            <a:avLst/>
            <a:gdLst/>
            <a:ahLst/>
            <a:cxnLst/>
            <a:rect l="l" t="t" r="r" b="b"/>
            <a:pathLst>
              <a:path w="1394460" h="815340">
                <a:moveTo>
                  <a:pt x="1372" y="686"/>
                </a:moveTo>
                <a:lnTo>
                  <a:pt x="1145591" y="686"/>
                </a:lnTo>
                <a:lnTo>
                  <a:pt x="1393393" y="408813"/>
                </a:lnTo>
                <a:lnTo>
                  <a:pt x="1145591" y="816940"/>
                </a:lnTo>
                <a:lnTo>
                  <a:pt x="1372" y="816940"/>
                </a:lnTo>
                <a:lnTo>
                  <a:pt x="249174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6" name="old-step-2"/>
          <p:cNvSpPr/>
          <p:nvPr/>
        </p:nvSpPr>
        <p:spPr>
          <a:xfrm>
            <a:off x="4282440" y="2827020"/>
            <a:ext cx="1394460" cy="815340"/>
          </a:xfrm>
          <a:custGeom>
            <a:avLst/>
            <a:gdLst/>
            <a:ahLst/>
            <a:cxnLst/>
            <a:rect l="l" t="t" r="r" b="b"/>
            <a:pathLst>
              <a:path w="1394460" h="815340">
                <a:moveTo>
                  <a:pt x="2896" y="686"/>
                </a:moveTo>
                <a:lnTo>
                  <a:pt x="1147115" y="686"/>
                </a:lnTo>
                <a:lnTo>
                  <a:pt x="1394917" y="408813"/>
                </a:lnTo>
                <a:lnTo>
                  <a:pt x="1147115" y="816940"/>
                </a:lnTo>
                <a:lnTo>
                  <a:pt x="2896" y="816940"/>
                </a:lnTo>
                <a:lnTo>
                  <a:pt x="250698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7" name="old-step-3"/>
          <p:cNvSpPr/>
          <p:nvPr/>
        </p:nvSpPr>
        <p:spPr>
          <a:xfrm>
            <a:off x="5440680" y="2827020"/>
            <a:ext cx="1363980" cy="815340"/>
          </a:xfrm>
          <a:custGeom>
            <a:avLst/>
            <a:gdLst/>
            <a:ahLst/>
            <a:cxnLst/>
            <a:rect l="l" t="t" r="r" b="b"/>
            <a:pathLst>
              <a:path w="1363980" h="815340">
                <a:moveTo>
                  <a:pt x="-3810" y="686"/>
                </a:moveTo>
                <a:lnTo>
                  <a:pt x="1111225" y="686"/>
                </a:lnTo>
                <a:lnTo>
                  <a:pt x="1359027" y="408813"/>
                </a:lnTo>
                <a:lnTo>
                  <a:pt x="1111225" y="816940"/>
                </a:lnTo>
                <a:lnTo>
                  <a:pt x="-3810" y="816940"/>
                </a:lnTo>
                <a:lnTo>
                  <a:pt x="243916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8" name="old-step-4"/>
          <p:cNvSpPr/>
          <p:nvPr/>
        </p:nvSpPr>
        <p:spPr>
          <a:xfrm>
            <a:off x="6591300" y="2827020"/>
            <a:ext cx="1524000" cy="815340"/>
          </a:xfrm>
          <a:custGeom>
            <a:avLst/>
            <a:gdLst/>
            <a:ahLst/>
            <a:cxnLst/>
            <a:rect l="l" t="t" r="r" b="b"/>
            <a:pathLst>
              <a:path w="1524000" h="815340">
                <a:moveTo>
                  <a:pt x="-2972" y="686"/>
                </a:moveTo>
                <a:lnTo>
                  <a:pt x="1272464" y="686"/>
                </a:lnTo>
                <a:lnTo>
                  <a:pt x="1520266" y="408813"/>
                </a:lnTo>
                <a:lnTo>
                  <a:pt x="1272464" y="816940"/>
                </a:lnTo>
                <a:lnTo>
                  <a:pt x="-2972" y="816940"/>
                </a:lnTo>
                <a:lnTo>
                  <a:pt x="244831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9" name="old-step-5"/>
          <p:cNvSpPr/>
          <p:nvPr/>
        </p:nvSpPr>
        <p:spPr>
          <a:xfrm>
            <a:off x="8008620" y="2827020"/>
            <a:ext cx="1440180" cy="815340"/>
          </a:xfrm>
          <a:custGeom>
            <a:avLst/>
            <a:gdLst/>
            <a:ahLst/>
            <a:cxnLst/>
            <a:rect l="l" t="t" r="r" b="b"/>
            <a:pathLst>
              <a:path w="1440180" h="815340">
                <a:moveTo>
                  <a:pt x="914" y="686"/>
                </a:moveTo>
                <a:lnTo>
                  <a:pt x="1196111" y="686"/>
                </a:lnTo>
                <a:lnTo>
                  <a:pt x="1443914" y="408813"/>
                </a:lnTo>
                <a:lnTo>
                  <a:pt x="1196111" y="816940"/>
                </a:lnTo>
                <a:lnTo>
                  <a:pt x="914" y="816940"/>
                </a:lnTo>
                <a:lnTo>
                  <a:pt x="248641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10" name="old-step-6"/>
          <p:cNvSpPr/>
          <p:nvPr/>
        </p:nvSpPr>
        <p:spPr>
          <a:xfrm>
            <a:off x="9273540" y="2827020"/>
            <a:ext cx="1341120" cy="815340"/>
          </a:xfrm>
          <a:custGeom>
            <a:avLst/>
            <a:gdLst/>
            <a:ahLst/>
            <a:cxnLst/>
            <a:rect l="l" t="t" r="r" b="b"/>
            <a:pathLst>
              <a:path w="1341120" h="815340">
                <a:moveTo>
                  <a:pt x="-3200" y="686"/>
                </a:moveTo>
                <a:lnTo>
                  <a:pt x="1089965" y="686"/>
                </a:lnTo>
                <a:lnTo>
                  <a:pt x="1337767" y="408813"/>
                </a:lnTo>
                <a:lnTo>
                  <a:pt x="1089965" y="816940"/>
                </a:lnTo>
                <a:lnTo>
                  <a:pt x="-3200" y="816940"/>
                </a:lnTo>
                <a:lnTo>
                  <a:pt x="244602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11" name="old-step-7"/>
          <p:cNvSpPr/>
          <p:nvPr/>
        </p:nvSpPr>
        <p:spPr>
          <a:xfrm>
            <a:off x="10500360" y="2827020"/>
            <a:ext cx="1363980" cy="815340"/>
          </a:xfrm>
          <a:custGeom>
            <a:avLst/>
            <a:gdLst/>
            <a:ahLst/>
            <a:cxnLst/>
            <a:rect l="l" t="t" r="r" b="b"/>
            <a:pathLst>
              <a:path w="1363980" h="815340">
                <a:moveTo>
                  <a:pt x="1600" y="686"/>
                </a:moveTo>
                <a:lnTo>
                  <a:pt x="1116711" y="686"/>
                </a:lnTo>
                <a:lnTo>
                  <a:pt x="1364513" y="408813"/>
                </a:lnTo>
                <a:lnTo>
                  <a:pt x="1116711" y="816940"/>
                </a:lnTo>
                <a:lnTo>
                  <a:pt x="1600" y="816940"/>
                </a:lnTo>
                <a:lnTo>
                  <a:pt x="249403" y="408813"/>
                </a:lnTo>
                <a:close/>
              </a:path>
            </a:pathLst>
          </a:custGeom>
          <a:solidFill>
            <a:srgbClr val="F7F5EE"/>
          </a:solidFill>
          <a:ln w="19050">
            <a:solidFill>
              <a:srgbClr val="112132"/>
            </a:solidFill>
            <a:prstDash val="solid"/>
            <a:headEnd type="none"/>
            <a:tailEnd type="none"/>
          </a:ln>
        </p:spPr>
      </p:sp>
      <p:sp>
        <p:nvSpPr>
          <p:cNvPr id="12" name="new-step-0"/>
          <p:cNvSpPr/>
          <p:nvPr/>
        </p:nvSpPr>
        <p:spPr>
          <a:xfrm>
            <a:off x="2057400" y="4792980"/>
            <a:ext cx="2987040" cy="929640"/>
          </a:xfrm>
          <a:custGeom>
            <a:avLst/>
            <a:gdLst/>
            <a:ahLst/>
            <a:cxnLst/>
            <a:rect l="l" t="t" r="r" b="b"/>
            <a:pathLst>
              <a:path w="2987040" h="929640">
                <a:moveTo>
                  <a:pt x="-2210" y="2515"/>
                </a:moveTo>
                <a:lnTo>
                  <a:pt x="2636063" y="2515"/>
                </a:lnTo>
                <a:lnTo>
                  <a:pt x="2985897" y="468935"/>
                </a:lnTo>
                <a:lnTo>
                  <a:pt x="2636063" y="935355"/>
                </a:lnTo>
                <a:lnTo>
                  <a:pt x="-2210" y="935355"/>
                </a:lnTo>
                <a:close/>
              </a:path>
            </a:pathLst>
          </a:cu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new-step-1"/>
          <p:cNvSpPr/>
          <p:nvPr/>
        </p:nvSpPr>
        <p:spPr>
          <a:xfrm>
            <a:off x="4785360" y="4792980"/>
            <a:ext cx="2644140" cy="929640"/>
          </a:xfrm>
          <a:custGeom>
            <a:avLst/>
            <a:gdLst/>
            <a:ahLst/>
            <a:cxnLst/>
            <a:rect l="l" t="t" r="r" b="b"/>
            <a:pathLst>
              <a:path w="2644140" h="929640">
                <a:moveTo>
                  <a:pt x="2819" y="2515"/>
                </a:moveTo>
                <a:lnTo>
                  <a:pt x="2298573" y="2515"/>
                </a:lnTo>
                <a:lnTo>
                  <a:pt x="2648407" y="468935"/>
                </a:lnTo>
                <a:lnTo>
                  <a:pt x="2298573" y="935355"/>
                </a:lnTo>
                <a:lnTo>
                  <a:pt x="2819" y="935355"/>
                </a:lnTo>
                <a:lnTo>
                  <a:pt x="316230" y="468935"/>
                </a:lnTo>
                <a:close/>
              </a:path>
            </a:pathLst>
          </a:cu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new-step-2"/>
          <p:cNvSpPr/>
          <p:nvPr/>
        </p:nvSpPr>
        <p:spPr>
          <a:xfrm>
            <a:off x="7147560" y="4792980"/>
            <a:ext cx="2644140" cy="929640"/>
          </a:xfrm>
          <a:custGeom>
            <a:avLst/>
            <a:gdLst/>
            <a:ahLst/>
            <a:cxnLst/>
            <a:rect l="l" t="t" r="r" b="b"/>
            <a:pathLst>
              <a:path w="2644140" h="929640">
                <a:moveTo>
                  <a:pt x="1981" y="2515"/>
                </a:moveTo>
                <a:lnTo>
                  <a:pt x="2297659" y="2515"/>
                </a:lnTo>
                <a:lnTo>
                  <a:pt x="2647493" y="468935"/>
                </a:lnTo>
                <a:lnTo>
                  <a:pt x="2297659" y="935355"/>
                </a:lnTo>
                <a:lnTo>
                  <a:pt x="1981" y="935355"/>
                </a:lnTo>
                <a:lnTo>
                  <a:pt x="315316" y="468935"/>
                </a:lnTo>
                <a:close/>
              </a:path>
            </a:pathLst>
          </a:cu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new-step-3"/>
          <p:cNvSpPr/>
          <p:nvPr/>
        </p:nvSpPr>
        <p:spPr>
          <a:xfrm>
            <a:off x="9502140" y="4792980"/>
            <a:ext cx="2354580" cy="929640"/>
          </a:xfrm>
          <a:custGeom>
            <a:avLst/>
            <a:gdLst/>
            <a:ahLst/>
            <a:cxnLst/>
            <a:rect l="l" t="t" r="r" b="b"/>
            <a:pathLst>
              <a:path w="2354580" h="929640">
                <a:moveTo>
                  <a:pt x="1372" y="2515"/>
                </a:moveTo>
                <a:lnTo>
                  <a:pt x="2005584" y="2515"/>
                </a:lnTo>
                <a:lnTo>
                  <a:pt x="2355418" y="468935"/>
                </a:lnTo>
                <a:lnTo>
                  <a:pt x="2005584" y="935355"/>
                </a:lnTo>
                <a:lnTo>
                  <a:pt x="1372" y="935355"/>
                </a:lnTo>
                <a:lnTo>
                  <a:pt x="314782" y="468935"/>
                </a:lnTo>
                <a:close/>
              </a:path>
            </a:pathLst>
          </a:cu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headline"/>
          <p:cNvSpPr txBox="1"/>
          <p:nvPr/>
        </p:nvSpPr>
        <p:spPr>
          <a:xfrm>
            <a:off x="495300" y="601980"/>
            <a:ext cx="983742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6700" dirty="0" spc="0">
                <a:solidFill>
                  <a:srgbClr val="112132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迷う操作を、半分に。</a:t>
            </a:r>
            <a:endParaRPr lang="en-US" sz="6700" dirty="0" spc="0"/>
          </a:p>
        </p:txBody>
      </p:sp>
      <p:sp>
        <p:nvSpPr>
          <p:cNvPr id="17" name="current-badge-text"/>
          <p:cNvSpPr txBox="1"/>
          <p:nvPr/>
        </p:nvSpPr>
        <p:spPr>
          <a:xfrm>
            <a:off x="434340" y="2369820"/>
            <a:ext cx="1501140" cy="3048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195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現在案</a:t>
            </a:r>
            <a:endParaRPr lang="en-US" sz="1950" dirty="0" spc="0"/>
          </a:p>
        </p:txBody>
      </p:sp>
      <p:sp>
        <p:nvSpPr>
          <p:cNvPr id="18" name="current-count"/>
          <p:cNvSpPr txBox="1"/>
          <p:nvPr/>
        </p:nvSpPr>
        <p:spPr>
          <a:xfrm>
            <a:off x="449580" y="2705100"/>
            <a:ext cx="914400" cy="120396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8350" b="1" dirty="0" spc="0">
                <a:solidFill>
                  <a:srgbClr val="E44D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8350" dirty="0" spc="0"/>
          </a:p>
        </p:txBody>
      </p:sp>
      <p:sp>
        <p:nvSpPr>
          <p:cNvPr id="19" name="current-unit"/>
          <p:cNvSpPr txBox="1"/>
          <p:nvPr/>
        </p:nvSpPr>
        <p:spPr>
          <a:xfrm>
            <a:off x="1333500" y="3444240"/>
            <a:ext cx="678180" cy="3505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22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操作</a:t>
            </a:r>
            <a:endParaRPr lang="en-US" sz="2250" dirty="0" spc="0"/>
          </a:p>
        </p:txBody>
      </p:sp>
      <p:sp>
        <p:nvSpPr>
          <p:cNvPr id="20" name="target-badge-text"/>
          <p:cNvSpPr txBox="1"/>
          <p:nvPr/>
        </p:nvSpPr>
        <p:spPr>
          <a:xfrm>
            <a:off x="434340" y="4358640"/>
            <a:ext cx="1501140" cy="3048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195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改善目標</a:t>
            </a:r>
            <a:endParaRPr lang="en-US" sz="1950" dirty="0" spc="0"/>
          </a:p>
        </p:txBody>
      </p:sp>
      <p:sp>
        <p:nvSpPr>
          <p:cNvPr id="21" name="target-count"/>
          <p:cNvSpPr txBox="1"/>
          <p:nvPr/>
        </p:nvSpPr>
        <p:spPr>
          <a:xfrm>
            <a:off x="449580" y="4693920"/>
            <a:ext cx="914400" cy="120396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8350" b="1" dirty="0" spc="0">
                <a:solidFill>
                  <a:srgbClr val="E44D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8350" dirty="0" spc="0"/>
          </a:p>
        </p:txBody>
      </p:sp>
      <p:sp>
        <p:nvSpPr>
          <p:cNvPr id="22" name="target-unit"/>
          <p:cNvSpPr txBox="1"/>
          <p:nvPr/>
        </p:nvSpPr>
        <p:spPr>
          <a:xfrm>
            <a:off x="1333500" y="5440680"/>
            <a:ext cx="678180" cy="3505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22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操作</a:t>
            </a:r>
            <a:endParaRPr lang="en-US" sz="2250" dirty="0" spc="0"/>
          </a:p>
        </p:txBody>
      </p:sp>
      <p:sp>
        <p:nvSpPr>
          <p:cNvPr id="23" name="old-label-0"/>
          <p:cNvSpPr txBox="1"/>
          <p:nvPr/>
        </p:nvSpPr>
        <p:spPr>
          <a:xfrm>
            <a:off x="2247900" y="3040380"/>
            <a:ext cx="82296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一覧</a:t>
            </a:r>
            <a:endParaRPr lang="en-US" sz="2000" dirty="0" spc="0"/>
          </a:p>
        </p:txBody>
      </p:sp>
      <p:sp>
        <p:nvSpPr>
          <p:cNvPr id="24" name="old-label-1"/>
          <p:cNvSpPr txBox="1"/>
          <p:nvPr/>
        </p:nvSpPr>
        <p:spPr>
          <a:xfrm>
            <a:off x="3337560" y="3040380"/>
            <a:ext cx="98298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詳細</a:t>
            </a:r>
            <a:endParaRPr lang="en-US" sz="2000" dirty="0" spc="0"/>
          </a:p>
        </p:txBody>
      </p:sp>
      <p:sp>
        <p:nvSpPr>
          <p:cNvPr id="25" name="old-label-2"/>
          <p:cNvSpPr txBox="1"/>
          <p:nvPr/>
        </p:nvSpPr>
        <p:spPr>
          <a:xfrm>
            <a:off x="4472940" y="3040380"/>
            <a:ext cx="98298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日程</a:t>
            </a:r>
            <a:endParaRPr lang="en-US" sz="2000" dirty="0" spc="0"/>
          </a:p>
        </p:txBody>
      </p:sp>
      <p:sp>
        <p:nvSpPr>
          <p:cNvPr id="26" name="old-label-3"/>
          <p:cNvSpPr txBox="1"/>
          <p:nvPr/>
        </p:nvSpPr>
        <p:spPr>
          <a:xfrm>
            <a:off x="5623560" y="3040380"/>
            <a:ext cx="95250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空席</a:t>
            </a:r>
            <a:endParaRPr lang="en-US" sz="2000" dirty="0" spc="0"/>
          </a:p>
        </p:txBody>
      </p:sp>
      <p:sp>
        <p:nvSpPr>
          <p:cNvPr id="27" name="old-label-4"/>
          <p:cNvSpPr txBox="1"/>
          <p:nvPr/>
        </p:nvSpPr>
        <p:spPr>
          <a:xfrm>
            <a:off x="6774180" y="3040380"/>
            <a:ext cx="111252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会員登録</a:t>
            </a:r>
            <a:endParaRPr lang="en-US" sz="2000" dirty="0" spc="0"/>
          </a:p>
        </p:txBody>
      </p:sp>
      <p:sp>
        <p:nvSpPr>
          <p:cNvPr id="28" name="old-label-5"/>
          <p:cNvSpPr txBox="1"/>
          <p:nvPr/>
        </p:nvSpPr>
        <p:spPr>
          <a:xfrm>
            <a:off x="8199120" y="3040380"/>
            <a:ext cx="103632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</a:t>
            </a:r>
            <a:endParaRPr lang="en-US" sz="2000" dirty="0" spc="0"/>
          </a:p>
        </p:txBody>
      </p:sp>
      <p:sp>
        <p:nvSpPr>
          <p:cNvPr id="29" name="old-label-6"/>
          <p:cNvSpPr txBox="1"/>
          <p:nvPr/>
        </p:nvSpPr>
        <p:spPr>
          <a:xfrm>
            <a:off x="9456420" y="3040380"/>
            <a:ext cx="92964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</a:t>
            </a:r>
            <a:endParaRPr lang="en-US" sz="2000" dirty="0" spc="0"/>
          </a:p>
        </p:txBody>
      </p:sp>
      <p:sp>
        <p:nvSpPr>
          <p:cNvPr id="30" name="old-label-7"/>
          <p:cNvSpPr txBox="1"/>
          <p:nvPr/>
        </p:nvSpPr>
        <p:spPr>
          <a:xfrm>
            <a:off x="10690860" y="3040380"/>
            <a:ext cx="95250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0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</a:t>
            </a:r>
            <a:endParaRPr lang="en-US" sz="2000" dirty="0" spc="0"/>
          </a:p>
        </p:txBody>
      </p:sp>
      <p:sp>
        <p:nvSpPr>
          <p:cNvPr id="31" name="new-label-0"/>
          <p:cNvSpPr txBox="1"/>
          <p:nvPr/>
        </p:nvSpPr>
        <p:spPr>
          <a:xfrm>
            <a:off x="2423160" y="4991100"/>
            <a:ext cx="2316480" cy="5867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0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内容と空席</a:t>
            </a:r>
            <a:endParaRPr lang="en-US" sz="2800" dirty="0" spc="0"/>
          </a:p>
        </p:txBody>
      </p:sp>
      <p:sp>
        <p:nvSpPr>
          <p:cNvPr id="32" name="new-label-1"/>
          <p:cNvSpPr txBox="1"/>
          <p:nvPr/>
        </p:nvSpPr>
        <p:spPr>
          <a:xfrm>
            <a:off x="5151120" y="4991100"/>
            <a:ext cx="1973580" cy="5867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0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日程</a:t>
            </a:r>
            <a:endParaRPr lang="en-US" sz="2800" dirty="0" spc="0"/>
          </a:p>
        </p:txBody>
      </p:sp>
      <p:sp>
        <p:nvSpPr>
          <p:cNvPr id="33" name="new-label-2"/>
          <p:cNvSpPr txBox="1"/>
          <p:nvPr/>
        </p:nvSpPr>
        <p:spPr>
          <a:xfrm>
            <a:off x="7513320" y="4991100"/>
            <a:ext cx="1973580" cy="5867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0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</a:t>
            </a:r>
            <a:endParaRPr lang="en-US" sz="2800" dirty="0" spc="0"/>
          </a:p>
        </p:txBody>
      </p:sp>
      <p:sp>
        <p:nvSpPr>
          <p:cNvPr id="34" name="new-label-3"/>
          <p:cNvSpPr txBox="1"/>
          <p:nvPr/>
        </p:nvSpPr>
        <p:spPr>
          <a:xfrm>
            <a:off x="9867900" y="4991100"/>
            <a:ext cx="1684020" cy="5867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0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</a:t>
            </a:r>
            <a:endParaRPr lang="en-US" sz="2800" dirty="0" spc="0"/>
          </a:p>
        </p:txBody>
      </p:sp>
      <p:sp>
        <p:nvSpPr>
          <p:cNvPr id="35" name="qualification"/>
          <p:cNvSpPr txBox="1"/>
          <p:nvPr/>
        </p:nvSpPr>
        <p:spPr>
          <a:xfrm>
            <a:off x="449580" y="6202680"/>
            <a:ext cx="10492740" cy="3048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300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仮想サイトの設計案。数値は目標値、実測ではありません。</a:t>
            </a:r>
            <a:endParaRPr lang="en-US" sz="1300" dirty="0" spc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-node"/>
          <p:cNvSpPr/>
          <p:nvPr/>
        </p:nvSpPr>
        <p:spPr>
          <a:xfrm>
            <a:off x="1996440" y="1927860"/>
            <a:ext cx="2392680" cy="922020"/>
          </a:xfrm>
          <a:prstGeom prst="roundRect">
            <a:avLst>
              <a:gd name="adj" fmla="val 7114"/>
            </a:avLst>
          </a:prstGeom>
          <a:solidFill>
            <a:srgbClr val="DEE1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eat-node"/>
          <p:cNvSpPr/>
          <p:nvPr/>
        </p:nvSpPr>
        <p:spPr>
          <a:xfrm>
            <a:off x="2026920" y="3314700"/>
            <a:ext cx="2316480" cy="1630680"/>
          </a:xfrm>
          <a:custGeom>
            <a:avLst/>
            <a:gdLst/>
            <a:ahLst/>
            <a:cxnLst/>
            <a:rect l="l" t="t" r="r" b="b"/>
            <a:pathLst>
              <a:path w="2316480" h="1630680">
                <a:moveTo>
                  <a:pt x="1157935" y="1372"/>
                </a:moveTo>
                <a:lnTo>
                  <a:pt x="2316709" y="817626"/>
                </a:lnTo>
                <a:lnTo>
                  <a:pt x="1157935" y="1633880"/>
                </a:lnTo>
                <a:lnTo>
                  <a:pt x="-838" y="824865"/>
                </a:lnTo>
                <a:close/>
              </a:path>
            </a:pathLst>
          </a:custGeom>
          <a:solidFill>
            <a:srgbClr val="DEE1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available-node"/>
          <p:cNvSpPr/>
          <p:nvPr/>
        </p:nvSpPr>
        <p:spPr>
          <a:xfrm>
            <a:off x="457200" y="5044440"/>
            <a:ext cx="2255520" cy="830580"/>
          </a:xfrm>
          <a:prstGeom prst="roundRect">
            <a:avLst>
              <a:gd name="adj" fmla="val 7020"/>
            </a:avLst>
          </a:pr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full-node"/>
          <p:cNvSpPr/>
          <p:nvPr/>
        </p:nvSpPr>
        <p:spPr>
          <a:xfrm>
            <a:off x="3657600" y="5044440"/>
            <a:ext cx="2019300" cy="830580"/>
          </a:xfrm>
          <a:prstGeom prst="roundRect">
            <a:avLst>
              <a:gd name="adj" fmla="val 7020"/>
            </a:avLst>
          </a:prstGeom>
          <a:solidFill>
            <a:srgbClr val="E44D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vertical-rule"/>
          <p:cNvSpPr/>
          <p:nvPr/>
        </p:nvSpPr>
        <p:spPr>
          <a:xfrm>
            <a:off x="6096000" y="1927860"/>
            <a:ext cx="7620" cy="3947160"/>
          </a:xfrm>
          <a:prstGeom prst="rect">
            <a:avLst/>
          </a:prstGeom>
          <a:solidFill>
            <a:srgbClr val="D4D5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creen"/>
          <p:cNvSpPr/>
          <p:nvPr/>
        </p:nvSpPr>
        <p:spPr>
          <a:xfrm>
            <a:off x="6629400" y="1882140"/>
            <a:ext cx="5074920" cy="4191000"/>
          </a:xfrm>
          <a:prstGeom prst="roundRect">
            <a:avLst>
              <a:gd name="adj" fmla="val 2261"/>
            </a:avLst>
          </a:prstGeom>
          <a:solidFill>
            <a:srgbClr val="FCFCFC"/>
          </a:solidFill>
          <a:ln w="22860">
            <a:solidFill>
              <a:srgbClr val="7B8490"/>
            </a:solidFill>
            <a:prstDash val="solid"/>
          </a:ln>
        </p:spPr>
      </p:sp>
      <p:sp>
        <p:nvSpPr>
          <p:cNvPr id="8" name="screen-rule-0"/>
          <p:cNvSpPr/>
          <p:nvPr/>
        </p:nvSpPr>
        <p:spPr>
          <a:xfrm>
            <a:off x="6995160" y="3535680"/>
            <a:ext cx="4343400" cy="7620"/>
          </a:xfrm>
          <a:prstGeom prst="rect">
            <a:avLst/>
          </a:prstGeom>
          <a:solidFill>
            <a:srgbClr val="D4D5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creen-rule-1"/>
          <p:cNvSpPr/>
          <p:nvPr/>
        </p:nvSpPr>
        <p:spPr>
          <a:xfrm>
            <a:off x="6995160" y="4099560"/>
            <a:ext cx="4343400" cy="7620"/>
          </a:xfrm>
          <a:prstGeom prst="rect">
            <a:avLst/>
          </a:prstGeom>
          <a:solidFill>
            <a:srgbClr val="D4D5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book-button"/>
          <p:cNvSpPr/>
          <p:nvPr/>
        </p:nvSpPr>
        <p:spPr>
          <a:xfrm>
            <a:off x="6949440" y="4983480"/>
            <a:ext cx="4434840" cy="754380"/>
          </a:xfrm>
          <a:prstGeom prst="roundRect">
            <a:avLst>
              <a:gd name="adj" fmla="val 6763"/>
            </a:avLst>
          </a:pr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C_FREEFORM_ROUTE__date-to-seat__0"/>
          <p:cNvSpPr/>
          <p:nvPr/>
        </p:nvSpPr>
        <p:spPr>
          <a:xfrm>
            <a:off x="3185160" y="2849880"/>
            <a:ext cx="7620" cy="464820"/>
          </a:xfrm>
          <a:custGeom>
            <a:avLst/>
            <a:gdLst/>
            <a:ahLst/>
            <a:cxnLst/>
            <a:rect l="l" t="t" r="r" b="b"/>
            <a:pathLst>
              <a:path w="7620" h="464820">
                <a:moveTo>
                  <a:pt x="7620" y="0"/>
                </a:moveTo>
                <a:lnTo>
                  <a:pt x="7620" y="232410"/>
                </a:lnTo>
                <a:lnTo>
                  <a:pt x="0" y="232410"/>
                </a:lnTo>
                <a:lnTo>
                  <a:pt x="0" y="464820"/>
                </a:lnTo>
              </a:path>
            </a:pathLst>
          </a:custGeom>
          <a:solidFill>
            <a:srgbClr val="FFFFFF">
              <a:alpha val="0"/>
            </a:srgbClr>
          </a:solidFill>
          <a:ln w="30480">
            <a:solidFill>
              <a:srgbClr val="112132"/>
            </a:solidFill>
            <a:prstDash val="solid"/>
            <a:round/>
            <a:headEnd type="none"/>
            <a:tailEnd type="triangle" w="med" len="med"/>
          </a:ln>
        </p:spPr>
      </p:sp>
      <p:sp>
        <p:nvSpPr>
          <p:cNvPr id="12" name="SC_FREEFORM_ROUTE__seat-to-input__0"/>
          <p:cNvSpPr/>
          <p:nvPr/>
        </p:nvSpPr>
        <p:spPr>
          <a:xfrm>
            <a:off x="1584960" y="4130040"/>
            <a:ext cx="441960" cy="914400"/>
          </a:xfrm>
          <a:custGeom>
            <a:avLst/>
            <a:gdLst/>
            <a:ahLst/>
            <a:cxnLst/>
            <a:rect l="l" t="t" r="r" b="b"/>
            <a:pathLst>
              <a:path w="441960" h="914400">
                <a:moveTo>
                  <a:pt x="441960" y="0"/>
                </a:moveTo>
                <a:lnTo>
                  <a:pt x="0" y="0"/>
                </a:lnTo>
                <a:lnTo>
                  <a:pt x="0" y="914400"/>
                </a:lnTo>
              </a:path>
            </a:pathLst>
          </a:custGeom>
          <a:solidFill>
            <a:srgbClr val="FFFFFF">
              <a:alpha val="0"/>
            </a:srgbClr>
          </a:solidFill>
          <a:ln w="30480">
            <a:solidFill>
              <a:srgbClr val="246AF1"/>
            </a:solidFill>
            <a:prstDash val="solid"/>
            <a:round/>
            <a:headEnd type="none"/>
            <a:tailEnd type="triangle" w="med" len="med"/>
          </a:ln>
        </p:spPr>
      </p:sp>
      <p:sp>
        <p:nvSpPr>
          <p:cNvPr id="13" name="SC_FREEFORM_ROUTE__seat-to-next__0"/>
          <p:cNvSpPr/>
          <p:nvPr/>
        </p:nvSpPr>
        <p:spPr>
          <a:xfrm>
            <a:off x="4343400" y="4130040"/>
            <a:ext cx="323850" cy="914400"/>
          </a:xfrm>
          <a:custGeom>
            <a:avLst/>
            <a:gdLst/>
            <a:ahLst/>
            <a:cxnLst/>
            <a:rect l="l" t="t" r="r" b="b"/>
            <a:pathLst>
              <a:path w="323850" h="914400">
                <a:moveTo>
                  <a:pt x="0" y="0"/>
                </a:moveTo>
                <a:lnTo>
                  <a:pt x="323850" y="0"/>
                </a:lnTo>
                <a:lnTo>
                  <a:pt x="323850" y="914400"/>
                </a:lnTo>
              </a:path>
            </a:pathLst>
          </a:custGeom>
          <a:solidFill>
            <a:srgbClr val="FFFFFF">
              <a:alpha val="0"/>
            </a:srgbClr>
          </a:solidFill>
          <a:ln w="30480">
            <a:solidFill>
              <a:srgbClr val="E44D25"/>
            </a:solidFill>
            <a:prstDash val="solid"/>
            <a:round/>
            <a:headEnd type="none"/>
            <a:tailEnd type="triangle" w="med" len="med"/>
          </a:ln>
        </p:spPr>
      </p:sp>
      <p:sp>
        <p:nvSpPr>
          <p:cNvPr id="14" name="headline"/>
          <p:cNvSpPr txBox="1"/>
          <p:nvPr/>
        </p:nvSpPr>
        <p:spPr>
          <a:xfrm>
            <a:off x="487680" y="426720"/>
            <a:ext cx="1040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6700" dirty="0" spc="0">
                <a:solidFill>
                  <a:srgbClr val="112132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分岐は、空席で決まる。</a:t>
            </a:r>
            <a:endParaRPr lang="en-US" sz="6700" dirty="0" spc="0"/>
          </a:p>
        </p:txBody>
      </p:sp>
      <p:sp>
        <p:nvSpPr>
          <p:cNvPr id="15" name="date-label"/>
          <p:cNvSpPr txBox="1"/>
          <p:nvPr/>
        </p:nvSpPr>
        <p:spPr>
          <a:xfrm>
            <a:off x="2225040" y="2171700"/>
            <a:ext cx="1943100" cy="4648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開催日</a:t>
            </a:r>
            <a:endParaRPr lang="en-US" sz="2800" dirty="0" spc="0"/>
          </a:p>
        </p:txBody>
      </p:sp>
      <p:sp>
        <p:nvSpPr>
          <p:cNvPr id="16" name="seat-label"/>
          <p:cNvSpPr txBox="1"/>
          <p:nvPr/>
        </p:nvSpPr>
        <p:spPr>
          <a:xfrm>
            <a:off x="2552700" y="3901440"/>
            <a:ext cx="1257300" cy="4724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空席？</a:t>
            </a:r>
            <a:endParaRPr lang="en-US" sz="2800" dirty="0" spc="0"/>
          </a:p>
        </p:txBody>
      </p:sp>
      <p:sp>
        <p:nvSpPr>
          <p:cNvPr id="17" name="available-label"/>
          <p:cNvSpPr txBox="1"/>
          <p:nvPr/>
        </p:nvSpPr>
        <p:spPr>
          <a:xfrm>
            <a:off x="678180" y="5250180"/>
            <a:ext cx="1821180" cy="4724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75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予約入力</a:t>
            </a:r>
            <a:endParaRPr lang="en-US" sz="2750" dirty="0" spc="0"/>
          </a:p>
        </p:txBody>
      </p:sp>
      <p:sp>
        <p:nvSpPr>
          <p:cNvPr id="18" name="full-label"/>
          <p:cNvSpPr txBox="1"/>
          <p:nvPr/>
        </p:nvSpPr>
        <p:spPr>
          <a:xfrm>
            <a:off x="3779520" y="5250180"/>
            <a:ext cx="1767840" cy="47244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70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次の日程</a:t>
            </a:r>
            <a:endParaRPr lang="en-US" sz="2700" dirty="0" spc="0"/>
          </a:p>
        </p:txBody>
      </p:sp>
      <p:sp>
        <p:nvSpPr>
          <p:cNvPr id="19" name="available-branch"/>
          <p:cNvSpPr txBox="1"/>
          <p:nvPr/>
        </p:nvSpPr>
        <p:spPr>
          <a:xfrm>
            <a:off x="822960" y="3695700"/>
            <a:ext cx="147066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2450" b="1" dirty="0" spc="0">
                <a:solidFill>
                  <a:srgbClr val="246AF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空席あり</a:t>
            </a:r>
            <a:endParaRPr lang="en-US" sz="2450" dirty="0" spc="0"/>
          </a:p>
        </p:txBody>
      </p:sp>
      <p:sp>
        <p:nvSpPr>
          <p:cNvPr id="20" name="full-branch"/>
          <p:cNvSpPr txBox="1"/>
          <p:nvPr/>
        </p:nvSpPr>
        <p:spPr>
          <a:xfrm>
            <a:off x="4671060" y="3695700"/>
            <a:ext cx="853440" cy="4191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2450" b="1" dirty="0" spc="0">
                <a:solidFill>
                  <a:srgbClr val="E44D2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満席</a:t>
            </a:r>
            <a:endParaRPr lang="en-US" sz="2450" dirty="0" spc="0"/>
          </a:p>
        </p:txBody>
      </p:sp>
      <p:sp>
        <p:nvSpPr>
          <p:cNvPr id="21" name="screen-title"/>
          <p:cNvSpPr txBox="1"/>
          <p:nvPr/>
        </p:nvSpPr>
        <p:spPr>
          <a:xfrm>
            <a:off x="6995160" y="2308860"/>
            <a:ext cx="4389120" cy="5257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33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地域ワークショップ</a:t>
            </a:r>
            <a:endParaRPr lang="en-US" sz="3300" dirty="0" spc="0"/>
          </a:p>
        </p:txBody>
      </p:sp>
      <p:sp>
        <p:nvSpPr>
          <p:cNvPr id="22" name="field-0"/>
          <p:cNvSpPr txBox="1"/>
          <p:nvPr/>
        </p:nvSpPr>
        <p:spPr>
          <a:xfrm>
            <a:off x="7002780" y="3124200"/>
            <a:ext cx="1592580" cy="3429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9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会場</a:t>
            </a:r>
            <a:endParaRPr lang="en-US" sz="1950" dirty="0" spc="0"/>
          </a:p>
        </p:txBody>
      </p:sp>
      <p:sp>
        <p:nvSpPr>
          <p:cNvPr id="23" name="value-0"/>
          <p:cNvSpPr txBox="1"/>
          <p:nvPr/>
        </p:nvSpPr>
        <p:spPr>
          <a:xfrm>
            <a:off x="8656320" y="3124200"/>
            <a:ext cx="2773680" cy="3429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800" dirty="0" spc="0">
                <a:solidFill>
                  <a:srgbClr val="4D556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みどり市民センター</a:t>
            </a:r>
            <a:endParaRPr lang="en-US" sz="1800" dirty="0" spc="0"/>
          </a:p>
        </p:txBody>
      </p:sp>
      <p:sp>
        <p:nvSpPr>
          <p:cNvPr id="24" name="field-1"/>
          <p:cNvSpPr txBox="1"/>
          <p:nvPr/>
        </p:nvSpPr>
        <p:spPr>
          <a:xfrm>
            <a:off x="7002780" y="3695700"/>
            <a:ext cx="1592580" cy="3429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9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所要時間</a:t>
            </a:r>
            <a:endParaRPr lang="en-US" sz="1950" dirty="0" spc="0"/>
          </a:p>
        </p:txBody>
      </p:sp>
      <p:sp>
        <p:nvSpPr>
          <p:cNvPr id="25" name="value-1"/>
          <p:cNvSpPr txBox="1"/>
          <p:nvPr/>
        </p:nvSpPr>
        <p:spPr>
          <a:xfrm>
            <a:off x="8656320" y="3695700"/>
            <a:ext cx="2773680" cy="3429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800" dirty="0" spc="0">
                <a:solidFill>
                  <a:srgbClr val="4D556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120分</a:t>
            </a:r>
            <a:endParaRPr lang="en-US" sz="1800" dirty="0" spc="0"/>
          </a:p>
        </p:txBody>
      </p:sp>
      <p:sp>
        <p:nvSpPr>
          <p:cNvPr id="26" name="field-2"/>
          <p:cNvSpPr txBox="1"/>
          <p:nvPr/>
        </p:nvSpPr>
        <p:spPr>
          <a:xfrm>
            <a:off x="7002780" y="4267200"/>
            <a:ext cx="1592580" cy="3429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9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持ち物</a:t>
            </a:r>
            <a:endParaRPr lang="en-US" sz="1950" dirty="0" spc="0"/>
          </a:p>
        </p:txBody>
      </p:sp>
      <p:sp>
        <p:nvSpPr>
          <p:cNvPr id="27" name="value-2"/>
          <p:cNvSpPr txBox="1"/>
          <p:nvPr/>
        </p:nvSpPr>
        <p:spPr>
          <a:xfrm>
            <a:off x="8656320" y="4267200"/>
            <a:ext cx="2773680" cy="3429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800" dirty="0" spc="0">
                <a:solidFill>
                  <a:srgbClr val="4D556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筆記用具・飲み物</a:t>
            </a:r>
            <a:endParaRPr lang="en-US" sz="1800" dirty="0" spc="0"/>
          </a:p>
        </p:txBody>
      </p:sp>
      <p:sp>
        <p:nvSpPr>
          <p:cNvPr id="28" name="book-button-text"/>
          <p:cNvSpPr txBox="1"/>
          <p:nvPr/>
        </p:nvSpPr>
        <p:spPr>
          <a:xfrm>
            <a:off x="7284720" y="5158740"/>
            <a:ext cx="3779520" cy="48006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750" b="1" dirty="0" spc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この日程で予約</a:t>
            </a:r>
            <a:endParaRPr lang="en-US" sz="2750" dirty="0" spc="0"/>
          </a:p>
        </p:txBody>
      </p:sp>
      <p:sp>
        <p:nvSpPr>
          <p:cNvPr id="29" name="qualification"/>
          <p:cNvSpPr txBox="1"/>
          <p:nvPr/>
        </p:nvSpPr>
        <p:spPr>
          <a:xfrm>
            <a:off x="472440" y="6339840"/>
            <a:ext cx="10934700" cy="3124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300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仮想サイトの設計案。数値は目標値、実測ではありません。</a:t>
            </a:r>
            <a:endParaRPr lang="en-US" sz="1300" dirty="0" spc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1"/>
          <p:cNvSpPr/>
          <p:nvPr/>
        </p:nvSpPr>
        <p:spPr>
          <a:xfrm>
            <a:off x="4076700" y="2034540"/>
            <a:ext cx="15240" cy="2263140"/>
          </a:xfrm>
          <a:prstGeom prst="rect">
            <a:avLst/>
          </a:prstGeom>
          <a:solidFill>
            <a:srgbClr val="DD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divider-2"/>
          <p:cNvSpPr/>
          <p:nvPr/>
        </p:nvSpPr>
        <p:spPr>
          <a:xfrm>
            <a:off x="8107680" y="2034540"/>
            <a:ext cx="15240" cy="2263140"/>
          </a:xfrm>
          <a:prstGeom prst="rect">
            <a:avLst/>
          </a:prstGeom>
          <a:solidFill>
            <a:srgbClr val="DD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tage-0"/>
          <p:cNvSpPr/>
          <p:nvPr/>
        </p:nvSpPr>
        <p:spPr>
          <a:xfrm>
            <a:off x="1729740" y="4648200"/>
            <a:ext cx="822960" cy="822960"/>
          </a:xfrm>
          <a:prstGeom prst="ellipse">
            <a:avLst/>
          </a:pr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tage-1"/>
          <p:cNvSpPr/>
          <p:nvPr/>
        </p:nvSpPr>
        <p:spPr>
          <a:xfrm>
            <a:off x="5676900" y="4648200"/>
            <a:ext cx="822960" cy="822960"/>
          </a:xfrm>
          <a:prstGeom prst="ellipse">
            <a:avLst/>
          </a:prstGeom>
          <a:solidFill>
            <a:srgbClr val="246A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tage-2"/>
          <p:cNvSpPr/>
          <p:nvPr/>
        </p:nvSpPr>
        <p:spPr>
          <a:xfrm>
            <a:off x="9631680" y="4648200"/>
            <a:ext cx="822960" cy="822960"/>
          </a:xfrm>
          <a:prstGeom prst="ellipse">
            <a:avLst/>
          </a:prstGeom>
          <a:solidFill>
            <a:srgbClr val="E44D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cxnSp>
        <p:nvCxnSpPr>
          <p:cNvPr id="7" name="SC_CONNECTOR__stage-0-to-1__0"/>
          <p:cNvCxnSpPr/>
          <p:nvPr/>
        </p:nvCxnSpPr>
        <p:spPr>
          <a:xfrm>
            <a:off x="2552700" y="5059680"/>
            <a:ext cx="3124200" cy="0"/>
          </a:xfrm>
          <a:prstGeom prst="line">
            <a:avLst/>
          </a:prstGeom>
          <a:noFill/>
          <a:ln w="30480">
            <a:solidFill>
              <a:srgbClr val="246AF1"/>
            </a:solidFill>
            <a:prstDash val="solid"/>
            <a:round/>
            <a:headEnd type="none"/>
            <a:tailEnd type="triangle" w="med" len="med"/>
          </a:ln>
        </p:spPr>
      </p:cxnSp>
      <p:cxnSp>
        <p:nvCxnSpPr>
          <p:cNvPr id="8" name="SC_CONNECTOR__stage-1-to-2__0"/>
          <p:cNvCxnSpPr/>
          <p:nvPr/>
        </p:nvCxnSpPr>
        <p:spPr>
          <a:xfrm>
            <a:off x="6499860" y="5059680"/>
            <a:ext cx="3131820" cy="0"/>
          </a:xfrm>
          <a:prstGeom prst="line">
            <a:avLst/>
          </a:prstGeom>
          <a:noFill/>
          <a:ln w="30480">
            <a:solidFill>
              <a:srgbClr val="E44D25"/>
            </a:solidFill>
            <a:prstDash val="solid"/>
            <a:round/>
            <a:headEnd type="none"/>
            <a:tailEnd type="triangle" w="med" len="med"/>
          </a:ln>
        </p:spPr>
      </p:cxnSp>
      <p:sp>
        <p:nvSpPr>
          <p:cNvPr id="9" name="headline"/>
          <p:cNvSpPr txBox="1"/>
          <p:nvPr/>
        </p:nvSpPr>
        <p:spPr>
          <a:xfrm>
            <a:off x="502920" y="617220"/>
            <a:ext cx="10485120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6700" dirty="0" spc="0">
                <a:solidFill>
                  <a:srgbClr val="112132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目標を決めて、順に直す。</a:t>
            </a:r>
            <a:endParaRPr lang="en-US" sz="6700" dirty="0" spc="0"/>
          </a:p>
        </p:txBody>
      </p:sp>
      <p:sp>
        <p:nvSpPr>
          <p:cNvPr id="10" name="metric-0"/>
          <p:cNvSpPr txBox="1"/>
          <p:nvPr/>
        </p:nvSpPr>
        <p:spPr>
          <a:xfrm>
            <a:off x="754380" y="2095500"/>
            <a:ext cx="1165860" cy="14401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0000" b="1" dirty="0" spc="0">
                <a:solidFill>
                  <a:srgbClr val="246AF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0000" dirty="0" spc="0"/>
          </a:p>
        </p:txBody>
      </p:sp>
      <p:sp>
        <p:nvSpPr>
          <p:cNvPr id="11" name="metric-unit-0"/>
          <p:cNvSpPr txBox="1"/>
          <p:nvPr/>
        </p:nvSpPr>
        <p:spPr>
          <a:xfrm>
            <a:off x="1866900" y="2606040"/>
            <a:ext cx="2072640" cy="9067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6200" b="1" dirty="0" spc="0">
                <a:solidFill>
                  <a:srgbClr val="246AF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操作</a:t>
            </a:r>
            <a:endParaRPr lang="en-US" sz="6200" dirty="0" spc="0"/>
          </a:p>
        </p:txBody>
      </p:sp>
      <p:sp>
        <p:nvSpPr>
          <p:cNvPr id="12" name="metric-label-0"/>
          <p:cNvSpPr txBox="1"/>
          <p:nvPr/>
        </p:nvSpPr>
        <p:spPr>
          <a:xfrm>
            <a:off x="647700" y="3741420"/>
            <a:ext cx="3223260" cy="5334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6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完了までの操作数</a:t>
            </a:r>
            <a:endParaRPr lang="en-US" sz="2600" dirty="0" spc="0"/>
          </a:p>
        </p:txBody>
      </p:sp>
      <p:sp>
        <p:nvSpPr>
          <p:cNvPr id="13" name="metric-1"/>
          <p:cNvSpPr txBox="1"/>
          <p:nvPr/>
        </p:nvSpPr>
        <p:spPr>
          <a:xfrm>
            <a:off x="4716780" y="2095500"/>
            <a:ext cx="2171700" cy="14401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0000" b="1" dirty="0" spc="0">
                <a:solidFill>
                  <a:srgbClr val="246AF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</a:t>
            </a:r>
            <a:endParaRPr lang="en-US" sz="10000" dirty="0" spc="0"/>
          </a:p>
        </p:txBody>
      </p:sp>
      <p:sp>
        <p:nvSpPr>
          <p:cNvPr id="14" name="metric-unit-1"/>
          <p:cNvSpPr txBox="1"/>
          <p:nvPr/>
        </p:nvSpPr>
        <p:spPr>
          <a:xfrm>
            <a:off x="6827520" y="2606040"/>
            <a:ext cx="777240" cy="9067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6200" b="1" dirty="0" spc="0">
                <a:solidFill>
                  <a:srgbClr val="246AF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%</a:t>
            </a:r>
            <a:endParaRPr lang="en-US" sz="6200" dirty="0" spc="0"/>
          </a:p>
        </p:txBody>
      </p:sp>
      <p:sp>
        <p:nvSpPr>
          <p:cNvPr id="15" name="metric-label-1"/>
          <p:cNvSpPr txBox="1"/>
          <p:nvPr/>
        </p:nvSpPr>
        <p:spPr>
          <a:xfrm>
            <a:off x="4602480" y="3741420"/>
            <a:ext cx="2933700" cy="5334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6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入力完了率</a:t>
            </a:r>
            <a:endParaRPr lang="en-US" sz="2600" dirty="0" spc="0"/>
          </a:p>
        </p:txBody>
      </p:sp>
      <p:sp>
        <p:nvSpPr>
          <p:cNvPr id="16" name="metric-2"/>
          <p:cNvSpPr txBox="1"/>
          <p:nvPr/>
        </p:nvSpPr>
        <p:spPr>
          <a:xfrm>
            <a:off x="8610600" y="2095500"/>
            <a:ext cx="2171700" cy="14401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0000" b="1" dirty="0" spc="0">
                <a:solidFill>
                  <a:srgbClr val="246AF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</a:t>
            </a:r>
            <a:endParaRPr lang="en-US" sz="10000" dirty="0" spc="0"/>
          </a:p>
        </p:txBody>
      </p:sp>
      <p:sp>
        <p:nvSpPr>
          <p:cNvPr id="17" name="metric-unit-2"/>
          <p:cNvSpPr txBox="1"/>
          <p:nvPr/>
        </p:nvSpPr>
        <p:spPr>
          <a:xfrm>
            <a:off x="10728960" y="2606040"/>
            <a:ext cx="967740" cy="90678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6200" b="1" dirty="0" spc="0">
                <a:solidFill>
                  <a:srgbClr val="246AF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秒</a:t>
            </a:r>
            <a:endParaRPr lang="en-US" sz="6200" dirty="0" spc="0"/>
          </a:p>
        </p:txBody>
      </p:sp>
      <p:sp>
        <p:nvSpPr>
          <p:cNvPr id="18" name="metric-label-2"/>
          <p:cNvSpPr txBox="1"/>
          <p:nvPr/>
        </p:nvSpPr>
        <p:spPr>
          <a:xfrm>
            <a:off x="8503920" y="3741420"/>
            <a:ext cx="3124200" cy="53340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60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入力時間</a:t>
            </a:r>
            <a:endParaRPr lang="en-US" sz="2600" dirty="0" spc="0"/>
          </a:p>
        </p:txBody>
      </p:sp>
      <p:sp>
        <p:nvSpPr>
          <p:cNvPr id="19" name="stage-number-0"/>
          <p:cNvSpPr txBox="1"/>
          <p:nvPr/>
        </p:nvSpPr>
        <p:spPr>
          <a:xfrm>
            <a:off x="1844040" y="4800600"/>
            <a:ext cx="586740" cy="51816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3350" b="1" dirty="0" spc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350" dirty="0" spc="0"/>
          </a:p>
        </p:txBody>
      </p:sp>
      <p:sp>
        <p:nvSpPr>
          <p:cNvPr id="20" name="stage-label-0"/>
          <p:cNvSpPr txBox="1"/>
          <p:nvPr/>
        </p:nvSpPr>
        <p:spPr>
          <a:xfrm>
            <a:off x="464820" y="5631180"/>
            <a:ext cx="3314700" cy="5029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情報をまとめる</a:t>
            </a:r>
            <a:endParaRPr lang="en-US" sz="2850" dirty="0" spc="0"/>
          </a:p>
        </p:txBody>
      </p:sp>
      <p:sp>
        <p:nvSpPr>
          <p:cNvPr id="21" name="stage-number-1"/>
          <p:cNvSpPr txBox="1"/>
          <p:nvPr/>
        </p:nvSpPr>
        <p:spPr>
          <a:xfrm>
            <a:off x="5791200" y="4800600"/>
            <a:ext cx="586740" cy="51816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3350" b="1" dirty="0" spc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350" dirty="0" spc="0"/>
          </a:p>
        </p:txBody>
      </p:sp>
      <p:sp>
        <p:nvSpPr>
          <p:cNvPr id="22" name="stage-label-1"/>
          <p:cNvSpPr txBox="1"/>
          <p:nvPr/>
        </p:nvSpPr>
        <p:spPr>
          <a:xfrm>
            <a:off x="4419600" y="5631180"/>
            <a:ext cx="3314700" cy="5029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空席分岐を実装</a:t>
            </a:r>
            <a:endParaRPr lang="en-US" sz="2850" dirty="0" spc="0"/>
          </a:p>
        </p:txBody>
      </p:sp>
      <p:sp>
        <p:nvSpPr>
          <p:cNvPr id="23" name="stage-number-2"/>
          <p:cNvSpPr txBox="1"/>
          <p:nvPr/>
        </p:nvSpPr>
        <p:spPr>
          <a:xfrm>
            <a:off x="9753600" y="4800600"/>
            <a:ext cx="586740" cy="51816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3350" b="1" dirty="0" spc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3350" dirty="0" spc="0"/>
          </a:p>
        </p:txBody>
      </p:sp>
      <p:sp>
        <p:nvSpPr>
          <p:cNvPr id="24" name="stage-label-2"/>
          <p:cNvSpPr txBox="1"/>
          <p:nvPr/>
        </p:nvSpPr>
        <p:spPr>
          <a:xfrm>
            <a:off x="8374380" y="5631180"/>
            <a:ext cx="3314700" cy="5029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ctr" indent="0" marL="0">
              <a:lnSpc>
                <a:spcPct val="105000"/>
              </a:lnSpc>
              <a:buNone/>
              <a:defRPr spc="0"/>
            </a:pPr>
            <a:r>
              <a:rPr lang="en-US" sz="2850" b="1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計測して見直す</a:t>
            </a:r>
            <a:endParaRPr lang="en-US" sz="2850" dirty="0" spc="0"/>
          </a:p>
        </p:txBody>
      </p:sp>
      <p:sp>
        <p:nvSpPr>
          <p:cNvPr id="25" name="qualification"/>
          <p:cNvSpPr txBox="1"/>
          <p:nvPr/>
        </p:nvSpPr>
        <p:spPr>
          <a:xfrm>
            <a:off x="327660" y="6377940"/>
            <a:ext cx="10934700" cy="312420"/>
          </a:xfrm>
          <a:prstGeom prst="rect">
            <a:avLst/>
          </a:prstGeom>
          <a:noFill/>
          <a:ln/>
        </p:spPr>
        <p:txBody>
          <a:bodyPr wrap="square" lIns="15240" tIns="15240" rIns="15240" bIns="15240" rtlCol="0" anchor="t">
            <a:noAutofit/>
          </a:bodyPr>
          <a:lstStyle/>
          <a:p>
            <a:pPr algn="l" indent="0" marL="0">
              <a:lnSpc>
                <a:spcPct val="105000"/>
              </a:lnSpc>
              <a:buNone/>
              <a:defRPr spc="0"/>
            </a:pPr>
            <a:r>
              <a:rPr lang="en-US" sz="1400" dirty="0" spc="0">
                <a:solidFill>
                  <a:srgbClr val="1121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仮想サイトの設計案。数値は目標値、実測ではありません。</a:t>
            </a:r>
            <a:endParaRPr lang="en-US" sz="14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la Gothic O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クリックを減らす、予約の流れ。</dc:title>
  <dc:subject>Editable presentation generated from SlidePoise scene contracts</dc:subject>
  <dc:creator>SlidePoise</dc:creator>
  <cp:lastModifiedBy>SlidePoise</cp:lastModifiedBy>
  <cp:revision>1</cp:revision>
  <dcterms:created xsi:type="dcterms:W3CDTF">2026-10-14T03:53:59Z</dcterms:created>
  <dcterms:modified xsi:type="dcterms:W3CDTF">2026-10-14T03:53:59Z</dcterms:modified>
</cp:coreProperties>
</file>